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4055" r:id="rId1"/>
  </p:sldMasterIdLst>
  <p:sldIdLst>
    <p:sldId id="293" r:id="rId2"/>
    <p:sldId id="272" r:id="rId3"/>
    <p:sldId id="274" r:id="rId4"/>
    <p:sldId id="257" r:id="rId5"/>
    <p:sldId id="275" r:id="rId6"/>
    <p:sldId id="281" r:id="rId7"/>
    <p:sldId id="264" r:id="rId8"/>
    <p:sldId id="294" r:id="rId9"/>
    <p:sldId id="276" r:id="rId10"/>
    <p:sldId id="263" r:id="rId11"/>
    <p:sldId id="277" r:id="rId12"/>
    <p:sldId id="278" r:id="rId13"/>
    <p:sldId id="295" r:id="rId14"/>
    <p:sldId id="258" r:id="rId15"/>
    <p:sldId id="296" r:id="rId16"/>
    <p:sldId id="279" r:id="rId17"/>
    <p:sldId id="266" r:id="rId18"/>
    <p:sldId id="280" r:id="rId19"/>
    <p:sldId id="265" r:id="rId20"/>
    <p:sldId id="297" r:id="rId21"/>
    <p:sldId id="282" r:id="rId22"/>
    <p:sldId id="298" r:id="rId23"/>
    <p:sldId id="259" r:id="rId24"/>
    <p:sldId id="299" r:id="rId25"/>
    <p:sldId id="283" r:id="rId26"/>
    <p:sldId id="300" r:id="rId27"/>
    <p:sldId id="267" r:id="rId28"/>
    <p:sldId id="301" r:id="rId29"/>
    <p:sldId id="285" r:id="rId30"/>
    <p:sldId id="302" r:id="rId31"/>
    <p:sldId id="260" r:id="rId32"/>
    <p:sldId id="286" r:id="rId33"/>
    <p:sldId id="292" r:id="rId34"/>
    <p:sldId id="303" r:id="rId35"/>
    <p:sldId id="268" r:id="rId36"/>
    <p:sldId id="287" r:id="rId37"/>
    <p:sldId id="304" r:id="rId38"/>
    <p:sldId id="305" r:id="rId39"/>
    <p:sldId id="269" r:id="rId40"/>
    <p:sldId id="288" r:id="rId41"/>
    <p:sldId id="261" r:id="rId42"/>
    <p:sldId id="307" r:id="rId43"/>
    <p:sldId id="289" r:id="rId44"/>
    <p:sldId id="270" r:id="rId45"/>
    <p:sldId id="309" r:id="rId46"/>
    <p:sldId id="290" r:id="rId47"/>
    <p:sldId id="310" r:id="rId48"/>
    <p:sldId id="262" r:id="rId49"/>
    <p:sldId id="291" r:id="rId50"/>
  </p:sldIdLst>
  <p:sldSz cx="10058400" cy="7772400"/>
  <p:notesSz cx="7772400" cy="10058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26">
          <p15:clr>
            <a:srgbClr val="A4A3A4"/>
          </p15:clr>
        </p15:guide>
        <p15:guide id="2" pos="2795">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00823B"/>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1661" y="82"/>
      </p:cViewPr>
      <p:guideLst>
        <p:guide orient="horz" pos="2226"/>
        <p:guide pos="2795"/>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8" name="Picture 7" descr="Droplets-S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0058400" cy="7772400"/>
          </a:xfrm>
          <a:prstGeom prst="rect">
            <a:avLst/>
          </a:prstGeom>
        </p:spPr>
      </p:pic>
      <p:sp>
        <p:nvSpPr>
          <p:cNvPr id="2" name="Title 1"/>
          <p:cNvSpPr>
            <a:spLocks noGrp="1"/>
          </p:cNvSpPr>
          <p:nvPr>
            <p:ph type="ctrTitle"/>
          </p:nvPr>
        </p:nvSpPr>
        <p:spPr>
          <a:xfrm>
            <a:off x="1444585" y="1474225"/>
            <a:ext cx="7169230" cy="2843775"/>
          </a:xfrm>
        </p:spPr>
        <p:txBody>
          <a:bodyPr anchor="b">
            <a:normAutofit/>
          </a:bodyPr>
          <a:lstStyle>
            <a:lvl1pPr algn="ctr">
              <a:defRPr sz="5280"/>
            </a:lvl1pPr>
          </a:lstStyle>
          <a:p>
            <a:r>
              <a:rPr lang="en-US" smtClean="0"/>
              <a:t>Click to edit Master title style</a:t>
            </a:r>
            <a:endParaRPr lang="en-US" dirty="0"/>
          </a:p>
        </p:txBody>
      </p:sp>
      <p:sp>
        <p:nvSpPr>
          <p:cNvPr id="3" name="Subtitle 2"/>
          <p:cNvSpPr>
            <a:spLocks noGrp="1"/>
          </p:cNvSpPr>
          <p:nvPr>
            <p:ph type="subTitle" idx="1"/>
          </p:nvPr>
        </p:nvSpPr>
        <p:spPr>
          <a:xfrm>
            <a:off x="1444585" y="4404362"/>
            <a:ext cx="7169230" cy="1554479"/>
          </a:xfrm>
        </p:spPr>
        <p:txBody>
          <a:bodyPr>
            <a:normAutofit/>
          </a:bodyPr>
          <a:lstStyle>
            <a:lvl1pPr marL="0" indent="0" algn="ctr">
              <a:buNone/>
              <a:defRPr sz="2420">
                <a:solidFill>
                  <a:schemeClr val="bg1">
                    <a:lumMod val="50000"/>
                  </a:schemeClr>
                </a:solidFill>
              </a:defRPr>
            </a:lvl1pPr>
            <a:lvl2pPr marL="502920" indent="0" algn="ctr">
              <a:buNone/>
              <a:defRPr sz="2200"/>
            </a:lvl2pPr>
            <a:lvl3pPr marL="1005840" indent="0" algn="ctr">
              <a:buNone/>
              <a:defRPr sz="1980"/>
            </a:lvl3pPr>
            <a:lvl4pPr marL="1508760" indent="0" algn="ctr">
              <a:buNone/>
              <a:defRPr sz="1760"/>
            </a:lvl4pPr>
            <a:lvl5pPr marL="2011680" indent="0" algn="ctr">
              <a:buNone/>
              <a:defRPr sz="1760"/>
            </a:lvl5pPr>
            <a:lvl6pPr marL="2514600" indent="0" algn="ctr">
              <a:buNone/>
              <a:defRPr sz="1760"/>
            </a:lvl6pPr>
            <a:lvl7pPr marL="3017520" indent="0" algn="ctr">
              <a:buNone/>
              <a:defRPr sz="1760"/>
            </a:lvl7pPr>
            <a:lvl8pPr marL="3520440" indent="0" algn="ctr">
              <a:buNone/>
              <a:defRPr sz="1760"/>
            </a:lvl8pPr>
            <a:lvl9pPr marL="4023360" indent="0" algn="ctr">
              <a:buNone/>
              <a:defRPr sz="176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38073">
              <a:lnSpc>
                <a:spcPts val="1150"/>
              </a:lnSpc>
            </a:pPr>
            <a:fld id="{81D60167-4931-47E6-BA6A-407CBD079E47}" type="slidenum">
              <a:rPr lang="en-IN" spc="-25" smtClean="0"/>
              <a:pPr marL="38073">
                <a:lnSpc>
                  <a:spcPts val="1150"/>
                </a:lnSpc>
              </a:pPr>
              <a:t>‹#›</a:t>
            </a:fld>
            <a:endParaRPr lang="en-IN" spc="-25" dirty="0"/>
          </a:p>
        </p:txBody>
      </p:sp>
    </p:spTree>
    <p:extLst>
      <p:ext uri="{BB962C8B-B14F-4D97-AF65-F5344CB8AC3E}">
        <p14:creationId xmlns:p14="http://schemas.microsoft.com/office/powerpoint/2010/main" val="24499430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pic>
        <p:nvPicPr>
          <p:cNvPr id="7" name="Picture 6"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0058400" cy="7772400"/>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12" name="Content Placeholder 2"/>
          <p:cNvSpPr>
            <a:spLocks noGrp="1"/>
          </p:cNvSpPr>
          <p:nvPr>
            <p:ph sz="quarter" idx="13"/>
          </p:nvPr>
        </p:nvSpPr>
        <p:spPr>
          <a:xfrm>
            <a:off x="753863" y="2682706"/>
            <a:ext cx="8550157" cy="3880655"/>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38073">
              <a:lnSpc>
                <a:spcPts val="1150"/>
              </a:lnSpc>
            </a:pPr>
            <a:fld id="{81D60167-4931-47E6-BA6A-407CBD079E47}" type="slidenum">
              <a:rPr lang="en-IN" spc="-25" smtClean="0"/>
              <a:pPr marL="38073">
                <a:lnSpc>
                  <a:spcPts val="1150"/>
                </a:lnSpc>
              </a:pPr>
              <a:t>‹#›</a:t>
            </a:fld>
            <a:endParaRPr lang="en-IN" spc="-25" dirty="0"/>
          </a:p>
        </p:txBody>
      </p:sp>
    </p:spTree>
    <p:extLst>
      <p:ext uri="{BB962C8B-B14F-4D97-AF65-F5344CB8AC3E}">
        <p14:creationId xmlns:p14="http://schemas.microsoft.com/office/powerpoint/2010/main" val="17821365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8" name="Picture 7"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0058400" cy="7772400"/>
          </a:xfrm>
          <a:prstGeom prst="rect">
            <a:avLst/>
          </a:prstGeom>
        </p:spPr>
      </p:pic>
      <p:sp>
        <p:nvSpPr>
          <p:cNvPr id="2" name="Title 1"/>
          <p:cNvSpPr>
            <a:spLocks noGrp="1"/>
          </p:cNvSpPr>
          <p:nvPr>
            <p:ph type="title"/>
          </p:nvPr>
        </p:nvSpPr>
        <p:spPr>
          <a:xfrm>
            <a:off x="753864" y="939040"/>
            <a:ext cx="8540195" cy="3101728"/>
          </a:xfrm>
        </p:spPr>
        <p:txBody>
          <a:bodyPr anchor="b">
            <a:normAutofit/>
          </a:bodyPr>
          <a:lstStyle>
            <a:lvl1pPr>
              <a:defRPr sz="4400"/>
            </a:lvl1pPr>
          </a:lstStyle>
          <a:p>
            <a:r>
              <a:rPr lang="en-US" smtClean="0"/>
              <a:t>Click to edit Master title style</a:t>
            </a:r>
            <a:endParaRPr lang="en-US" dirty="0"/>
          </a:p>
        </p:txBody>
      </p:sp>
      <p:sp>
        <p:nvSpPr>
          <p:cNvPr id="3" name="Text Placeholder 2"/>
          <p:cNvSpPr>
            <a:spLocks noGrp="1"/>
          </p:cNvSpPr>
          <p:nvPr>
            <p:ph type="body" idx="1"/>
          </p:nvPr>
        </p:nvSpPr>
        <p:spPr>
          <a:xfrm>
            <a:off x="753864" y="4145120"/>
            <a:ext cx="8540195" cy="1550607"/>
          </a:xfrm>
        </p:spPr>
        <p:txBody>
          <a:bodyPr>
            <a:normAutofit/>
          </a:bodyPr>
          <a:lstStyle>
            <a:lvl1pPr marL="0" indent="0" algn="ctr">
              <a:buNone/>
              <a:defRPr sz="2200">
                <a:solidFill>
                  <a:schemeClr val="bg1">
                    <a:lumMod val="50000"/>
                  </a:schemeClr>
                </a:solidFill>
              </a:defRPr>
            </a:lvl1pPr>
            <a:lvl2pPr marL="502920" indent="0">
              <a:buNone/>
              <a:defRPr sz="2200">
                <a:solidFill>
                  <a:schemeClr val="tx1">
                    <a:tint val="75000"/>
                  </a:schemeClr>
                </a:solidFill>
              </a:defRPr>
            </a:lvl2pPr>
            <a:lvl3pPr marL="1005840" indent="0">
              <a:buNone/>
              <a:defRPr sz="1980">
                <a:solidFill>
                  <a:schemeClr val="tx1">
                    <a:tint val="75000"/>
                  </a:schemeClr>
                </a:solidFill>
              </a:defRPr>
            </a:lvl3pPr>
            <a:lvl4pPr marL="1508760" indent="0">
              <a:buNone/>
              <a:defRPr sz="1760">
                <a:solidFill>
                  <a:schemeClr val="tx1">
                    <a:tint val="75000"/>
                  </a:schemeClr>
                </a:solidFill>
              </a:defRPr>
            </a:lvl4pPr>
            <a:lvl5pPr marL="2011680" indent="0">
              <a:buNone/>
              <a:defRPr sz="1760">
                <a:solidFill>
                  <a:schemeClr val="tx1">
                    <a:tint val="75000"/>
                  </a:schemeClr>
                </a:solidFill>
              </a:defRPr>
            </a:lvl5pPr>
            <a:lvl6pPr marL="2514600" indent="0">
              <a:buNone/>
              <a:defRPr sz="1760">
                <a:solidFill>
                  <a:schemeClr val="tx1">
                    <a:tint val="75000"/>
                  </a:schemeClr>
                </a:solidFill>
              </a:defRPr>
            </a:lvl6pPr>
            <a:lvl7pPr marL="3017520" indent="0">
              <a:buNone/>
              <a:defRPr sz="1760">
                <a:solidFill>
                  <a:schemeClr val="tx1">
                    <a:tint val="75000"/>
                  </a:schemeClr>
                </a:solidFill>
              </a:defRPr>
            </a:lvl7pPr>
            <a:lvl8pPr marL="3520440" indent="0">
              <a:buNone/>
              <a:defRPr sz="1760">
                <a:solidFill>
                  <a:schemeClr val="tx1">
                    <a:tint val="75000"/>
                  </a:schemeClr>
                </a:solidFill>
              </a:defRPr>
            </a:lvl8pPr>
            <a:lvl9pPr marL="4023360" indent="0">
              <a:buNone/>
              <a:defRPr sz="176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38073">
              <a:lnSpc>
                <a:spcPts val="1150"/>
              </a:lnSpc>
            </a:pPr>
            <a:fld id="{81D60167-4931-47E6-BA6A-407CBD079E47}" type="slidenum">
              <a:rPr lang="en-IN" spc="-25" smtClean="0"/>
              <a:pPr marL="38073">
                <a:lnSpc>
                  <a:spcPts val="1150"/>
                </a:lnSpc>
              </a:pPr>
              <a:t>‹#›</a:t>
            </a:fld>
            <a:endParaRPr lang="en-IN" spc="-25" dirty="0"/>
          </a:p>
        </p:txBody>
      </p:sp>
    </p:spTree>
    <p:extLst>
      <p:ext uri="{BB962C8B-B14F-4D97-AF65-F5344CB8AC3E}">
        <p14:creationId xmlns:p14="http://schemas.microsoft.com/office/powerpoint/2010/main" val="29247400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0058400" cy="7772400"/>
          </a:xfrm>
          <a:prstGeom prst="rect">
            <a:avLst/>
          </a:prstGeom>
        </p:spPr>
      </p:pic>
      <p:sp>
        <p:nvSpPr>
          <p:cNvPr id="14" name="Title 1"/>
          <p:cNvSpPr>
            <a:spLocks noGrp="1"/>
          </p:cNvSpPr>
          <p:nvPr>
            <p:ph type="title"/>
          </p:nvPr>
        </p:nvSpPr>
        <p:spPr>
          <a:xfrm>
            <a:off x="753865" y="700987"/>
            <a:ext cx="8550672" cy="1809001"/>
          </a:xfrm>
        </p:spPr>
        <p:txBody>
          <a:bodyPr/>
          <a:lstStyle/>
          <a:p>
            <a:r>
              <a:rPr lang="en-US" smtClean="0"/>
              <a:t>Click to edit Master title style</a:t>
            </a:r>
            <a:endParaRPr lang="en-US" dirty="0"/>
          </a:p>
        </p:txBody>
      </p:sp>
      <p:sp>
        <p:nvSpPr>
          <p:cNvPr id="12" name="Content Placeholder 2"/>
          <p:cNvSpPr>
            <a:spLocks noGrp="1"/>
          </p:cNvSpPr>
          <p:nvPr>
            <p:ph sz="quarter" idx="13"/>
          </p:nvPr>
        </p:nvSpPr>
        <p:spPr>
          <a:xfrm>
            <a:off x="753863" y="2682706"/>
            <a:ext cx="4212472" cy="3880655"/>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3" name="Content Placeholder 3"/>
          <p:cNvSpPr>
            <a:spLocks noGrp="1"/>
          </p:cNvSpPr>
          <p:nvPr>
            <p:ph sz="quarter" idx="14"/>
          </p:nvPr>
        </p:nvSpPr>
        <p:spPr>
          <a:xfrm>
            <a:off x="5092065" y="2682706"/>
            <a:ext cx="4211955" cy="3880655"/>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t>3/16/2026</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38073">
              <a:lnSpc>
                <a:spcPts val="1150"/>
              </a:lnSpc>
            </a:pPr>
            <a:fld id="{81D60167-4931-47E6-BA6A-407CBD079E47}" type="slidenum">
              <a:rPr lang="en-IN" spc="-25" smtClean="0"/>
              <a:pPr marL="38073">
                <a:lnSpc>
                  <a:spcPts val="1150"/>
                </a:lnSpc>
              </a:pPr>
              <a:t>‹#›</a:t>
            </a:fld>
            <a:endParaRPr lang="en-IN" spc="-25" dirty="0"/>
          </a:p>
        </p:txBody>
      </p:sp>
    </p:spTree>
    <p:extLst>
      <p:ext uri="{BB962C8B-B14F-4D97-AF65-F5344CB8AC3E}">
        <p14:creationId xmlns:p14="http://schemas.microsoft.com/office/powerpoint/2010/main" val="9416306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pic>
        <p:nvPicPr>
          <p:cNvPr id="11" name="Picture 10"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0058400" cy="7772400"/>
          </a:xfrm>
          <a:prstGeom prst="rect">
            <a:avLst/>
          </a:prstGeom>
        </p:spPr>
      </p:pic>
      <p:sp>
        <p:nvSpPr>
          <p:cNvPr id="14" name="Title 1"/>
          <p:cNvSpPr>
            <a:spLocks noGrp="1"/>
          </p:cNvSpPr>
          <p:nvPr>
            <p:ph type="title"/>
          </p:nvPr>
        </p:nvSpPr>
        <p:spPr>
          <a:xfrm>
            <a:off x="753865" y="700987"/>
            <a:ext cx="8550672" cy="1809001"/>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945720" y="2687154"/>
            <a:ext cx="4020617" cy="770660"/>
          </a:xfrm>
        </p:spPr>
        <p:txBody>
          <a:bodyPr anchor="b">
            <a:noAutofit/>
          </a:bodyPr>
          <a:lstStyle>
            <a:lvl1pPr marL="0" indent="0">
              <a:lnSpc>
                <a:spcPct val="75000"/>
              </a:lnSpc>
              <a:buNone/>
              <a:defRPr sz="2860" b="0">
                <a:solidFill>
                  <a:schemeClr val="tx1"/>
                </a:solidFill>
              </a:defRPr>
            </a:lvl1pPr>
            <a:lvl2pPr marL="502920" indent="0">
              <a:buNone/>
              <a:defRPr sz="2200" b="1"/>
            </a:lvl2pPr>
            <a:lvl3pPr marL="1005840" indent="0">
              <a:buNone/>
              <a:defRPr sz="1980" b="1"/>
            </a:lvl3pPr>
            <a:lvl4pPr marL="1508760" indent="0">
              <a:buNone/>
              <a:defRPr sz="1760" b="1"/>
            </a:lvl4pPr>
            <a:lvl5pPr marL="2011680" indent="0">
              <a:buNone/>
              <a:defRPr sz="1760" b="1"/>
            </a:lvl5pPr>
            <a:lvl6pPr marL="2514600" indent="0">
              <a:buNone/>
              <a:defRPr sz="1760" b="1"/>
            </a:lvl6pPr>
            <a:lvl7pPr marL="3017520" indent="0">
              <a:buNone/>
              <a:defRPr sz="1760" b="1"/>
            </a:lvl7pPr>
            <a:lvl8pPr marL="3520440" indent="0">
              <a:buNone/>
              <a:defRPr sz="1760" b="1"/>
            </a:lvl8pPr>
            <a:lvl9pPr marL="4023360" indent="0">
              <a:buNone/>
              <a:defRPr sz="1760" b="1"/>
            </a:lvl9pPr>
          </a:lstStyle>
          <a:p>
            <a:pPr lvl="0"/>
            <a:r>
              <a:rPr lang="en-US" smtClean="0"/>
              <a:t>Edit Master text styles</a:t>
            </a:r>
          </a:p>
        </p:txBody>
      </p:sp>
      <p:sp>
        <p:nvSpPr>
          <p:cNvPr id="12" name="Content Placeholder 3"/>
          <p:cNvSpPr>
            <a:spLocks noGrp="1"/>
          </p:cNvSpPr>
          <p:nvPr>
            <p:ph sz="quarter" idx="13"/>
          </p:nvPr>
        </p:nvSpPr>
        <p:spPr>
          <a:xfrm>
            <a:off x="753864" y="3457815"/>
            <a:ext cx="4212472" cy="3105545"/>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277049" y="2687154"/>
            <a:ext cx="4027488" cy="770660"/>
          </a:xfrm>
        </p:spPr>
        <p:txBody>
          <a:bodyPr anchor="b">
            <a:noAutofit/>
          </a:bodyPr>
          <a:lstStyle>
            <a:lvl1pPr marL="0" indent="0">
              <a:lnSpc>
                <a:spcPct val="75000"/>
              </a:lnSpc>
              <a:buNone/>
              <a:defRPr sz="2860" b="0">
                <a:solidFill>
                  <a:schemeClr val="tx1"/>
                </a:solidFill>
              </a:defRPr>
            </a:lvl1pPr>
            <a:lvl2pPr marL="502920" indent="0">
              <a:buNone/>
              <a:defRPr sz="2200" b="1"/>
            </a:lvl2pPr>
            <a:lvl3pPr marL="1005840" indent="0">
              <a:buNone/>
              <a:defRPr sz="1980" b="1"/>
            </a:lvl3pPr>
            <a:lvl4pPr marL="1508760" indent="0">
              <a:buNone/>
              <a:defRPr sz="1760" b="1"/>
            </a:lvl4pPr>
            <a:lvl5pPr marL="2011680" indent="0">
              <a:buNone/>
              <a:defRPr sz="1760" b="1"/>
            </a:lvl5pPr>
            <a:lvl6pPr marL="2514600" indent="0">
              <a:buNone/>
              <a:defRPr sz="1760" b="1"/>
            </a:lvl6pPr>
            <a:lvl7pPr marL="3017520" indent="0">
              <a:buNone/>
              <a:defRPr sz="1760" b="1"/>
            </a:lvl7pPr>
            <a:lvl8pPr marL="3520440" indent="0">
              <a:buNone/>
              <a:defRPr sz="1760" b="1"/>
            </a:lvl8pPr>
            <a:lvl9pPr marL="4023360" indent="0">
              <a:buNone/>
              <a:defRPr sz="1760" b="1"/>
            </a:lvl9pPr>
          </a:lstStyle>
          <a:p>
            <a:pPr lvl="0"/>
            <a:r>
              <a:rPr lang="en-US" smtClean="0"/>
              <a:t>Edit Master text styles</a:t>
            </a:r>
          </a:p>
        </p:txBody>
      </p:sp>
      <p:sp>
        <p:nvSpPr>
          <p:cNvPr id="13" name="Content Placeholder 5"/>
          <p:cNvSpPr>
            <a:spLocks noGrp="1"/>
          </p:cNvSpPr>
          <p:nvPr>
            <p:ph sz="quarter" idx="14"/>
          </p:nvPr>
        </p:nvSpPr>
        <p:spPr>
          <a:xfrm>
            <a:off x="5092066" y="3457815"/>
            <a:ext cx="4211956" cy="3105545"/>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t>3/16/2026</a:t>
            </a:fld>
            <a:endParaRPr lang="en-US"/>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pPr marL="38073">
              <a:lnSpc>
                <a:spcPts val="1150"/>
              </a:lnSpc>
            </a:pPr>
            <a:fld id="{81D60167-4931-47E6-BA6A-407CBD079E47}" type="slidenum">
              <a:rPr lang="en-IN" spc="-25" smtClean="0"/>
              <a:pPr marL="38073">
                <a:lnSpc>
                  <a:spcPts val="1150"/>
                </a:lnSpc>
              </a:pPr>
              <a:t>‹#›</a:t>
            </a:fld>
            <a:endParaRPr lang="en-IN" spc="-25" dirty="0"/>
          </a:p>
        </p:txBody>
      </p:sp>
    </p:spTree>
    <p:extLst>
      <p:ext uri="{BB962C8B-B14F-4D97-AF65-F5344CB8AC3E}">
        <p14:creationId xmlns:p14="http://schemas.microsoft.com/office/powerpoint/2010/main" val="23215696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pic>
        <p:nvPicPr>
          <p:cNvPr id="7" name="Picture 6"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0058400" cy="7772400"/>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t>3/16/2026</a:t>
            </a:fld>
            <a:endParaRPr lang="en-US"/>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pPr marL="38073">
              <a:lnSpc>
                <a:spcPts val="1150"/>
              </a:lnSpc>
            </a:pPr>
            <a:fld id="{81D60167-4931-47E6-BA6A-407CBD079E47}" type="slidenum">
              <a:rPr lang="en-IN" spc="-25" smtClean="0"/>
              <a:pPr marL="38073">
                <a:lnSpc>
                  <a:spcPts val="1150"/>
                </a:lnSpc>
              </a:pPr>
              <a:t>‹#›</a:t>
            </a:fld>
            <a:endParaRPr lang="en-IN" spc="-25" dirty="0"/>
          </a:p>
        </p:txBody>
      </p:sp>
    </p:spTree>
    <p:extLst>
      <p:ext uri="{BB962C8B-B14F-4D97-AF65-F5344CB8AC3E}">
        <p14:creationId xmlns:p14="http://schemas.microsoft.com/office/powerpoint/2010/main" val="119327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pic>
        <p:nvPicPr>
          <p:cNvPr id="6" name="Picture 5"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0058400" cy="7772400"/>
          </a:xfrm>
          <a:prstGeom prst="rect">
            <a:avLst/>
          </a:prstGeom>
        </p:spPr>
      </p:pic>
      <p:sp>
        <p:nvSpPr>
          <p:cNvPr id="2" name="Date Placeholder 1"/>
          <p:cNvSpPr>
            <a:spLocks noGrp="1"/>
          </p:cNvSpPr>
          <p:nvPr>
            <p:ph type="dt" sz="half" idx="10"/>
          </p:nvPr>
        </p:nvSpPr>
        <p:spPr/>
        <p:txBody>
          <a:bodyPr/>
          <a:lstStyle/>
          <a:p>
            <a:fld id="{1D8BD707-D9CF-40AE-B4C6-C98DA3205C09}" type="datetimeFigureOut">
              <a:rPr lang="en-US" smtClean="0"/>
              <a:t>3/16/2026</a:t>
            </a:fld>
            <a:endParaRPr lang="en-US"/>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pPr marL="38073">
              <a:lnSpc>
                <a:spcPts val="1150"/>
              </a:lnSpc>
            </a:pPr>
            <a:fld id="{81D60167-4931-47E6-BA6A-407CBD079E47}" type="slidenum">
              <a:rPr lang="en-IN" spc="-25" smtClean="0"/>
              <a:pPr marL="38073">
                <a:lnSpc>
                  <a:spcPts val="1150"/>
                </a:lnSpc>
              </a:pPr>
              <a:t>‹#›</a:t>
            </a:fld>
            <a:endParaRPr lang="en-IN" spc="-25" dirty="0"/>
          </a:p>
        </p:txBody>
      </p:sp>
    </p:spTree>
    <p:extLst>
      <p:ext uri="{BB962C8B-B14F-4D97-AF65-F5344CB8AC3E}">
        <p14:creationId xmlns:p14="http://schemas.microsoft.com/office/powerpoint/2010/main" val="22003087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0058400" cy="7772400"/>
          </a:xfrm>
          <a:prstGeom prst="rect">
            <a:avLst/>
          </a:prstGeom>
        </p:spPr>
      </p:pic>
      <p:sp>
        <p:nvSpPr>
          <p:cNvPr id="2" name="Title 1"/>
          <p:cNvSpPr>
            <a:spLocks noGrp="1"/>
          </p:cNvSpPr>
          <p:nvPr>
            <p:ph type="title"/>
          </p:nvPr>
        </p:nvSpPr>
        <p:spPr>
          <a:xfrm>
            <a:off x="753864" y="690880"/>
            <a:ext cx="3246943" cy="2293019"/>
          </a:xfrm>
        </p:spPr>
        <p:txBody>
          <a:bodyPr anchor="b"/>
          <a:lstStyle>
            <a:lvl1pPr algn="ctr">
              <a:defRPr sz="3520"/>
            </a:lvl1pPr>
          </a:lstStyle>
          <a:p>
            <a:r>
              <a:rPr lang="en-US" smtClean="0"/>
              <a:t>Click to edit Master title style</a:t>
            </a:r>
            <a:endParaRPr lang="en-US" dirty="0"/>
          </a:p>
        </p:txBody>
      </p:sp>
      <p:sp>
        <p:nvSpPr>
          <p:cNvPr id="10" name="Content Placeholder 2"/>
          <p:cNvSpPr>
            <a:spLocks noGrp="1"/>
          </p:cNvSpPr>
          <p:nvPr>
            <p:ph sz="quarter" idx="13"/>
          </p:nvPr>
        </p:nvSpPr>
        <p:spPr>
          <a:xfrm>
            <a:off x="4189402" y="690882"/>
            <a:ext cx="5115134" cy="5872479"/>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753865" y="2983899"/>
            <a:ext cx="3246944" cy="3579461"/>
          </a:xfrm>
        </p:spPr>
        <p:txBody>
          <a:bodyPr/>
          <a:lstStyle>
            <a:lvl1pPr marL="0" indent="0" algn="ctr">
              <a:buNone/>
              <a:defRPr sz="1760"/>
            </a:lvl1pPr>
            <a:lvl2pPr marL="502920" indent="0">
              <a:buNone/>
              <a:defRPr sz="1540"/>
            </a:lvl2pPr>
            <a:lvl3pPr marL="1005840" indent="0">
              <a:buNone/>
              <a:defRPr sz="1320"/>
            </a:lvl3pPr>
            <a:lvl4pPr marL="1508760" indent="0">
              <a:buNone/>
              <a:defRPr sz="1100"/>
            </a:lvl4pPr>
            <a:lvl5pPr marL="2011680" indent="0">
              <a:buNone/>
              <a:defRPr sz="1100"/>
            </a:lvl5pPr>
            <a:lvl6pPr marL="2514600" indent="0">
              <a:buNone/>
              <a:defRPr sz="1100"/>
            </a:lvl6pPr>
            <a:lvl7pPr marL="3017520" indent="0">
              <a:buNone/>
              <a:defRPr sz="1100"/>
            </a:lvl7pPr>
            <a:lvl8pPr marL="3520440" indent="0">
              <a:buNone/>
              <a:defRPr sz="1100"/>
            </a:lvl8pPr>
            <a:lvl9pPr marL="4023360" indent="0">
              <a:buNone/>
              <a:defRPr sz="1100"/>
            </a:lvl9pPr>
          </a:lstStyle>
          <a:p>
            <a:pPr lvl="0"/>
            <a:r>
              <a:rPr lang="en-US" smtClean="0"/>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3/16/2026</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38073">
              <a:lnSpc>
                <a:spcPts val="1150"/>
              </a:lnSpc>
            </a:pPr>
            <a:fld id="{81D60167-4931-47E6-BA6A-407CBD079E47}" type="slidenum">
              <a:rPr lang="en-IN" spc="-25" smtClean="0"/>
              <a:pPr marL="38073">
                <a:lnSpc>
                  <a:spcPts val="1150"/>
                </a:lnSpc>
              </a:pPr>
              <a:t>‹#›</a:t>
            </a:fld>
            <a:endParaRPr lang="en-IN" spc="-25" dirty="0"/>
          </a:p>
        </p:txBody>
      </p:sp>
    </p:spTree>
    <p:extLst>
      <p:ext uri="{BB962C8B-B14F-4D97-AF65-F5344CB8AC3E}">
        <p14:creationId xmlns:p14="http://schemas.microsoft.com/office/powerpoint/2010/main" val="836686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0058400" cy="7772400"/>
          </a:xfrm>
          <a:prstGeom prst="rect">
            <a:avLst/>
          </a:prstGeom>
        </p:spPr>
      </p:pic>
      <p:sp>
        <p:nvSpPr>
          <p:cNvPr id="2" name="Title 1"/>
          <p:cNvSpPr>
            <a:spLocks noGrp="1"/>
          </p:cNvSpPr>
          <p:nvPr>
            <p:ph type="title"/>
          </p:nvPr>
        </p:nvSpPr>
        <p:spPr>
          <a:xfrm>
            <a:off x="753865" y="690880"/>
            <a:ext cx="4542580" cy="2293021"/>
          </a:xfrm>
        </p:spPr>
        <p:txBody>
          <a:bodyPr anchor="b"/>
          <a:lstStyle>
            <a:lvl1pPr algn="ctr">
              <a:defRPr sz="352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504698" y="690881"/>
            <a:ext cx="3306436" cy="587248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520"/>
            </a:lvl1pPr>
            <a:lvl2pPr marL="502920" indent="0">
              <a:buNone/>
              <a:defRPr sz="3080"/>
            </a:lvl2pPr>
            <a:lvl3pPr marL="1005840" indent="0">
              <a:buNone/>
              <a:defRPr sz="2640"/>
            </a:lvl3pPr>
            <a:lvl4pPr marL="1508760" indent="0">
              <a:buNone/>
              <a:defRPr sz="2200"/>
            </a:lvl4pPr>
            <a:lvl5pPr marL="2011680" indent="0">
              <a:buNone/>
              <a:defRPr sz="2200"/>
            </a:lvl5pPr>
            <a:lvl6pPr marL="2514600" indent="0">
              <a:buNone/>
              <a:defRPr sz="2200"/>
            </a:lvl6pPr>
            <a:lvl7pPr marL="3017520" indent="0">
              <a:buNone/>
              <a:defRPr sz="2200"/>
            </a:lvl7pPr>
            <a:lvl8pPr marL="3520440" indent="0">
              <a:buNone/>
              <a:defRPr sz="2200"/>
            </a:lvl8pPr>
            <a:lvl9pPr marL="4023360" indent="0">
              <a:buNone/>
              <a:defRPr sz="2200"/>
            </a:lvl9pPr>
          </a:lstStyle>
          <a:p>
            <a:r>
              <a:rPr lang="en-US" smtClean="0"/>
              <a:t>Click icon to add picture</a:t>
            </a:r>
            <a:endParaRPr lang="en-US" dirty="0"/>
          </a:p>
        </p:txBody>
      </p:sp>
      <p:sp>
        <p:nvSpPr>
          <p:cNvPr id="4" name="Text Placeholder 3"/>
          <p:cNvSpPr>
            <a:spLocks noGrp="1"/>
          </p:cNvSpPr>
          <p:nvPr>
            <p:ph type="body" sz="half" idx="2"/>
          </p:nvPr>
        </p:nvSpPr>
        <p:spPr>
          <a:xfrm>
            <a:off x="753881" y="2983901"/>
            <a:ext cx="4542564" cy="3579460"/>
          </a:xfrm>
        </p:spPr>
        <p:txBody>
          <a:bodyPr/>
          <a:lstStyle>
            <a:lvl1pPr marL="0" indent="0" algn="ctr">
              <a:buNone/>
              <a:defRPr sz="1760"/>
            </a:lvl1pPr>
            <a:lvl2pPr marL="502920" indent="0">
              <a:buNone/>
              <a:defRPr sz="1540"/>
            </a:lvl2pPr>
            <a:lvl3pPr marL="1005840" indent="0">
              <a:buNone/>
              <a:defRPr sz="1320"/>
            </a:lvl3pPr>
            <a:lvl4pPr marL="1508760" indent="0">
              <a:buNone/>
              <a:defRPr sz="1100"/>
            </a:lvl4pPr>
            <a:lvl5pPr marL="2011680" indent="0">
              <a:buNone/>
              <a:defRPr sz="1100"/>
            </a:lvl5pPr>
            <a:lvl6pPr marL="2514600" indent="0">
              <a:buNone/>
              <a:defRPr sz="1100"/>
            </a:lvl6pPr>
            <a:lvl7pPr marL="3017520" indent="0">
              <a:buNone/>
              <a:defRPr sz="1100"/>
            </a:lvl7pPr>
            <a:lvl8pPr marL="3520440" indent="0">
              <a:buNone/>
              <a:defRPr sz="1100"/>
            </a:lvl8pPr>
            <a:lvl9pPr marL="4023360" indent="0">
              <a:buNone/>
              <a:defRPr sz="1100"/>
            </a:lvl9pPr>
          </a:lstStyle>
          <a:p>
            <a:pPr lvl="0"/>
            <a:r>
              <a:rPr lang="en-US" smtClean="0"/>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3/16/2026</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38073">
              <a:lnSpc>
                <a:spcPts val="1150"/>
              </a:lnSpc>
            </a:pPr>
            <a:fld id="{81D60167-4931-47E6-BA6A-407CBD079E47}" type="slidenum">
              <a:rPr lang="en-IN" spc="-25" smtClean="0"/>
              <a:pPr marL="38073">
                <a:lnSpc>
                  <a:spcPts val="1150"/>
                </a:lnSpc>
              </a:pPr>
              <a:t>‹#›</a:t>
            </a:fld>
            <a:endParaRPr lang="en-IN" spc="-25" dirty="0"/>
          </a:p>
        </p:txBody>
      </p:sp>
    </p:spTree>
    <p:extLst>
      <p:ext uri="{BB962C8B-B14F-4D97-AF65-F5344CB8AC3E}">
        <p14:creationId xmlns:p14="http://schemas.microsoft.com/office/powerpoint/2010/main" val="37693448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Panoramic Picture with Caption">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0058400" cy="7772400"/>
          </a:xfrm>
          <a:prstGeom prst="rect">
            <a:avLst/>
          </a:prstGeom>
        </p:spPr>
      </p:pic>
      <p:sp>
        <p:nvSpPr>
          <p:cNvPr id="2" name="Title 1"/>
          <p:cNvSpPr>
            <a:spLocks noGrp="1"/>
          </p:cNvSpPr>
          <p:nvPr>
            <p:ph type="title"/>
          </p:nvPr>
        </p:nvSpPr>
        <p:spPr>
          <a:xfrm>
            <a:off x="753881" y="4861290"/>
            <a:ext cx="8550656" cy="919825"/>
          </a:xfrm>
        </p:spPr>
        <p:txBody>
          <a:bodyPr anchor="b"/>
          <a:lstStyle>
            <a:lvl1pPr>
              <a:defRPr sz="352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977414" y="791363"/>
            <a:ext cx="8103589" cy="3642687"/>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520"/>
            </a:lvl1pPr>
            <a:lvl2pPr marL="502920" indent="0">
              <a:buNone/>
              <a:defRPr sz="3080"/>
            </a:lvl2pPr>
            <a:lvl3pPr marL="1005840" indent="0">
              <a:buNone/>
              <a:defRPr sz="2640"/>
            </a:lvl3pPr>
            <a:lvl4pPr marL="1508760" indent="0">
              <a:buNone/>
              <a:defRPr sz="2200"/>
            </a:lvl4pPr>
            <a:lvl5pPr marL="2011680" indent="0">
              <a:buNone/>
              <a:defRPr sz="2200"/>
            </a:lvl5pPr>
            <a:lvl6pPr marL="2514600" indent="0">
              <a:buNone/>
              <a:defRPr sz="2200"/>
            </a:lvl6pPr>
            <a:lvl7pPr marL="3017520" indent="0">
              <a:buNone/>
              <a:defRPr sz="2200"/>
            </a:lvl7pPr>
            <a:lvl8pPr marL="3520440" indent="0">
              <a:buNone/>
              <a:defRPr sz="2200"/>
            </a:lvl8pPr>
            <a:lvl9pPr marL="4023360" indent="0">
              <a:buNone/>
              <a:defRPr sz="2200"/>
            </a:lvl9pPr>
          </a:lstStyle>
          <a:p>
            <a:r>
              <a:rPr lang="en-US" smtClean="0"/>
              <a:t>Click icon to add picture</a:t>
            </a:r>
            <a:endParaRPr lang="en-US" dirty="0"/>
          </a:p>
        </p:txBody>
      </p:sp>
      <p:sp>
        <p:nvSpPr>
          <p:cNvPr id="4" name="Text Placeholder 3"/>
          <p:cNvSpPr>
            <a:spLocks noGrp="1"/>
          </p:cNvSpPr>
          <p:nvPr>
            <p:ph type="body" sz="half" idx="2"/>
          </p:nvPr>
        </p:nvSpPr>
        <p:spPr>
          <a:xfrm>
            <a:off x="753865" y="5789892"/>
            <a:ext cx="8550673" cy="773468"/>
          </a:xfrm>
        </p:spPr>
        <p:txBody>
          <a:bodyPr/>
          <a:lstStyle>
            <a:lvl1pPr marL="0" indent="0" algn="ctr">
              <a:buNone/>
              <a:defRPr sz="1760"/>
            </a:lvl1pPr>
            <a:lvl2pPr marL="502920" indent="0">
              <a:buNone/>
              <a:defRPr sz="1540"/>
            </a:lvl2pPr>
            <a:lvl3pPr marL="1005840" indent="0">
              <a:buNone/>
              <a:defRPr sz="1320"/>
            </a:lvl3pPr>
            <a:lvl4pPr marL="1508760" indent="0">
              <a:buNone/>
              <a:defRPr sz="1100"/>
            </a:lvl4pPr>
            <a:lvl5pPr marL="2011680" indent="0">
              <a:buNone/>
              <a:defRPr sz="1100"/>
            </a:lvl5pPr>
            <a:lvl6pPr marL="2514600" indent="0">
              <a:buNone/>
              <a:defRPr sz="1100"/>
            </a:lvl6pPr>
            <a:lvl7pPr marL="3017520" indent="0">
              <a:buNone/>
              <a:defRPr sz="1100"/>
            </a:lvl7pPr>
            <a:lvl8pPr marL="3520440" indent="0">
              <a:buNone/>
              <a:defRPr sz="1100"/>
            </a:lvl8pPr>
            <a:lvl9pPr marL="4023360" indent="0">
              <a:buNone/>
              <a:defRPr sz="1100"/>
            </a:lvl9pPr>
          </a:lstStyle>
          <a:p>
            <a:pPr lvl="0"/>
            <a:r>
              <a:rPr lang="en-US" smtClean="0"/>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3/16/2026</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38073">
              <a:lnSpc>
                <a:spcPts val="1150"/>
              </a:lnSpc>
            </a:pPr>
            <a:fld id="{81D60167-4931-47E6-BA6A-407CBD079E47}" type="slidenum">
              <a:rPr lang="en-IN" spc="-25" smtClean="0"/>
              <a:pPr marL="38073">
                <a:lnSpc>
                  <a:spcPts val="1150"/>
                </a:lnSpc>
              </a:pPr>
              <a:t>‹#›</a:t>
            </a:fld>
            <a:endParaRPr lang="en-IN" spc="-25" dirty="0"/>
          </a:p>
        </p:txBody>
      </p:sp>
    </p:spTree>
    <p:extLst>
      <p:ext uri="{BB962C8B-B14F-4D97-AF65-F5344CB8AC3E}">
        <p14:creationId xmlns:p14="http://schemas.microsoft.com/office/powerpoint/2010/main" val="22679163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0058400" cy="7772400"/>
          </a:xfrm>
          <a:prstGeom prst="rect">
            <a:avLst/>
          </a:prstGeom>
        </p:spPr>
      </p:pic>
      <p:sp>
        <p:nvSpPr>
          <p:cNvPr id="2" name="Title 1"/>
          <p:cNvSpPr>
            <a:spLocks noGrp="1"/>
          </p:cNvSpPr>
          <p:nvPr>
            <p:ph type="title"/>
          </p:nvPr>
        </p:nvSpPr>
        <p:spPr>
          <a:xfrm>
            <a:off x="753865" y="690881"/>
            <a:ext cx="8550673" cy="3884211"/>
          </a:xfrm>
        </p:spPr>
        <p:txBody>
          <a:bodyPr anchor="ctr"/>
          <a:lstStyle>
            <a:lvl1pPr algn="ctr">
              <a:defRPr sz="3520"/>
            </a:lvl1pPr>
          </a:lstStyle>
          <a:p>
            <a:r>
              <a:rPr lang="en-US" smtClean="0"/>
              <a:t>Click to edit Master title style</a:t>
            </a:r>
            <a:endParaRPr lang="en-US" dirty="0"/>
          </a:p>
        </p:txBody>
      </p:sp>
      <p:sp>
        <p:nvSpPr>
          <p:cNvPr id="4" name="Text Placeholder 3"/>
          <p:cNvSpPr>
            <a:spLocks noGrp="1"/>
          </p:cNvSpPr>
          <p:nvPr>
            <p:ph type="body" sz="half" idx="2"/>
          </p:nvPr>
        </p:nvSpPr>
        <p:spPr>
          <a:xfrm>
            <a:off x="753865" y="4765464"/>
            <a:ext cx="8550673" cy="1797897"/>
          </a:xfrm>
        </p:spPr>
        <p:txBody>
          <a:bodyPr anchor="ctr"/>
          <a:lstStyle>
            <a:lvl1pPr marL="0" indent="0" algn="ctr">
              <a:buNone/>
              <a:defRPr sz="1760"/>
            </a:lvl1pPr>
            <a:lvl2pPr marL="502920" indent="0">
              <a:buNone/>
              <a:defRPr sz="1540"/>
            </a:lvl2pPr>
            <a:lvl3pPr marL="1005840" indent="0">
              <a:buNone/>
              <a:defRPr sz="1320"/>
            </a:lvl3pPr>
            <a:lvl4pPr marL="1508760" indent="0">
              <a:buNone/>
              <a:defRPr sz="1100"/>
            </a:lvl4pPr>
            <a:lvl5pPr marL="2011680" indent="0">
              <a:buNone/>
              <a:defRPr sz="1100"/>
            </a:lvl5pPr>
            <a:lvl6pPr marL="2514600" indent="0">
              <a:buNone/>
              <a:defRPr sz="1100"/>
            </a:lvl6pPr>
            <a:lvl7pPr marL="3017520" indent="0">
              <a:buNone/>
              <a:defRPr sz="1100"/>
            </a:lvl7pPr>
            <a:lvl8pPr marL="3520440" indent="0">
              <a:buNone/>
              <a:defRPr sz="1100"/>
            </a:lvl8pPr>
            <a:lvl9pPr marL="4023360" indent="0">
              <a:buNone/>
              <a:defRPr sz="1100"/>
            </a:lvl9pPr>
          </a:lstStyle>
          <a:p>
            <a:pPr lvl="0"/>
            <a:r>
              <a:rPr lang="en-US" smtClean="0"/>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3/16/2026</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38073">
              <a:lnSpc>
                <a:spcPts val="1150"/>
              </a:lnSpc>
            </a:pPr>
            <a:fld id="{81D60167-4931-47E6-BA6A-407CBD079E47}" type="slidenum">
              <a:rPr lang="en-IN" spc="-25" smtClean="0"/>
              <a:pPr marL="38073">
                <a:lnSpc>
                  <a:spcPts val="1150"/>
                </a:lnSpc>
              </a:pPr>
              <a:t>‹#›</a:t>
            </a:fld>
            <a:endParaRPr lang="en-IN" spc="-25" dirty="0"/>
          </a:p>
        </p:txBody>
      </p:sp>
    </p:spTree>
    <p:extLst>
      <p:ext uri="{BB962C8B-B14F-4D97-AF65-F5344CB8AC3E}">
        <p14:creationId xmlns:p14="http://schemas.microsoft.com/office/powerpoint/2010/main" val="19532520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3" name="Picture 12"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0058400" cy="7772400"/>
          </a:xfrm>
          <a:prstGeom prst="rect">
            <a:avLst/>
          </a:prstGeom>
        </p:spPr>
      </p:pic>
      <p:sp>
        <p:nvSpPr>
          <p:cNvPr id="2" name="Title 1"/>
          <p:cNvSpPr>
            <a:spLocks noGrp="1"/>
          </p:cNvSpPr>
          <p:nvPr>
            <p:ph type="title"/>
          </p:nvPr>
        </p:nvSpPr>
        <p:spPr>
          <a:xfrm>
            <a:off x="1193125" y="988933"/>
            <a:ext cx="7674770" cy="3093904"/>
          </a:xfrm>
        </p:spPr>
        <p:txBody>
          <a:bodyPr anchor="ctr"/>
          <a:lstStyle>
            <a:lvl1pPr>
              <a:defRPr sz="352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419533" y="4091370"/>
            <a:ext cx="7220646" cy="674093"/>
          </a:xfrm>
        </p:spPr>
        <p:txBody>
          <a:bodyPr anchor="t">
            <a:normAutofit/>
          </a:bodyPr>
          <a:lstStyle>
            <a:lvl1pPr marL="0" indent="0">
              <a:buNone/>
              <a:defRPr sz="1540"/>
            </a:lvl1pPr>
            <a:lvl2pPr marL="502920" indent="0">
              <a:buNone/>
              <a:defRPr sz="1540"/>
            </a:lvl2pPr>
            <a:lvl3pPr marL="1005840" indent="0">
              <a:buNone/>
              <a:defRPr sz="1320"/>
            </a:lvl3pPr>
            <a:lvl4pPr marL="1508760" indent="0">
              <a:buNone/>
              <a:defRPr sz="1100"/>
            </a:lvl4pPr>
            <a:lvl5pPr marL="2011680" indent="0">
              <a:buNone/>
              <a:defRPr sz="1100"/>
            </a:lvl5pPr>
            <a:lvl6pPr marL="2514600" indent="0">
              <a:buNone/>
              <a:defRPr sz="1100"/>
            </a:lvl6pPr>
            <a:lvl7pPr marL="3017520" indent="0">
              <a:buNone/>
              <a:defRPr sz="1100"/>
            </a:lvl7pPr>
            <a:lvl8pPr marL="3520440" indent="0">
              <a:buNone/>
              <a:defRPr sz="1100"/>
            </a:lvl8pPr>
            <a:lvl9pPr marL="4023360" indent="0">
              <a:buNone/>
              <a:defRPr sz="1100"/>
            </a:lvl9pPr>
          </a:lstStyle>
          <a:p>
            <a:pPr lvl="0"/>
            <a:r>
              <a:rPr lang="en-US" smtClean="0"/>
              <a:t>Edit Master text styles</a:t>
            </a:r>
          </a:p>
        </p:txBody>
      </p:sp>
      <p:sp>
        <p:nvSpPr>
          <p:cNvPr id="4" name="Text Placeholder 3"/>
          <p:cNvSpPr>
            <a:spLocks noGrp="1"/>
          </p:cNvSpPr>
          <p:nvPr>
            <p:ph type="body" sz="half" idx="2"/>
          </p:nvPr>
        </p:nvSpPr>
        <p:spPr>
          <a:xfrm>
            <a:off x="753865" y="4955837"/>
            <a:ext cx="8550673" cy="1610527"/>
          </a:xfrm>
        </p:spPr>
        <p:txBody>
          <a:bodyPr anchor="ctr">
            <a:normAutofit/>
          </a:bodyPr>
          <a:lstStyle>
            <a:lvl1pPr marL="0" indent="0" algn="ctr">
              <a:buNone/>
              <a:defRPr sz="1760"/>
            </a:lvl1pPr>
            <a:lvl2pPr marL="502920" indent="0">
              <a:buNone/>
              <a:defRPr sz="1540"/>
            </a:lvl2pPr>
            <a:lvl3pPr marL="1005840" indent="0">
              <a:buNone/>
              <a:defRPr sz="1320"/>
            </a:lvl3pPr>
            <a:lvl4pPr marL="1508760" indent="0">
              <a:buNone/>
              <a:defRPr sz="1100"/>
            </a:lvl4pPr>
            <a:lvl5pPr marL="2011680" indent="0">
              <a:buNone/>
              <a:defRPr sz="1100"/>
            </a:lvl5pPr>
            <a:lvl6pPr marL="2514600" indent="0">
              <a:buNone/>
              <a:defRPr sz="1100"/>
            </a:lvl6pPr>
            <a:lvl7pPr marL="3017520" indent="0">
              <a:buNone/>
              <a:defRPr sz="1100"/>
            </a:lvl7pPr>
            <a:lvl8pPr marL="3520440" indent="0">
              <a:buNone/>
              <a:defRPr sz="1100"/>
            </a:lvl8pPr>
            <a:lvl9pPr marL="4023360" indent="0">
              <a:buNone/>
              <a:defRPr sz="1100"/>
            </a:lvl9pPr>
          </a:lstStyle>
          <a:p>
            <a:pPr lvl="0"/>
            <a:r>
              <a:rPr lang="en-US" smtClean="0"/>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3/16/2026</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38073">
              <a:lnSpc>
                <a:spcPts val="1150"/>
              </a:lnSpc>
            </a:pPr>
            <a:fld id="{81D60167-4931-47E6-BA6A-407CBD079E47}" type="slidenum">
              <a:rPr lang="en-IN" spc="-25" smtClean="0"/>
              <a:pPr marL="38073">
                <a:lnSpc>
                  <a:spcPts val="1150"/>
                </a:lnSpc>
              </a:pPr>
              <a:t>‹#›</a:t>
            </a:fld>
            <a:endParaRPr lang="en-IN" spc="-25" dirty="0"/>
          </a:p>
        </p:txBody>
      </p:sp>
      <p:sp>
        <p:nvSpPr>
          <p:cNvPr id="11" name="TextBox 10"/>
          <p:cNvSpPr txBox="1"/>
          <p:nvPr/>
        </p:nvSpPr>
        <p:spPr>
          <a:xfrm>
            <a:off x="811389" y="1006240"/>
            <a:ext cx="601577" cy="662746"/>
          </a:xfrm>
          <a:prstGeom prst="rect">
            <a:avLst/>
          </a:prstGeom>
        </p:spPr>
        <p:txBody>
          <a:bodyPr vert="horz" lIns="100584" tIns="50292" rIns="100584" bIns="50292"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800" dirty="0">
                <a:solidFill>
                  <a:schemeClr val="tx1"/>
                </a:solidFill>
                <a:effectLst/>
              </a:rPr>
              <a:t>“</a:t>
            </a:r>
          </a:p>
        </p:txBody>
      </p:sp>
      <p:sp>
        <p:nvSpPr>
          <p:cNvPr id="14" name="TextBox 13"/>
          <p:cNvSpPr txBox="1"/>
          <p:nvPr/>
        </p:nvSpPr>
        <p:spPr>
          <a:xfrm>
            <a:off x="8635144" y="3536017"/>
            <a:ext cx="609005" cy="662746"/>
          </a:xfrm>
          <a:prstGeom prst="rect">
            <a:avLst/>
          </a:prstGeom>
        </p:spPr>
        <p:txBody>
          <a:bodyPr vert="horz" lIns="100584" tIns="50292" rIns="100584" bIns="50292"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800" dirty="0">
                <a:solidFill>
                  <a:schemeClr val="tx1"/>
                </a:solidFill>
                <a:effectLst/>
              </a:rPr>
              <a:t>”</a:t>
            </a:r>
          </a:p>
        </p:txBody>
      </p:sp>
    </p:spTree>
    <p:extLst>
      <p:ext uri="{BB962C8B-B14F-4D97-AF65-F5344CB8AC3E}">
        <p14:creationId xmlns:p14="http://schemas.microsoft.com/office/powerpoint/2010/main" val="19350197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0058400" cy="7772400"/>
          </a:xfrm>
          <a:prstGeom prst="rect">
            <a:avLst/>
          </a:prstGeom>
        </p:spPr>
      </p:pic>
      <p:sp>
        <p:nvSpPr>
          <p:cNvPr id="2" name="Title 1"/>
          <p:cNvSpPr>
            <a:spLocks noGrp="1"/>
          </p:cNvSpPr>
          <p:nvPr>
            <p:ph type="title"/>
          </p:nvPr>
        </p:nvSpPr>
        <p:spPr>
          <a:xfrm>
            <a:off x="753865" y="2423886"/>
            <a:ext cx="8550673" cy="2846746"/>
          </a:xfrm>
        </p:spPr>
        <p:txBody>
          <a:bodyPr anchor="b"/>
          <a:lstStyle>
            <a:lvl1pPr algn="ctr">
              <a:defRPr sz="3520"/>
            </a:lvl1pPr>
          </a:lstStyle>
          <a:p>
            <a:r>
              <a:rPr lang="en-US" smtClean="0"/>
              <a:t>Click to edit Master title style</a:t>
            </a:r>
            <a:endParaRPr lang="en-US" dirty="0"/>
          </a:p>
        </p:txBody>
      </p:sp>
      <p:sp>
        <p:nvSpPr>
          <p:cNvPr id="4" name="Text Placeholder 3"/>
          <p:cNvSpPr>
            <a:spLocks noGrp="1"/>
          </p:cNvSpPr>
          <p:nvPr>
            <p:ph type="body" sz="half" idx="2"/>
          </p:nvPr>
        </p:nvSpPr>
        <p:spPr>
          <a:xfrm>
            <a:off x="753865" y="5283980"/>
            <a:ext cx="8550673" cy="1292730"/>
          </a:xfrm>
        </p:spPr>
        <p:txBody>
          <a:bodyPr anchor="t"/>
          <a:lstStyle>
            <a:lvl1pPr marL="0" indent="0" algn="ctr">
              <a:buNone/>
              <a:defRPr sz="1760"/>
            </a:lvl1pPr>
            <a:lvl2pPr marL="502920" indent="0">
              <a:buNone/>
              <a:defRPr sz="1540"/>
            </a:lvl2pPr>
            <a:lvl3pPr marL="1005840" indent="0">
              <a:buNone/>
              <a:defRPr sz="1320"/>
            </a:lvl3pPr>
            <a:lvl4pPr marL="1508760" indent="0">
              <a:buNone/>
              <a:defRPr sz="1100"/>
            </a:lvl4pPr>
            <a:lvl5pPr marL="2011680" indent="0">
              <a:buNone/>
              <a:defRPr sz="1100"/>
            </a:lvl5pPr>
            <a:lvl6pPr marL="2514600" indent="0">
              <a:buNone/>
              <a:defRPr sz="1100"/>
            </a:lvl6pPr>
            <a:lvl7pPr marL="3017520" indent="0">
              <a:buNone/>
              <a:defRPr sz="1100"/>
            </a:lvl7pPr>
            <a:lvl8pPr marL="3520440" indent="0">
              <a:buNone/>
              <a:defRPr sz="1100"/>
            </a:lvl8pPr>
            <a:lvl9pPr marL="4023360" indent="0">
              <a:buNone/>
              <a:defRPr sz="1100"/>
            </a:lvl9pPr>
          </a:lstStyle>
          <a:p>
            <a:pPr lvl="0"/>
            <a:r>
              <a:rPr lang="en-US" smtClean="0"/>
              <a:t>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3/16/2026</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pPr marL="38073">
              <a:lnSpc>
                <a:spcPts val="1150"/>
              </a:lnSpc>
            </a:pPr>
            <a:fld id="{81D60167-4931-47E6-BA6A-407CBD079E47}" type="slidenum">
              <a:rPr lang="en-IN" spc="-25" smtClean="0"/>
              <a:pPr marL="38073">
                <a:lnSpc>
                  <a:spcPts val="1150"/>
                </a:lnSpc>
              </a:pPr>
              <a:t>‹#›</a:t>
            </a:fld>
            <a:endParaRPr lang="en-IN" spc="-25" dirty="0"/>
          </a:p>
        </p:txBody>
      </p:sp>
    </p:spTree>
    <p:extLst>
      <p:ext uri="{BB962C8B-B14F-4D97-AF65-F5344CB8AC3E}">
        <p14:creationId xmlns:p14="http://schemas.microsoft.com/office/powerpoint/2010/main" val="16898244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3 Column">
    <p:spTree>
      <p:nvGrpSpPr>
        <p:cNvPr id="1" name=""/>
        <p:cNvGrpSpPr/>
        <p:nvPr/>
      </p:nvGrpSpPr>
      <p:grpSpPr>
        <a:xfrm>
          <a:off x="0" y="0"/>
          <a:ext cx="0" cy="0"/>
          <a:chOff x="0" y="0"/>
          <a:chExt cx="0" cy="0"/>
        </a:xfrm>
      </p:grpSpPr>
      <p:pic>
        <p:nvPicPr>
          <p:cNvPr id="14" name="Picture 13"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0058400" cy="7772400"/>
          </a:xfrm>
          <a:prstGeom prst="rect">
            <a:avLst/>
          </a:prstGeom>
        </p:spPr>
      </p:pic>
      <p:sp>
        <p:nvSpPr>
          <p:cNvPr id="15" name="Title 1"/>
          <p:cNvSpPr>
            <a:spLocks noGrp="1"/>
          </p:cNvSpPr>
          <p:nvPr>
            <p:ph type="title"/>
          </p:nvPr>
        </p:nvSpPr>
        <p:spPr>
          <a:xfrm>
            <a:off x="753865" y="690880"/>
            <a:ext cx="8550673" cy="1819107"/>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753864" y="2682705"/>
            <a:ext cx="2721655" cy="653097"/>
          </a:xfrm>
        </p:spPr>
        <p:txBody>
          <a:bodyPr anchor="b">
            <a:noAutofit/>
          </a:bodyPr>
          <a:lstStyle>
            <a:lvl1pPr marL="0" indent="0" algn="ctr">
              <a:lnSpc>
                <a:spcPct val="75000"/>
              </a:lnSpc>
              <a:buNone/>
              <a:defRPr sz="2640" b="0">
                <a:solidFill>
                  <a:schemeClr val="tx1"/>
                </a:solidFill>
              </a:defRPr>
            </a:lvl1pPr>
            <a:lvl2pPr marL="502920" indent="0">
              <a:buNone/>
              <a:defRPr sz="2200" b="1"/>
            </a:lvl2pPr>
            <a:lvl3pPr marL="1005840" indent="0">
              <a:buNone/>
              <a:defRPr sz="1980" b="1"/>
            </a:lvl3pPr>
            <a:lvl4pPr marL="1508760" indent="0">
              <a:buNone/>
              <a:defRPr sz="1760" b="1"/>
            </a:lvl4pPr>
            <a:lvl5pPr marL="2011680" indent="0">
              <a:buNone/>
              <a:defRPr sz="1760" b="1"/>
            </a:lvl5pPr>
            <a:lvl6pPr marL="2514600" indent="0">
              <a:buNone/>
              <a:defRPr sz="1760" b="1"/>
            </a:lvl6pPr>
            <a:lvl7pPr marL="3017520" indent="0">
              <a:buNone/>
              <a:defRPr sz="1760" b="1"/>
            </a:lvl7pPr>
            <a:lvl8pPr marL="3520440" indent="0">
              <a:buNone/>
              <a:defRPr sz="1760" b="1"/>
            </a:lvl8pPr>
            <a:lvl9pPr marL="4023360" indent="0">
              <a:buNone/>
              <a:defRPr sz="1760" b="1"/>
            </a:lvl9pPr>
          </a:lstStyle>
          <a:p>
            <a:pPr lvl="0"/>
            <a:r>
              <a:rPr lang="en-US" smtClean="0"/>
              <a:t>Edit Master text styles</a:t>
            </a:r>
          </a:p>
        </p:txBody>
      </p:sp>
      <p:sp>
        <p:nvSpPr>
          <p:cNvPr id="8" name="Text Placeholder 3"/>
          <p:cNvSpPr>
            <a:spLocks noGrp="1"/>
          </p:cNvSpPr>
          <p:nvPr>
            <p:ph type="body" sz="half" idx="15"/>
          </p:nvPr>
        </p:nvSpPr>
        <p:spPr>
          <a:xfrm>
            <a:off x="753864" y="3335804"/>
            <a:ext cx="2721655" cy="3227558"/>
          </a:xfrm>
        </p:spPr>
        <p:txBody>
          <a:bodyPr anchor="t">
            <a:normAutofit/>
          </a:bodyPr>
          <a:lstStyle>
            <a:lvl1pPr marL="0" indent="0" algn="ctr">
              <a:buNone/>
              <a:defRPr sz="1540"/>
            </a:lvl1pPr>
            <a:lvl2pPr marL="502920" indent="0">
              <a:buNone/>
              <a:defRPr sz="1320"/>
            </a:lvl2pPr>
            <a:lvl3pPr marL="1005840" indent="0">
              <a:buNone/>
              <a:defRPr sz="1100"/>
            </a:lvl3pPr>
            <a:lvl4pPr marL="1508760" indent="0">
              <a:buNone/>
              <a:defRPr sz="990"/>
            </a:lvl4pPr>
            <a:lvl5pPr marL="2011680" indent="0">
              <a:buNone/>
              <a:defRPr sz="990"/>
            </a:lvl5pPr>
            <a:lvl6pPr marL="2514600" indent="0">
              <a:buNone/>
              <a:defRPr sz="990"/>
            </a:lvl6pPr>
            <a:lvl7pPr marL="3017520" indent="0">
              <a:buNone/>
              <a:defRPr sz="990"/>
            </a:lvl7pPr>
            <a:lvl8pPr marL="3520440" indent="0">
              <a:buNone/>
              <a:defRPr sz="990"/>
            </a:lvl8pPr>
            <a:lvl9pPr marL="4023360" indent="0">
              <a:buNone/>
              <a:defRPr sz="990"/>
            </a:lvl9pPr>
          </a:lstStyle>
          <a:p>
            <a:pPr lvl="0"/>
            <a:r>
              <a:rPr lang="en-US" smtClean="0"/>
              <a:t>Edit Master text styles</a:t>
            </a:r>
          </a:p>
        </p:txBody>
      </p:sp>
      <p:sp>
        <p:nvSpPr>
          <p:cNvPr id="9" name="Text Placeholder 4"/>
          <p:cNvSpPr>
            <a:spLocks noGrp="1"/>
          </p:cNvSpPr>
          <p:nvPr>
            <p:ph type="body" sz="quarter" idx="3"/>
          </p:nvPr>
        </p:nvSpPr>
        <p:spPr>
          <a:xfrm>
            <a:off x="3673222" y="2682705"/>
            <a:ext cx="2715505" cy="653097"/>
          </a:xfrm>
        </p:spPr>
        <p:txBody>
          <a:bodyPr anchor="b">
            <a:noAutofit/>
          </a:bodyPr>
          <a:lstStyle>
            <a:lvl1pPr marL="0" indent="0" algn="ctr">
              <a:lnSpc>
                <a:spcPct val="75000"/>
              </a:lnSpc>
              <a:buNone/>
              <a:defRPr sz="2640" b="0">
                <a:solidFill>
                  <a:schemeClr val="tx1"/>
                </a:solidFill>
              </a:defRPr>
            </a:lvl1pPr>
            <a:lvl2pPr marL="502920" indent="0">
              <a:buNone/>
              <a:defRPr sz="2200" b="1"/>
            </a:lvl2pPr>
            <a:lvl3pPr marL="1005840" indent="0">
              <a:buNone/>
              <a:defRPr sz="1980" b="1"/>
            </a:lvl3pPr>
            <a:lvl4pPr marL="1508760" indent="0">
              <a:buNone/>
              <a:defRPr sz="1760" b="1"/>
            </a:lvl4pPr>
            <a:lvl5pPr marL="2011680" indent="0">
              <a:buNone/>
              <a:defRPr sz="1760" b="1"/>
            </a:lvl5pPr>
            <a:lvl6pPr marL="2514600" indent="0">
              <a:buNone/>
              <a:defRPr sz="1760" b="1"/>
            </a:lvl6pPr>
            <a:lvl7pPr marL="3017520" indent="0">
              <a:buNone/>
              <a:defRPr sz="1760" b="1"/>
            </a:lvl7pPr>
            <a:lvl8pPr marL="3520440" indent="0">
              <a:buNone/>
              <a:defRPr sz="1760" b="1"/>
            </a:lvl8pPr>
            <a:lvl9pPr marL="4023360" indent="0">
              <a:buNone/>
              <a:defRPr sz="1760" b="1"/>
            </a:lvl9pPr>
          </a:lstStyle>
          <a:p>
            <a:pPr lvl="0"/>
            <a:r>
              <a:rPr lang="en-US" smtClean="0"/>
              <a:t>Edit Master text styles</a:t>
            </a:r>
          </a:p>
        </p:txBody>
      </p:sp>
      <p:sp>
        <p:nvSpPr>
          <p:cNvPr id="10" name="Text Placeholder 3"/>
          <p:cNvSpPr>
            <a:spLocks noGrp="1"/>
          </p:cNvSpPr>
          <p:nvPr>
            <p:ph type="body" sz="half" idx="16"/>
          </p:nvPr>
        </p:nvSpPr>
        <p:spPr>
          <a:xfrm>
            <a:off x="3664114" y="3335804"/>
            <a:ext cx="2725264" cy="3227558"/>
          </a:xfrm>
        </p:spPr>
        <p:txBody>
          <a:bodyPr anchor="t">
            <a:normAutofit/>
          </a:bodyPr>
          <a:lstStyle>
            <a:lvl1pPr marL="0" indent="0" algn="ctr">
              <a:buNone/>
              <a:defRPr sz="1540"/>
            </a:lvl1pPr>
            <a:lvl2pPr marL="502920" indent="0">
              <a:buNone/>
              <a:defRPr sz="1320"/>
            </a:lvl2pPr>
            <a:lvl3pPr marL="1005840" indent="0">
              <a:buNone/>
              <a:defRPr sz="1100"/>
            </a:lvl3pPr>
            <a:lvl4pPr marL="1508760" indent="0">
              <a:buNone/>
              <a:defRPr sz="990"/>
            </a:lvl4pPr>
            <a:lvl5pPr marL="2011680" indent="0">
              <a:buNone/>
              <a:defRPr sz="990"/>
            </a:lvl5pPr>
            <a:lvl6pPr marL="2514600" indent="0">
              <a:buNone/>
              <a:defRPr sz="990"/>
            </a:lvl6pPr>
            <a:lvl7pPr marL="3017520" indent="0">
              <a:buNone/>
              <a:defRPr sz="990"/>
            </a:lvl7pPr>
            <a:lvl8pPr marL="3520440" indent="0">
              <a:buNone/>
              <a:defRPr sz="990"/>
            </a:lvl8pPr>
            <a:lvl9pPr marL="4023360" indent="0">
              <a:buNone/>
              <a:defRPr sz="990"/>
            </a:lvl9pPr>
          </a:lstStyle>
          <a:p>
            <a:pPr lvl="0"/>
            <a:r>
              <a:rPr lang="en-US" smtClean="0"/>
              <a:t>Edit Master text styles</a:t>
            </a:r>
          </a:p>
        </p:txBody>
      </p:sp>
      <p:sp>
        <p:nvSpPr>
          <p:cNvPr id="11" name="Text Placeholder 4"/>
          <p:cNvSpPr>
            <a:spLocks noGrp="1"/>
          </p:cNvSpPr>
          <p:nvPr>
            <p:ph type="body" sz="quarter" idx="13"/>
          </p:nvPr>
        </p:nvSpPr>
        <p:spPr>
          <a:xfrm>
            <a:off x="6577971" y="2682705"/>
            <a:ext cx="2726566" cy="653097"/>
          </a:xfrm>
        </p:spPr>
        <p:txBody>
          <a:bodyPr anchor="b">
            <a:noAutofit/>
          </a:bodyPr>
          <a:lstStyle>
            <a:lvl1pPr marL="0" indent="0" algn="ctr">
              <a:lnSpc>
                <a:spcPct val="75000"/>
              </a:lnSpc>
              <a:buNone/>
              <a:defRPr sz="2640" b="0">
                <a:solidFill>
                  <a:schemeClr val="tx1"/>
                </a:solidFill>
              </a:defRPr>
            </a:lvl1pPr>
            <a:lvl2pPr marL="502920" indent="0">
              <a:buNone/>
              <a:defRPr sz="2200" b="1"/>
            </a:lvl2pPr>
            <a:lvl3pPr marL="1005840" indent="0">
              <a:buNone/>
              <a:defRPr sz="1980" b="1"/>
            </a:lvl3pPr>
            <a:lvl4pPr marL="1508760" indent="0">
              <a:buNone/>
              <a:defRPr sz="1760" b="1"/>
            </a:lvl4pPr>
            <a:lvl5pPr marL="2011680" indent="0">
              <a:buNone/>
              <a:defRPr sz="1760" b="1"/>
            </a:lvl5pPr>
            <a:lvl6pPr marL="2514600" indent="0">
              <a:buNone/>
              <a:defRPr sz="1760" b="1"/>
            </a:lvl6pPr>
            <a:lvl7pPr marL="3017520" indent="0">
              <a:buNone/>
              <a:defRPr sz="1760" b="1"/>
            </a:lvl7pPr>
            <a:lvl8pPr marL="3520440" indent="0">
              <a:buNone/>
              <a:defRPr sz="1760" b="1"/>
            </a:lvl8pPr>
            <a:lvl9pPr marL="4023360" indent="0">
              <a:buNone/>
              <a:defRPr sz="1760" b="1"/>
            </a:lvl9pPr>
          </a:lstStyle>
          <a:p>
            <a:pPr lvl="0"/>
            <a:r>
              <a:rPr lang="en-US" smtClean="0"/>
              <a:t>Edit Master text styles</a:t>
            </a:r>
          </a:p>
        </p:txBody>
      </p:sp>
      <p:sp>
        <p:nvSpPr>
          <p:cNvPr id="12" name="Text Placeholder 3"/>
          <p:cNvSpPr>
            <a:spLocks noGrp="1"/>
          </p:cNvSpPr>
          <p:nvPr>
            <p:ph type="body" sz="half" idx="17"/>
          </p:nvPr>
        </p:nvSpPr>
        <p:spPr>
          <a:xfrm>
            <a:off x="6577971" y="3335804"/>
            <a:ext cx="2726566" cy="3227558"/>
          </a:xfrm>
        </p:spPr>
        <p:txBody>
          <a:bodyPr anchor="t">
            <a:normAutofit/>
          </a:bodyPr>
          <a:lstStyle>
            <a:lvl1pPr marL="0" indent="0" algn="ctr">
              <a:buNone/>
              <a:defRPr sz="1540"/>
            </a:lvl1pPr>
            <a:lvl2pPr marL="502920" indent="0">
              <a:buNone/>
              <a:defRPr sz="1320"/>
            </a:lvl2pPr>
            <a:lvl3pPr marL="1005840" indent="0">
              <a:buNone/>
              <a:defRPr sz="1100"/>
            </a:lvl3pPr>
            <a:lvl4pPr marL="1508760" indent="0">
              <a:buNone/>
              <a:defRPr sz="990"/>
            </a:lvl4pPr>
            <a:lvl5pPr marL="2011680" indent="0">
              <a:buNone/>
              <a:defRPr sz="990"/>
            </a:lvl5pPr>
            <a:lvl6pPr marL="2514600" indent="0">
              <a:buNone/>
              <a:defRPr sz="990"/>
            </a:lvl6pPr>
            <a:lvl7pPr marL="3017520" indent="0">
              <a:buNone/>
              <a:defRPr sz="990"/>
            </a:lvl7pPr>
            <a:lvl8pPr marL="3520440" indent="0">
              <a:buNone/>
              <a:defRPr sz="990"/>
            </a:lvl8pPr>
            <a:lvl9pPr marL="4023360" indent="0">
              <a:buNone/>
              <a:defRPr sz="990"/>
            </a:lvl9pPr>
          </a:lstStyle>
          <a:p>
            <a:pPr lvl="0"/>
            <a:r>
              <a:rPr lang="en-US" smtClean="0"/>
              <a:t>Edit Master text styles</a:t>
            </a:r>
          </a:p>
        </p:txBody>
      </p:sp>
      <p:sp>
        <p:nvSpPr>
          <p:cNvPr id="3" name="Date Placeholder 2"/>
          <p:cNvSpPr>
            <a:spLocks noGrp="1"/>
          </p:cNvSpPr>
          <p:nvPr>
            <p:ph type="dt" sz="half" idx="10"/>
          </p:nvPr>
        </p:nvSpPr>
        <p:spPr/>
        <p:txBody>
          <a:bodyPr/>
          <a:lstStyle/>
          <a:p>
            <a:fld id="{1D8BD707-D9CF-40AE-B4C6-C98DA3205C09}" type="datetimeFigureOut">
              <a:rPr lang="en-US" smtClean="0"/>
              <a:t>3/16/2026</a:t>
            </a:fld>
            <a:endParaRPr lang="en-US"/>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pPr marL="38073">
              <a:lnSpc>
                <a:spcPts val="1150"/>
              </a:lnSpc>
            </a:pPr>
            <a:fld id="{81D60167-4931-47E6-BA6A-407CBD079E47}" type="slidenum">
              <a:rPr lang="en-IN" spc="-25" smtClean="0"/>
              <a:pPr marL="38073">
                <a:lnSpc>
                  <a:spcPts val="1150"/>
                </a:lnSpc>
              </a:pPr>
              <a:t>‹#›</a:t>
            </a:fld>
            <a:endParaRPr lang="en-IN" spc="-25" dirty="0"/>
          </a:p>
        </p:txBody>
      </p:sp>
    </p:spTree>
    <p:extLst>
      <p:ext uri="{BB962C8B-B14F-4D97-AF65-F5344CB8AC3E}">
        <p14:creationId xmlns:p14="http://schemas.microsoft.com/office/powerpoint/2010/main" val="403420834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3 Picture Column">
    <p:spTree>
      <p:nvGrpSpPr>
        <p:cNvPr id="1" name=""/>
        <p:cNvGrpSpPr/>
        <p:nvPr/>
      </p:nvGrpSpPr>
      <p:grpSpPr>
        <a:xfrm>
          <a:off x="0" y="0"/>
          <a:ext cx="0" cy="0"/>
          <a:chOff x="0" y="0"/>
          <a:chExt cx="0" cy="0"/>
        </a:xfrm>
      </p:grpSpPr>
      <p:pic>
        <p:nvPicPr>
          <p:cNvPr id="17" name="Picture 16"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0058400" cy="7772400"/>
          </a:xfrm>
          <a:prstGeom prst="rect">
            <a:avLst/>
          </a:prstGeom>
        </p:spPr>
      </p:pic>
      <p:sp>
        <p:nvSpPr>
          <p:cNvPr id="30" name="Title 1"/>
          <p:cNvSpPr>
            <a:spLocks noGrp="1"/>
          </p:cNvSpPr>
          <p:nvPr>
            <p:ph type="title"/>
          </p:nvPr>
        </p:nvSpPr>
        <p:spPr>
          <a:xfrm>
            <a:off x="753865" y="692208"/>
            <a:ext cx="8550673" cy="1817778"/>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753865" y="4765463"/>
            <a:ext cx="2719538" cy="653097"/>
          </a:xfrm>
        </p:spPr>
        <p:txBody>
          <a:bodyPr anchor="b">
            <a:noAutofit/>
          </a:bodyPr>
          <a:lstStyle>
            <a:lvl1pPr marL="0" indent="0" algn="ctr">
              <a:lnSpc>
                <a:spcPct val="75000"/>
              </a:lnSpc>
              <a:buNone/>
              <a:defRPr sz="2420" b="0">
                <a:solidFill>
                  <a:schemeClr val="tx1"/>
                </a:solidFill>
              </a:defRPr>
            </a:lvl1pPr>
            <a:lvl2pPr marL="502920" indent="0">
              <a:buNone/>
              <a:defRPr sz="2200" b="1"/>
            </a:lvl2pPr>
            <a:lvl3pPr marL="1005840" indent="0">
              <a:buNone/>
              <a:defRPr sz="1980" b="1"/>
            </a:lvl3pPr>
            <a:lvl4pPr marL="1508760" indent="0">
              <a:buNone/>
              <a:defRPr sz="1760" b="1"/>
            </a:lvl4pPr>
            <a:lvl5pPr marL="2011680" indent="0">
              <a:buNone/>
              <a:defRPr sz="1760" b="1"/>
            </a:lvl5pPr>
            <a:lvl6pPr marL="2514600" indent="0">
              <a:buNone/>
              <a:defRPr sz="1760" b="1"/>
            </a:lvl6pPr>
            <a:lvl7pPr marL="3017520" indent="0">
              <a:buNone/>
              <a:defRPr sz="1760" b="1"/>
            </a:lvl7pPr>
            <a:lvl8pPr marL="3520440" indent="0">
              <a:buNone/>
              <a:defRPr sz="1760" b="1"/>
            </a:lvl8pPr>
            <a:lvl9pPr marL="4023360" indent="0">
              <a:buNone/>
              <a:defRPr sz="1760" b="1"/>
            </a:lvl9pPr>
          </a:lstStyle>
          <a:p>
            <a:pPr lvl="0"/>
            <a:r>
              <a:rPr lang="en-US" smtClean="0"/>
              <a:t>Edit Master text styles</a:t>
            </a:r>
          </a:p>
        </p:txBody>
      </p:sp>
      <p:sp>
        <p:nvSpPr>
          <p:cNvPr id="20" name="Picture Placeholder 2"/>
          <p:cNvSpPr>
            <a:spLocks noGrp="1" noChangeAspect="1"/>
          </p:cNvSpPr>
          <p:nvPr>
            <p:ph type="pic" idx="15"/>
          </p:nvPr>
        </p:nvSpPr>
        <p:spPr>
          <a:xfrm>
            <a:off x="753865" y="2682705"/>
            <a:ext cx="2719538" cy="17272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760"/>
            </a:lvl1pPr>
            <a:lvl2pPr marL="502920" indent="0">
              <a:buNone/>
              <a:defRPr sz="1760"/>
            </a:lvl2pPr>
            <a:lvl3pPr marL="1005840" indent="0">
              <a:buNone/>
              <a:defRPr sz="1760"/>
            </a:lvl3pPr>
            <a:lvl4pPr marL="1508760" indent="0">
              <a:buNone/>
              <a:defRPr sz="1760"/>
            </a:lvl4pPr>
            <a:lvl5pPr marL="2011680" indent="0">
              <a:buNone/>
              <a:defRPr sz="1760"/>
            </a:lvl5pPr>
            <a:lvl6pPr marL="2514600" indent="0">
              <a:buNone/>
              <a:defRPr sz="1760"/>
            </a:lvl6pPr>
            <a:lvl7pPr marL="3017520" indent="0">
              <a:buNone/>
              <a:defRPr sz="1760"/>
            </a:lvl7pPr>
            <a:lvl8pPr marL="3520440" indent="0">
              <a:buNone/>
              <a:defRPr sz="1760"/>
            </a:lvl8pPr>
            <a:lvl9pPr marL="4023360" indent="0">
              <a:buNone/>
              <a:defRPr sz="1760"/>
            </a:lvl9pPr>
          </a:lstStyle>
          <a:p>
            <a:r>
              <a:rPr lang="en-US" smtClean="0"/>
              <a:t>Click icon to add picture</a:t>
            </a:r>
            <a:endParaRPr lang="en-US" dirty="0"/>
          </a:p>
        </p:txBody>
      </p:sp>
      <p:sp>
        <p:nvSpPr>
          <p:cNvPr id="21" name="Text Placeholder 3"/>
          <p:cNvSpPr>
            <a:spLocks noGrp="1"/>
          </p:cNvSpPr>
          <p:nvPr>
            <p:ph type="body" sz="half" idx="18"/>
          </p:nvPr>
        </p:nvSpPr>
        <p:spPr>
          <a:xfrm>
            <a:off x="753865" y="5418560"/>
            <a:ext cx="2719538" cy="1144800"/>
          </a:xfrm>
        </p:spPr>
        <p:txBody>
          <a:bodyPr anchor="t">
            <a:normAutofit/>
          </a:bodyPr>
          <a:lstStyle>
            <a:lvl1pPr marL="0" indent="0" algn="ctr">
              <a:buNone/>
              <a:defRPr sz="1540"/>
            </a:lvl1pPr>
            <a:lvl2pPr marL="502920" indent="0">
              <a:buNone/>
              <a:defRPr sz="1320"/>
            </a:lvl2pPr>
            <a:lvl3pPr marL="1005840" indent="0">
              <a:buNone/>
              <a:defRPr sz="1100"/>
            </a:lvl3pPr>
            <a:lvl4pPr marL="1508760" indent="0">
              <a:buNone/>
              <a:defRPr sz="990"/>
            </a:lvl4pPr>
            <a:lvl5pPr marL="2011680" indent="0">
              <a:buNone/>
              <a:defRPr sz="990"/>
            </a:lvl5pPr>
            <a:lvl6pPr marL="2514600" indent="0">
              <a:buNone/>
              <a:defRPr sz="990"/>
            </a:lvl6pPr>
            <a:lvl7pPr marL="3017520" indent="0">
              <a:buNone/>
              <a:defRPr sz="990"/>
            </a:lvl7pPr>
            <a:lvl8pPr marL="3520440" indent="0">
              <a:buNone/>
              <a:defRPr sz="990"/>
            </a:lvl8pPr>
            <a:lvl9pPr marL="4023360" indent="0">
              <a:buNone/>
              <a:defRPr sz="990"/>
            </a:lvl9pPr>
          </a:lstStyle>
          <a:p>
            <a:pPr lvl="0"/>
            <a:r>
              <a:rPr lang="en-US" smtClean="0"/>
              <a:t>Edit Master text styles</a:t>
            </a:r>
          </a:p>
        </p:txBody>
      </p:sp>
      <p:sp>
        <p:nvSpPr>
          <p:cNvPr id="22" name="Text Placeholder 4"/>
          <p:cNvSpPr>
            <a:spLocks noGrp="1"/>
          </p:cNvSpPr>
          <p:nvPr>
            <p:ph type="body" sz="quarter" idx="3"/>
          </p:nvPr>
        </p:nvSpPr>
        <p:spPr>
          <a:xfrm>
            <a:off x="3665277" y="4765463"/>
            <a:ext cx="2724008" cy="653097"/>
          </a:xfrm>
        </p:spPr>
        <p:txBody>
          <a:bodyPr anchor="b">
            <a:noAutofit/>
          </a:bodyPr>
          <a:lstStyle>
            <a:lvl1pPr marL="0" indent="0" algn="ctr">
              <a:lnSpc>
                <a:spcPct val="75000"/>
              </a:lnSpc>
              <a:buNone/>
              <a:defRPr sz="2420" b="0">
                <a:solidFill>
                  <a:schemeClr val="tx1"/>
                </a:solidFill>
              </a:defRPr>
            </a:lvl1pPr>
            <a:lvl2pPr marL="502920" indent="0">
              <a:buNone/>
              <a:defRPr sz="2200" b="1"/>
            </a:lvl2pPr>
            <a:lvl3pPr marL="1005840" indent="0">
              <a:buNone/>
              <a:defRPr sz="1980" b="1"/>
            </a:lvl3pPr>
            <a:lvl4pPr marL="1508760" indent="0">
              <a:buNone/>
              <a:defRPr sz="1760" b="1"/>
            </a:lvl4pPr>
            <a:lvl5pPr marL="2011680" indent="0">
              <a:buNone/>
              <a:defRPr sz="1760" b="1"/>
            </a:lvl5pPr>
            <a:lvl6pPr marL="2514600" indent="0">
              <a:buNone/>
              <a:defRPr sz="1760" b="1"/>
            </a:lvl6pPr>
            <a:lvl7pPr marL="3017520" indent="0">
              <a:buNone/>
              <a:defRPr sz="1760" b="1"/>
            </a:lvl7pPr>
            <a:lvl8pPr marL="3520440" indent="0">
              <a:buNone/>
              <a:defRPr sz="1760" b="1"/>
            </a:lvl8pPr>
            <a:lvl9pPr marL="4023360" indent="0">
              <a:buNone/>
              <a:defRPr sz="1760" b="1"/>
            </a:lvl9pPr>
          </a:lstStyle>
          <a:p>
            <a:pPr lvl="0"/>
            <a:r>
              <a:rPr lang="en-US" smtClean="0"/>
              <a:t>Edit Master text styles</a:t>
            </a:r>
          </a:p>
        </p:txBody>
      </p:sp>
      <p:sp>
        <p:nvSpPr>
          <p:cNvPr id="23" name="Picture Placeholder 2"/>
          <p:cNvSpPr>
            <a:spLocks noGrp="1" noChangeAspect="1"/>
          </p:cNvSpPr>
          <p:nvPr>
            <p:ph type="pic" idx="21"/>
          </p:nvPr>
        </p:nvSpPr>
        <p:spPr>
          <a:xfrm>
            <a:off x="3664112" y="2682705"/>
            <a:ext cx="2725265" cy="17272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760"/>
            </a:lvl1pPr>
            <a:lvl2pPr marL="502920" indent="0">
              <a:buNone/>
              <a:defRPr sz="1760"/>
            </a:lvl2pPr>
            <a:lvl3pPr marL="1005840" indent="0">
              <a:buNone/>
              <a:defRPr sz="1760"/>
            </a:lvl3pPr>
            <a:lvl4pPr marL="1508760" indent="0">
              <a:buNone/>
              <a:defRPr sz="1760"/>
            </a:lvl4pPr>
            <a:lvl5pPr marL="2011680" indent="0">
              <a:buNone/>
              <a:defRPr sz="1760"/>
            </a:lvl5pPr>
            <a:lvl6pPr marL="2514600" indent="0">
              <a:buNone/>
              <a:defRPr sz="1760"/>
            </a:lvl6pPr>
            <a:lvl7pPr marL="3017520" indent="0">
              <a:buNone/>
              <a:defRPr sz="1760"/>
            </a:lvl7pPr>
            <a:lvl8pPr marL="3520440" indent="0">
              <a:buNone/>
              <a:defRPr sz="1760"/>
            </a:lvl8pPr>
            <a:lvl9pPr marL="4023360" indent="0">
              <a:buNone/>
              <a:defRPr sz="1760"/>
            </a:lvl9pPr>
          </a:lstStyle>
          <a:p>
            <a:r>
              <a:rPr lang="en-US" smtClean="0"/>
              <a:t>Click icon to add picture</a:t>
            </a:r>
            <a:endParaRPr lang="en-US" dirty="0"/>
          </a:p>
        </p:txBody>
      </p:sp>
      <p:sp>
        <p:nvSpPr>
          <p:cNvPr id="24" name="Text Placeholder 3"/>
          <p:cNvSpPr>
            <a:spLocks noGrp="1"/>
          </p:cNvSpPr>
          <p:nvPr>
            <p:ph type="body" sz="half" idx="19"/>
          </p:nvPr>
        </p:nvSpPr>
        <p:spPr>
          <a:xfrm>
            <a:off x="3664112" y="5418559"/>
            <a:ext cx="2725265" cy="1144802"/>
          </a:xfrm>
        </p:spPr>
        <p:txBody>
          <a:bodyPr anchor="t">
            <a:normAutofit/>
          </a:bodyPr>
          <a:lstStyle>
            <a:lvl1pPr marL="0" indent="0" algn="ctr">
              <a:buNone/>
              <a:defRPr sz="1540"/>
            </a:lvl1pPr>
            <a:lvl2pPr marL="502920" indent="0">
              <a:buNone/>
              <a:defRPr sz="1320"/>
            </a:lvl2pPr>
            <a:lvl3pPr marL="1005840" indent="0">
              <a:buNone/>
              <a:defRPr sz="1100"/>
            </a:lvl3pPr>
            <a:lvl4pPr marL="1508760" indent="0">
              <a:buNone/>
              <a:defRPr sz="990"/>
            </a:lvl4pPr>
            <a:lvl5pPr marL="2011680" indent="0">
              <a:buNone/>
              <a:defRPr sz="990"/>
            </a:lvl5pPr>
            <a:lvl6pPr marL="2514600" indent="0">
              <a:buNone/>
              <a:defRPr sz="990"/>
            </a:lvl6pPr>
            <a:lvl7pPr marL="3017520" indent="0">
              <a:buNone/>
              <a:defRPr sz="990"/>
            </a:lvl7pPr>
            <a:lvl8pPr marL="3520440" indent="0">
              <a:buNone/>
              <a:defRPr sz="990"/>
            </a:lvl8pPr>
            <a:lvl9pPr marL="4023360" indent="0">
              <a:buNone/>
              <a:defRPr sz="990"/>
            </a:lvl9pPr>
          </a:lstStyle>
          <a:p>
            <a:pPr lvl="0"/>
            <a:r>
              <a:rPr lang="en-US" smtClean="0"/>
              <a:t>Edit Master text styles</a:t>
            </a:r>
          </a:p>
        </p:txBody>
      </p:sp>
      <p:sp>
        <p:nvSpPr>
          <p:cNvPr id="25" name="Text Placeholder 4"/>
          <p:cNvSpPr>
            <a:spLocks noGrp="1"/>
          </p:cNvSpPr>
          <p:nvPr>
            <p:ph type="body" sz="quarter" idx="13"/>
          </p:nvPr>
        </p:nvSpPr>
        <p:spPr>
          <a:xfrm>
            <a:off x="6577972" y="4765463"/>
            <a:ext cx="2723062" cy="653097"/>
          </a:xfrm>
        </p:spPr>
        <p:txBody>
          <a:bodyPr anchor="b">
            <a:noAutofit/>
          </a:bodyPr>
          <a:lstStyle>
            <a:lvl1pPr marL="0" indent="0" algn="ctr">
              <a:lnSpc>
                <a:spcPct val="75000"/>
              </a:lnSpc>
              <a:buNone/>
              <a:defRPr sz="2420" b="0">
                <a:solidFill>
                  <a:schemeClr val="tx1"/>
                </a:solidFill>
              </a:defRPr>
            </a:lvl1pPr>
            <a:lvl2pPr marL="502920" indent="0">
              <a:buNone/>
              <a:defRPr sz="2200" b="1"/>
            </a:lvl2pPr>
            <a:lvl3pPr marL="1005840" indent="0">
              <a:buNone/>
              <a:defRPr sz="1980" b="1"/>
            </a:lvl3pPr>
            <a:lvl4pPr marL="1508760" indent="0">
              <a:buNone/>
              <a:defRPr sz="1760" b="1"/>
            </a:lvl4pPr>
            <a:lvl5pPr marL="2011680" indent="0">
              <a:buNone/>
              <a:defRPr sz="1760" b="1"/>
            </a:lvl5pPr>
            <a:lvl6pPr marL="2514600" indent="0">
              <a:buNone/>
              <a:defRPr sz="1760" b="1"/>
            </a:lvl6pPr>
            <a:lvl7pPr marL="3017520" indent="0">
              <a:buNone/>
              <a:defRPr sz="1760" b="1"/>
            </a:lvl7pPr>
            <a:lvl8pPr marL="3520440" indent="0">
              <a:buNone/>
              <a:defRPr sz="1760" b="1"/>
            </a:lvl8pPr>
            <a:lvl9pPr marL="4023360" indent="0">
              <a:buNone/>
              <a:defRPr sz="1760" b="1"/>
            </a:lvl9pPr>
          </a:lstStyle>
          <a:p>
            <a:pPr lvl="0"/>
            <a:r>
              <a:rPr lang="en-US" smtClean="0"/>
              <a:t>Edit Master text styles</a:t>
            </a:r>
          </a:p>
        </p:txBody>
      </p:sp>
      <p:sp>
        <p:nvSpPr>
          <p:cNvPr id="26" name="Picture Placeholder 2"/>
          <p:cNvSpPr>
            <a:spLocks noGrp="1" noChangeAspect="1"/>
          </p:cNvSpPr>
          <p:nvPr>
            <p:ph type="pic" idx="22"/>
          </p:nvPr>
        </p:nvSpPr>
        <p:spPr>
          <a:xfrm>
            <a:off x="6577971" y="2682705"/>
            <a:ext cx="2726566" cy="17272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760"/>
            </a:lvl1pPr>
            <a:lvl2pPr marL="502920" indent="0">
              <a:buNone/>
              <a:defRPr sz="1760"/>
            </a:lvl2pPr>
            <a:lvl3pPr marL="1005840" indent="0">
              <a:buNone/>
              <a:defRPr sz="1760"/>
            </a:lvl3pPr>
            <a:lvl4pPr marL="1508760" indent="0">
              <a:buNone/>
              <a:defRPr sz="1760"/>
            </a:lvl4pPr>
            <a:lvl5pPr marL="2011680" indent="0">
              <a:buNone/>
              <a:defRPr sz="1760"/>
            </a:lvl5pPr>
            <a:lvl6pPr marL="2514600" indent="0">
              <a:buNone/>
              <a:defRPr sz="1760"/>
            </a:lvl6pPr>
            <a:lvl7pPr marL="3017520" indent="0">
              <a:buNone/>
              <a:defRPr sz="1760"/>
            </a:lvl7pPr>
            <a:lvl8pPr marL="3520440" indent="0">
              <a:buNone/>
              <a:defRPr sz="1760"/>
            </a:lvl8pPr>
            <a:lvl9pPr marL="4023360" indent="0">
              <a:buNone/>
              <a:defRPr sz="1760"/>
            </a:lvl9pPr>
          </a:lstStyle>
          <a:p>
            <a:r>
              <a:rPr lang="en-US" smtClean="0"/>
              <a:t>Click icon to add picture</a:t>
            </a:r>
            <a:endParaRPr lang="en-US" dirty="0"/>
          </a:p>
        </p:txBody>
      </p:sp>
      <p:sp>
        <p:nvSpPr>
          <p:cNvPr id="27" name="Text Placeholder 3"/>
          <p:cNvSpPr>
            <a:spLocks noGrp="1"/>
          </p:cNvSpPr>
          <p:nvPr>
            <p:ph type="body" sz="half" idx="20"/>
          </p:nvPr>
        </p:nvSpPr>
        <p:spPr>
          <a:xfrm>
            <a:off x="6577868" y="5418557"/>
            <a:ext cx="2726669" cy="1144804"/>
          </a:xfrm>
        </p:spPr>
        <p:txBody>
          <a:bodyPr anchor="t">
            <a:normAutofit/>
          </a:bodyPr>
          <a:lstStyle>
            <a:lvl1pPr marL="0" indent="0" algn="ctr">
              <a:buNone/>
              <a:defRPr sz="1540"/>
            </a:lvl1pPr>
            <a:lvl2pPr marL="502920" indent="0">
              <a:buNone/>
              <a:defRPr sz="1320"/>
            </a:lvl2pPr>
            <a:lvl3pPr marL="1005840" indent="0">
              <a:buNone/>
              <a:defRPr sz="1100"/>
            </a:lvl3pPr>
            <a:lvl4pPr marL="1508760" indent="0">
              <a:buNone/>
              <a:defRPr sz="990"/>
            </a:lvl4pPr>
            <a:lvl5pPr marL="2011680" indent="0">
              <a:buNone/>
              <a:defRPr sz="990"/>
            </a:lvl5pPr>
            <a:lvl6pPr marL="2514600" indent="0">
              <a:buNone/>
              <a:defRPr sz="990"/>
            </a:lvl6pPr>
            <a:lvl7pPr marL="3017520" indent="0">
              <a:buNone/>
              <a:defRPr sz="990"/>
            </a:lvl7pPr>
            <a:lvl8pPr marL="3520440" indent="0">
              <a:buNone/>
              <a:defRPr sz="990"/>
            </a:lvl8pPr>
            <a:lvl9pPr marL="4023360" indent="0">
              <a:buNone/>
              <a:defRPr sz="990"/>
            </a:lvl9pPr>
          </a:lstStyle>
          <a:p>
            <a:pPr lvl="0"/>
            <a:r>
              <a:rPr lang="en-US" smtClean="0"/>
              <a:t>Edit Master text styles</a:t>
            </a:r>
          </a:p>
        </p:txBody>
      </p:sp>
      <p:sp>
        <p:nvSpPr>
          <p:cNvPr id="3" name="Date Placeholder 2"/>
          <p:cNvSpPr>
            <a:spLocks noGrp="1"/>
          </p:cNvSpPr>
          <p:nvPr>
            <p:ph type="dt" sz="half" idx="10"/>
          </p:nvPr>
        </p:nvSpPr>
        <p:spPr/>
        <p:txBody>
          <a:bodyPr/>
          <a:lstStyle/>
          <a:p>
            <a:fld id="{1D8BD707-D9CF-40AE-B4C6-C98DA3205C09}" type="datetimeFigureOut">
              <a:rPr lang="en-US" smtClean="0"/>
              <a:t>3/16/2026</a:t>
            </a:fld>
            <a:endParaRPr lang="en-US"/>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pPr marL="38073">
              <a:lnSpc>
                <a:spcPts val="1150"/>
              </a:lnSpc>
            </a:pPr>
            <a:fld id="{81D60167-4931-47E6-BA6A-407CBD079E47}" type="slidenum">
              <a:rPr lang="en-IN" spc="-25" smtClean="0"/>
              <a:pPr marL="38073">
                <a:lnSpc>
                  <a:spcPts val="1150"/>
                </a:lnSpc>
              </a:pPr>
              <a:t>‹#›</a:t>
            </a:fld>
            <a:endParaRPr lang="en-IN" spc="-25" dirty="0"/>
          </a:p>
        </p:txBody>
      </p:sp>
    </p:spTree>
    <p:extLst>
      <p:ext uri="{BB962C8B-B14F-4D97-AF65-F5344CB8AC3E}">
        <p14:creationId xmlns:p14="http://schemas.microsoft.com/office/powerpoint/2010/main" val="20622960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0058400" cy="7772400"/>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11" name="Vertical Text Placeholder 2"/>
          <p:cNvSpPr>
            <a:spLocks noGrp="1"/>
          </p:cNvSpPr>
          <p:nvPr>
            <p:ph type="body" orient="vert" sz="quarter" idx="13"/>
          </p:nvPr>
        </p:nvSpPr>
        <p:spPr>
          <a:xfrm>
            <a:off x="753865" y="2682707"/>
            <a:ext cx="8550673" cy="3880655"/>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38073">
              <a:lnSpc>
                <a:spcPts val="1150"/>
              </a:lnSpc>
            </a:pPr>
            <a:fld id="{81D60167-4931-47E6-BA6A-407CBD079E47}" type="slidenum">
              <a:rPr lang="en-IN" spc="-25" smtClean="0"/>
              <a:pPr marL="38073">
                <a:lnSpc>
                  <a:spcPts val="1150"/>
                </a:lnSpc>
              </a:pPr>
              <a:t>‹#›</a:t>
            </a:fld>
            <a:endParaRPr lang="en-IN" spc="-25" dirty="0"/>
          </a:p>
        </p:txBody>
      </p:sp>
    </p:spTree>
    <p:extLst>
      <p:ext uri="{BB962C8B-B14F-4D97-AF65-F5344CB8AC3E}">
        <p14:creationId xmlns:p14="http://schemas.microsoft.com/office/powerpoint/2010/main" val="36779005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10" name="Picture 9"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0058400" cy="7772400"/>
          </a:xfrm>
          <a:prstGeom prst="rect">
            <a:avLst/>
          </a:prstGeom>
        </p:spPr>
      </p:pic>
      <p:sp>
        <p:nvSpPr>
          <p:cNvPr id="2" name="Vertical Title 1"/>
          <p:cNvSpPr>
            <a:spLocks noGrp="1"/>
          </p:cNvSpPr>
          <p:nvPr>
            <p:ph type="title" orient="vert"/>
          </p:nvPr>
        </p:nvSpPr>
        <p:spPr>
          <a:xfrm>
            <a:off x="7198043" y="690883"/>
            <a:ext cx="2106495" cy="5872479"/>
          </a:xfrm>
        </p:spPr>
        <p:txBody>
          <a:bodyPr vert="eaVert"/>
          <a:lstStyle>
            <a:lvl1pPr algn="l">
              <a:defRPr/>
            </a:lvl1pPr>
          </a:lstStyle>
          <a:p>
            <a:r>
              <a:rPr lang="en-US" smtClean="0"/>
              <a:t>Click to edit Master title style</a:t>
            </a:r>
            <a:endParaRPr lang="en-US" dirty="0"/>
          </a:p>
        </p:txBody>
      </p:sp>
      <p:sp>
        <p:nvSpPr>
          <p:cNvPr id="8" name="Vertical Text Placeholder 2"/>
          <p:cNvSpPr>
            <a:spLocks noGrp="1"/>
          </p:cNvSpPr>
          <p:nvPr>
            <p:ph type="body" orient="vert" sz="quarter" idx="13"/>
          </p:nvPr>
        </p:nvSpPr>
        <p:spPr>
          <a:xfrm>
            <a:off x="753865" y="690883"/>
            <a:ext cx="6318447" cy="5872479"/>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pPr marL="38073">
              <a:lnSpc>
                <a:spcPts val="1150"/>
              </a:lnSpc>
            </a:pPr>
            <a:fld id="{81D60167-4931-47E6-BA6A-407CBD079E47}" type="slidenum">
              <a:rPr lang="en-IN" spc="-25" smtClean="0"/>
              <a:pPr marL="38073">
                <a:lnSpc>
                  <a:spcPts val="1150"/>
                </a:lnSpc>
              </a:pPr>
              <a:t>‹#›</a:t>
            </a:fld>
            <a:endParaRPr lang="en-IN" spc="-25" dirty="0"/>
          </a:p>
        </p:txBody>
      </p:sp>
    </p:spTree>
    <p:extLst>
      <p:ext uri="{BB962C8B-B14F-4D97-AF65-F5344CB8AC3E}">
        <p14:creationId xmlns:p14="http://schemas.microsoft.com/office/powerpoint/2010/main" val="31722407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1" y="-1"/>
            <a:ext cx="10058402" cy="77724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753865" y="700987"/>
            <a:ext cx="8550672" cy="1809001"/>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753865" y="2682707"/>
            <a:ext cx="8550673" cy="3880655"/>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334958" y="6667714"/>
            <a:ext cx="2263140" cy="413808"/>
          </a:xfrm>
          <a:prstGeom prst="rect">
            <a:avLst/>
          </a:prstGeom>
        </p:spPr>
        <p:txBody>
          <a:bodyPr vert="horz" lIns="91440" tIns="45720" rIns="91440" bIns="45720" rtlCol="0" anchor="ctr"/>
          <a:lstStyle>
            <a:lvl1pPr algn="r">
              <a:defRPr sz="1100">
                <a:solidFill>
                  <a:schemeClr val="tx1"/>
                </a:solidFill>
              </a:defRPr>
            </a:lvl1pPr>
          </a:lstStyle>
          <a:p>
            <a:fld id="{1D8BD707-D9CF-40AE-B4C6-C98DA3205C09}" type="datetimeFigureOut">
              <a:rPr lang="en-US" smtClean="0"/>
              <a:t>3/16/2026</a:t>
            </a:fld>
            <a:endParaRPr lang="en-US"/>
          </a:p>
        </p:txBody>
      </p:sp>
      <p:sp>
        <p:nvSpPr>
          <p:cNvPr id="5" name="Footer Placeholder 4"/>
          <p:cNvSpPr>
            <a:spLocks noGrp="1"/>
          </p:cNvSpPr>
          <p:nvPr>
            <p:ph type="ftr" sz="quarter" idx="3"/>
          </p:nvPr>
        </p:nvSpPr>
        <p:spPr>
          <a:xfrm>
            <a:off x="753864" y="6667714"/>
            <a:ext cx="5505132" cy="413808"/>
          </a:xfrm>
          <a:prstGeom prst="rect">
            <a:avLst/>
          </a:prstGeom>
        </p:spPr>
        <p:txBody>
          <a:bodyPr vert="horz" lIns="91440" tIns="45720" rIns="91440" bIns="45720" rtlCol="0" anchor="ctr"/>
          <a:lstStyle>
            <a:lvl1pPr algn="l">
              <a:defRPr sz="1100">
                <a:solidFill>
                  <a:schemeClr val="tx1"/>
                </a:solidFill>
              </a:defRPr>
            </a:lvl1pPr>
          </a:lstStyle>
          <a:p>
            <a:endParaRPr lang="en-IN"/>
          </a:p>
        </p:txBody>
      </p:sp>
      <p:sp>
        <p:nvSpPr>
          <p:cNvPr id="6" name="Slide Number Placeholder 5"/>
          <p:cNvSpPr>
            <a:spLocks noGrp="1"/>
          </p:cNvSpPr>
          <p:nvPr>
            <p:ph type="sldNum" sz="quarter" idx="4"/>
          </p:nvPr>
        </p:nvSpPr>
        <p:spPr>
          <a:xfrm>
            <a:off x="8674061" y="6667714"/>
            <a:ext cx="630477" cy="413808"/>
          </a:xfrm>
          <a:prstGeom prst="rect">
            <a:avLst/>
          </a:prstGeom>
        </p:spPr>
        <p:txBody>
          <a:bodyPr vert="horz" lIns="91440" tIns="45720" rIns="91440" bIns="45720" rtlCol="0" anchor="ctr"/>
          <a:lstStyle>
            <a:lvl1pPr algn="r">
              <a:defRPr sz="1100">
                <a:solidFill>
                  <a:schemeClr val="tx1"/>
                </a:solidFill>
              </a:defRPr>
            </a:lvl1pPr>
          </a:lstStyle>
          <a:p>
            <a:pPr marL="38073">
              <a:lnSpc>
                <a:spcPts val="1150"/>
              </a:lnSpc>
            </a:pPr>
            <a:fld id="{81D60167-4931-47E6-BA6A-407CBD079E47}" type="slidenum">
              <a:rPr lang="en-IN" spc="-25" smtClean="0"/>
              <a:pPr marL="38073">
                <a:lnSpc>
                  <a:spcPts val="1150"/>
                </a:lnSpc>
              </a:pPr>
              <a:t>‹#›</a:t>
            </a:fld>
            <a:endParaRPr lang="en-IN" spc="-25" dirty="0"/>
          </a:p>
        </p:txBody>
      </p:sp>
    </p:spTree>
    <p:extLst>
      <p:ext uri="{BB962C8B-B14F-4D97-AF65-F5344CB8AC3E}">
        <p14:creationId xmlns:p14="http://schemas.microsoft.com/office/powerpoint/2010/main" val="3282377628"/>
      </p:ext>
    </p:extLst>
  </p:cSld>
  <p:clrMap bg1="lt1" tx1="dk1" bg2="lt2" tx2="dk2" accent1="accent1" accent2="accent2" accent3="accent3" accent4="accent4" accent5="accent5" accent6="accent6" hlink="hlink" folHlink="folHlink"/>
  <p:sldLayoutIdLst>
    <p:sldLayoutId id="2147484056" r:id="rId1"/>
    <p:sldLayoutId id="2147484057" r:id="rId2"/>
    <p:sldLayoutId id="2147484058" r:id="rId3"/>
    <p:sldLayoutId id="2147484059" r:id="rId4"/>
    <p:sldLayoutId id="2147484060" r:id="rId5"/>
    <p:sldLayoutId id="2147484061" r:id="rId6"/>
    <p:sldLayoutId id="2147484062" r:id="rId7"/>
    <p:sldLayoutId id="2147484063" r:id="rId8"/>
    <p:sldLayoutId id="2147484064" r:id="rId9"/>
    <p:sldLayoutId id="2147484065" r:id="rId10"/>
    <p:sldLayoutId id="2147484066" r:id="rId11"/>
    <p:sldLayoutId id="2147484067" r:id="rId12"/>
    <p:sldLayoutId id="2147484068" r:id="rId13"/>
    <p:sldLayoutId id="2147484069" r:id="rId14"/>
    <p:sldLayoutId id="2147484070" r:id="rId15"/>
    <p:sldLayoutId id="2147484071" r:id="rId16"/>
    <p:sldLayoutId id="2147484072" r:id="rId17"/>
  </p:sldLayoutIdLst>
  <p:txStyles>
    <p:titleStyle>
      <a:lvl1pPr algn="ctr" defTabSz="1005840" rtl="0" eaLnBrk="1" latinLnBrk="0" hangingPunct="1">
        <a:lnSpc>
          <a:spcPct val="90000"/>
        </a:lnSpc>
        <a:spcBef>
          <a:spcPct val="0"/>
        </a:spcBef>
        <a:buNone/>
        <a:defRPr sz="3960" kern="1200" cap="all" baseline="0">
          <a:solidFill>
            <a:schemeClr val="tx1"/>
          </a:solidFill>
          <a:effectLst/>
          <a:latin typeface="+mj-lt"/>
          <a:ea typeface="+mj-ea"/>
          <a:cs typeface="+mj-cs"/>
        </a:defRPr>
      </a:lvl1pPr>
    </p:titleStyle>
    <p:bodyStyle>
      <a:lvl1pPr marL="251460" indent="-251460" algn="l" defTabSz="1005840" rtl="0" eaLnBrk="1" latinLnBrk="0" hangingPunct="1">
        <a:lnSpc>
          <a:spcPct val="120000"/>
        </a:lnSpc>
        <a:spcBef>
          <a:spcPts val="1100"/>
        </a:spcBef>
        <a:buClr>
          <a:schemeClr val="tx1"/>
        </a:buClr>
        <a:buFont typeface="Arial" panose="020B0604020202020204" pitchFamily="34" charset="0"/>
        <a:buChar char="•"/>
        <a:defRPr sz="2200" kern="1200" cap="all" baseline="0">
          <a:solidFill>
            <a:schemeClr val="tx1"/>
          </a:solidFill>
          <a:effectLst/>
          <a:latin typeface="+mn-lt"/>
          <a:ea typeface="+mn-ea"/>
          <a:cs typeface="+mn-cs"/>
        </a:defRPr>
      </a:lvl1pPr>
      <a:lvl2pPr marL="754380" indent="-251460" algn="l" defTabSz="1005840" rtl="0" eaLnBrk="1" latinLnBrk="0" hangingPunct="1">
        <a:lnSpc>
          <a:spcPct val="120000"/>
        </a:lnSpc>
        <a:spcBef>
          <a:spcPts val="550"/>
        </a:spcBef>
        <a:buClr>
          <a:schemeClr val="tx1"/>
        </a:buClr>
        <a:buFont typeface="Arial" panose="020B0604020202020204" pitchFamily="34" charset="0"/>
        <a:buChar char="•"/>
        <a:defRPr sz="1980" kern="1200" cap="all" baseline="0">
          <a:solidFill>
            <a:schemeClr val="tx1"/>
          </a:solidFill>
          <a:effectLst/>
          <a:latin typeface="+mn-lt"/>
          <a:ea typeface="+mn-ea"/>
          <a:cs typeface="+mn-cs"/>
        </a:defRPr>
      </a:lvl2pPr>
      <a:lvl3pPr marL="1257300" indent="-251460" algn="l" defTabSz="1005840" rtl="0" eaLnBrk="1" latinLnBrk="0" hangingPunct="1">
        <a:lnSpc>
          <a:spcPct val="120000"/>
        </a:lnSpc>
        <a:spcBef>
          <a:spcPts val="550"/>
        </a:spcBef>
        <a:buClr>
          <a:schemeClr val="tx1"/>
        </a:buClr>
        <a:buFont typeface="Arial" panose="020B0604020202020204" pitchFamily="34" charset="0"/>
        <a:buChar char="•"/>
        <a:defRPr sz="1760" kern="1200" cap="all" baseline="0">
          <a:solidFill>
            <a:schemeClr val="tx1"/>
          </a:solidFill>
          <a:effectLst/>
          <a:latin typeface="+mn-lt"/>
          <a:ea typeface="+mn-ea"/>
          <a:cs typeface="+mn-cs"/>
        </a:defRPr>
      </a:lvl3pPr>
      <a:lvl4pPr marL="1760220" indent="-251460" algn="l" defTabSz="1005840" rtl="0" eaLnBrk="1" latinLnBrk="0" hangingPunct="1">
        <a:lnSpc>
          <a:spcPct val="120000"/>
        </a:lnSpc>
        <a:spcBef>
          <a:spcPts val="550"/>
        </a:spcBef>
        <a:buClr>
          <a:schemeClr val="tx1"/>
        </a:buClr>
        <a:buFont typeface="Arial" panose="020B0604020202020204" pitchFamily="34" charset="0"/>
        <a:buChar char="•"/>
        <a:defRPr sz="1540" kern="1200" cap="all" baseline="0">
          <a:solidFill>
            <a:schemeClr val="tx1"/>
          </a:solidFill>
          <a:effectLst/>
          <a:latin typeface="+mn-lt"/>
          <a:ea typeface="+mn-ea"/>
          <a:cs typeface="+mn-cs"/>
        </a:defRPr>
      </a:lvl4pPr>
      <a:lvl5pPr marL="2263140" indent="-251460" algn="l" defTabSz="1005840" rtl="0" eaLnBrk="1" latinLnBrk="0" hangingPunct="1">
        <a:lnSpc>
          <a:spcPct val="120000"/>
        </a:lnSpc>
        <a:spcBef>
          <a:spcPts val="550"/>
        </a:spcBef>
        <a:buClr>
          <a:schemeClr val="tx1"/>
        </a:buClr>
        <a:buFont typeface="Arial" panose="020B0604020202020204" pitchFamily="34" charset="0"/>
        <a:buChar char="•"/>
        <a:defRPr sz="1540" kern="1200" cap="all" baseline="0">
          <a:solidFill>
            <a:schemeClr val="tx1"/>
          </a:solidFill>
          <a:effectLst/>
          <a:latin typeface="+mn-lt"/>
          <a:ea typeface="+mn-ea"/>
          <a:cs typeface="+mn-cs"/>
        </a:defRPr>
      </a:lvl5pPr>
      <a:lvl6pPr marL="2766060" indent="-251460" algn="l" defTabSz="1005840" rtl="0" eaLnBrk="1" latinLnBrk="0" hangingPunct="1">
        <a:lnSpc>
          <a:spcPct val="120000"/>
        </a:lnSpc>
        <a:spcBef>
          <a:spcPts val="550"/>
        </a:spcBef>
        <a:buClr>
          <a:schemeClr val="tx1"/>
        </a:buClr>
        <a:buFont typeface="Arial" panose="020B0604020202020204" pitchFamily="34" charset="0"/>
        <a:buChar char="•"/>
        <a:defRPr sz="1540" kern="1200" cap="all" baseline="0">
          <a:solidFill>
            <a:schemeClr val="tx1"/>
          </a:solidFill>
          <a:effectLst/>
          <a:latin typeface="+mn-lt"/>
          <a:ea typeface="+mn-ea"/>
          <a:cs typeface="+mn-cs"/>
        </a:defRPr>
      </a:lvl6pPr>
      <a:lvl7pPr marL="3268980" indent="-251460" algn="l" defTabSz="1005840" rtl="0" eaLnBrk="1" latinLnBrk="0" hangingPunct="1">
        <a:lnSpc>
          <a:spcPct val="120000"/>
        </a:lnSpc>
        <a:spcBef>
          <a:spcPts val="550"/>
        </a:spcBef>
        <a:buClr>
          <a:schemeClr val="tx1"/>
        </a:buClr>
        <a:buFont typeface="Arial" panose="020B0604020202020204" pitchFamily="34" charset="0"/>
        <a:buChar char="•"/>
        <a:defRPr sz="1540" kern="1200" cap="all" baseline="0">
          <a:solidFill>
            <a:schemeClr val="tx1"/>
          </a:solidFill>
          <a:effectLst/>
          <a:latin typeface="+mn-lt"/>
          <a:ea typeface="+mn-ea"/>
          <a:cs typeface="+mn-cs"/>
        </a:defRPr>
      </a:lvl7pPr>
      <a:lvl8pPr marL="3771900" indent="-251460" algn="l" defTabSz="1005840" rtl="0" eaLnBrk="1" latinLnBrk="0" hangingPunct="1">
        <a:lnSpc>
          <a:spcPct val="120000"/>
        </a:lnSpc>
        <a:spcBef>
          <a:spcPts val="550"/>
        </a:spcBef>
        <a:buClr>
          <a:schemeClr val="tx1"/>
        </a:buClr>
        <a:buFont typeface="Arial" panose="020B0604020202020204" pitchFamily="34" charset="0"/>
        <a:buChar char="•"/>
        <a:defRPr sz="1540" kern="1200" cap="all" baseline="0">
          <a:solidFill>
            <a:schemeClr val="tx1"/>
          </a:solidFill>
          <a:effectLst/>
          <a:latin typeface="+mn-lt"/>
          <a:ea typeface="+mn-ea"/>
          <a:cs typeface="+mn-cs"/>
        </a:defRPr>
      </a:lvl8pPr>
      <a:lvl9pPr marL="4274820" indent="-251460" algn="l" defTabSz="1005840" rtl="0" eaLnBrk="1" latinLnBrk="0" hangingPunct="1">
        <a:lnSpc>
          <a:spcPct val="120000"/>
        </a:lnSpc>
        <a:spcBef>
          <a:spcPts val="550"/>
        </a:spcBef>
        <a:buClr>
          <a:schemeClr val="tx1"/>
        </a:buClr>
        <a:buFont typeface="Arial" panose="020B0604020202020204" pitchFamily="34" charset="0"/>
        <a:buChar char="•"/>
        <a:defRPr sz="1540" kern="1200" cap="all" baseline="0">
          <a:solidFill>
            <a:schemeClr val="tx1"/>
          </a:solidFill>
          <a:effectLst/>
          <a:latin typeface="+mn-lt"/>
          <a:ea typeface="+mn-ea"/>
          <a:cs typeface="+mn-cs"/>
        </a:defRPr>
      </a:lvl9pPr>
    </p:bodyStyle>
    <p:otherStyle>
      <a:defPPr>
        <a:defRPr lang="en-US"/>
      </a:defPPr>
      <a:lvl1pPr marL="0" algn="l" defTabSz="1005840" rtl="0" eaLnBrk="1" latinLnBrk="0" hangingPunct="1">
        <a:defRPr sz="1980" kern="1200">
          <a:solidFill>
            <a:schemeClr val="tx1"/>
          </a:solidFill>
          <a:latin typeface="+mn-lt"/>
          <a:ea typeface="+mn-ea"/>
          <a:cs typeface="+mn-cs"/>
        </a:defRPr>
      </a:lvl1pPr>
      <a:lvl2pPr marL="502920" algn="l" defTabSz="1005840" rtl="0" eaLnBrk="1" latinLnBrk="0" hangingPunct="1">
        <a:defRPr sz="1980" kern="1200">
          <a:solidFill>
            <a:schemeClr val="tx1"/>
          </a:solidFill>
          <a:latin typeface="+mn-lt"/>
          <a:ea typeface="+mn-ea"/>
          <a:cs typeface="+mn-cs"/>
        </a:defRPr>
      </a:lvl2pPr>
      <a:lvl3pPr marL="1005840" algn="l" defTabSz="1005840" rtl="0" eaLnBrk="1" latinLnBrk="0" hangingPunct="1">
        <a:defRPr sz="1980" kern="1200">
          <a:solidFill>
            <a:schemeClr val="tx1"/>
          </a:solidFill>
          <a:latin typeface="+mn-lt"/>
          <a:ea typeface="+mn-ea"/>
          <a:cs typeface="+mn-cs"/>
        </a:defRPr>
      </a:lvl3pPr>
      <a:lvl4pPr marL="1508760" algn="l" defTabSz="1005840" rtl="0" eaLnBrk="1" latinLnBrk="0" hangingPunct="1">
        <a:defRPr sz="1980" kern="1200">
          <a:solidFill>
            <a:schemeClr val="tx1"/>
          </a:solidFill>
          <a:latin typeface="+mn-lt"/>
          <a:ea typeface="+mn-ea"/>
          <a:cs typeface="+mn-cs"/>
        </a:defRPr>
      </a:lvl4pPr>
      <a:lvl5pPr marL="2011680" algn="l" defTabSz="1005840" rtl="0" eaLnBrk="1" latinLnBrk="0" hangingPunct="1">
        <a:defRPr sz="1980" kern="1200">
          <a:solidFill>
            <a:schemeClr val="tx1"/>
          </a:solidFill>
          <a:latin typeface="+mn-lt"/>
          <a:ea typeface="+mn-ea"/>
          <a:cs typeface="+mn-cs"/>
        </a:defRPr>
      </a:lvl5pPr>
      <a:lvl6pPr marL="2514600" algn="l" defTabSz="1005840" rtl="0" eaLnBrk="1" latinLnBrk="0" hangingPunct="1">
        <a:defRPr sz="1980" kern="1200">
          <a:solidFill>
            <a:schemeClr val="tx1"/>
          </a:solidFill>
          <a:latin typeface="+mn-lt"/>
          <a:ea typeface="+mn-ea"/>
          <a:cs typeface="+mn-cs"/>
        </a:defRPr>
      </a:lvl6pPr>
      <a:lvl7pPr marL="3017520" algn="l" defTabSz="1005840" rtl="0" eaLnBrk="1" latinLnBrk="0" hangingPunct="1">
        <a:defRPr sz="1980" kern="1200">
          <a:solidFill>
            <a:schemeClr val="tx1"/>
          </a:solidFill>
          <a:latin typeface="+mn-lt"/>
          <a:ea typeface="+mn-ea"/>
          <a:cs typeface="+mn-cs"/>
        </a:defRPr>
      </a:lvl7pPr>
      <a:lvl8pPr marL="3520440" algn="l" defTabSz="1005840" rtl="0" eaLnBrk="1" latinLnBrk="0" hangingPunct="1">
        <a:defRPr sz="1980" kern="1200">
          <a:solidFill>
            <a:schemeClr val="tx1"/>
          </a:solidFill>
          <a:latin typeface="+mn-lt"/>
          <a:ea typeface="+mn-ea"/>
          <a:cs typeface="+mn-cs"/>
        </a:defRPr>
      </a:lvl8pPr>
      <a:lvl9pPr marL="4023360" algn="l" defTabSz="1005840"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spc="-50" dirty="0">
                <a:solidFill>
                  <a:srgbClr val="0070C0"/>
                </a:solidFill>
                <a:latin typeface="Times New Roman"/>
                <a:cs typeface="Times New Roman"/>
              </a:rPr>
              <a:t>UNIT-I ( Chapter-</a:t>
            </a:r>
            <a:r>
              <a:rPr lang="en-US" sz="4000" b="1" spc="-35" dirty="0">
                <a:solidFill>
                  <a:srgbClr val="0070C0"/>
                </a:solidFill>
                <a:latin typeface="Times New Roman"/>
                <a:cs typeface="Times New Roman"/>
              </a:rPr>
              <a:t>II )</a:t>
            </a:r>
            <a:br>
              <a:rPr lang="en-US" sz="4000" b="1" spc="-35" dirty="0">
                <a:solidFill>
                  <a:srgbClr val="0070C0"/>
                </a:solidFill>
                <a:latin typeface="Times New Roman"/>
                <a:cs typeface="Times New Roman"/>
              </a:rPr>
            </a:br>
            <a:endParaRPr lang="en-US" dirty="0"/>
          </a:p>
        </p:txBody>
      </p:sp>
      <p:sp>
        <p:nvSpPr>
          <p:cNvPr id="3" name="Content Placeholder 2"/>
          <p:cNvSpPr>
            <a:spLocks noGrp="1"/>
          </p:cNvSpPr>
          <p:nvPr>
            <p:ph sz="quarter" idx="13"/>
          </p:nvPr>
        </p:nvSpPr>
        <p:spPr/>
        <p:txBody>
          <a:bodyPr/>
          <a:lstStyle/>
          <a:p>
            <a:pPr marL="231612" marR="225266" indent="0" algn="ctr">
              <a:spcBef>
                <a:spcPts val="65"/>
              </a:spcBef>
              <a:buNone/>
            </a:pPr>
            <a:r>
              <a:rPr lang="en-US" sz="2400" b="1" spc="-50" dirty="0">
                <a:solidFill>
                  <a:schemeClr val="tx2"/>
                </a:solidFill>
                <a:latin typeface="Times New Roman"/>
                <a:cs typeface="Times New Roman"/>
              </a:rPr>
              <a:t>DEVELOPMENTS</a:t>
            </a:r>
            <a:r>
              <a:rPr lang="en-US" sz="2400" b="1" spc="-14" dirty="0">
                <a:solidFill>
                  <a:schemeClr val="tx2"/>
                </a:solidFill>
                <a:latin typeface="Times New Roman"/>
                <a:cs typeface="Times New Roman"/>
              </a:rPr>
              <a:t> </a:t>
            </a:r>
            <a:r>
              <a:rPr lang="en-US" sz="2400" b="1" spc="-25" dirty="0">
                <a:solidFill>
                  <a:schemeClr val="tx2"/>
                </a:solidFill>
                <a:latin typeface="Times New Roman"/>
                <a:cs typeface="Times New Roman"/>
              </a:rPr>
              <a:t>IN </a:t>
            </a:r>
            <a:r>
              <a:rPr lang="en-US" sz="2400" b="1" spc="-40" dirty="0">
                <a:solidFill>
                  <a:schemeClr val="tx2"/>
                </a:solidFill>
                <a:latin typeface="Times New Roman"/>
                <a:cs typeface="Times New Roman"/>
              </a:rPr>
              <a:t>METALLURGY</a:t>
            </a:r>
          </a:p>
          <a:p>
            <a:pPr marL="231612" marR="225266" indent="919469" algn="ctr">
              <a:spcBef>
                <a:spcPts val="65"/>
              </a:spcBef>
            </a:pPr>
            <a:endParaRPr lang="en-US" sz="2400" b="1" spc="-40" dirty="0">
              <a:solidFill>
                <a:schemeClr val="tx2"/>
              </a:solidFill>
              <a:latin typeface="Times New Roman"/>
              <a:cs typeface="Times New Roman"/>
            </a:endParaRPr>
          </a:p>
          <a:p>
            <a:pPr marL="231612" marR="225266" indent="0" algn="ctr">
              <a:spcBef>
                <a:spcPts val="65"/>
              </a:spcBef>
              <a:buNone/>
            </a:pPr>
            <a:r>
              <a:rPr lang="en-US" sz="2400" b="1" spc="-35" dirty="0">
                <a:solidFill>
                  <a:schemeClr val="tx2"/>
                </a:solidFill>
                <a:latin typeface="Times New Roman"/>
                <a:cs typeface="Times New Roman"/>
              </a:rPr>
              <a:t>USE</a:t>
            </a:r>
            <a:r>
              <a:rPr lang="en-US" sz="2400" b="1" spc="-50" dirty="0">
                <a:solidFill>
                  <a:schemeClr val="tx2"/>
                </a:solidFill>
                <a:latin typeface="Times New Roman"/>
                <a:cs typeface="Times New Roman"/>
              </a:rPr>
              <a:t> </a:t>
            </a:r>
            <a:r>
              <a:rPr lang="en-US" sz="2400" b="1" spc="-35" dirty="0">
                <a:solidFill>
                  <a:schemeClr val="tx2"/>
                </a:solidFill>
                <a:latin typeface="Times New Roman"/>
                <a:cs typeface="Times New Roman"/>
              </a:rPr>
              <a:t>OF</a:t>
            </a:r>
            <a:r>
              <a:rPr lang="en-US" sz="2400" b="1" spc="-50" dirty="0">
                <a:solidFill>
                  <a:schemeClr val="tx2"/>
                </a:solidFill>
                <a:latin typeface="Times New Roman"/>
                <a:cs typeface="Times New Roman"/>
              </a:rPr>
              <a:t> </a:t>
            </a:r>
            <a:r>
              <a:rPr lang="en-US" sz="2400" b="1" spc="-45" dirty="0">
                <a:solidFill>
                  <a:schemeClr val="tx2"/>
                </a:solidFill>
                <a:latin typeface="Times New Roman"/>
                <a:cs typeface="Times New Roman"/>
              </a:rPr>
              <a:t>COPPER,</a:t>
            </a:r>
            <a:r>
              <a:rPr lang="en-US" sz="2400" b="1" spc="-50" dirty="0">
                <a:solidFill>
                  <a:schemeClr val="tx2"/>
                </a:solidFill>
                <a:latin typeface="Times New Roman"/>
                <a:cs typeface="Times New Roman"/>
              </a:rPr>
              <a:t> </a:t>
            </a:r>
            <a:r>
              <a:rPr lang="en-US" sz="2400" b="1" spc="-45" dirty="0">
                <a:solidFill>
                  <a:schemeClr val="tx2"/>
                </a:solidFill>
                <a:latin typeface="Times New Roman"/>
                <a:cs typeface="Times New Roman"/>
              </a:rPr>
              <a:t>BRONZE</a:t>
            </a:r>
            <a:r>
              <a:rPr lang="en-US" sz="2400" b="1" spc="-50" dirty="0">
                <a:solidFill>
                  <a:schemeClr val="tx2"/>
                </a:solidFill>
                <a:latin typeface="Times New Roman"/>
                <a:cs typeface="Times New Roman"/>
              </a:rPr>
              <a:t> </a:t>
            </a:r>
            <a:r>
              <a:rPr lang="en-US" sz="2400" b="1" spc="-40" dirty="0">
                <a:solidFill>
                  <a:schemeClr val="tx2"/>
                </a:solidFill>
                <a:latin typeface="Times New Roman"/>
                <a:cs typeface="Times New Roman"/>
              </a:rPr>
              <a:t>AND</a:t>
            </a:r>
            <a:r>
              <a:rPr lang="en-US" sz="2400" b="1" spc="-35" dirty="0">
                <a:solidFill>
                  <a:schemeClr val="tx2"/>
                </a:solidFill>
                <a:latin typeface="Times New Roman"/>
                <a:cs typeface="Times New Roman"/>
              </a:rPr>
              <a:t> </a:t>
            </a:r>
            <a:r>
              <a:rPr lang="en-US" sz="2400" b="1" spc="-40" dirty="0">
                <a:solidFill>
                  <a:schemeClr val="tx2"/>
                </a:solidFill>
                <a:latin typeface="Times New Roman"/>
                <a:cs typeface="Times New Roman"/>
              </a:rPr>
              <a:t>IRON</a:t>
            </a:r>
          </a:p>
          <a:p>
            <a:pPr marL="0" indent="0" algn="ctr">
              <a:buNone/>
            </a:pPr>
            <a:r>
              <a:rPr lang="en-US" sz="2400" b="1" spc="-45" dirty="0">
                <a:solidFill>
                  <a:schemeClr val="tx2"/>
                </a:solidFill>
                <a:latin typeface="Times New Roman"/>
                <a:cs typeface="Times New Roman"/>
              </a:rPr>
              <a:t> </a:t>
            </a:r>
            <a:r>
              <a:rPr lang="en-US" sz="2400" b="1" spc="-35" dirty="0">
                <a:solidFill>
                  <a:schemeClr val="tx2"/>
                </a:solidFill>
                <a:latin typeface="Times New Roman"/>
                <a:cs typeface="Times New Roman"/>
              </a:rPr>
              <a:t>IN</a:t>
            </a:r>
            <a:r>
              <a:rPr lang="en-US" sz="2400" b="1" spc="-40" dirty="0">
                <a:solidFill>
                  <a:schemeClr val="tx2"/>
                </a:solidFill>
                <a:latin typeface="Times New Roman"/>
                <a:cs typeface="Times New Roman"/>
              </a:rPr>
              <a:t> </a:t>
            </a:r>
            <a:endParaRPr lang="en-US" sz="2400" b="1" spc="-40" dirty="0" smtClean="0">
              <a:solidFill>
                <a:schemeClr val="tx2"/>
              </a:solidFill>
              <a:latin typeface="Times New Roman"/>
              <a:cs typeface="Times New Roman"/>
            </a:endParaRPr>
          </a:p>
          <a:p>
            <a:pPr marL="0" indent="0" algn="ctr">
              <a:buNone/>
            </a:pPr>
            <a:r>
              <a:rPr lang="en-US" sz="2400" b="1" spc="-50" dirty="0" smtClean="0">
                <a:solidFill>
                  <a:schemeClr val="tx2"/>
                </a:solidFill>
                <a:latin typeface="Times New Roman"/>
                <a:cs typeface="Times New Roman"/>
              </a:rPr>
              <a:t>ANCIENT</a:t>
            </a:r>
            <a:r>
              <a:rPr lang="en-US" sz="2400" b="1" spc="-55" dirty="0" smtClean="0">
                <a:solidFill>
                  <a:schemeClr val="tx2"/>
                </a:solidFill>
                <a:latin typeface="Times New Roman"/>
                <a:cs typeface="Times New Roman"/>
              </a:rPr>
              <a:t> </a:t>
            </a:r>
            <a:r>
              <a:rPr lang="en-US" sz="2400" b="1" spc="-20" dirty="0" smtClean="0">
                <a:solidFill>
                  <a:schemeClr val="tx2"/>
                </a:solidFill>
                <a:latin typeface="Times New Roman"/>
                <a:cs typeface="Times New Roman"/>
              </a:rPr>
              <a:t>INDIA</a:t>
            </a:r>
            <a:endParaRPr lang="en-US" sz="2400" dirty="0" smtClean="0">
              <a:solidFill>
                <a:schemeClr val="tx2"/>
              </a:solidFill>
              <a:latin typeface="Times New Roman"/>
              <a:cs typeface="Times New Roman"/>
            </a:endParaRPr>
          </a:p>
          <a:p>
            <a:endParaRPr lang="en-US" dirty="0"/>
          </a:p>
        </p:txBody>
      </p:sp>
    </p:spTree>
    <p:extLst>
      <p:ext uri="{BB962C8B-B14F-4D97-AF65-F5344CB8AC3E}">
        <p14:creationId xmlns:p14="http://schemas.microsoft.com/office/powerpoint/2010/main" val="75328402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1243909" y="1295400"/>
            <a:ext cx="7530258" cy="5645126"/>
          </a:xfrm>
          <a:prstGeom prst="rect">
            <a:avLst/>
          </a:prstGeom>
        </p:spPr>
        <p:txBody>
          <a:bodyPr vert="horz" wrap="square" lIns="0" tIns="12691" rIns="0" bIns="0" rtlCol="0">
            <a:spAutoFit/>
          </a:bodyPr>
          <a:lstStyle/>
          <a:p>
            <a:pPr marL="12691" lvl="2">
              <a:lnSpc>
                <a:spcPct val="150000"/>
              </a:lnSpc>
              <a:spcBef>
                <a:spcPts val="1320"/>
              </a:spcBef>
              <a:tabLst>
                <a:tab pos="468936" algn="l"/>
              </a:tabLst>
            </a:pPr>
            <a:r>
              <a:rPr lang="en-US" sz="2400" b="1" spc="-10" dirty="0">
                <a:solidFill>
                  <a:schemeClr val="tx2"/>
                </a:solidFill>
                <a:latin typeface="Times New Roman"/>
                <a:cs typeface="Times New Roman"/>
              </a:rPr>
              <a:t>        </a:t>
            </a:r>
            <a:r>
              <a:rPr sz="2800" b="1" spc="-10" dirty="0">
                <a:solidFill>
                  <a:schemeClr val="tx2"/>
                </a:solidFill>
                <a:latin typeface="Times New Roman"/>
                <a:cs typeface="Times New Roman"/>
              </a:rPr>
              <a:t>Objectives</a:t>
            </a:r>
            <a:endParaRPr lang="en-US" sz="2800" b="1" spc="-10" dirty="0">
              <a:solidFill>
                <a:schemeClr val="tx2"/>
              </a:solidFill>
              <a:latin typeface="Times New Roman"/>
              <a:cs typeface="Times New Roman"/>
            </a:endParaRPr>
          </a:p>
          <a:p>
            <a:pPr marL="468936" lvl="2" indent="-456244">
              <a:lnSpc>
                <a:spcPct val="150000"/>
              </a:lnSpc>
              <a:buFont typeface="Times New Roman"/>
              <a:buAutoNum type="arabicPeriod"/>
              <a:tabLst>
                <a:tab pos="468936" algn="l"/>
              </a:tabLst>
            </a:pPr>
            <a:r>
              <a:rPr sz="2400" b="1" spc="-10" dirty="0">
                <a:solidFill>
                  <a:schemeClr val="tx2"/>
                </a:solidFill>
                <a:latin typeface="Times New Roman"/>
                <a:cs typeface="Times New Roman"/>
              </a:rPr>
              <a:t>Introduction</a:t>
            </a:r>
            <a:endParaRPr sz="2400" dirty="0">
              <a:solidFill>
                <a:schemeClr val="tx2"/>
              </a:solidFill>
              <a:latin typeface="Times New Roman"/>
              <a:cs typeface="Times New Roman"/>
            </a:endParaRPr>
          </a:p>
          <a:p>
            <a:pPr marL="468936" lvl="2" indent="-456244">
              <a:lnSpc>
                <a:spcPct val="150000"/>
              </a:lnSpc>
              <a:buAutoNum type="arabicPeriod"/>
              <a:tabLst>
                <a:tab pos="468936" algn="l"/>
              </a:tabLst>
            </a:pPr>
            <a:r>
              <a:rPr sz="2400" b="1" spc="-45" dirty="0">
                <a:solidFill>
                  <a:schemeClr val="tx2"/>
                </a:solidFill>
                <a:latin typeface="Times New Roman"/>
                <a:cs typeface="Times New Roman"/>
              </a:rPr>
              <a:t>Copper</a:t>
            </a:r>
            <a:r>
              <a:rPr sz="2400" b="1" spc="-35" dirty="0">
                <a:solidFill>
                  <a:schemeClr val="tx2"/>
                </a:solidFill>
                <a:latin typeface="Times New Roman"/>
                <a:cs typeface="Times New Roman"/>
              </a:rPr>
              <a:t> </a:t>
            </a:r>
            <a:r>
              <a:rPr sz="2400" b="1" spc="-50" dirty="0">
                <a:solidFill>
                  <a:schemeClr val="tx2"/>
                </a:solidFill>
                <a:latin typeface="Times New Roman"/>
                <a:cs typeface="Times New Roman"/>
              </a:rPr>
              <a:t>Metallurgy</a:t>
            </a:r>
            <a:r>
              <a:rPr sz="2400" b="1" spc="-40" dirty="0">
                <a:solidFill>
                  <a:schemeClr val="tx2"/>
                </a:solidFill>
                <a:latin typeface="Times New Roman"/>
                <a:cs typeface="Times New Roman"/>
              </a:rPr>
              <a:t> </a:t>
            </a:r>
            <a:r>
              <a:rPr sz="2400" b="1" spc="-30" dirty="0">
                <a:solidFill>
                  <a:schemeClr val="tx2"/>
                </a:solidFill>
                <a:latin typeface="Times New Roman"/>
                <a:cs typeface="Times New Roman"/>
              </a:rPr>
              <a:t>in </a:t>
            </a:r>
            <a:r>
              <a:rPr sz="2400" b="1" spc="-45" dirty="0">
                <a:solidFill>
                  <a:schemeClr val="tx2"/>
                </a:solidFill>
                <a:latin typeface="Times New Roman"/>
                <a:cs typeface="Times New Roman"/>
              </a:rPr>
              <a:t>Ancient </a:t>
            </a:r>
            <a:r>
              <a:rPr sz="2400" b="1" spc="-20" dirty="0">
                <a:solidFill>
                  <a:schemeClr val="tx2"/>
                </a:solidFill>
                <a:latin typeface="Times New Roman"/>
                <a:cs typeface="Times New Roman"/>
              </a:rPr>
              <a:t>India</a:t>
            </a:r>
            <a:endParaRPr sz="2400" dirty="0">
              <a:solidFill>
                <a:schemeClr val="tx2"/>
              </a:solidFill>
              <a:latin typeface="Times New Roman"/>
              <a:cs typeface="Times New Roman"/>
            </a:endParaRPr>
          </a:p>
          <a:p>
            <a:pPr marL="641534" lvl="3" indent="-342659">
              <a:lnSpc>
                <a:spcPct val="150000"/>
              </a:lnSpc>
              <a:buFont typeface="+mj-lt"/>
              <a:buAutoNum type="alphaLcPeriod"/>
              <a:tabLst>
                <a:tab pos="925817" algn="l"/>
              </a:tabLst>
            </a:pPr>
            <a:r>
              <a:rPr lang="en-US" sz="2400" b="1" spc="-45" dirty="0">
                <a:solidFill>
                  <a:schemeClr val="tx2"/>
                </a:solidFill>
                <a:latin typeface="Times New Roman"/>
                <a:cs typeface="Times New Roman"/>
              </a:rPr>
              <a:t>   </a:t>
            </a:r>
            <a:r>
              <a:rPr sz="2400" b="1" spc="-45" dirty="0" err="1">
                <a:solidFill>
                  <a:schemeClr val="tx2"/>
                </a:solidFill>
                <a:latin typeface="Times New Roman"/>
                <a:cs typeface="Times New Roman"/>
              </a:rPr>
              <a:t>Harappan</a:t>
            </a:r>
            <a:r>
              <a:rPr sz="2400" b="1" spc="-25" dirty="0">
                <a:solidFill>
                  <a:schemeClr val="tx2"/>
                </a:solidFill>
                <a:latin typeface="Times New Roman"/>
                <a:cs typeface="Times New Roman"/>
              </a:rPr>
              <a:t> </a:t>
            </a:r>
            <a:r>
              <a:rPr sz="2400" b="1" spc="-10" dirty="0">
                <a:solidFill>
                  <a:schemeClr val="tx2"/>
                </a:solidFill>
                <a:latin typeface="Times New Roman"/>
                <a:cs typeface="Times New Roman"/>
              </a:rPr>
              <a:t>Civilization</a:t>
            </a:r>
            <a:endParaRPr sz="2400" dirty="0">
              <a:solidFill>
                <a:schemeClr val="tx2"/>
              </a:solidFill>
              <a:latin typeface="Times New Roman"/>
              <a:cs typeface="Times New Roman"/>
            </a:endParaRPr>
          </a:p>
          <a:p>
            <a:pPr marL="641534" lvl="3" indent="-342659">
              <a:lnSpc>
                <a:spcPct val="150000"/>
              </a:lnSpc>
              <a:buFont typeface="+mj-lt"/>
              <a:buAutoNum type="alphaLcPeriod"/>
              <a:tabLst>
                <a:tab pos="925817" algn="l"/>
              </a:tabLst>
            </a:pPr>
            <a:r>
              <a:rPr lang="en-US" sz="2400" b="1" spc="-45" dirty="0">
                <a:solidFill>
                  <a:schemeClr val="tx2"/>
                </a:solidFill>
                <a:latin typeface="Times New Roman"/>
                <a:cs typeface="Times New Roman"/>
              </a:rPr>
              <a:t>   </a:t>
            </a:r>
            <a:r>
              <a:rPr sz="2400" b="1" spc="-45" dirty="0" smtClean="0">
                <a:solidFill>
                  <a:schemeClr val="tx2"/>
                </a:solidFill>
                <a:latin typeface="Times New Roman"/>
                <a:cs typeface="Times New Roman"/>
              </a:rPr>
              <a:t>Beyond</a:t>
            </a:r>
            <a:r>
              <a:rPr sz="2400" b="1" spc="-35" dirty="0" smtClean="0">
                <a:solidFill>
                  <a:schemeClr val="tx2"/>
                </a:solidFill>
                <a:latin typeface="Times New Roman"/>
                <a:cs typeface="Times New Roman"/>
              </a:rPr>
              <a:t> </a:t>
            </a:r>
            <a:r>
              <a:rPr sz="2400" b="1" spc="-40" dirty="0">
                <a:solidFill>
                  <a:schemeClr val="tx2"/>
                </a:solidFill>
                <a:latin typeface="Times New Roman"/>
                <a:cs typeface="Times New Roman"/>
              </a:rPr>
              <a:t>the</a:t>
            </a:r>
            <a:r>
              <a:rPr sz="2400" b="1" spc="-55" dirty="0">
                <a:solidFill>
                  <a:schemeClr val="tx2"/>
                </a:solidFill>
                <a:latin typeface="Times New Roman"/>
                <a:cs typeface="Times New Roman"/>
              </a:rPr>
              <a:t> </a:t>
            </a:r>
            <a:r>
              <a:rPr sz="2400" b="1" spc="-10" dirty="0">
                <a:solidFill>
                  <a:schemeClr val="tx2"/>
                </a:solidFill>
                <a:latin typeface="Times New Roman"/>
                <a:cs typeface="Times New Roman"/>
              </a:rPr>
              <a:t>Harappans</a:t>
            </a:r>
            <a:endParaRPr sz="2400" dirty="0">
              <a:solidFill>
                <a:schemeClr val="tx2"/>
              </a:solidFill>
              <a:latin typeface="Times New Roman"/>
              <a:cs typeface="Times New Roman"/>
            </a:endParaRPr>
          </a:p>
          <a:p>
            <a:pPr marL="468936" lvl="2" indent="-456244">
              <a:lnSpc>
                <a:spcPct val="150000"/>
              </a:lnSpc>
              <a:buAutoNum type="arabicPeriod"/>
              <a:tabLst>
                <a:tab pos="468936" algn="l"/>
              </a:tabLst>
            </a:pPr>
            <a:r>
              <a:rPr sz="2400" b="1" spc="-40" dirty="0">
                <a:solidFill>
                  <a:schemeClr val="tx2"/>
                </a:solidFill>
                <a:latin typeface="Times New Roman"/>
                <a:cs typeface="Times New Roman"/>
              </a:rPr>
              <a:t>Gold</a:t>
            </a:r>
            <a:r>
              <a:rPr sz="2400" b="1" spc="-55" dirty="0">
                <a:solidFill>
                  <a:schemeClr val="tx2"/>
                </a:solidFill>
                <a:latin typeface="Times New Roman"/>
                <a:cs typeface="Times New Roman"/>
              </a:rPr>
              <a:t> </a:t>
            </a:r>
            <a:r>
              <a:rPr sz="2400" b="1" spc="-10" dirty="0">
                <a:solidFill>
                  <a:schemeClr val="tx2"/>
                </a:solidFill>
                <a:latin typeface="Times New Roman"/>
                <a:cs typeface="Times New Roman"/>
              </a:rPr>
              <a:t>Metallurgy</a:t>
            </a:r>
            <a:endParaRPr sz="2400" dirty="0">
              <a:solidFill>
                <a:schemeClr val="tx2"/>
              </a:solidFill>
              <a:latin typeface="Times New Roman"/>
              <a:cs typeface="Times New Roman"/>
            </a:endParaRPr>
          </a:p>
          <a:p>
            <a:pPr marL="468936" lvl="2" indent="-456244">
              <a:lnSpc>
                <a:spcPct val="150000"/>
              </a:lnSpc>
              <a:buAutoNum type="arabicPeriod"/>
              <a:tabLst>
                <a:tab pos="468936" algn="l"/>
              </a:tabLst>
            </a:pPr>
            <a:r>
              <a:rPr sz="2400" b="1" spc="-40" dirty="0">
                <a:solidFill>
                  <a:schemeClr val="tx2"/>
                </a:solidFill>
                <a:latin typeface="Times New Roman"/>
                <a:cs typeface="Times New Roman"/>
              </a:rPr>
              <a:t>Iron </a:t>
            </a:r>
            <a:r>
              <a:rPr sz="2400" b="1" spc="-50" dirty="0">
                <a:solidFill>
                  <a:schemeClr val="tx2"/>
                </a:solidFill>
                <a:latin typeface="Times New Roman"/>
                <a:cs typeface="Times New Roman"/>
              </a:rPr>
              <a:t>Metallurgy</a:t>
            </a:r>
            <a:r>
              <a:rPr sz="2400" b="1" spc="-45" dirty="0">
                <a:solidFill>
                  <a:schemeClr val="tx2"/>
                </a:solidFill>
                <a:latin typeface="Times New Roman"/>
                <a:cs typeface="Times New Roman"/>
              </a:rPr>
              <a:t> </a:t>
            </a:r>
            <a:r>
              <a:rPr sz="2400" b="1" spc="-35" dirty="0">
                <a:solidFill>
                  <a:schemeClr val="tx2"/>
                </a:solidFill>
                <a:latin typeface="Times New Roman"/>
                <a:cs typeface="Times New Roman"/>
              </a:rPr>
              <a:t>in</a:t>
            </a:r>
            <a:r>
              <a:rPr sz="2400" b="1" spc="-40" dirty="0">
                <a:solidFill>
                  <a:schemeClr val="tx2"/>
                </a:solidFill>
                <a:latin typeface="Times New Roman"/>
                <a:cs typeface="Times New Roman"/>
              </a:rPr>
              <a:t> </a:t>
            </a:r>
            <a:r>
              <a:rPr sz="2400" b="1" spc="-45" dirty="0">
                <a:solidFill>
                  <a:schemeClr val="tx2"/>
                </a:solidFill>
                <a:latin typeface="Times New Roman"/>
                <a:cs typeface="Times New Roman"/>
              </a:rPr>
              <a:t>ancient</a:t>
            </a:r>
            <a:r>
              <a:rPr sz="2400" b="1" spc="-40" dirty="0">
                <a:solidFill>
                  <a:schemeClr val="tx2"/>
                </a:solidFill>
                <a:latin typeface="Times New Roman"/>
                <a:cs typeface="Times New Roman"/>
              </a:rPr>
              <a:t> </a:t>
            </a:r>
            <a:r>
              <a:rPr sz="2400" b="1" spc="-20" dirty="0">
                <a:solidFill>
                  <a:schemeClr val="tx2"/>
                </a:solidFill>
                <a:latin typeface="Times New Roman"/>
                <a:cs typeface="Times New Roman"/>
              </a:rPr>
              <a:t>India</a:t>
            </a:r>
            <a:r>
              <a:rPr lang="en-US" sz="2400" b="1" spc="-20" dirty="0">
                <a:solidFill>
                  <a:schemeClr val="tx2"/>
                </a:solidFill>
                <a:latin typeface="Times New Roman"/>
                <a:cs typeface="Times New Roman"/>
              </a:rPr>
              <a:t> -</a:t>
            </a:r>
            <a:r>
              <a:rPr lang="en-US" sz="2400" b="1" spc="-40" dirty="0">
                <a:solidFill>
                  <a:schemeClr val="tx2"/>
                </a:solidFill>
                <a:latin typeface="Times New Roman"/>
                <a:cs typeface="Times New Roman"/>
              </a:rPr>
              <a:t> </a:t>
            </a:r>
            <a:r>
              <a:rPr sz="2400" b="1" spc="-40" dirty="0" err="1">
                <a:solidFill>
                  <a:schemeClr val="tx2"/>
                </a:solidFill>
                <a:latin typeface="Times New Roman"/>
                <a:cs typeface="Times New Roman"/>
              </a:rPr>
              <a:t>Wootz</a:t>
            </a:r>
            <a:r>
              <a:rPr sz="2400" b="1" spc="-60" dirty="0">
                <a:solidFill>
                  <a:schemeClr val="tx2"/>
                </a:solidFill>
                <a:latin typeface="Times New Roman"/>
                <a:cs typeface="Times New Roman"/>
              </a:rPr>
              <a:t> </a:t>
            </a:r>
            <a:r>
              <a:rPr sz="2400" b="1" spc="-10" dirty="0">
                <a:solidFill>
                  <a:schemeClr val="tx2"/>
                </a:solidFill>
                <a:latin typeface="Times New Roman"/>
                <a:cs typeface="Times New Roman"/>
              </a:rPr>
              <a:t>Steel</a:t>
            </a:r>
            <a:endParaRPr sz="2400" dirty="0">
              <a:solidFill>
                <a:schemeClr val="tx2"/>
              </a:solidFill>
              <a:latin typeface="Times New Roman"/>
              <a:cs typeface="Times New Roman"/>
            </a:endParaRPr>
          </a:p>
          <a:p>
            <a:pPr marL="468936" lvl="2" indent="-456244">
              <a:lnSpc>
                <a:spcPct val="150000"/>
              </a:lnSpc>
              <a:buAutoNum type="arabicPeriod"/>
              <a:tabLst>
                <a:tab pos="468936" algn="l"/>
              </a:tabLst>
            </a:pPr>
            <a:r>
              <a:rPr sz="2400" b="1" spc="-20" dirty="0" smtClean="0">
                <a:solidFill>
                  <a:schemeClr val="tx2"/>
                </a:solidFill>
                <a:latin typeface="Times New Roman"/>
                <a:cs typeface="Times New Roman"/>
              </a:rPr>
              <a:t>Zinc</a:t>
            </a:r>
            <a:endParaRPr lang="en-US" sz="2400" b="1" spc="-20" dirty="0" smtClean="0">
              <a:solidFill>
                <a:schemeClr val="tx2"/>
              </a:solidFill>
              <a:latin typeface="Times New Roman"/>
              <a:cs typeface="Times New Roman"/>
            </a:endParaRPr>
          </a:p>
          <a:p>
            <a:pPr marL="12692" lvl="2">
              <a:lnSpc>
                <a:spcPct val="150000"/>
              </a:lnSpc>
              <a:tabLst>
                <a:tab pos="468936" algn="l"/>
              </a:tabLst>
            </a:pPr>
            <a:r>
              <a:rPr lang="en-US" sz="2400" b="1" spc="-45" dirty="0">
                <a:solidFill>
                  <a:schemeClr val="tx2"/>
                </a:solidFill>
                <a:latin typeface="Times New Roman"/>
                <a:cs typeface="Times New Roman"/>
              </a:rPr>
              <a:t>6. Social</a:t>
            </a:r>
            <a:r>
              <a:rPr lang="en-US" sz="2400" b="1" spc="-50" dirty="0">
                <a:solidFill>
                  <a:schemeClr val="tx2"/>
                </a:solidFill>
                <a:latin typeface="Times New Roman"/>
                <a:cs typeface="Times New Roman"/>
              </a:rPr>
              <a:t> </a:t>
            </a:r>
            <a:r>
              <a:rPr lang="en-US" sz="2400" b="1" spc="-45" dirty="0">
                <a:solidFill>
                  <a:schemeClr val="tx2"/>
                </a:solidFill>
                <a:latin typeface="Times New Roman"/>
                <a:cs typeface="Times New Roman"/>
              </a:rPr>
              <a:t>Context</a:t>
            </a:r>
            <a:r>
              <a:rPr lang="en-US" sz="2400" b="1" spc="-55" dirty="0">
                <a:solidFill>
                  <a:schemeClr val="tx2"/>
                </a:solidFill>
                <a:latin typeface="Times New Roman"/>
                <a:cs typeface="Times New Roman"/>
              </a:rPr>
              <a:t> </a:t>
            </a:r>
            <a:r>
              <a:rPr lang="en-US" sz="2400" b="1" spc="-30" dirty="0">
                <a:solidFill>
                  <a:schemeClr val="tx2"/>
                </a:solidFill>
                <a:latin typeface="Times New Roman"/>
                <a:cs typeface="Times New Roman"/>
              </a:rPr>
              <a:t>of</a:t>
            </a:r>
            <a:r>
              <a:rPr lang="en-US" sz="2400" b="1" spc="-25" dirty="0">
                <a:solidFill>
                  <a:schemeClr val="tx2"/>
                </a:solidFill>
                <a:latin typeface="Times New Roman"/>
                <a:cs typeface="Times New Roman"/>
              </a:rPr>
              <a:t> </a:t>
            </a:r>
            <a:r>
              <a:rPr lang="en-US" sz="2400" b="1" spc="-50" dirty="0">
                <a:solidFill>
                  <a:schemeClr val="tx2"/>
                </a:solidFill>
                <a:latin typeface="Times New Roman"/>
                <a:cs typeface="Times New Roman"/>
              </a:rPr>
              <a:t>Metallurgy</a:t>
            </a:r>
            <a:r>
              <a:rPr lang="en-US" sz="2400" b="1" spc="-40" dirty="0">
                <a:solidFill>
                  <a:schemeClr val="tx2"/>
                </a:solidFill>
                <a:latin typeface="Times New Roman"/>
                <a:cs typeface="Times New Roman"/>
              </a:rPr>
              <a:t> </a:t>
            </a:r>
            <a:r>
              <a:rPr lang="en-US" sz="2400" b="1" spc="-35" dirty="0">
                <a:solidFill>
                  <a:schemeClr val="tx2"/>
                </a:solidFill>
                <a:latin typeface="Times New Roman"/>
                <a:cs typeface="Times New Roman"/>
              </a:rPr>
              <a:t>in</a:t>
            </a:r>
            <a:r>
              <a:rPr lang="en-US" sz="2400" b="1" spc="-45" dirty="0">
                <a:solidFill>
                  <a:schemeClr val="tx2"/>
                </a:solidFill>
                <a:latin typeface="Times New Roman"/>
                <a:cs typeface="Times New Roman"/>
              </a:rPr>
              <a:t> Ancient</a:t>
            </a:r>
            <a:r>
              <a:rPr lang="en-US" sz="2400" b="1" spc="-40" dirty="0">
                <a:solidFill>
                  <a:schemeClr val="tx2"/>
                </a:solidFill>
                <a:latin typeface="Times New Roman"/>
                <a:cs typeface="Times New Roman"/>
              </a:rPr>
              <a:t> </a:t>
            </a:r>
            <a:r>
              <a:rPr lang="en-US" sz="2400" b="1" spc="-20" dirty="0">
                <a:solidFill>
                  <a:schemeClr val="tx2"/>
                </a:solidFill>
                <a:latin typeface="Times New Roman"/>
                <a:cs typeface="Times New Roman"/>
              </a:rPr>
              <a:t>India</a:t>
            </a:r>
            <a:endParaRPr lang="en-US" sz="2400" dirty="0">
              <a:solidFill>
                <a:schemeClr val="tx2"/>
              </a:solidFill>
              <a:latin typeface="Times New Roman"/>
              <a:cs typeface="Times New Roman"/>
            </a:endParaRPr>
          </a:p>
          <a:p>
            <a:pPr marL="468936" lvl="2" indent="-456244">
              <a:lnSpc>
                <a:spcPct val="150000"/>
              </a:lnSpc>
              <a:buAutoNum type="arabicPeriod"/>
              <a:tabLst>
                <a:tab pos="468936" algn="l"/>
              </a:tabLst>
            </a:pPr>
            <a:endParaRPr sz="2400" dirty="0">
              <a:solidFill>
                <a:schemeClr val="tx2"/>
              </a:solidFill>
              <a:latin typeface="Times New Roman"/>
              <a:cs typeface="Times New Roman"/>
            </a:endParaRPr>
          </a:p>
        </p:txBody>
      </p:sp>
    </p:spTree>
    <p:extLst>
      <p:ext uri="{BB962C8B-B14F-4D97-AF65-F5344CB8AC3E}">
        <p14:creationId xmlns:p14="http://schemas.microsoft.com/office/powerpoint/2010/main" val="83174772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1177789" y="762000"/>
            <a:ext cx="7530258" cy="6106791"/>
          </a:xfrm>
          <a:prstGeom prst="rect">
            <a:avLst/>
          </a:prstGeom>
        </p:spPr>
        <p:txBody>
          <a:bodyPr vert="horz" wrap="square" lIns="0" tIns="12691" rIns="0" bIns="0" rtlCol="0">
            <a:spAutoFit/>
          </a:bodyPr>
          <a:lstStyle/>
          <a:p>
            <a:pPr marL="12691" lvl="2">
              <a:lnSpc>
                <a:spcPct val="150000"/>
              </a:lnSpc>
              <a:spcBef>
                <a:spcPts val="1320"/>
              </a:spcBef>
              <a:tabLst>
                <a:tab pos="468936" algn="l"/>
              </a:tabLst>
            </a:pPr>
            <a:r>
              <a:rPr lang="en-US" sz="2400" b="1" spc="-10" dirty="0">
                <a:solidFill>
                  <a:schemeClr val="tx2"/>
                </a:solidFill>
                <a:latin typeface="Times New Roman"/>
                <a:cs typeface="Times New Roman"/>
              </a:rPr>
              <a:t>        </a:t>
            </a:r>
          </a:p>
          <a:p>
            <a:pPr marL="12692" lvl="2">
              <a:lnSpc>
                <a:spcPct val="150000"/>
              </a:lnSpc>
              <a:tabLst>
                <a:tab pos="468936" algn="l"/>
              </a:tabLst>
            </a:pPr>
            <a:r>
              <a:rPr lang="en-US" sz="2400" b="1" spc="-45" dirty="0" smtClean="0">
                <a:solidFill>
                  <a:schemeClr val="tx2"/>
                </a:solidFill>
                <a:latin typeface="Times New Roman"/>
                <a:cs typeface="Times New Roman"/>
              </a:rPr>
              <a:t>7</a:t>
            </a:r>
            <a:r>
              <a:rPr lang="en-US" sz="2400" b="1" spc="-45" dirty="0">
                <a:solidFill>
                  <a:schemeClr val="tx2"/>
                </a:solidFill>
                <a:latin typeface="Times New Roman"/>
                <a:cs typeface="Times New Roman"/>
              </a:rPr>
              <a:t>.  </a:t>
            </a:r>
            <a:r>
              <a:rPr sz="2400" b="1" spc="-45" dirty="0">
                <a:solidFill>
                  <a:schemeClr val="tx2"/>
                </a:solidFill>
                <a:latin typeface="Times New Roman"/>
                <a:cs typeface="Times New Roman"/>
              </a:rPr>
              <a:t>Textual</a:t>
            </a:r>
            <a:r>
              <a:rPr sz="2400" b="1" spc="-25" dirty="0">
                <a:solidFill>
                  <a:schemeClr val="tx2"/>
                </a:solidFill>
                <a:latin typeface="Times New Roman"/>
                <a:cs typeface="Times New Roman"/>
              </a:rPr>
              <a:t> </a:t>
            </a:r>
            <a:r>
              <a:rPr sz="2400" b="1" spc="-50" dirty="0">
                <a:solidFill>
                  <a:schemeClr val="tx2"/>
                </a:solidFill>
                <a:latin typeface="Times New Roman"/>
                <a:cs typeface="Times New Roman"/>
              </a:rPr>
              <a:t>reference </a:t>
            </a:r>
            <a:r>
              <a:rPr sz="2400" b="1" spc="-30" dirty="0">
                <a:solidFill>
                  <a:schemeClr val="tx2"/>
                </a:solidFill>
                <a:latin typeface="Times New Roman"/>
                <a:cs typeface="Times New Roman"/>
              </a:rPr>
              <a:t>on</a:t>
            </a:r>
            <a:r>
              <a:rPr sz="2400" b="1" spc="-20" dirty="0">
                <a:solidFill>
                  <a:schemeClr val="tx2"/>
                </a:solidFill>
                <a:latin typeface="Times New Roman"/>
                <a:cs typeface="Times New Roman"/>
              </a:rPr>
              <a:t> </a:t>
            </a:r>
            <a:r>
              <a:rPr sz="2400" b="1" spc="-50" dirty="0">
                <a:solidFill>
                  <a:schemeClr val="tx2"/>
                </a:solidFill>
                <a:latin typeface="Times New Roman"/>
                <a:cs typeface="Times New Roman"/>
              </a:rPr>
              <a:t>ancient</a:t>
            </a:r>
            <a:r>
              <a:rPr sz="2400" b="1" spc="-40" dirty="0">
                <a:solidFill>
                  <a:schemeClr val="tx2"/>
                </a:solidFill>
                <a:latin typeface="Times New Roman"/>
                <a:cs typeface="Times New Roman"/>
              </a:rPr>
              <a:t> </a:t>
            </a:r>
            <a:r>
              <a:rPr sz="2400" b="1" spc="-45" dirty="0">
                <a:solidFill>
                  <a:schemeClr val="tx2"/>
                </a:solidFill>
                <a:latin typeface="Times New Roman"/>
                <a:cs typeface="Times New Roman"/>
              </a:rPr>
              <a:t>Indian</a:t>
            </a:r>
            <a:r>
              <a:rPr sz="2400" b="1" spc="-35" dirty="0">
                <a:solidFill>
                  <a:schemeClr val="tx2"/>
                </a:solidFill>
                <a:latin typeface="Times New Roman"/>
                <a:cs typeface="Times New Roman"/>
              </a:rPr>
              <a:t> </a:t>
            </a:r>
            <a:r>
              <a:rPr sz="2400" b="1" spc="-10" dirty="0">
                <a:solidFill>
                  <a:schemeClr val="tx2"/>
                </a:solidFill>
                <a:latin typeface="Times New Roman"/>
                <a:cs typeface="Times New Roman"/>
              </a:rPr>
              <a:t>Metallurgy</a:t>
            </a:r>
            <a:endParaRPr sz="2400" dirty="0">
              <a:solidFill>
                <a:schemeClr val="tx2"/>
              </a:solidFill>
              <a:latin typeface="Times New Roman"/>
              <a:cs typeface="Times New Roman"/>
            </a:endParaRPr>
          </a:p>
          <a:p>
            <a:pPr marL="641656" lvl="3" indent="-342779">
              <a:lnSpc>
                <a:spcPct val="150000"/>
              </a:lnSpc>
              <a:buFont typeface="Wingdings" pitchFamily="2" charset="2"/>
              <a:buChar char="§"/>
              <a:tabLst>
                <a:tab pos="925817" algn="l"/>
              </a:tabLst>
            </a:pPr>
            <a:r>
              <a:rPr sz="2400" b="1" spc="-50" dirty="0">
                <a:solidFill>
                  <a:schemeClr val="tx2"/>
                </a:solidFill>
                <a:latin typeface="Times New Roman"/>
                <a:cs typeface="Times New Roman"/>
              </a:rPr>
              <a:t>Rig-</a:t>
            </a:r>
            <a:r>
              <a:rPr sz="2400" b="1" spc="-10" dirty="0">
                <a:solidFill>
                  <a:schemeClr val="tx2"/>
                </a:solidFill>
                <a:latin typeface="Times New Roman"/>
                <a:cs typeface="Times New Roman"/>
              </a:rPr>
              <a:t>Veda:</a:t>
            </a:r>
            <a:endParaRPr sz="2400" dirty="0">
              <a:solidFill>
                <a:schemeClr val="tx2"/>
              </a:solidFill>
              <a:latin typeface="Times New Roman"/>
              <a:cs typeface="Times New Roman"/>
            </a:endParaRPr>
          </a:p>
          <a:p>
            <a:pPr marL="641656" lvl="3" indent="-342779">
              <a:lnSpc>
                <a:spcPct val="150000"/>
              </a:lnSpc>
              <a:buFont typeface="Wingdings" pitchFamily="2" charset="2"/>
              <a:buChar char="§"/>
              <a:tabLst>
                <a:tab pos="925817" algn="l"/>
              </a:tabLst>
            </a:pPr>
            <a:r>
              <a:rPr sz="2400" b="1" spc="-10" dirty="0" err="1">
                <a:solidFill>
                  <a:schemeClr val="tx2"/>
                </a:solidFill>
                <a:latin typeface="Times New Roman"/>
                <a:cs typeface="Times New Roman"/>
              </a:rPr>
              <a:t>Arthasastra</a:t>
            </a:r>
            <a:r>
              <a:rPr sz="2400" b="1" spc="-10" dirty="0">
                <a:solidFill>
                  <a:schemeClr val="tx2"/>
                </a:solidFill>
                <a:latin typeface="Times New Roman"/>
                <a:cs typeface="Times New Roman"/>
              </a:rPr>
              <a:t>:</a:t>
            </a:r>
            <a:endParaRPr sz="2400" dirty="0">
              <a:solidFill>
                <a:schemeClr val="tx2"/>
              </a:solidFill>
              <a:latin typeface="Times New Roman"/>
              <a:cs typeface="Times New Roman"/>
            </a:endParaRPr>
          </a:p>
          <a:p>
            <a:pPr marL="641656" lvl="3" indent="-342779">
              <a:lnSpc>
                <a:spcPct val="150000"/>
              </a:lnSpc>
              <a:buFont typeface="Wingdings" pitchFamily="2" charset="2"/>
              <a:buChar char="§"/>
              <a:tabLst>
                <a:tab pos="925817" algn="l"/>
              </a:tabLst>
            </a:pPr>
            <a:r>
              <a:rPr sz="2400" b="1" spc="-50" dirty="0" err="1">
                <a:solidFill>
                  <a:schemeClr val="tx2"/>
                </a:solidFill>
                <a:latin typeface="Times New Roman"/>
                <a:cs typeface="Times New Roman"/>
              </a:rPr>
              <a:t>Varahamihira</a:t>
            </a:r>
            <a:r>
              <a:rPr sz="2400" b="1" spc="-10" dirty="0">
                <a:solidFill>
                  <a:schemeClr val="tx2"/>
                </a:solidFill>
                <a:latin typeface="Times New Roman"/>
                <a:cs typeface="Times New Roman"/>
              </a:rPr>
              <a:t> </a:t>
            </a:r>
            <a:r>
              <a:rPr sz="2400" b="1" spc="-45" dirty="0">
                <a:solidFill>
                  <a:schemeClr val="tx2"/>
                </a:solidFill>
                <a:latin typeface="Times New Roman"/>
                <a:cs typeface="Times New Roman"/>
              </a:rPr>
              <a:t>(5th</a:t>
            </a:r>
            <a:r>
              <a:rPr sz="2400" b="1" spc="-10" dirty="0">
                <a:solidFill>
                  <a:schemeClr val="tx2"/>
                </a:solidFill>
                <a:latin typeface="Times New Roman"/>
                <a:cs typeface="Times New Roman"/>
              </a:rPr>
              <a:t> </a:t>
            </a:r>
            <a:r>
              <a:rPr sz="2400" b="1" spc="-20" dirty="0">
                <a:solidFill>
                  <a:schemeClr val="tx2"/>
                </a:solidFill>
                <a:latin typeface="Times New Roman"/>
                <a:cs typeface="Times New Roman"/>
              </a:rPr>
              <a:t>CE):</a:t>
            </a:r>
            <a:endParaRPr sz="2400" dirty="0">
              <a:solidFill>
                <a:schemeClr val="tx2"/>
              </a:solidFill>
              <a:latin typeface="Times New Roman"/>
              <a:cs typeface="Times New Roman"/>
            </a:endParaRPr>
          </a:p>
          <a:p>
            <a:pPr marL="641656" lvl="3" indent="-342779">
              <a:lnSpc>
                <a:spcPct val="150000"/>
              </a:lnSpc>
              <a:buFont typeface="Wingdings" pitchFamily="2" charset="2"/>
              <a:buChar char="§"/>
              <a:tabLst>
                <a:tab pos="925817" algn="l"/>
              </a:tabLst>
            </a:pPr>
            <a:r>
              <a:rPr sz="2400" b="1" spc="-45" dirty="0" err="1">
                <a:solidFill>
                  <a:schemeClr val="tx2"/>
                </a:solidFill>
                <a:latin typeface="Times New Roman"/>
                <a:cs typeface="Times New Roman"/>
              </a:rPr>
              <a:t>Nagarjuna</a:t>
            </a:r>
            <a:r>
              <a:rPr sz="2400" b="1" spc="-45" dirty="0">
                <a:solidFill>
                  <a:schemeClr val="tx2"/>
                </a:solidFill>
                <a:latin typeface="Times New Roman"/>
                <a:cs typeface="Times New Roman"/>
              </a:rPr>
              <a:t> (7th </a:t>
            </a:r>
            <a:r>
              <a:rPr sz="2400" b="1" spc="-30" dirty="0">
                <a:solidFill>
                  <a:schemeClr val="tx2"/>
                </a:solidFill>
                <a:latin typeface="Times New Roman"/>
                <a:cs typeface="Times New Roman"/>
              </a:rPr>
              <a:t>or</a:t>
            </a:r>
            <a:r>
              <a:rPr sz="2400" b="1" spc="-55" dirty="0">
                <a:solidFill>
                  <a:schemeClr val="tx2"/>
                </a:solidFill>
                <a:latin typeface="Times New Roman"/>
                <a:cs typeface="Times New Roman"/>
              </a:rPr>
              <a:t> </a:t>
            </a:r>
            <a:r>
              <a:rPr sz="2400" b="1" spc="-35" dirty="0">
                <a:solidFill>
                  <a:schemeClr val="tx2"/>
                </a:solidFill>
                <a:latin typeface="Times New Roman"/>
                <a:cs typeface="Times New Roman"/>
              </a:rPr>
              <a:t>8th</a:t>
            </a:r>
            <a:r>
              <a:rPr sz="2400" b="1" spc="-50" dirty="0">
                <a:solidFill>
                  <a:schemeClr val="tx2"/>
                </a:solidFill>
                <a:latin typeface="Times New Roman"/>
                <a:cs typeface="Times New Roman"/>
              </a:rPr>
              <a:t> </a:t>
            </a:r>
            <a:r>
              <a:rPr sz="2400" b="1" spc="-45" dirty="0">
                <a:solidFill>
                  <a:schemeClr val="tx2"/>
                </a:solidFill>
                <a:latin typeface="Times New Roman"/>
                <a:cs typeface="Times New Roman"/>
              </a:rPr>
              <a:t>century</a:t>
            </a:r>
            <a:r>
              <a:rPr sz="2400" b="1" spc="-40" dirty="0">
                <a:solidFill>
                  <a:schemeClr val="tx2"/>
                </a:solidFill>
                <a:latin typeface="Times New Roman"/>
                <a:cs typeface="Times New Roman"/>
              </a:rPr>
              <a:t> </a:t>
            </a:r>
            <a:r>
              <a:rPr sz="2400" b="1" spc="-20" dirty="0">
                <a:solidFill>
                  <a:schemeClr val="tx2"/>
                </a:solidFill>
                <a:latin typeface="Times New Roman"/>
                <a:cs typeface="Times New Roman"/>
              </a:rPr>
              <a:t>CE):</a:t>
            </a:r>
            <a:endParaRPr sz="2400" dirty="0">
              <a:solidFill>
                <a:schemeClr val="tx2"/>
              </a:solidFill>
              <a:latin typeface="Times New Roman"/>
              <a:cs typeface="Times New Roman"/>
            </a:endParaRPr>
          </a:p>
          <a:p>
            <a:pPr marL="641656" lvl="3" indent="-342779">
              <a:lnSpc>
                <a:spcPct val="150000"/>
              </a:lnSpc>
              <a:buFont typeface="Wingdings" pitchFamily="2" charset="2"/>
              <a:buChar char="§"/>
              <a:tabLst>
                <a:tab pos="925817" algn="l"/>
              </a:tabLst>
            </a:pPr>
            <a:r>
              <a:rPr sz="2400" b="1" spc="-10" dirty="0" err="1">
                <a:solidFill>
                  <a:schemeClr val="tx2"/>
                </a:solidFill>
                <a:latin typeface="Times New Roman"/>
                <a:cs typeface="Times New Roman"/>
              </a:rPr>
              <a:t>Vagbhaṭa</a:t>
            </a:r>
            <a:endParaRPr sz="2400" dirty="0">
              <a:solidFill>
                <a:schemeClr val="tx2"/>
              </a:solidFill>
              <a:latin typeface="Times New Roman"/>
              <a:cs typeface="Times New Roman"/>
            </a:endParaRPr>
          </a:p>
          <a:p>
            <a:pPr marL="12692" lvl="2">
              <a:lnSpc>
                <a:spcPct val="150000"/>
              </a:lnSpc>
              <a:tabLst>
                <a:tab pos="468936" algn="l"/>
              </a:tabLst>
            </a:pPr>
            <a:r>
              <a:rPr lang="en-US" sz="2400" b="1" spc="-50" dirty="0">
                <a:solidFill>
                  <a:schemeClr val="tx2"/>
                </a:solidFill>
                <a:latin typeface="Times New Roman"/>
                <a:cs typeface="Times New Roman"/>
              </a:rPr>
              <a:t>8.  </a:t>
            </a:r>
            <a:r>
              <a:rPr sz="2400" b="1" spc="-50" dirty="0">
                <a:solidFill>
                  <a:schemeClr val="tx2"/>
                </a:solidFill>
                <a:latin typeface="Times New Roman"/>
                <a:cs typeface="Times New Roman"/>
              </a:rPr>
              <a:t>Classification</a:t>
            </a:r>
            <a:r>
              <a:rPr sz="2400" b="1" spc="-20" dirty="0">
                <a:solidFill>
                  <a:schemeClr val="tx2"/>
                </a:solidFill>
                <a:latin typeface="Times New Roman"/>
                <a:cs typeface="Times New Roman"/>
              </a:rPr>
              <a:t> </a:t>
            </a:r>
            <a:r>
              <a:rPr sz="2400" b="1" spc="-35" dirty="0">
                <a:solidFill>
                  <a:schemeClr val="tx2"/>
                </a:solidFill>
                <a:latin typeface="Times New Roman"/>
                <a:cs typeface="Times New Roman"/>
              </a:rPr>
              <a:t>of</a:t>
            </a:r>
            <a:r>
              <a:rPr sz="2400" b="1" spc="-30" dirty="0">
                <a:solidFill>
                  <a:schemeClr val="tx2"/>
                </a:solidFill>
                <a:latin typeface="Times New Roman"/>
                <a:cs typeface="Times New Roman"/>
              </a:rPr>
              <a:t> </a:t>
            </a:r>
            <a:r>
              <a:rPr sz="2400" b="1" spc="-50" dirty="0">
                <a:solidFill>
                  <a:schemeClr val="tx2"/>
                </a:solidFill>
                <a:latin typeface="Times New Roman"/>
                <a:cs typeface="Times New Roman"/>
              </a:rPr>
              <a:t>metals</a:t>
            </a:r>
            <a:r>
              <a:rPr sz="2400" b="1" spc="-40" dirty="0">
                <a:solidFill>
                  <a:schemeClr val="tx2"/>
                </a:solidFill>
                <a:latin typeface="Times New Roman"/>
                <a:cs typeface="Times New Roman"/>
              </a:rPr>
              <a:t> </a:t>
            </a:r>
            <a:r>
              <a:rPr sz="2400" b="1" spc="-35" dirty="0">
                <a:solidFill>
                  <a:schemeClr val="tx2"/>
                </a:solidFill>
                <a:latin typeface="Times New Roman"/>
                <a:cs typeface="Times New Roman"/>
              </a:rPr>
              <a:t>in</a:t>
            </a:r>
            <a:r>
              <a:rPr sz="2400" b="1" spc="-30" dirty="0">
                <a:solidFill>
                  <a:schemeClr val="tx2"/>
                </a:solidFill>
                <a:latin typeface="Times New Roman"/>
                <a:cs typeface="Times New Roman"/>
              </a:rPr>
              <a:t> </a:t>
            </a:r>
            <a:r>
              <a:rPr sz="2400" b="1" spc="-45" dirty="0">
                <a:solidFill>
                  <a:schemeClr val="tx2"/>
                </a:solidFill>
                <a:latin typeface="Times New Roman"/>
                <a:cs typeface="Times New Roman"/>
              </a:rPr>
              <a:t>Ancient</a:t>
            </a:r>
            <a:r>
              <a:rPr sz="2400" b="1" spc="-40" dirty="0">
                <a:solidFill>
                  <a:schemeClr val="tx2"/>
                </a:solidFill>
                <a:latin typeface="Times New Roman"/>
                <a:cs typeface="Times New Roman"/>
              </a:rPr>
              <a:t> </a:t>
            </a:r>
            <a:r>
              <a:rPr sz="2400" b="1" spc="-45" dirty="0">
                <a:solidFill>
                  <a:schemeClr val="tx2"/>
                </a:solidFill>
                <a:latin typeface="Times New Roman"/>
                <a:cs typeface="Times New Roman"/>
              </a:rPr>
              <a:t>Indian</a:t>
            </a:r>
            <a:r>
              <a:rPr sz="2400" b="1" spc="-35" dirty="0">
                <a:solidFill>
                  <a:schemeClr val="tx2"/>
                </a:solidFill>
                <a:latin typeface="Times New Roman"/>
                <a:cs typeface="Times New Roman"/>
              </a:rPr>
              <a:t> </a:t>
            </a:r>
            <a:r>
              <a:rPr sz="2400" b="1" spc="-20" dirty="0">
                <a:solidFill>
                  <a:schemeClr val="tx2"/>
                </a:solidFill>
                <a:latin typeface="Times New Roman"/>
                <a:cs typeface="Times New Roman"/>
              </a:rPr>
              <a:t>literature</a:t>
            </a:r>
            <a:endParaRPr sz="2400" dirty="0">
              <a:solidFill>
                <a:schemeClr val="tx2"/>
              </a:solidFill>
              <a:latin typeface="Times New Roman"/>
              <a:cs typeface="Times New Roman"/>
            </a:endParaRPr>
          </a:p>
          <a:p>
            <a:pPr marL="12692" lvl="2">
              <a:lnSpc>
                <a:spcPct val="150000"/>
              </a:lnSpc>
              <a:tabLst>
                <a:tab pos="468936" algn="l"/>
              </a:tabLst>
            </a:pPr>
            <a:r>
              <a:rPr lang="en-US" sz="2400" b="1" spc="-10" dirty="0">
                <a:solidFill>
                  <a:schemeClr val="tx2"/>
                </a:solidFill>
                <a:latin typeface="Times New Roman"/>
                <a:cs typeface="Times New Roman"/>
              </a:rPr>
              <a:t>9.  </a:t>
            </a:r>
            <a:r>
              <a:rPr sz="2400" b="1" spc="-10" dirty="0" smtClean="0">
                <a:solidFill>
                  <a:schemeClr val="tx2"/>
                </a:solidFill>
                <a:latin typeface="Times New Roman"/>
                <a:cs typeface="Times New Roman"/>
              </a:rPr>
              <a:t>Conclusions</a:t>
            </a:r>
            <a:endParaRPr sz="2400" dirty="0">
              <a:solidFill>
                <a:schemeClr val="tx2"/>
              </a:solidFill>
              <a:latin typeface="Times New Roman"/>
              <a:cs typeface="Times New Roman"/>
            </a:endParaRPr>
          </a:p>
          <a:p>
            <a:pPr marL="12692" lvl="2">
              <a:lnSpc>
                <a:spcPct val="150000"/>
              </a:lnSpc>
              <a:tabLst>
                <a:tab pos="466397" algn="l"/>
              </a:tabLst>
            </a:pPr>
            <a:r>
              <a:rPr lang="en-US" sz="2400" b="1" spc="-10" dirty="0">
                <a:solidFill>
                  <a:schemeClr val="tx2"/>
                </a:solidFill>
                <a:latin typeface="Times New Roman"/>
                <a:cs typeface="Times New Roman"/>
              </a:rPr>
              <a:t>10.  </a:t>
            </a:r>
            <a:r>
              <a:rPr sz="2400" b="1" spc="-10" dirty="0">
                <a:solidFill>
                  <a:schemeClr val="tx2"/>
                </a:solidFill>
                <a:latin typeface="Times New Roman"/>
                <a:cs typeface="Times New Roman"/>
              </a:rPr>
              <a:t>Summary</a:t>
            </a:r>
            <a:endParaRPr sz="2400" dirty="0">
              <a:solidFill>
                <a:schemeClr val="tx2"/>
              </a:solidFill>
              <a:latin typeface="Times New Roman"/>
              <a:cs typeface="Times New Roman"/>
            </a:endParaRPr>
          </a:p>
          <a:p>
            <a:pPr marL="12691" lvl="2">
              <a:lnSpc>
                <a:spcPct val="150000"/>
              </a:lnSpc>
              <a:tabLst>
                <a:tab pos="466397" algn="l"/>
              </a:tabLst>
            </a:pPr>
            <a:endParaRPr sz="2400" dirty="0">
              <a:solidFill>
                <a:schemeClr val="tx2"/>
              </a:solidFill>
              <a:latin typeface="Times New Roman"/>
              <a:cs typeface="Times New Roman"/>
            </a:endParaRPr>
          </a:p>
        </p:txBody>
      </p:sp>
    </p:spTree>
    <p:extLst>
      <p:ext uri="{BB962C8B-B14F-4D97-AF65-F5344CB8AC3E}">
        <p14:creationId xmlns:p14="http://schemas.microsoft.com/office/powerpoint/2010/main" val="63599355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171575" y="762000"/>
            <a:ext cx="7971939" cy="6671048"/>
          </a:xfrm>
          <a:prstGeom prst="rect">
            <a:avLst/>
          </a:prstGeom>
        </p:spPr>
        <p:txBody>
          <a:bodyPr vert="horz" wrap="square" lIns="0" tIns="12691" rIns="0" bIns="0" rtlCol="0">
            <a:spAutoFit/>
          </a:bodyPr>
          <a:lstStyle/>
          <a:p>
            <a:pPr marL="12691" lvl="2" algn="ctr">
              <a:lnSpc>
                <a:spcPts val="1398"/>
              </a:lnSpc>
              <a:spcBef>
                <a:spcPts val="100"/>
              </a:spcBef>
              <a:tabLst>
                <a:tab pos="468936" algn="l"/>
              </a:tabLst>
            </a:pPr>
            <a:r>
              <a:rPr lang="en-IN" sz="3200" b="1" u="sng" spc="-10" dirty="0" smtClean="0">
                <a:solidFill>
                  <a:schemeClr val="tx2"/>
                </a:solidFill>
                <a:latin typeface="Times New Roman"/>
                <a:cs typeface="Times New Roman"/>
              </a:rPr>
              <a:t>OBJECTIVES</a:t>
            </a:r>
          </a:p>
          <a:p>
            <a:pPr marL="12691" lvl="2">
              <a:lnSpc>
                <a:spcPts val="1398"/>
              </a:lnSpc>
              <a:spcBef>
                <a:spcPts val="100"/>
              </a:spcBef>
              <a:tabLst>
                <a:tab pos="468936" algn="l"/>
              </a:tabLst>
            </a:pPr>
            <a:endParaRPr sz="2400" dirty="0">
              <a:solidFill>
                <a:srgbClr val="FF0000"/>
              </a:solidFill>
              <a:latin typeface="Times New Roman"/>
              <a:cs typeface="Times New Roman"/>
            </a:endParaRPr>
          </a:p>
          <a:p>
            <a:pPr marL="12691" marR="5715" indent="456244" algn="just">
              <a:lnSpc>
                <a:spcPct val="150000"/>
              </a:lnSpc>
              <a:spcBef>
                <a:spcPts val="55"/>
              </a:spcBef>
            </a:pPr>
            <a:r>
              <a:rPr lang="en-US" sz="2400" dirty="0" smtClean="0">
                <a:latin typeface="Times New Roman"/>
                <a:cs typeface="Times New Roman"/>
              </a:rPr>
              <a:t>  </a:t>
            </a:r>
            <a:r>
              <a:rPr sz="2400" dirty="0" smtClean="0">
                <a:latin typeface="Times New Roman"/>
                <a:cs typeface="Times New Roman"/>
              </a:rPr>
              <a:t>In</a:t>
            </a:r>
            <a:r>
              <a:rPr sz="2400" spc="-14" dirty="0" smtClean="0">
                <a:latin typeface="Times New Roman"/>
                <a:cs typeface="Times New Roman"/>
              </a:rPr>
              <a:t> </a:t>
            </a:r>
            <a:r>
              <a:rPr sz="2400" spc="-20" dirty="0">
                <a:latin typeface="Times New Roman"/>
                <a:cs typeface="Times New Roman"/>
              </a:rPr>
              <a:t>this </a:t>
            </a:r>
            <a:r>
              <a:rPr sz="2400" spc="-30" dirty="0">
                <a:latin typeface="Times New Roman"/>
                <a:cs typeface="Times New Roman"/>
              </a:rPr>
              <a:t>lesson,</a:t>
            </a:r>
            <a:r>
              <a:rPr sz="2400" spc="-20" dirty="0">
                <a:latin typeface="Times New Roman"/>
                <a:cs typeface="Times New Roman"/>
              </a:rPr>
              <a:t> </a:t>
            </a:r>
            <a:r>
              <a:rPr sz="2400" spc="-35" dirty="0">
                <a:latin typeface="Times New Roman"/>
                <a:cs typeface="Times New Roman"/>
              </a:rPr>
              <a:t>students</a:t>
            </a:r>
            <a:r>
              <a:rPr sz="2400" spc="-4" dirty="0">
                <a:latin typeface="Times New Roman"/>
                <a:cs typeface="Times New Roman"/>
              </a:rPr>
              <a:t> </a:t>
            </a:r>
            <a:r>
              <a:rPr sz="2400" spc="-45" dirty="0">
                <a:latin typeface="Times New Roman"/>
                <a:cs typeface="Times New Roman"/>
              </a:rPr>
              <a:t>investigate</a:t>
            </a:r>
            <a:r>
              <a:rPr sz="2400" spc="-25" dirty="0">
                <a:latin typeface="Times New Roman"/>
                <a:cs typeface="Times New Roman"/>
              </a:rPr>
              <a:t> </a:t>
            </a:r>
            <a:r>
              <a:rPr sz="2400" dirty="0">
                <a:latin typeface="Times New Roman"/>
                <a:cs typeface="Times New Roman"/>
              </a:rPr>
              <a:t>the</a:t>
            </a:r>
            <a:r>
              <a:rPr sz="2400" spc="-25" dirty="0">
                <a:latin typeface="Times New Roman"/>
                <a:cs typeface="Times New Roman"/>
              </a:rPr>
              <a:t> </a:t>
            </a:r>
            <a:r>
              <a:rPr sz="2400" spc="-40" dirty="0">
                <a:solidFill>
                  <a:srgbClr val="00B050"/>
                </a:solidFill>
                <a:latin typeface="Times New Roman"/>
                <a:cs typeface="Times New Roman"/>
              </a:rPr>
              <a:t>historical</a:t>
            </a:r>
            <a:r>
              <a:rPr sz="2400" spc="-14" dirty="0">
                <a:solidFill>
                  <a:srgbClr val="00B050"/>
                </a:solidFill>
                <a:latin typeface="Times New Roman"/>
                <a:cs typeface="Times New Roman"/>
              </a:rPr>
              <a:t> </a:t>
            </a:r>
            <a:r>
              <a:rPr sz="2400" spc="-40" dirty="0">
                <a:solidFill>
                  <a:srgbClr val="00B050"/>
                </a:solidFill>
                <a:latin typeface="Times New Roman"/>
                <a:cs typeface="Times New Roman"/>
              </a:rPr>
              <a:t>development</a:t>
            </a:r>
            <a:r>
              <a:rPr sz="2400" spc="-14" dirty="0">
                <a:solidFill>
                  <a:srgbClr val="00B050"/>
                </a:solidFill>
                <a:latin typeface="Times New Roman"/>
                <a:cs typeface="Times New Roman"/>
              </a:rPr>
              <a:t> </a:t>
            </a:r>
            <a:r>
              <a:rPr sz="2400" dirty="0" smtClean="0">
                <a:solidFill>
                  <a:srgbClr val="00B050"/>
                </a:solidFill>
                <a:latin typeface="Times New Roman"/>
                <a:cs typeface="Times New Roman"/>
              </a:rPr>
              <a:t>of</a:t>
            </a:r>
            <a:r>
              <a:rPr sz="2400" spc="-14" dirty="0" smtClean="0">
                <a:solidFill>
                  <a:srgbClr val="00B050"/>
                </a:solidFill>
                <a:latin typeface="Times New Roman"/>
                <a:cs typeface="Times New Roman"/>
              </a:rPr>
              <a:t> </a:t>
            </a:r>
            <a:r>
              <a:rPr sz="2400" spc="-40" dirty="0">
                <a:solidFill>
                  <a:srgbClr val="00B050"/>
                </a:solidFill>
                <a:latin typeface="Times New Roman"/>
                <a:cs typeface="Times New Roman"/>
              </a:rPr>
              <a:t>metallurgy</a:t>
            </a:r>
            <a:r>
              <a:rPr sz="2400" spc="-25" dirty="0">
                <a:solidFill>
                  <a:srgbClr val="00B050"/>
                </a:solidFill>
                <a:latin typeface="Times New Roman"/>
                <a:cs typeface="Times New Roman"/>
              </a:rPr>
              <a:t> </a:t>
            </a:r>
            <a:r>
              <a:rPr sz="2400" dirty="0">
                <a:solidFill>
                  <a:srgbClr val="00B050"/>
                </a:solidFill>
                <a:latin typeface="Times New Roman"/>
                <a:cs typeface="Times New Roman"/>
              </a:rPr>
              <a:t>in</a:t>
            </a:r>
            <a:r>
              <a:rPr sz="2400" spc="-20" dirty="0">
                <a:solidFill>
                  <a:srgbClr val="00B050"/>
                </a:solidFill>
                <a:latin typeface="Times New Roman"/>
                <a:cs typeface="Times New Roman"/>
              </a:rPr>
              <a:t> </a:t>
            </a:r>
            <a:r>
              <a:rPr sz="2400" spc="-35" dirty="0">
                <a:solidFill>
                  <a:srgbClr val="00B050"/>
                </a:solidFill>
                <a:latin typeface="Times New Roman"/>
                <a:cs typeface="Times New Roman"/>
              </a:rPr>
              <a:t>ancient</a:t>
            </a:r>
            <a:r>
              <a:rPr sz="2400" spc="-10" dirty="0">
                <a:solidFill>
                  <a:srgbClr val="00B050"/>
                </a:solidFill>
                <a:latin typeface="Times New Roman"/>
                <a:cs typeface="Times New Roman"/>
              </a:rPr>
              <a:t> </a:t>
            </a:r>
            <a:r>
              <a:rPr sz="2400" spc="-30" dirty="0">
                <a:solidFill>
                  <a:srgbClr val="00B050"/>
                </a:solidFill>
                <a:latin typeface="Times New Roman"/>
                <a:cs typeface="Times New Roman"/>
              </a:rPr>
              <a:t>India.</a:t>
            </a:r>
            <a:r>
              <a:rPr sz="2400" spc="-30" dirty="0">
                <a:latin typeface="Times New Roman"/>
                <a:cs typeface="Times New Roman"/>
              </a:rPr>
              <a:t>.</a:t>
            </a:r>
            <a:r>
              <a:rPr sz="2400" spc="4" dirty="0">
                <a:latin typeface="Times New Roman"/>
                <a:cs typeface="Times New Roman"/>
              </a:rPr>
              <a:t> </a:t>
            </a:r>
            <a:r>
              <a:rPr sz="2400" spc="-10" dirty="0" smtClean="0">
                <a:solidFill>
                  <a:srgbClr val="221F1F"/>
                </a:solidFill>
                <a:latin typeface="Times New Roman"/>
                <a:cs typeface="Times New Roman"/>
              </a:rPr>
              <a:t>After </a:t>
            </a:r>
            <a:r>
              <a:rPr sz="2400" spc="-45" dirty="0">
                <a:solidFill>
                  <a:srgbClr val="221F1F"/>
                </a:solidFill>
                <a:latin typeface="Times New Roman"/>
                <a:cs typeface="Times New Roman"/>
              </a:rPr>
              <a:t>studying</a:t>
            </a:r>
            <a:r>
              <a:rPr sz="2400" spc="-55" dirty="0">
                <a:solidFill>
                  <a:srgbClr val="221F1F"/>
                </a:solidFill>
                <a:latin typeface="Times New Roman"/>
                <a:cs typeface="Times New Roman"/>
              </a:rPr>
              <a:t> </a:t>
            </a:r>
            <a:r>
              <a:rPr sz="2400" spc="-40" dirty="0">
                <a:solidFill>
                  <a:srgbClr val="221F1F"/>
                </a:solidFill>
                <a:latin typeface="Times New Roman"/>
                <a:cs typeface="Times New Roman"/>
              </a:rPr>
              <a:t>this</a:t>
            </a:r>
            <a:r>
              <a:rPr sz="2400" spc="-55" dirty="0">
                <a:solidFill>
                  <a:srgbClr val="221F1F"/>
                </a:solidFill>
                <a:latin typeface="Times New Roman"/>
                <a:cs typeface="Times New Roman"/>
              </a:rPr>
              <a:t> </a:t>
            </a:r>
            <a:r>
              <a:rPr sz="2400" spc="-45" dirty="0">
                <a:solidFill>
                  <a:srgbClr val="221F1F"/>
                </a:solidFill>
                <a:latin typeface="Times New Roman"/>
                <a:cs typeface="Times New Roman"/>
              </a:rPr>
              <a:t>lesson</a:t>
            </a:r>
            <a:r>
              <a:rPr sz="2400" spc="-50" dirty="0">
                <a:solidFill>
                  <a:srgbClr val="221F1F"/>
                </a:solidFill>
                <a:latin typeface="Times New Roman"/>
                <a:cs typeface="Times New Roman"/>
              </a:rPr>
              <a:t> </a:t>
            </a:r>
            <a:r>
              <a:rPr sz="2400" spc="-40" dirty="0">
                <a:solidFill>
                  <a:srgbClr val="221F1F"/>
                </a:solidFill>
                <a:latin typeface="Times New Roman"/>
                <a:cs typeface="Times New Roman"/>
              </a:rPr>
              <a:t>you</a:t>
            </a:r>
            <a:r>
              <a:rPr sz="2400" spc="-55" dirty="0">
                <a:solidFill>
                  <a:srgbClr val="221F1F"/>
                </a:solidFill>
                <a:latin typeface="Times New Roman"/>
                <a:cs typeface="Times New Roman"/>
              </a:rPr>
              <a:t> </a:t>
            </a:r>
            <a:r>
              <a:rPr sz="2400" spc="-45" dirty="0">
                <a:solidFill>
                  <a:srgbClr val="221F1F"/>
                </a:solidFill>
                <a:latin typeface="Times New Roman"/>
                <a:cs typeface="Times New Roman"/>
              </a:rPr>
              <a:t>will</a:t>
            </a:r>
            <a:r>
              <a:rPr sz="2400" spc="-35" dirty="0">
                <a:solidFill>
                  <a:srgbClr val="221F1F"/>
                </a:solidFill>
                <a:latin typeface="Times New Roman"/>
                <a:cs typeface="Times New Roman"/>
              </a:rPr>
              <a:t> </a:t>
            </a:r>
            <a:r>
              <a:rPr sz="2400" spc="-30" dirty="0">
                <a:solidFill>
                  <a:srgbClr val="221F1F"/>
                </a:solidFill>
                <a:latin typeface="Times New Roman"/>
                <a:cs typeface="Times New Roman"/>
              </a:rPr>
              <a:t>be</a:t>
            </a:r>
            <a:r>
              <a:rPr sz="2400" spc="-55" dirty="0">
                <a:solidFill>
                  <a:srgbClr val="221F1F"/>
                </a:solidFill>
                <a:latin typeface="Times New Roman"/>
                <a:cs typeface="Times New Roman"/>
              </a:rPr>
              <a:t> </a:t>
            </a:r>
            <a:r>
              <a:rPr sz="2400" spc="-40" dirty="0">
                <a:solidFill>
                  <a:srgbClr val="221F1F"/>
                </a:solidFill>
                <a:latin typeface="Times New Roman"/>
                <a:cs typeface="Times New Roman"/>
              </a:rPr>
              <a:t>able</a:t>
            </a:r>
            <a:r>
              <a:rPr sz="2400" spc="-60" dirty="0">
                <a:solidFill>
                  <a:srgbClr val="221F1F"/>
                </a:solidFill>
                <a:latin typeface="Times New Roman"/>
                <a:cs typeface="Times New Roman"/>
              </a:rPr>
              <a:t> </a:t>
            </a:r>
            <a:r>
              <a:rPr sz="2400" spc="-25" dirty="0">
                <a:solidFill>
                  <a:srgbClr val="221F1F"/>
                </a:solidFill>
                <a:latin typeface="Times New Roman"/>
                <a:cs typeface="Times New Roman"/>
              </a:rPr>
              <a:t>to:</a:t>
            </a:r>
            <a:endParaRPr sz="2400" dirty="0">
              <a:latin typeface="Times New Roman"/>
              <a:cs typeface="Times New Roman"/>
            </a:endParaRPr>
          </a:p>
          <a:p>
            <a:pPr marL="468936" lvl="3" indent="-227805" algn="just">
              <a:lnSpc>
                <a:spcPct val="150000"/>
              </a:lnSpc>
              <a:buFont typeface="Symbol"/>
              <a:buChar char=""/>
              <a:tabLst>
                <a:tab pos="468936" algn="l"/>
              </a:tabLst>
            </a:pPr>
            <a:r>
              <a:rPr lang="en-US" sz="2400" spc="-45" dirty="0">
                <a:solidFill>
                  <a:srgbClr val="221F1F"/>
                </a:solidFill>
                <a:latin typeface="Times New Roman"/>
                <a:cs typeface="Times New Roman"/>
              </a:rPr>
              <a:t>U</a:t>
            </a:r>
            <a:r>
              <a:rPr sz="2400" spc="-45" dirty="0" smtClean="0">
                <a:solidFill>
                  <a:srgbClr val="221F1F"/>
                </a:solidFill>
                <a:latin typeface="Times New Roman"/>
                <a:cs typeface="Times New Roman"/>
              </a:rPr>
              <a:t>nderstand</a:t>
            </a:r>
            <a:r>
              <a:rPr sz="2400" spc="-40" dirty="0" smtClean="0">
                <a:solidFill>
                  <a:srgbClr val="221F1F"/>
                </a:solidFill>
                <a:latin typeface="Times New Roman"/>
                <a:cs typeface="Times New Roman"/>
              </a:rPr>
              <a:t> </a:t>
            </a:r>
            <a:r>
              <a:rPr sz="2400" spc="-35" dirty="0">
                <a:solidFill>
                  <a:srgbClr val="221F1F"/>
                </a:solidFill>
                <a:latin typeface="Times New Roman"/>
                <a:cs typeface="Times New Roman"/>
              </a:rPr>
              <a:t>the</a:t>
            </a:r>
            <a:r>
              <a:rPr sz="2400" spc="-40" dirty="0">
                <a:solidFill>
                  <a:srgbClr val="221F1F"/>
                </a:solidFill>
                <a:latin typeface="Times New Roman"/>
                <a:cs typeface="Times New Roman"/>
              </a:rPr>
              <a:t> </a:t>
            </a:r>
            <a:r>
              <a:rPr sz="2400" spc="-45" dirty="0">
                <a:solidFill>
                  <a:srgbClr val="00823B"/>
                </a:solidFill>
                <a:latin typeface="Times New Roman"/>
                <a:cs typeface="Times New Roman"/>
              </a:rPr>
              <a:t>origin,</a:t>
            </a:r>
            <a:r>
              <a:rPr sz="2400" spc="-25" dirty="0">
                <a:solidFill>
                  <a:srgbClr val="00823B"/>
                </a:solidFill>
                <a:latin typeface="Times New Roman"/>
                <a:cs typeface="Times New Roman"/>
              </a:rPr>
              <a:t> </a:t>
            </a:r>
            <a:r>
              <a:rPr sz="2400" spc="-50" dirty="0">
                <a:solidFill>
                  <a:srgbClr val="00823B"/>
                </a:solidFill>
                <a:latin typeface="Times New Roman"/>
                <a:cs typeface="Times New Roman"/>
              </a:rPr>
              <a:t>consequences</a:t>
            </a:r>
            <a:r>
              <a:rPr sz="2400" spc="-35" dirty="0">
                <a:solidFill>
                  <a:srgbClr val="00823B"/>
                </a:solidFill>
                <a:latin typeface="Times New Roman"/>
                <a:cs typeface="Times New Roman"/>
              </a:rPr>
              <a:t> and </a:t>
            </a:r>
            <a:r>
              <a:rPr sz="2400" spc="-50" dirty="0">
                <a:solidFill>
                  <a:srgbClr val="00823B"/>
                </a:solidFill>
                <a:latin typeface="Times New Roman"/>
                <a:cs typeface="Times New Roman"/>
              </a:rPr>
              <a:t>significance</a:t>
            </a:r>
            <a:r>
              <a:rPr sz="2400" spc="-40" dirty="0">
                <a:solidFill>
                  <a:srgbClr val="00823B"/>
                </a:solidFill>
                <a:latin typeface="Times New Roman"/>
                <a:cs typeface="Times New Roman"/>
              </a:rPr>
              <a:t> </a:t>
            </a:r>
            <a:r>
              <a:rPr sz="2400" spc="-30" dirty="0">
                <a:solidFill>
                  <a:srgbClr val="00823B"/>
                </a:solidFill>
                <a:latin typeface="Times New Roman"/>
                <a:cs typeface="Times New Roman"/>
              </a:rPr>
              <a:t>of</a:t>
            </a:r>
            <a:r>
              <a:rPr sz="2400" spc="-20" dirty="0">
                <a:solidFill>
                  <a:srgbClr val="00823B"/>
                </a:solidFill>
                <a:latin typeface="Times New Roman"/>
                <a:cs typeface="Times New Roman"/>
              </a:rPr>
              <a:t> </a:t>
            </a:r>
            <a:r>
              <a:rPr sz="2400" spc="-50" dirty="0">
                <a:solidFill>
                  <a:srgbClr val="00823B"/>
                </a:solidFill>
                <a:latin typeface="Times New Roman"/>
                <a:cs typeface="Times New Roman"/>
              </a:rPr>
              <a:t>metallurgy</a:t>
            </a:r>
            <a:r>
              <a:rPr sz="2400" spc="-40" dirty="0">
                <a:solidFill>
                  <a:srgbClr val="221F1F"/>
                </a:solidFill>
                <a:latin typeface="Times New Roman"/>
                <a:cs typeface="Times New Roman"/>
              </a:rPr>
              <a:t> </a:t>
            </a:r>
            <a:r>
              <a:rPr sz="2400" spc="-30" dirty="0">
                <a:solidFill>
                  <a:srgbClr val="221F1F"/>
                </a:solidFill>
                <a:latin typeface="Times New Roman"/>
                <a:cs typeface="Times New Roman"/>
              </a:rPr>
              <a:t>in</a:t>
            </a:r>
            <a:r>
              <a:rPr sz="2400" spc="-35" dirty="0">
                <a:solidFill>
                  <a:srgbClr val="221F1F"/>
                </a:solidFill>
                <a:latin typeface="Times New Roman"/>
                <a:cs typeface="Times New Roman"/>
              </a:rPr>
              <a:t> </a:t>
            </a:r>
            <a:r>
              <a:rPr sz="2400" spc="-50" dirty="0">
                <a:solidFill>
                  <a:srgbClr val="221F1F"/>
                </a:solidFill>
                <a:latin typeface="Times New Roman"/>
                <a:cs typeface="Times New Roman"/>
              </a:rPr>
              <a:t>ancient</a:t>
            </a:r>
            <a:r>
              <a:rPr sz="2400" spc="-20" dirty="0">
                <a:solidFill>
                  <a:srgbClr val="221F1F"/>
                </a:solidFill>
                <a:latin typeface="Times New Roman"/>
                <a:cs typeface="Times New Roman"/>
              </a:rPr>
              <a:t> </a:t>
            </a:r>
            <a:r>
              <a:rPr sz="2400" spc="-10" dirty="0">
                <a:solidFill>
                  <a:srgbClr val="221F1F"/>
                </a:solidFill>
                <a:latin typeface="Times New Roman"/>
                <a:cs typeface="Times New Roman"/>
              </a:rPr>
              <a:t>India;</a:t>
            </a:r>
            <a:endParaRPr sz="2400" dirty="0">
              <a:latin typeface="Times New Roman"/>
              <a:cs typeface="Times New Roman"/>
            </a:endParaRPr>
          </a:p>
          <a:p>
            <a:pPr marL="468936" lvl="3" indent="-227805" algn="just">
              <a:lnSpc>
                <a:spcPct val="150000"/>
              </a:lnSpc>
              <a:spcBef>
                <a:spcPts val="20"/>
              </a:spcBef>
              <a:buFont typeface="Symbol"/>
              <a:buChar char=""/>
              <a:tabLst>
                <a:tab pos="468936" algn="l"/>
              </a:tabLst>
            </a:pPr>
            <a:r>
              <a:rPr lang="en-US" sz="2400" spc="-45" dirty="0">
                <a:solidFill>
                  <a:srgbClr val="221F1F"/>
                </a:solidFill>
                <a:latin typeface="Times New Roman"/>
                <a:cs typeface="Times New Roman"/>
              </a:rPr>
              <a:t>D</a:t>
            </a:r>
            <a:r>
              <a:rPr sz="2400" spc="-45" dirty="0" smtClean="0">
                <a:solidFill>
                  <a:srgbClr val="221F1F"/>
                </a:solidFill>
                <a:latin typeface="Times New Roman"/>
                <a:cs typeface="Times New Roman"/>
              </a:rPr>
              <a:t>iscuss</a:t>
            </a:r>
            <a:r>
              <a:rPr sz="2400" spc="-55" dirty="0" smtClean="0">
                <a:solidFill>
                  <a:srgbClr val="221F1F"/>
                </a:solidFill>
                <a:latin typeface="Times New Roman"/>
                <a:cs typeface="Times New Roman"/>
              </a:rPr>
              <a:t> </a:t>
            </a:r>
            <a:r>
              <a:rPr sz="2400" spc="-40" dirty="0">
                <a:solidFill>
                  <a:srgbClr val="221F1F"/>
                </a:solidFill>
                <a:latin typeface="Times New Roman"/>
                <a:cs typeface="Times New Roman"/>
              </a:rPr>
              <a:t>the </a:t>
            </a:r>
            <a:r>
              <a:rPr sz="2400" spc="-45" dirty="0">
                <a:solidFill>
                  <a:srgbClr val="00823B"/>
                </a:solidFill>
                <a:latin typeface="Times New Roman"/>
                <a:cs typeface="Times New Roman"/>
              </a:rPr>
              <a:t>origin</a:t>
            </a:r>
            <a:r>
              <a:rPr sz="2400" spc="-50" dirty="0">
                <a:solidFill>
                  <a:srgbClr val="00823B"/>
                </a:solidFill>
                <a:latin typeface="Times New Roman"/>
                <a:cs typeface="Times New Roman"/>
              </a:rPr>
              <a:t> </a:t>
            </a:r>
            <a:r>
              <a:rPr sz="2400" spc="-35" dirty="0">
                <a:solidFill>
                  <a:srgbClr val="00823B"/>
                </a:solidFill>
                <a:latin typeface="Times New Roman"/>
                <a:cs typeface="Times New Roman"/>
              </a:rPr>
              <a:t>and </a:t>
            </a:r>
            <a:r>
              <a:rPr sz="2400" spc="-50" dirty="0">
                <a:solidFill>
                  <a:srgbClr val="00823B"/>
                </a:solidFill>
                <a:latin typeface="Times New Roman"/>
                <a:cs typeface="Times New Roman"/>
              </a:rPr>
              <a:t>development</a:t>
            </a:r>
            <a:r>
              <a:rPr sz="2400" spc="-35" dirty="0">
                <a:solidFill>
                  <a:srgbClr val="00823B"/>
                </a:solidFill>
                <a:latin typeface="Times New Roman"/>
                <a:cs typeface="Times New Roman"/>
              </a:rPr>
              <a:t> of</a:t>
            </a:r>
            <a:r>
              <a:rPr sz="2400" spc="-30" dirty="0">
                <a:solidFill>
                  <a:srgbClr val="00823B"/>
                </a:solidFill>
                <a:latin typeface="Times New Roman"/>
                <a:cs typeface="Times New Roman"/>
              </a:rPr>
              <a:t> </a:t>
            </a:r>
            <a:r>
              <a:rPr sz="2400" spc="-50" dirty="0">
                <a:solidFill>
                  <a:srgbClr val="00823B"/>
                </a:solidFill>
                <a:latin typeface="Times New Roman"/>
                <a:cs typeface="Times New Roman"/>
              </a:rPr>
              <a:t>copper,</a:t>
            </a:r>
            <a:r>
              <a:rPr sz="2400" spc="-40" dirty="0">
                <a:solidFill>
                  <a:srgbClr val="00823B"/>
                </a:solidFill>
                <a:latin typeface="Times New Roman"/>
                <a:cs typeface="Times New Roman"/>
              </a:rPr>
              <a:t> </a:t>
            </a:r>
            <a:r>
              <a:rPr sz="2400" spc="-45" dirty="0">
                <a:solidFill>
                  <a:srgbClr val="00823B"/>
                </a:solidFill>
                <a:latin typeface="Times New Roman"/>
                <a:cs typeface="Times New Roman"/>
              </a:rPr>
              <a:t>gold,</a:t>
            </a:r>
            <a:r>
              <a:rPr sz="2400" spc="-40" dirty="0">
                <a:solidFill>
                  <a:srgbClr val="00823B"/>
                </a:solidFill>
                <a:latin typeface="Times New Roman"/>
                <a:cs typeface="Times New Roman"/>
              </a:rPr>
              <a:t> </a:t>
            </a:r>
            <a:r>
              <a:rPr sz="2400" spc="-45" dirty="0">
                <a:solidFill>
                  <a:srgbClr val="00823B"/>
                </a:solidFill>
                <a:latin typeface="Times New Roman"/>
                <a:cs typeface="Times New Roman"/>
              </a:rPr>
              <a:t>Iron</a:t>
            </a:r>
            <a:r>
              <a:rPr sz="2400" spc="-35" dirty="0">
                <a:solidFill>
                  <a:srgbClr val="00823B"/>
                </a:solidFill>
                <a:latin typeface="Times New Roman"/>
                <a:cs typeface="Times New Roman"/>
              </a:rPr>
              <a:t> </a:t>
            </a:r>
            <a:r>
              <a:rPr sz="2400" spc="-30" dirty="0">
                <a:solidFill>
                  <a:srgbClr val="221F1F"/>
                </a:solidFill>
                <a:latin typeface="Times New Roman"/>
                <a:cs typeface="Times New Roman"/>
              </a:rPr>
              <a:t>and</a:t>
            </a:r>
            <a:r>
              <a:rPr sz="2400" spc="-40" dirty="0">
                <a:solidFill>
                  <a:srgbClr val="221F1F"/>
                </a:solidFill>
                <a:latin typeface="Times New Roman"/>
                <a:cs typeface="Times New Roman"/>
              </a:rPr>
              <a:t> </a:t>
            </a:r>
            <a:r>
              <a:rPr sz="2400" spc="-45" dirty="0">
                <a:solidFill>
                  <a:srgbClr val="00823B"/>
                </a:solidFill>
                <a:latin typeface="Times New Roman"/>
                <a:cs typeface="Times New Roman"/>
              </a:rPr>
              <a:t>other</a:t>
            </a:r>
            <a:r>
              <a:rPr sz="2400" spc="-40" dirty="0">
                <a:solidFill>
                  <a:srgbClr val="00823B"/>
                </a:solidFill>
                <a:latin typeface="Times New Roman"/>
                <a:cs typeface="Times New Roman"/>
              </a:rPr>
              <a:t> </a:t>
            </a:r>
            <a:r>
              <a:rPr sz="2400" spc="-45" dirty="0">
                <a:solidFill>
                  <a:srgbClr val="00823B"/>
                </a:solidFill>
                <a:latin typeface="Times New Roman"/>
                <a:cs typeface="Times New Roman"/>
              </a:rPr>
              <a:t>metal</a:t>
            </a:r>
            <a:r>
              <a:rPr sz="2400" spc="-50" dirty="0">
                <a:solidFill>
                  <a:srgbClr val="00823B"/>
                </a:solidFill>
                <a:latin typeface="Times New Roman"/>
                <a:cs typeface="Times New Roman"/>
              </a:rPr>
              <a:t> </a:t>
            </a:r>
            <a:r>
              <a:rPr sz="2400" spc="-35" dirty="0">
                <a:solidFill>
                  <a:srgbClr val="221F1F"/>
                </a:solidFill>
                <a:latin typeface="Times New Roman"/>
                <a:cs typeface="Times New Roman"/>
              </a:rPr>
              <a:t>in</a:t>
            </a:r>
            <a:r>
              <a:rPr sz="2400" spc="-40" dirty="0">
                <a:solidFill>
                  <a:srgbClr val="221F1F"/>
                </a:solidFill>
                <a:latin typeface="Times New Roman"/>
                <a:cs typeface="Times New Roman"/>
              </a:rPr>
              <a:t> </a:t>
            </a:r>
            <a:r>
              <a:rPr sz="2400" spc="-50" dirty="0">
                <a:solidFill>
                  <a:srgbClr val="221F1F"/>
                </a:solidFill>
                <a:latin typeface="Times New Roman"/>
                <a:cs typeface="Times New Roman"/>
              </a:rPr>
              <a:t>ancient</a:t>
            </a:r>
            <a:r>
              <a:rPr sz="2400" spc="-30" dirty="0">
                <a:solidFill>
                  <a:srgbClr val="221F1F"/>
                </a:solidFill>
                <a:latin typeface="Times New Roman"/>
                <a:cs typeface="Times New Roman"/>
              </a:rPr>
              <a:t> </a:t>
            </a:r>
            <a:r>
              <a:rPr sz="2400" spc="-10" dirty="0">
                <a:solidFill>
                  <a:srgbClr val="221F1F"/>
                </a:solidFill>
                <a:latin typeface="Times New Roman"/>
                <a:cs typeface="Times New Roman"/>
              </a:rPr>
              <a:t>India;</a:t>
            </a:r>
            <a:endParaRPr sz="2400" dirty="0">
              <a:latin typeface="Times New Roman"/>
              <a:cs typeface="Times New Roman"/>
            </a:endParaRPr>
          </a:p>
          <a:p>
            <a:pPr marL="468936" lvl="3" indent="-227805" algn="just">
              <a:lnSpc>
                <a:spcPct val="150000"/>
              </a:lnSpc>
              <a:spcBef>
                <a:spcPts val="25"/>
              </a:spcBef>
              <a:buFont typeface="Symbol"/>
              <a:buChar char=""/>
              <a:tabLst>
                <a:tab pos="468936" algn="l"/>
              </a:tabLst>
            </a:pPr>
            <a:r>
              <a:rPr lang="en-US" sz="2400" spc="-50" dirty="0">
                <a:solidFill>
                  <a:srgbClr val="221F1F"/>
                </a:solidFill>
                <a:latin typeface="Times New Roman"/>
                <a:cs typeface="Times New Roman"/>
              </a:rPr>
              <a:t>I</a:t>
            </a:r>
            <a:r>
              <a:rPr sz="2400" spc="-50" dirty="0" smtClean="0">
                <a:solidFill>
                  <a:srgbClr val="221F1F"/>
                </a:solidFill>
                <a:latin typeface="Times New Roman"/>
                <a:cs typeface="Times New Roman"/>
              </a:rPr>
              <a:t>nvestigate</a:t>
            </a:r>
            <a:r>
              <a:rPr sz="2400" spc="-45" dirty="0" smtClean="0">
                <a:solidFill>
                  <a:srgbClr val="221F1F"/>
                </a:solidFill>
                <a:latin typeface="Times New Roman"/>
                <a:cs typeface="Times New Roman"/>
              </a:rPr>
              <a:t> </a:t>
            </a:r>
            <a:r>
              <a:rPr sz="2400" spc="-40" dirty="0">
                <a:solidFill>
                  <a:srgbClr val="00823B"/>
                </a:solidFill>
                <a:latin typeface="Times New Roman"/>
                <a:cs typeface="Times New Roman"/>
              </a:rPr>
              <a:t>the</a:t>
            </a:r>
            <a:r>
              <a:rPr sz="2400" spc="-30" dirty="0">
                <a:solidFill>
                  <a:srgbClr val="00823B"/>
                </a:solidFill>
                <a:latin typeface="Times New Roman"/>
                <a:cs typeface="Times New Roman"/>
              </a:rPr>
              <a:t> </a:t>
            </a:r>
            <a:r>
              <a:rPr sz="2400" spc="-50" dirty="0">
                <a:solidFill>
                  <a:srgbClr val="00823B"/>
                </a:solidFill>
                <a:latin typeface="Times New Roman"/>
                <a:cs typeface="Times New Roman"/>
              </a:rPr>
              <a:t>textual</a:t>
            </a:r>
            <a:r>
              <a:rPr sz="2400" spc="-35" dirty="0">
                <a:solidFill>
                  <a:srgbClr val="00823B"/>
                </a:solidFill>
                <a:latin typeface="Times New Roman"/>
                <a:cs typeface="Times New Roman"/>
              </a:rPr>
              <a:t> </a:t>
            </a:r>
            <a:r>
              <a:rPr sz="2400" spc="-50" dirty="0">
                <a:solidFill>
                  <a:srgbClr val="00823B"/>
                </a:solidFill>
                <a:latin typeface="Times New Roman"/>
                <a:cs typeface="Times New Roman"/>
              </a:rPr>
              <a:t>references</a:t>
            </a:r>
            <a:r>
              <a:rPr sz="2400" spc="-25" dirty="0">
                <a:solidFill>
                  <a:srgbClr val="00823B"/>
                </a:solidFill>
                <a:latin typeface="Times New Roman"/>
                <a:cs typeface="Times New Roman"/>
              </a:rPr>
              <a:t> </a:t>
            </a:r>
            <a:r>
              <a:rPr sz="2400" spc="-35" dirty="0">
                <a:solidFill>
                  <a:srgbClr val="00823B"/>
                </a:solidFill>
                <a:latin typeface="Times New Roman"/>
                <a:cs typeface="Times New Roman"/>
              </a:rPr>
              <a:t>of</a:t>
            </a:r>
            <a:r>
              <a:rPr sz="2400" spc="-14" dirty="0">
                <a:solidFill>
                  <a:srgbClr val="00823B"/>
                </a:solidFill>
                <a:latin typeface="Times New Roman"/>
                <a:cs typeface="Times New Roman"/>
              </a:rPr>
              <a:t> </a:t>
            </a:r>
            <a:r>
              <a:rPr sz="2400" spc="-50" dirty="0">
                <a:solidFill>
                  <a:srgbClr val="00823B"/>
                </a:solidFill>
                <a:latin typeface="Times New Roman"/>
                <a:cs typeface="Times New Roman"/>
              </a:rPr>
              <a:t>metallurgy</a:t>
            </a:r>
            <a:r>
              <a:rPr sz="2400" spc="-45" dirty="0">
                <a:solidFill>
                  <a:srgbClr val="00823B"/>
                </a:solidFill>
                <a:latin typeface="Times New Roman"/>
                <a:cs typeface="Times New Roman"/>
              </a:rPr>
              <a:t> </a:t>
            </a:r>
            <a:r>
              <a:rPr sz="2400" spc="-30" dirty="0">
                <a:solidFill>
                  <a:srgbClr val="221F1F"/>
                </a:solidFill>
                <a:latin typeface="Times New Roman"/>
                <a:cs typeface="Times New Roman"/>
              </a:rPr>
              <a:t>in</a:t>
            </a:r>
            <a:r>
              <a:rPr sz="2400" spc="-35" dirty="0">
                <a:solidFill>
                  <a:srgbClr val="221F1F"/>
                </a:solidFill>
                <a:latin typeface="Times New Roman"/>
                <a:cs typeface="Times New Roman"/>
              </a:rPr>
              <a:t> </a:t>
            </a:r>
            <a:r>
              <a:rPr sz="2400" spc="-50" dirty="0">
                <a:solidFill>
                  <a:srgbClr val="221F1F"/>
                </a:solidFill>
                <a:latin typeface="Times New Roman"/>
                <a:cs typeface="Times New Roman"/>
              </a:rPr>
              <a:t>ancient</a:t>
            </a:r>
            <a:r>
              <a:rPr sz="2400" spc="-20" dirty="0">
                <a:solidFill>
                  <a:srgbClr val="221F1F"/>
                </a:solidFill>
                <a:latin typeface="Times New Roman"/>
                <a:cs typeface="Times New Roman"/>
              </a:rPr>
              <a:t> </a:t>
            </a:r>
            <a:r>
              <a:rPr sz="2400" spc="-45" dirty="0">
                <a:solidFill>
                  <a:srgbClr val="221F1F"/>
                </a:solidFill>
                <a:latin typeface="Times New Roman"/>
                <a:cs typeface="Times New Roman"/>
              </a:rPr>
              <a:t>India</a:t>
            </a:r>
            <a:r>
              <a:rPr sz="2400" spc="-20" dirty="0">
                <a:solidFill>
                  <a:srgbClr val="221F1F"/>
                </a:solidFill>
                <a:latin typeface="Times New Roman"/>
                <a:cs typeface="Times New Roman"/>
              </a:rPr>
              <a:t> </a:t>
            </a:r>
            <a:r>
              <a:rPr sz="2400" spc="-25" dirty="0">
                <a:solidFill>
                  <a:srgbClr val="221F1F"/>
                </a:solidFill>
                <a:latin typeface="Times New Roman"/>
                <a:cs typeface="Times New Roman"/>
              </a:rPr>
              <a:t>and</a:t>
            </a:r>
            <a:endParaRPr sz="2400" dirty="0">
              <a:latin typeface="Times New Roman"/>
              <a:cs typeface="Times New Roman"/>
            </a:endParaRPr>
          </a:p>
          <a:p>
            <a:pPr marL="468936" lvl="3" indent="-227805" algn="just">
              <a:lnSpc>
                <a:spcPct val="150000"/>
              </a:lnSpc>
              <a:spcBef>
                <a:spcPts val="25"/>
              </a:spcBef>
              <a:buFont typeface="Symbol"/>
              <a:buChar char=""/>
              <a:tabLst>
                <a:tab pos="468936" algn="l"/>
              </a:tabLst>
            </a:pPr>
            <a:r>
              <a:rPr sz="2400" spc="-40" dirty="0">
                <a:solidFill>
                  <a:srgbClr val="221F1F"/>
                </a:solidFill>
                <a:latin typeface="Times New Roman"/>
                <a:cs typeface="Times New Roman"/>
              </a:rPr>
              <a:t>Identify</a:t>
            </a:r>
            <a:r>
              <a:rPr sz="2400" spc="-50" dirty="0">
                <a:solidFill>
                  <a:srgbClr val="221F1F"/>
                </a:solidFill>
                <a:latin typeface="Times New Roman"/>
                <a:cs typeface="Times New Roman"/>
              </a:rPr>
              <a:t> </a:t>
            </a:r>
            <a:r>
              <a:rPr sz="2400" spc="-35" dirty="0">
                <a:solidFill>
                  <a:srgbClr val="221F1F"/>
                </a:solidFill>
                <a:latin typeface="Times New Roman"/>
                <a:cs typeface="Times New Roman"/>
              </a:rPr>
              <a:t>the</a:t>
            </a:r>
            <a:r>
              <a:rPr sz="2400" spc="-45" dirty="0">
                <a:solidFill>
                  <a:srgbClr val="221F1F"/>
                </a:solidFill>
                <a:latin typeface="Times New Roman"/>
                <a:cs typeface="Times New Roman"/>
              </a:rPr>
              <a:t> </a:t>
            </a:r>
            <a:r>
              <a:rPr sz="2400" spc="-50" dirty="0">
                <a:solidFill>
                  <a:srgbClr val="00823B"/>
                </a:solidFill>
                <a:latin typeface="Times New Roman"/>
                <a:cs typeface="Times New Roman"/>
              </a:rPr>
              <a:t>socio-economical</a:t>
            </a:r>
            <a:r>
              <a:rPr sz="2400" spc="-35" dirty="0">
                <a:solidFill>
                  <a:srgbClr val="00823B"/>
                </a:solidFill>
                <a:latin typeface="Times New Roman"/>
                <a:cs typeface="Times New Roman"/>
              </a:rPr>
              <a:t> </a:t>
            </a:r>
            <a:r>
              <a:rPr sz="2400" spc="-50" dirty="0">
                <a:solidFill>
                  <a:srgbClr val="00823B"/>
                </a:solidFill>
                <a:latin typeface="Times New Roman"/>
                <a:cs typeface="Times New Roman"/>
              </a:rPr>
              <a:t>significance</a:t>
            </a:r>
            <a:r>
              <a:rPr sz="2400" spc="-45" dirty="0">
                <a:solidFill>
                  <a:srgbClr val="00823B"/>
                </a:solidFill>
                <a:latin typeface="Times New Roman"/>
                <a:cs typeface="Times New Roman"/>
              </a:rPr>
              <a:t> </a:t>
            </a:r>
            <a:r>
              <a:rPr sz="2400" spc="-30" dirty="0">
                <a:solidFill>
                  <a:srgbClr val="00823B"/>
                </a:solidFill>
                <a:latin typeface="Times New Roman"/>
                <a:cs typeface="Times New Roman"/>
              </a:rPr>
              <a:t>of</a:t>
            </a:r>
            <a:r>
              <a:rPr sz="2400" spc="-40" dirty="0">
                <a:solidFill>
                  <a:srgbClr val="00823B"/>
                </a:solidFill>
                <a:latin typeface="Times New Roman"/>
                <a:cs typeface="Times New Roman"/>
              </a:rPr>
              <a:t> </a:t>
            </a:r>
            <a:r>
              <a:rPr sz="2400" spc="-50" dirty="0">
                <a:solidFill>
                  <a:srgbClr val="00823B"/>
                </a:solidFill>
                <a:latin typeface="Times New Roman"/>
                <a:cs typeface="Times New Roman"/>
              </a:rPr>
              <a:t>metallurgy</a:t>
            </a:r>
            <a:r>
              <a:rPr sz="2400" spc="-35" dirty="0">
                <a:solidFill>
                  <a:srgbClr val="00823B"/>
                </a:solidFill>
                <a:latin typeface="Times New Roman"/>
                <a:cs typeface="Times New Roman"/>
              </a:rPr>
              <a:t> </a:t>
            </a:r>
            <a:r>
              <a:rPr sz="2400" spc="-30" dirty="0">
                <a:solidFill>
                  <a:srgbClr val="221F1F"/>
                </a:solidFill>
                <a:latin typeface="Times New Roman"/>
                <a:cs typeface="Times New Roman"/>
              </a:rPr>
              <a:t>in</a:t>
            </a:r>
            <a:r>
              <a:rPr sz="2400" spc="-40" dirty="0">
                <a:solidFill>
                  <a:srgbClr val="221F1F"/>
                </a:solidFill>
                <a:latin typeface="Times New Roman"/>
                <a:cs typeface="Times New Roman"/>
              </a:rPr>
              <a:t> </a:t>
            </a:r>
            <a:r>
              <a:rPr sz="2400" spc="-45" dirty="0">
                <a:solidFill>
                  <a:srgbClr val="221F1F"/>
                </a:solidFill>
                <a:latin typeface="Times New Roman"/>
                <a:cs typeface="Times New Roman"/>
              </a:rPr>
              <a:t>ancient</a:t>
            </a:r>
            <a:r>
              <a:rPr sz="2400" spc="-35" dirty="0">
                <a:solidFill>
                  <a:srgbClr val="221F1F"/>
                </a:solidFill>
                <a:latin typeface="Times New Roman"/>
                <a:cs typeface="Times New Roman"/>
              </a:rPr>
              <a:t> </a:t>
            </a:r>
            <a:r>
              <a:rPr sz="2400" spc="-10" dirty="0">
                <a:solidFill>
                  <a:srgbClr val="221F1F"/>
                </a:solidFill>
                <a:latin typeface="Times New Roman"/>
                <a:cs typeface="Times New Roman"/>
              </a:rPr>
              <a:t>India.</a:t>
            </a:r>
            <a:endParaRPr lang="en-US" sz="2400" spc="-10" dirty="0">
              <a:solidFill>
                <a:srgbClr val="221F1F"/>
              </a:solidFill>
              <a:latin typeface="Times New Roman"/>
              <a:cs typeface="Times New Roman"/>
            </a:endParaRPr>
          </a:p>
          <a:p>
            <a:pPr marL="241127" lvl="3" algn="just">
              <a:lnSpc>
                <a:spcPts val="1418"/>
              </a:lnSpc>
              <a:spcBef>
                <a:spcPts val="25"/>
              </a:spcBef>
              <a:tabLst>
                <a:tab pos="468936" algn="l"/>
              </a:tabLst>
            </a:pPr>
            <a:endParaRPr sz="2400" dirty="0">
              <a:latin typeface="Times New Roman"/>
              <a:cs typeface="Times New Roman"/>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714375" y="381000"/>
            <a:ext cx="8915400" cy="7458452"/>
          </a:xfrm>
          <a:prstGeom prst="rect">
            <a:avLst/>
          </a:prstGeom>
        </p:spPr>
        <p:txBody>
          <a:bodyPr wrap="square">
            <a:spAutoFit/>
          </a:bodyPr>
          <a:lstStyle/>
          <a:p>
            <a:pPr marL="12692" lvl="2" algn="ctr">
              <a:lnSpc>
                <a:spcPts val="1379"/>
              </a:lnSpc>
              <a:tabLst>
                <a:tab pos="468936" algn="l"/>
              </a:tabLst>
            </a:pPr>
            <a:r>
              <a:rPr lang="en-US" sz="3200" b="1" u="sng" spc="-10" dirty="0" smtClean="0">
                <a:solidFill>
                  <a:schemeClr val="tx2"/>
                </a:solidFill>
                <a:latin typeface="Times New Roman"/>
                <a:cs typeface="Times New Roman"/>
              </a:rPr>
              <a:t>INTRODUCTION</a:t>
            </a:r>
          </a:p>
          <a:p>
            <a:pPr marL="12692" lvl="2" algn="ctr">
              <a:lnSpc>
                <a:spcPts val="1379"/>
              </a:lnSpc>
              <a:tabLst>
                <a:tab pos="468936" algn="l"/>
              </a:tabLst>
            </a:pPr>
            <a:endParaRPr lang="en-US" sz="3200" b="1" u="sng" spc="-10" dirty="0" smtClean="0">
              <a:solidFill>
                <a:srgbClr val="C00000"/>
              </a:solidFill>
              <a:latin typeface="Times New Roman"/>
              <a:cs typeface="Times New Roman"/>
            </a:endParaRPr>
          </a:p>
          <a:p>
            <a:pPr marL="12691" lvl="2">
              <a:lnSpc>
                <a:spcPts val="1379"/>
              </a:lnSpc>
              <a:tabLst>
                <a:tab pos="468936" algn="l"/>
              </a:tabLst>
            </a:pPr>
            <a:endParaRPr lang="en-US" sz="1100" dirty="0" smtClean="0">
              <a:solidFill>
                <a:srgbClr val="FF0000"/>
              </a:solidFill>
              <a:latin typeface="Times New Roman"/>
              <a:cs typeface="Times New Roman"/>
            </a:endParaRPr>
          </a:p>
          <a:p>
            <a:pPr marL="12691" marR="5080" indent="456244" algn="just">
              <a:lnSpc>
                <a:spcPct val="150000"/>
              </a:lnSpc>
              <a:spcBef>
                <a:spcPts val="55"/>
              </a:spcBef>
            </a:pPr>
            <a:r>
              <a:rPr lang="en-US" sz="2400" spc="-40" dirty="0" smtClean="0">
                <a:latin typeface="Times New Roman"/>
                <a:cs typeface="Times New Roman"/>
              </a:rPr>
              <a:t>Technology</a:t>
            </a:r>
            <a:r>
              <a:rPr lang="en-US" sz="2400" spc="-35" dirty="0" smtClean="0">
                <a:latin typeface="Times New Roman"/>
                <a:cs typeface="Times New Roman"/>
              </a:rPr>
              <a:t> </a:t>
            </a:r>
            <a:r>
              <a:rPr lang="en-US" sz="2400" dirty="0" smtClean="0">
                <a:latin typeface="Times New Roman"/>
                <a:cs typeface="Times New Roman"/>
              </a:rPr>
              <a:t>is</a:t>
            </a:r>
            <a:r>
              <a:rPr lang="en-US" sz="2400" spc="-75" dirty="0" smtClean="0">
                <a:latin typeface="Times New Roman"/>
                <a:cs typeface="Times New Roman"/>
              </a:rPr>
              <a:t> </a:t>
            </a:r>
            <a:r>
              <a:rPr lang="en-US" sz="2400" spc="-35" dirty="0" smtClean="0">
                <a:latin typeface="Times New Roman"/>
                <a:cs typeface="Times New Roman"/>
              </a:rPr>
              <a:t>today</a:t>
            </a:r>
            <a:r>
              <a:rPr lang="en-US" sz="2400" spc="-40" dirty="0" smtClean="0">
                <a:latin typeface="Times New Roman"/>
                <a:cs typeface="Times New Roman"/>
              </a:rPr>
              <a:t> </a:t>
            </a:r>
            <a:r>
              <a:rPr lang="en-US" sz="2400" spc="-30" dirty="0" smtClean="0">
                <a:latin typeface="Times New Roman"/>
                <a:cs typeface="Times New Roman"/>
              </a:rPr>
              <a:t>defined</a:t>
            </a:r>
            <a:r>
              <a:rPr lang="en-US" sz="2400" spc="-45" dirty="0" smtClean="0">
                <a:latin typeface="Times New Roman"/>
                <a:cs typeface="Times New Roman"/>
              </a:rPr>
              <a:t> </a:t>
            </a:r>
            <a:r>
              <a:rPr lang="en-US" sz="2400" dirty="0" smtClean="0">
                <a:latin typeface="Times New Roman"/>
                <a:cs typeface="Times New Roman"/>
              </a:rPr>
              <a:t>as</a:t>
            </a:r>
            <a:r>
              <a:rPr lang="en-US" sz="2400" spc="-75" dirty="0" smtClean="0">
                <a:latin typeface="Times New Roman"/>
                <a:cs typeface="Times New Roman"/>
              </a:rPr>
              <a:t> </a:t>
            </a:r>
            <a:r>
              <a:rPr lang="en-US" sz="2400" spc="-40" dirty="0" smtClean="0">
                <a:latin typeface="Times New Roman"/>
                <a:cs typeface="Times New Roman"/>
              </a:rPr>
              <a:t>applied</a:t>
            </a:r>
            <a:r>
              <a:rPr lang="en-US" sz="2400" spc="-35" dirty="0" smtClean="0">
                <a:latin typeface="Times New Roman"/>
                <a:cs typeface="Times New Roman"/>
              </a:rPr>
              <a:t> </a:t>
            </a:r>
            <a:r>
              <a:rPr lang="en-US" sz="2400" spc="-40" dirty="0" smtClean="0">
                <a:latin typeface="Times New Roman"/>
                <a:cs typeface="Times New Roman"/>
              </a:rPr>
              <a:t>science,</a:t>
            </a:r>
            <a:r>
              <a:rPr lang="en-US" sz="2400" spc="-35" dirty="0" smtClean="0">
                <a:latin typeface="Times New Roman"/>
                <a:cs typeface="Times New Roman"/>
              </a:rPr>
              <a:t> </a:t>
            </a:r>
            <a:r>
              <a:rPr lang="en-US" sz="2400" spc="-10" dirty="0" smtClean="0">
                <a:latin typeface="Times New Roman"/>
                <a:cs typeface="Times New Roman"/>
              </a:rPr>
              <a:t>but</a:t>
            </a:r>
            <a:r>
              <a:rPr lang="en-US" sz="2400" spc="-65" dirty="0" smtClean="0">
                <a:latin typeface="Times New Roman"/>
                <a:cs typeface="Times New Roman"/>
              </a:rPr>
              <a:t> </a:t>
            </a:r>
            <a:r>
              <a:rPr lang="en-US" sz="2400" spc="-30" dirty="0" smtClean="0">
                <a:latin typeface="Times New Roman"/>
                <a:cs typeface="Times New Roman"/>
              </a:rPr>
              <a:t>early</a:t>
            </a:r>
            <a:r>
              <a:rPr lang="en-US" sz="2400" spc="-45" dirty="0" smtClean="0">
                <a:latin typeface="Times New Roman"/>
                <a:cs typeface="Times New Roman"/>
              </a:rPr>
              <a:t> </a:t>
            </a:r>
            <a:r>
              <a:rPr lang="en-US" sz="2400" spc="-30" dirty="0" smtClean="0">
                <a:latin typeface="Times New Roman"/>
                <a:cs typeface="Times New Roman"/>
              </a:rPr>
              <a:t>humans</a:t>
            </a:r>
            <a:r>
              <a:rPr lang="en-US" sz="2400" spc="-45" dirty="0" smtClean="0">
                <a:latin typeface="Times New Roman"/>
                <a:cs typeface="Times New Roman"/>
              </a:rPr>
              <a:t> </a:t>
            </a:r>
            <a:r>
              <a:rPr lang="en-US" sz="2400" spc="-40" dirty="0" smtClean="0">
                <a:latin typeface="Times New Roman"/>
                <a:cs typeface="Times New Roman"/>
              </a:rPr>
              <a:t>developed</a:t>
            </a:r>
            <a:r>
              <a:rPr lang="en-US" sz="2400" spc="-35" dirty="0" smtClean="0">
                <a:latin typeface="Times New Roman"/>
                <a:cs typeface="Times New Roman"/>
              </a:rPr>
              <a:t> </a:t>
            </a:r>
            <a:r>
              <a:rPr lang="en-US" sz="2400" spc="-10" dirty="0" smtClean="0">
                <a:latin typeface="Times New Roman"/>
                <a:cs typeface="Times New Roman"/>
              </a:rPr>
              <a:t>technologies</a:t>
            </a:r>
            <a:r>
              <a:rPr lang="en-US" sz="2400" spc="185" dirty="0" smtClean="0">
                <a:latin typeface="Times New Roman"/>
                <a:cs typeface="Times New Roman"/>
              </a:rPr>
              <a:t> </a:t>
            </a:r>
            <a:r>
              <a:rPr lang="en-US" sz="2400" spc="-20" dirty="0" smtClean="0">
                <a:latin typeface="Times New Roman"/>
                <a:cs typeface="Times New Roman"/>
              </a:rPr>
              <a:t>such</a:t>
            </a:r>
            <a:r>
              <a:rPr lang="en-US" sz="2400" spc="-45" dirty="0" smtClean="0">
                <a:latin typeface="Times New Roman"/>
                <a:cs typeface="Times New Roman"/>
              </a:rPr>
              <a:t> </a:t>
            </a:r>
            <a:r>
              <a:rPr lang="en-US" sz="2400" spc="-25" dirty="0" smtClean="0">
                <a:latin typeface="Times New Roman"/>
                <a:cs typeface="Times New Roman"/>
              </a:rPr>
              <a:t>as </a:t>
            </a:r>
          </a:p>
          <a:p>
            <a:pPr marL="355591" marR="5080" indent="-342900" algn="just">
              <a:spcBef>
                <a:spcPts val="55"/>
              </a:spcBef>
              <a:buFont typeface="Arial" panose="020B0604020202020204" pitchFamily="34" charset="0"/>
              <a:buChar char="•"/>
            </a:pPr>
            <a:r>
              <a:rPr lang="en-US" sz="2400" spc="-50" dirty="0" smtClean="0">
                <a:solidFill>
                  <a:schemeClr val="accent2">
                    <a:lumMod val="50000"/>
                  </a:schemeClr>
                </a:solidFill>
                <a:latin typeface="Times New Roman"/>
                <a:cs typeface="Times New Roman"/>
              </a:rPr>
              <a:t>stone-</a:t>
            </a:r>
            <a:r>
              <a:rPr lang="en-US" sz="2400" spc="-40" dirty="0" smtClean="0">
                <a:solidFill>
                  <a:schemeClr val="accent2">
                    <a:lumMod val="50000"/>
                  </a:schemeClr>
                </a:solidFill>
                <a:latin typeface="Times New Roman"/>
                <a:cs typeface="Times New Roman"/>
              </a:rPr>
              <a:t>working</a:t>
            </a:r>
            <a:endParaRPr lang="en-US" sz="2400" spc="20" dirty="0" smtClean="0">
              <a:solidFill>
                <a:schemeClr val="accent2">
                  <a:lumMod val="50000"/>
                </a:schemeClr>
              </a:solidFill>
              <a:latin typeface="Times New Roman"/>
              <a:cs typeface="Times New Roman"/>
            </a:endParaRPr>
          </a:p>
          <a:p>
            <a:pPr marL="355591" marR="5080" indent="-342900" algn="just">
              <a:spcBef>
                <a:spcPts val="55"/>
              </a:spcBef>
              <a:buFont typeface="Arial" panose="020B0604020202020204" pitchFamily="34" charset="0"/>
              <a:buChar char="•"/>
            </a:pPr>
            <a:r>
              <a:rPr lang="en-US" sz="2400" spc="-50" dirty="0" smtClean="0">
                <a:solidFill>
                  <a:schemeClr val="accent2">
                    <a:lumMod val="50000"/>
                  </a:schemeClr>
                </a:solidFill>
                <a:latin typeface="Times New Roman"/>
                <a:cs typeface="Times New Roman"/>
              </a:rPr>
              <a:t>agriculture</a:t>
            </a:r>
            <a:endParaRPr lang="en-US" sz="2400" spc="10" dirty="0" smtClean="0">
              <a:solidFill>
                <a:schemeClr val="accent2">
                  <a:lumMod val="50000"/>
                </a:schemeClr>
              </a:solidFill>
              <a:latin typeface="Times New Roman"/>
              <a:cs typeface="Times New Roman"/>
            </a:endParaRPr>
          </a:p>
          <a:p>
            <a:pPr marL="355591" marR="5080" indent="-342900" algn="just">
              <a:spcBef>
                <a:spcPts val="55"/>
              </a:spcBef>
              <a:buFont typeface="Arial" panose="020B0604020202020204" pitchFamily="34" charset="0"/>
              <a:buChar char="•"/>
            </a:pPr>
            <a:r>
              <a:rPr lang="en-US" sz="2400" spc="-50" dirty="0" smtClean="0">
                <a:solidFill>
                  <a:schemeClr val="accent2">
                    <a:lumMod val="50000"/>
                  </a:schemeClr>
                </a:solidFill>
                <a:latin typeface="Times New Roman"/>
                <a:cs typeface="Times New Roman"/>
              </a:rPr>
              <a:t>animal</a:t>
            </a:r>
            <a:r>
              <a:rPr lang="en-US" sz="2400" spc="25" dirty="0" smtClean="0">
                <a:solidFill>
                  <a:schemeClr val="accent2">
                    <a:lumMod val="50000"/>
                  </a:schemeClr>
                </a:solidFill>
                <a:latin typeface="Times New Roman"/>
                <a:cs typeface="Times New Roman"/>
              </a:rPr>
              <a:t> </a:t>
            </a:r>
            <a:r>
              <a:rPr lang="en-US" sz="2400" spc="-45" dirty="0" smtClean="0">
                <a:solidFill>
                  <a:schemeClr val="accent2">
                    <a:lumMod val="50000"/>
                  </a:schemeClr>
                </a:solidFill>
                <a:latin typeface="Times New Roman"/>
                <a:cs typeface="Times New Roman"/>
              </a:rPr>
              <a:t>husbandry</a:t>
            </a:r>
          </a:p>
          <a:p>
            <a:pPr marL="355591" marR="5080" indent="-342900" algn="just">
              <a:spcBef>
                <a:spcPts val="55"/>
              </a:spcBef>
              <a:buFont typeface="Arial" panose="020B0604020202020204" pitchFamily="34" charset="0"/>
              <a:buChar char="•"/>
            </a:pPr>
            <a:r>
              <a:rPr lang="en-US" sz="2400" spc="-45" dirty="0" smtClean="0">
                <a:solidFill>
                  <a:schemeClr val="accent2">
                    <a:lumMod val="50000"/>
                  </a:schemeClr>
                </a:solidFill>
                <a:latin typeface="Times New Roman"/>
                <a:cs typeface="Times New Roman"/>
              </a:rPr>
              <a:t>pottery</a:t>
            </a:r>
            <a:r>
              <a:rPr lang="en-US" sz="2400" spc="40" dirty="0" smtClean="0">
                <a:solidFill>
                  <a:schemeClr val="accent2">
                    <a:lumMod val="50000"/>
                  </a:schemeClr>
                </a:solidFill>
                <a:latin typeface="Times New Roman"/>
                <a:cs typeface="Times New Roman"/>
              </a:rPr>
              <a:t> </a:t>
            </a:r>
          </a:p>
          <a:p>
            <a:pPr marL="355591" marR="5080" indent="-342900" algn="just">
              <a:spcBef>
                <a:spcPts val="55"/>
              </a:spcBef>
              <a:buFont typeface="Arial" panose="020B0604020202020204" pitchFamily="34" charset="0"/>
              <a:buChar char="•"/>
            </a:pPr>
            <a:r>
              <a:rPr lang="en-US" sz="2400" spc="-50" dirty="0" smtClean="0">
                <a:solidFill>
                  <a:schemeClr val="accent2">
                    <a:lumMod val="50000"/>
                  </a:schemeClr>
                </a:solidFill>
                <a:latin typeface="Times New Roman"/>
                <a:cs typeface="Times New Roman"/>
              </a:rPr>
              <a:t>Metallurgy</a:t>
            </a:r>
          </a:p>
          <a:p>
            <a:pPr marL="355591" marR="5080" indent="-342900" algn="just">
              <a:spcBef>
                <a:spcPts val="55"/>
              </a:spcBef>
              <a:buFont typeface="Arial" panose="020B0604020202020204" pitchFamily="34" charset="0"/>
              <a:buChar char="•"/>
            </a:pPr>
            <a:r>
              <a:rPr lang="en-US" sz="2400" spc="-45" dirty="0" smtClean="0">
                <a:solidFill>
                  <a:schemeClr val="accent2">
                    <a:lumMod val="50000"/>
                  </a:schemeClr>
                </a:solidFill>
                <a:latin typeface="Times New Roman"/>
                <a:cs typeface="Times New Roman"/>
              </a:rPr>
              <a:t>textile</a:t>
            </a:r>
            <a:r>
              <a:rPr lang="en-US" sz="2400" spc="14" dirty="0" smtClean="0">
                <a:solidFill>
                  <a:schemeClr val="accent2">
                    <a:lumMod val="50000"/>
                  </a:schemeClr>
                </a:solidFill>
                <a:latin typeface="Times New Roman"/>
                <a:cs typeface="Times New Roman"/>
              </a:rPr>
              <a:t> </a:t>
            </a:r>
            <a:r>
              <a:rPr lang="en-US" sz="2400" spc="-50" dirty="0" smtClean="0">
                <a:solidFill>
                  <a:schemeClr val="accent2">
                    <a:lumMod val="50000"/>
                  </a:schemeClr>
                </a:solidFill>
                <a:latin typeface="Times New Roman"/>
                <a:cs typeface="Times New Roman"/>
              </a:rPr>
              <a:t>manufacture</a:t>
            </a:r>
          </a:p>
          <a:p>
            <a:pPr marL="355591" marR="5080" indent="-342900" algn="just">
              <a:spcBef>
                <a:spcPts val="55"/>
              </a:spcBef>
              <a:buFont typeface="Arial" panose="020B0604020202020204" pitchFamily="34" charset="0"/>
              <a:buChar char="•"/>
            </a:pPr>
            <a:r>
              <a:rPr lang="en-US" sz="2400" spc="-50" dirty="0" smtClean="0">
                <a:solidFill>
                  <a:schemeClr val="accent2">
                    <a:lumMod val="50000"/>
                  </a:schemeClr>
                </a:solidFill>
                <a:latin typeface="Times New Roman"/>
                <a:cs typeface="Times New Roman"/>
              </a:rPr>
              <a:t>bead-making</a:t>
            </a:r>
            <a:endParaRPr lang="en-US" sz="2400" spc="20" dirty="0" smtClean="0">
              <a:solidFill>
                <a:schemeClr val="accent2">
                  <a:lumMod val="50000"/>
                </a:schemeClr>
              </a:solidFill>
              <a:latin typeface="Times New Roman"/>
              <a:cs typeface="Times New Roman"/>
            </a:endParaRPr>
          </a:p>
          <a:p>
            <a:pPr marL="355591" marR="5080" indent="-342900" algn="just">
              <a:spcBef>
                <a:spcPts val="55"/>
              </a:spcBef>
              <a:buFont typeface="Arial" panose="020B0604020202020204" pitchFamily="34" charset="0"/>
              <a:buChar char="•"/>
            </a:pPr>
            <a:r>
              <a:rPr lang="en-US" sz="2400" spc="-10" dirty="0" smtClean="0">
                <a:solidFill>
                  <a:schemeClr val="accent2">
                    <a:lumMod val="50000"/>
                  </a:schemeClr>
                </a:solidFill>
                <a:latin typeface="Times New Roman"/>
                <a:cs typeface="Times New Roman"/>
              </a:rPr>
              <a:t>wood- carving</a:t>
            </a:r>
            <a:endParaRPr lang="en-US" sz="2400" spc="65" dirty="0" smtClean="0">
              <a:solidFill>
                <a:schemeClr val="accent2">
                  <a:lumMod val="50000"/>
                </a:schemeClr>
              </a:solidFill>
              <a:latin typeface="Times New Roman"/>
              <a:cs typeface="Times New Roman"/>
            </a:endParaRPr>
          </a:p>
          <a:p>
            <a:pPr marL="355591" marR="5080" indent="-342900" algn="just">
              <a:spcBef>
                <a:spcPts val="55"/>
              </a:spcBef>
              <a:buFont typeface="Arial" panose="020B0604020202020204" pitchFamily="34" charset="0"/>
              <a:buChar char="•"/>
            </a:pPr>
            <a:r>
              <a:rPr lang="en-US" sz="2400" spc="-55" dirty="0" smtClean="0">
                <a:solidFill>
                  <a:schemeClr val="accent2">
                    <a:lumMod val="50000"/>
                  </a:schemeClr>
                </a:solidFill>
                <a:latin typeface="Times New Roman"/>
                <a:cs typeface="Times New Roman"/>
              </a:rPr>
              <a:t>cart-</a:t>
            </a:r>
            <a:r>
              <a:rPr lang="en-US" sz="2400" spc="-10" dirty="0" smtClean="0">
                <a:solidFill>
                  <a:schemeClr val="accent2">
                    <a:lumMod val="50000"/>
                  </a:schemeClr>
                </a:solidFill>
                <a:latin typeface="Times New Roman"/>
                <a:cs typeface="Times New Roman"/>
              </a:rPr>
              <a:t>making</a:t>
            </a:r>
            <a:endParaRPr lang="en-US" sz="2400" spc="65" dirty="0" smtClean="0">
              <a:solidFill>
                <a:schemeClr val="accent2">
                  <a:lumMod val="50000"/>
                </a:schemeClr>
              </a:solidFill>
              <a:latin typeface="Times New Roman"/>
              <a:cs typeface="Times New Roman"/>
            </a:endParaRPr>
          </a:p>
          <a:p>
            <a:pPr marL="355591" marR="5080" indent="-342900" algn="just">
              <a:spcBef>
                <a:spcPts val="55"/>
              </a:spcBef>
              <a:buFont typeface="Arial" panose="020B0604020202020204" pitchFamily="34" charset="0"/>
              <a:buChar char="•"/>
            </a:pPr>
            <a:r>
              <a:rPr lang="en-US" sz="2400" spc="-55" dirty="0" smtClean="0">
                <a:solidFill>
                  <a:schemeClr val="accent2">
                    <a:lumMod val="50000"/>
                  </a:schemeClr>
                </a:solidFill>
                <a:latin typeface="Times New Roman"/>
                <a:cs typeface="Times New Roman"/>
              </a:rPr>
              <a:t>boat-</a:t>
            </a:r>
            <a:r>
              <a:rPr lang="en-US" sz="2400" dirty="0" smtClean="0">
                <a:solidFill>
                  <a:schemeClr val="accent2">
                    <a:lumMod val="50000"/>
                  </a:schemeClr>
                </a:solidFill>
                <a:latin typeface="Times New Roman"/>
                <a:cs typeface="Times New Roman"/>
              </a:rPr>
              <a:t>making</a:t>
            </a:r>
          </a:p>
          <a:p>
            <a:pPr marL="355591" marR="5080" indent="-342900" algn="just">
              <a:spcBef>
                <a:spcPts val="55"/>
              </a:spcBef>
              <a:buFont typeface="Arial" panose="020B0604020202020204" pitchFamily="34" charset="0"/>
              <a:buChar char="•"/>
            </a:pPr>
            <a:r>
              <a:rPr lang="en-US" sz="2400" spc="-55" dirty="0" smtClean="0">
                <a:solidFill>
                  <a:schemeClr val="accent2">
                    <a:lumMod val="50000"/>
                  </a:schemeClr>
                </a:solidFill>
                <a:latin typeface="Times New Roman"/>
                <a:cs typeface="Times New Roman"/>
              </a:rPr>
              <a:t>Sailing              </a:t>
            </a:r>
            <a:r>
              <a:rPr lang="en-US" sz="2400" dirty="0" smtClean="0">
                <a:latin typeface="Times New Roman"/>
                <a:cs typeface="Times New Roman"/>
              </a:rPr>
              <a:t>with</a:t>
            </a:r>
            <a:r>
              <a:rPr lang="en-US" sz="2400" spc="60" dirty="0" smtClean="0">
                <a:latin typeface="Times New Roman"/>
                <a:cs typeface="Times New Roman"/>
              </a:rPr>
              <a:t> </a:t>
            </a:r>
            <a:r>
              <a:rPr lang="en-US" sz="2400" dirty="0" smtClean="0">
                <a:latin typeface="Times New Roman"/>
                <a:cs typeface="Times New Roman"/>
              </a:rPr>
              <a:t>hardly</a:t>
            </a:r>
            <a:r>
              <a:rPr lang="en-US" sz="2400" spc="45" dirty="0" smtClean="0">
                <a:latin typeface="Times New Roman"/>
                <a:cs typeface="Times New Roman"/>
              </a:rPr>
              <a:t> </a:t>
            </a:r>
            <a:r>
              <a:rPr lang="en-US" sz="2400" dirty="0" smtClean="0">
                <a:latin typeface="Times New Roman"/>
                <a:cs typeface="Times New Roman"/>
              </a:rPr>
              <a:t>any</a:t>
            </a:r>
            <a:r>
              <a:rPr lang="en-US" sz="2400" spc="50" dirty="0" smtClean="0">
                <a:latin typeface="Times New Roman"/>
                <a:cs typeface="Times New Roman"/>
              </a:rPr>
              <a:t> </a:t>
            </a:r>
            <a:r>
              <a:rPr lang="en-US" sz="2400" spc="-10" dirty="0" smtClean="0">
                <a:latin typeface="Times New Roman"/>
                <a:cs typeface="Times New Roman"/>
              </a:rPr>
              <a:t>science</a:t>
            </a:r>
            <a:r>
              <a:rPr lang="en-US" sz="2400" spc="65" dirty="0" smtClean="0">
                <a:latin typeface="Times New Roman"/>
                <a:cs typeface="Times New Roman"/>
              </a:rPr>
              <a:t> </a:t>
            </a:r>
            <a:r>
              <a:rPr lang="en-US" sz="2400" dirty="0" smtClean="0">
                <a:latin typeface="Times New Roman"/>
                <a:cs typeface="Times New Roman"/>
              </a:rPr>
              <a:t>to</a:t>
            </a:r>
            <a:r>
              <a:rPr lang="en-US" sz="2400" spc="60" dirty="0" smtClean="0">
                <a:latin typeface="Times New Roman"/>
                <a:cs typeface="Times New Roman"/>
              </a:rPr>
              <a:t> </a:t>
            </a:r>
            <a:r>
              <a:rPr lang="en-US" sz="2400" dirty="0" smtClean="0">
                <a:latin typeface="Times New Roman"/>
                <a:cs typeface="Times New Roman"/>
              </a:rPr>
              <a:t>back</a:t>
            </a:r>
            <a:r>
              <a:rPr lang="en-US" sz="2400" spc="70" dirty="0" smtClean="0">
                <a:latin typeface="Times New Roman"/>
                <a:cs typeface="Times New Roman"/>
              </a:rPr>
              <a:t> </a:t>
            </a:r>
            <a:r>
              <a:rPr lang="en-US" sz="2400" dirty="0" smtClean="0">
                <a:latin typeface="Times New Roman"/>
                <a:cs typeface="Times New Roman"/>
              </a:rPr>
              <a:t>them</a:t>
            </a:r>
            <a:r>
              <a:rPr lang="en-US" sz="2400" spc="60" dirty="0" smtClean="0">
                <a:latin typeface="Times New Roman"/>
                <a:cs typeface="Times New Roman"/>
              </a:rPr>
              <a:t> </a:t>
            </a:r>
            <a:r>
              <a:rPr lang="en-US" sz="2400" dirty="0" smtClean="0">
                <a:latin typeface="Times New Roman"/>
                <a:cs typeface="Times New Roman"/>
              </a:rPr>
              <a:t>up.</a:t>
            </a:r>
            <a:r>
              <a:rPr lang="en-US" sz="2400" spc="70" dirty="0" smtClean="0">
                <a:latin typeface="Times New Roman"/>
                <a:cs typeface="Times New Roman"/>
              </a:rPr>
              <a:t> </a:t>
            </a:r>
          </a:p>
          <a:p>
            <a:pPr marL="12691" marR="5080" indent="456244" algn="just">
              <a:lnSpc>
                <a:spcPct val="150000"/>
              </a:lnSpc>
              <a:spcBef>
                <a:spcPts val="55"/>
              </a:spcBef>
            </a:pPr>
            <a:r>
              <a:rPr lang="en-US" sz="2400" dirty="0" smtClean="0">
                <a:latin typeface="Times New Roman"/>
                <a:cs typeface="Times New Roman"/>
              </a:rPr>
              <a:t>If</a:t>
            </a:r>
            <a:r>
              <a:rPr lang="en-US" sz="2400" spc="65" dirty="0" smtClean="0">
                <a:latin typeface="Times New Roman"/>
                <a:cs typeface="Times New Roman"/>
              </a:rPr>
              <a:t> </a:t>
            </a:r>
            <a:r>
              <a:rPr lang="en-US" sz="2400" dirty="0" smtClean="0">
                <a:solidFill>
                  <a:schemeClr val="accent2">
                    <a:lumMod val="50000"/>
                  </a:schemeClr>
                </a:solidFill>
                <a:latin typeface="Times New Roman"/>
                <a:cs typeface="Times New Roman"/>
              </a:rPr>
              <a:t>we</a:t>
            </a:r>
            <a:r>
              <a:rPr lang="en-US" sz="2400" spc="65" dirty="0" smtClean="0">
                <a:solidFill>
                  <a:schemeClr val="accent2">
                    <a:lumMod val="50000"/>
                  </a:schemeClr>
                </a:solidFill>
                <a:latin typeface="Times New Roman"/>
                <a:cs typeface="Times New Roman"/>
              </a:rPr>
              <a:t> </a:t>
            </a:r>
            <a:r>
              <a:rPr lang="en-US" sz="2400" spc="-10" dirty="0" smtClean="0">
                <a:solidFill>
                  <a:schemeClr val="accent2">
                    <a:lumMod val="50000"/>
                  </a:schemeClr>
                </a:solidFill>
                <a:latin typeface="Times New Roman"/>
                <a:cs typeface="Times New Roman"/>
              </a:rPr>
              <a:t>define </a:t>
            </a:r>
            <a:r>
              <a:rPr lang="en-US" sz="2400" spc="-40" dirty="0" smtClean="0">
                <a:solidFill>
                  <a:schemeClr val="accent2">
                    <a:lumMod val="50000"/>
                  </a:schemeClr>
                </a:solidFill>
                <a:latin typeface="Times New Roman"/>
                <a:cs typeface="Times New Roman"/>
              </a:rPr>
              <a:t>technology</a:t>
            </a:r>
            <a:r>
              <a:rPr lang="en-US" sz="2400" spc="-35" dirty="0" smtClean="0">
                <a:solidFill>
                  <a:schemeClr val="accent2">
                    <a:lumMod val="50000"/>
                  </a:schemeClr>
                </a:solidFill>
                <a:latin typeface="Times New Roman"/>
                <a:cs typeface="Times New Roman"/>
              </a:rPr>
              <a:t> </a:t>
            </a:r>
            <a:r>
              <a:rPr lang="en-US" sz="2400" dirty="0" smtClean="0">
                <a:latin typeface="Times New Roman"/>
                <a:cs typeface="Times New Roman"/>
              </a:rPr>
              <a:t>as</a:t>
            </a:r>
            <a:r>
              <a:rPr lang="en-US" sz="2400" spc="-40" dirty="0" smtClean="0">
                <a:latin typeface="Times New Roman"/>
                <a:cs typeface="Times New Roman"/>
              </a:rPr>
              <a:t> </a:t>
            </a:r>
            <a:r>
              <a:rPr lang="en-US" sz="2400" dirty="0" smtClean="0">
                <a:latin typeface="Times New Roman"/>
                <a:cs typeface="Times New Roman"/>
              </a:rPr>
              <a:t>a</a:t>
            </a:r>
            <a:r>
              <a:rPr lang="en-US" sz="2400" spc="-25" dirty="0" smtClean="0">
                <a:latin typeface="Times New Roman"/>
                <a:cs typeface="Times New Roman"/>
              </a:rPr>
              <a:t> </a:t>
            </a:r>
            <a:r>
              <a:rPr lang="en-US" sz="2400" i="1" u="sng" spc="-20" dirty="0" smtClean="0">
                <a:latin typeface="Times New Roman"/>
                <a:cs typeface="Times New Roman"/>
              </a:rPr>
              <a:t>human</a:t>
            </a:r>
            <a:r>
              <a:rPr lang="en-US" sz="2400" i="1" u="sng" spc="-25" dirty="0" smtClean="0">
                <a:latin typeface="Times New Roman"/>
                <a:cs typeface="Times New Roman"/>
              </a:rPr>
              <a:t> </a:t>
            </a:r>
            <a:r>
              <a:rPr lang="en-US" sz="2400" i="1" u="sng" spc="-10" dirty="0" smtClean="0">
                <a:latin typeface="Times New Roman"/>
                <a:cs typeface="Times New Roman"/>
              </a:rPr>
              <a:t>way</a:t>
            </a:r>
            <a:r>
              <a:rPr lang="en-US" sz="2400" i="1" u="sng" spc="-40" dirty="0" smtClean="0">
                <a:latin typeface="Times New Roman"/>
                <a:cs typeface="Times New Roman"/>
              </a:rPr>
              <a:t> </a:t>
            </a:r>
            <a:r>
              <a:rPr lang="en-US" sz="2400" i="1" u="sng" dirty="0" smtClean="0">
                <a:latin typeface="Times New Roman"/>
                <a:cs typeface="Times New Roman"/>
              </a:rPr>
              <a:t>of</a:t>
            </a:r>
            <a:r>
              <a:rPr lang="en-US" sz="2400" i="1" u="sng" spc="-20" dirty="0" smtClean="0">
                <a:latin typeface="Times New Roman"/>
                <a:cs typeface="Times New Roman"/>
              </a:rPr>
              <a:t> </a:t>
            </a:r>
            <a:r>
              <a:rPr lang="en-US" sz="2400" i="1" u="sng" spc="-35" dirty="0" smtClean="0">
                <a:latin typeface="Times New Roman"/>
                <a:cs typeface="Times New Roman"/>
              </a:rPr>
              <a:t>altering </a:t>
            </a:r>
            <a:r>
              <a:rPr lang="en-US" sz="2400" i="1" u="sng" dirty="0" smtClean="0">
                <a:latin typeface="Times New Roman"/>
                <a:cs typeface="Times New Roman"/>
              </a:rPr>
              <a:t>the</a:t>
            </a:r>
            <a:r>
              <a:rPr lang="en-US" sz="2400" i="1" u="sng" spc="-35" dirty="0" smtClean="0">
                <a:latin typeface="Times New Roman"/>
                <a:cs typeface="Times New Roman"/>
              </a:rPr>
              <a:t> </a:t>
            </a:r>
            <a:r>
              <a:rPr lang="en-US" sz="2400" i="1" u="sng" spc="-40" dirty="0" smtClean="0">
                <a:latin typeface="Times New Roman"/>
                <a:cs typeface="Times New Roman"/>
              </a:rPr>
              <a:t>surrounding</a:t>
            </a:r>
            <a:r>
              <a:rPr lang="en-US" sz="2400" i="1" u="sng" spc="-35" dirty="0" smtClean="0">
                <a:latin typeface="Times New Roman"/>
                <a:cs typeface="Times New Roman"/>
              </a:rPr>
              <a:t> </a:t>
            </a:r>
            <a:r>
              <a:rPr lang="en-US" sz="2400" i="1" u="sng" spc="-20" dirty="0" smtClean="0">
                <a:latin typeface="Times New Roman"/>
                <a:cs typeface="Times New Roman"/>
              </a:rPr>
              <a:t>world </a:t>
            </a:r>
            <a:r>
              <a:rPr lang="en-US" sz="2400" i="1" u="sng" dirty="0" smtClean="0">
                <a:latin typeface="Times New Roman"/>
                <a:cs typeface="Times New Roman"/>
              </a:rPr>
              <a:t>for</a:t>
            </a:r>
            <a:r>
              <a:rPr lang="en-US" sz="2400" i="1" u="sng" spc="-25" dirty="0" smtClean="0">
                <a:latin typeface="Times New Roman"/>
                <a:cs typeface="Times New Roman"/>
              </a:rPr>
              <a:t> </a:t>
            </a:r>
            <a:r>
              <a:rPr lang="en-US" sz="2400" i="1" u="sng" spc="-30" dirty="0" smtClean="0">
                <a:latin typeface="Times New Roman"/>
                <a:cs typeface="Times New Roman"/>
              </a:rPr>
              <a:t>making</a:t>
            </a:r>
            <a:r>
              <a:rPr lang="en-US" sz="2400" i="1" u="sng" spc="-35" dirty="0" smtClean="0">
                <a:latin typeface="Times New Roman"/>
                <a:cs typeface="Times New Roman"/>
              </a:rPr>
              <a:t> </a:t>
            </a:r>
            <a:r>
              <a:rPr lang="en-US" sz="2400" i="1" u="sng" spc="-20" dirty="0" smtClean="0">
                <a:latin typeface="Times New Roman"/>
                <a:cs typeface="Times New Roman"/>
              </a:rPr>
              <a:t>life </a:t>
            </a:r>
            <a:r>
              <a:rPr lang="en-US" sz="2400" i="1" u="sng" spc="-35" dirty="0" smtClean="0">
                <a:latin typeface="Times New Roman"/>
                <a:cs typeface="Times New Roman"/>
              </a:rPr>
              <a:t>easier</a:t>
            </a:r>
            <a:r>
              <a:rPr lang="en-US" sz="2400" spc="-35" dirty="0" smtClean="0">
                <a:latin typeface="Times New Roman"/>
                <a:cs typeface="Times New Roman"/>
              </a:rPr>
              <a:t>.</a:t>
            </a:r>
          </a:p>
          <a:p>
            <a:pPr marL="12691" marR="5080" indent="456244" algn="just">
              <a:spcBef>
                <a:spcPts val="55"/>
              </a:spcBef>
            </a:pPr>
            <a:r>
              <a:rPr lang="en-US" sz="2400" spc="-40" dirty="0" smtClean="0">
                <a:latin typeface="Times New Roman"/>
                <a:cs typeface="Times New Roman"/>
              </a:rPr>
              <a:t>.</a:t>
            </a:r>
            <a:r>
              <a:rPr lang="en-US" sz="2400" spc="-35" dirty="0" smtClean="0">
                <a:latin typeface="Times New Roman"/>
                <a:cs typeface="Times New Roman"/>
              </a:rPr>
              <a:t> </a:t>
            </a:r>
            <a:endParaRPr lang="en-US" sz="2400" dirty="0">
              <a:latin typeface="Times New Roman"/>
              <a:cs typeface="Times New Roman"/>
            </a:endParaRPr>
          </a:p>
        </p:txBody>
      </p:sp>
    </p:spTree>
    <p:extLst>
      <p:ext uri="{BB962C8B-B14F-4D97-AF65-F5344CB8AC3E}">
        <p14:creationId xmlns:p14="http://schemas.microsoft.com/office/powerpoint/2010/main" val="168884184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1219200" y="762000"/>
            <a:ext cx="7696200" cy="5906745"/>
          </a:xfrm>
          <a:prstGeom prst="rect">
            <a:avLst/>
          </a:prstGeom>
        </p:spPr>
        <p:txBody>
          <a:bodyPr wrap="square">
            <a:spAutoFit/>
          </a:bodyPr>
          <a:lstStyle/>
          <a:p>
            <a:pPr marL="355591" marR="5080" indent="-342900" algn="just">
              <a:lnSpc>
                <a:spcPct val="150000"/>
              </a:lnSpc>
              <a:spcBef>
                <a:spcPts val="55"/>
              </a:spcBef>
              <a:buFont typeface="Wingdings" panose="05000000000000000000" pitchFamily="2" charset="2"/>
              <a:buChar char="§"/>
            </a:pPr>
            <a:r>
              <a:rPr lang="en-US" sz="2400" dirty="0" smtClean="0">
                <a:latin typeface="Times New Roman"/>
                <a:cs typeface="Times New Roman"/>
              </a:rPr>
              <a:t>We</a:t>
            </a:r>
            <a:r>
              <a:rPr lang="en-US" sz="2400" spc="-25" dirty="0" smtClean="0">
                <a:latin typeface="Times New Roman"/>
                <a:cs typeface="Times New Roman"/>
              </a:rPr>
              <a:t> </a:t>
            </a:r>
            <a:r>
              <a:rPr lang="en-US" sz="2400" spc="-20" dirty="0" smtClean="0">
                <a:latin typeface="Times New Roman"/>
                <a:cs typeface="Times New Roman"/>
              </a:rPr>
              <a:t>find</a:t>
            </a:r>
            <a:r>
              <a:rPr lang="en-US" sz="2400" spc="-25" dirty="0" smtClean="0">
                <a:latin typeface="Times New Roman"/>
                <a:cs typeface="Times New Roman"/>
              </a:rPr>
              <a:t> </a:t>
            </a:r>
            <a:r>
              <a:rPr lang="en-US" sz="2400" spc="-20" dirty="0" smtClean="0">
                <a:latin typeface="Times New Roman"/>
                <a:cs typeface="Times New Roman"/>
              </a:rPr>
              <a:t>that</a:t>
            </a:r>
            <a:r>
              <a:rPr lang="en-US" sz="2400" spc="-25" dirty="0" smtClean="0">
                <a:latin typeface="Times New Roman"/>
                <a:cs typeface="Times New Roman"/>
              </a:rPr>
              <a:t> </a:t>
            </a:r>
            <a:r>
              <a:rPr lang="en-US" sz="2400" dirty="0" smtClean="0">
                <a:latin typeface="Times New Roman"/>
                <a:cs typeface="Times New Roman"/>
              </a:rPr>
              <a:t>the</a:t>
            </a:r>
            <a:r>
              <a:rPr lang="en-US" sz="2400" spc="-25" dirty="0" smtClean="0">
                <a:latin typeface="Times New Roman"/>
                <a:cs typeface="Times New Roman"/>
              </a:rPr>
              <a:t> </a:t>
            </a:r>
            <a:r>
              <a:rPr lang="en-US" sz="2400" spc="-10" dirty="0" smtClean="0">
                <a:latin typeface="Times New Roman"/>
                <a:cs typeface="Times New Roman"/>
              </a:rPr>
              <a:t>first stone</a:t>
            </a:r>
            <a:r>
              <a:rPr lang="en-US" sz="2400" spc="35" dirty="0" smtClean="0">
                <a:latin typeface="Times New Roman"/>
                <a:cs typeface="Times New Roman"/>
              </a:rPr>
              <a:t> </a:t>
            </a:r>
            <a:r>
              <a:rPr lang="en-US" sz="2400" spc="-10" dirty="0" smtClean="0">
                <a:latin typeface="Times New Roman"/>
                <a:cs typeface="Times New Roman"/>
              </a:rPr>
              <a:t>tools</a:t>
            </a:r>
            <a:r>
              <a:rPr lang="en-US" sz="2400" spc="45" dirty="0" smtClean="0">
                <a:latin typeface="Times New Roman"/>
                <a:cs typeface="Times New Roman"/>
              </a:rPr>
              <a:t> </a:t>
            </a:r>
            <a:r>
              <a:rPr lang="en-US" sz="2400" dirty="0" smtClean="0">
                <a:latin typeface="Times New Roman"/>
                <a:cs typeface="Times New Roman"/>
              </a:rPr>
              <a:t>in</a:t>
            </a:r>
            <a:r>
              <a:rPr lang="en-US" sz="2400" spc="30" dirty="0" smtClean="0">
                <a:latin typeface="Times New Roman"/>
                <a:cs typeface="Times New Roman"/>
              </a:rPr>
              <a:t> </a:t>
            </a:r>
            <a:r>
              <a:rPr lang="en-US" sz="2400" dirty="0" smtClean="0">
                <a:latin typeface="Times New Roman"/>
                <a:cs typeface="Times New Roman"/>
              </a:rPr>
              <a:t>the</a:t>
            </a:r>
            <a:r>
              <a:rPr lang="en-US" sz="2400" spc="40" dirty="0" smtClean="0">
                <a:latin typeface="Times New Roman"/>
                <a:cs typeface="Times New Roman"/>
              </a:rPr>
              <a:t> </a:t>
            </a:r>
            <a:r>
              <a:rPr lang="en-US" sz="2400" spc="-20" dirty="0" smtClean="0">
                <a:latin typeface="Times New Roman"/>
                <a:cs typeface="Times New Roman"/>
              </a:rPr>
              <a:t>Indian</a:t>
            </a:r>
            <a:r>
              <a:rPr lang="en-US" sz="2400" spc="40" dirty="0" smtClean="0">
                <a:latin typeface="Times New Roman"/>
                <a:cs typeface="Times New Roman"/>
              </a:rPr>
              <a:t> </a:t>
            </a:r>
            <a:r>
              <a:rPr lang="en-US" sz="2400" spc="-35" dirty="0" smtClean="0">
                <a:latin typeface="Times New Roman"/>
                <a:cs typeface="Times New Roman"/>
              </a:rPr>
              <a:t>subcontinent</a:t>
            </a:r>
            <a:r>
              <a:rPr lang="en-US" sz="2400" spc="45" dirty="0" smtClean="0">
                <a:latin typeface="Times New Roman"/>
                <a:cs typeface="Times New Roman"/>
              </a:rPr>
              <a:t> </a:t>
            </a:r>
            <a:r>
              <a:rPr lang="en-US" sz="2400" dirty="0" smtClean="0">
                <a:latin typeface="Times New Roman"/>
                <a:cs typeface="Times New Roman"/>
              </a:rPr>
              <a:t>go</a:t>
            </a:r>
            <a:r>
              <a:rPr lang="en-US" sz="2400" spc="35" dirty="0" smtClean="0">
                <a:latin typeface="Times New Roman"/>
                <a:cs typeface="Times New Roman"/>
              </a:rPr>
              <a:t> </a:t>
            </a:r>
            <a:r>
              <a:rPr lang="en-US" sz="2400" dirty="0" smtClean="0">
                <a:latin typeface="Times New Roman"/>
                <a:cs typeface="Times New Roman"/>
              </a:rPr>
              <a:t>back</a:t>
            </a:r>
            <a:r>
              <a:rPr lang="en-US" sz="2400" spc="40" dirty="0" smtClean="0">
                <a:latin typeface="Times New Roman"/>
                <a:cs typeface="Times New Roman"/>
              </a:rPr>
              <a:t> </a:t>
            </a:r>
            <a:r>
              <a:rPr lang="en-US" sz="2400" dirty="0" smtClean="0">
                <a:latin typeface="Times New Roman"/>
                <a:cs typeface="Times New Roman"/>
              </a:rPr>
              <a:t>more</a:t>
            </a:r>
            <a:r>
              <a:rPr lang="en-US" sz="2400" spc="50" dirty="0" smtClean="0">
                <a:latin typeface="Times New Roman"/>
                <a:cs typeface="Times New Roman"/>
              </a:rPr>
              <a:t> </a:t>
            </a:r>
            <a:r>
              <a:rPr lang="en-US" sz="2400" dirty="0" smtClean="0">
                <a:latin typeface="Times New Roman"/>
                <a:cs typeface="Times New Roman"/>
              </a:rPr>
              <a:t>than</a:t>
            </a:r>
            <a:r>
              <a:rPr lang="en-US" sz="2400" spc="40" dirty="0" smtClean="0">
                <a:latin typeface="Times New Roman"/>
                <a:cs typeface="Times New Roman"/>
              </a:rPr>
              <a:t> </a:t>
            </a:r>
            <a:r>
              <a:rPr lang="en-US" sz="2400" dirty="0" smtClean="0">
                <a:latin typeface="Times New Roman"/>
                <a:cs typeface="Times New Roman"/>
              </a:rPr>
              <a:t>two</a:t>
            </a:r>
            <a:r>
              <a:rPr lang="en-US" sz="2400" spc="35" dirty="0" smtClean="0">
                <a:latin typeface="Times New Roman"/>
                <a:cs typeface="Times New Roman"/>
              </a:rPr>
              <a:t> </a:t>
            </a:r>
            <a:r>
              <a:rPr lang="en-US" sz="2400" spc="-25" dirty="0" smtClean="0">
                <a:latin typeface="Times New Roman"/>
                <a:cs typeface="Times New Roman"/>
              </a:rPr>
              <a:t>million</a:t>
            </a:r>
            <a:r>
              <a:rPr lang="en-US" sz="2400" spc="50" dirty="0" smtClean="0">
                <a:latin typeface="Times New Roman"/>
                <a:cs typeface="Times New Roman"/>
              </a:rPr>
              <a:t> </a:t>
            </a:r>
            <a:r>
              <a:rPr lang="en-US" sz="2400" spc="-25" dirty="0" smtClean="0">
                <a:latin typeface="Times New Roman"/>
                <a:cs typeface="Times New Roman"/>
              </a:rPr>
              <a:t>years.</a:t>
            </a:r>
          </a:p>
          <a:p>
            <a:pPr marL="12691" marR="5080" indent="456244" algn="just">
              <a:lnSpc>
                <a:spcPct val="150000"/>
              </a:lnSpc>
              <a:spcBef>
                <a:spcPts val="55"/>
              </a:spcBef>
            </a:pPr>
            <a:r>
              <a:rPr lang="en-US" sz="2400" b="1" u="sng" spc="-75" dirty="0" smtClean="0">
                <a:solidFill>
                  <a:srgbClr val="00B050"/>
                </a:solidFill>
                <a:latin typeface="Times New Roman"/>
                <a:cs typeface="Times New Roman"/>
              </a:rPr>
              <a:t>Neolithic</a:t>
            </a:r>
            <a:r>
              <a:rPr lang="en-US" sz="2400" b="1" u="sng" dirty="0" smtClean="0">
                <a:solidFill>
                  <a:srgbClr val="00B050"/>
                </a:solidFill>
                <a:latin typeface="Times New Roman"/>
                <a:cs typeface="Times New Roman"/>
              </a:rPr>
              <a:t> </a:t>
            </a:r>
            <a:r>
              <a:rPr lang="en-US" sz="2400" b="1" u="sng" spc="-50" dirty="0" smtClean="0">
                <a:solidFill>
                  <a:srgbClr val="00B050"/>
                </a:solidFill>
                <a:latin typeface="Times New Roman"/>
                <a:cs typeface="Times New Roman"/>
              </a:rPr>
              <a:t>Revolution</a:t>
            </a:r>
            <a:r>
              <a:rPr lang="en-US" sz="2400" b="1" u="sng" spc="-20" dirty="0" smtClean="0">
                <a:solidFill>
                  <a:srgbClr val="00B050"/>
                </a:solidFill>
                <a:latin typeface="Times New Roman"/>
                <a:cs typeface="Times New Roman"/>
              </a:rPr>
              <a:t> </a:t>
            </a:r>
            <a:r>
              <a:rPr lang="en-US" sz="2400" spc="-30" dirty="0" smtClean="0">
                <a:latin typeface="Times New Roman"/>
                <a:cs typeface="Times New Roman"/>
              </a:rPr>
              <a:t>of</a:t>
            </a:r>
            <a:r>
              <a:rPr lang="en-US" sz="2400" spc="-4" dirty="0" smtClean="0">
                <a:latin typeface="Times New Roman"/>
                <a:cs typeface="Times New Roman"/>
              </a:rPr>
              <a:t> </a:t>
            </a:r>
            <a:r>
              <a:rPr lang="en-US" sz="2400" spc="-50" dirty="0" smtClean="0">
                <a:latin typeface="Times New Roman"/>
                <a:cs typeface="Times New Roman"/>
              </a:rPr>
              <a:t>some</a:t>
            </a:r>
            <a:r>
              <a:rPr lang="en-US" sz="2400" spc="-4" dirty="0" smtClean="0">
                <a:latin typeface="Times New Roman"/>
                <a:cs typeface="Times New Roman"/>
              </a:rPr>
              <a:t> </a:t>
            </a:r>
            <a:r>
              <a:rPr lang="en-US" sz="2400" spc="-40" dirty="0" smtClean="0">
                <a:latin typeface="Times New Roman"/>
                <a:cs typeface="Times New Roman"/>
              </a:rPr>
              <a:t>10,000</a:t>
            </a:r>
            <a:r>
              <a:rPr lang="en-US" sz="2400" dirty="0" smtClean="0">
                <a:latin typeface="Times New Roman"/>
                <a:cs typeface="Times New Roman"/>
              </a:rPr>
              <a:t> </a:t>
            </a:r>
            <a:r>
              <a:rPr lang="en-US" sz="2400" spc="-55" dirty="0" smtClean="0">
                <a:latin typeface="Times New Roman"/>
                <a:cs typeface="Times New Roman"/>
              </a:rPr>
              <a:t>years</a:t>
            </a:r>
            <a:r>
              <a:rPr lang="en-US" sz="2400" spc="4" dirty="0" smtClean="0">
                <a:latin typeface="Times New Roman"/>
                <a:cs typeface="Times New Roman"/>
              </a:rPr>
              <a:t> </a:t>
            </a:r>
            <a:r>
              <a:rPr lang="en-US" sz="2400" spc="-45" dirty="0" smtClean="0">
                <a:latin typeface="Times New Roman"/>
                <a:cs typeface="Times New Roman"/>
              </a:rPr>
              <a:t>ago</a:t>
            </a:r>
            <a:r>
              <a:rPr lang="en-US" sz="2400" dirty="0" smtClean="0">
                <a:latin typeface="Times New Roman"/>
                <a:cs typeface="Times New Roman"/>
              </a:rPr>
              <a:t> </a:t>
            </a:r>
            <a:r>
              <a:rPr lang="en-US" sz="2400" spc="-40" dirty="0" smtClean="0">
                <a:latin typeface="Times New Roman"/>
                <a:cs typeface="Times New Roman"/>
              </a:rPr>
              <a:t>saw</a:t>
            </a:r>
            <a:r>
              <a:rPr lang="en-US" sz="2400" dirty="0" smtClean="0">
                <a:latin typeface="Times New Roman"/>
                <a:cs typeface="Times New Roman"/>
              </a:rPr>
              <a:t> </a:t>
            </a:r>
            <a:r>
              <a:rPr lang="en-US" sz="2400" spc="-45" dirty="0" smtClean="0">
                <a:latin typeface="Times New Roman"/>
                <a:cs typeface="Times New Roman"/>
              </a:rPr>
              <a:t>the</a:t>
            </a:r>
            <a:r>
              <a:rPr lang="en-US" sz="2400" spc="-4" dirty="0" smtClean="0">
                <a:latin typeface="Times New Roman"/>
                <a:cs typeface="Times New Roman"/>
              </a:rPr>
              <a:t> </a:t>
            </a:r>
            <a:r>
              <a:rPr lang="en-US" sz="2400" spc="-50" dirty="0" smtClean="0">
                <a:latin typeface="Times New Roman"/>
                <a:cs typeface="Times New Roman"/>
              </a:rPr>
              <a:t>development</a:t>
            </a:r>
            <a:r>
              <a:rPr lang="en-US" sz="2400" spc="-10" dirty="0" smtClean="0">
                <a:latin typeface="Times New Roman"/>
                <a:cs typeface="Times New Roman"/>
              </a:rPr>
              <a:t> </a:t>
            </a:r>
            <a:r>
              <a:rPr lang="en-US" sz="2400" spc="-30" dirty="0" smtClean="0">
                <a:latin typeface="Times New Roman"/>
                <a:cs typeface="Times New Roman"/>
              </a:rPr>
              <a:t>of</a:t>
            </a:r>
            <a:r>
              <a:rPr lang="en-US" sz="2400" spc="-10" dirty="0" smtClean="0">
                <a:latin typeface="Times New Roman"/>
                <a:cs typeface="Times New Roman"/>
              </a:rPr>
              <a:t> </a:t>
            </a:r>
            <a:r>
              <a:rPr lang="en-US" sz="2400" spc="-50" dirty="0" smtClean="0">
                <a:latin typeface="Times New Roman"/>
                <a:cs typeface="Times New Roman"/>
              </a:rPr>
              <a:t>agriculture</a:t>
            </a:r>
            <a:r>
              <a:rPr lang="en-US" sz="2400" spc="-4" dirty="0" smtClean="0">
                <a:latin typeface="Times New Roman"/>
                <a:cs typeface="Times New Roman"/>
              </a:rPr>
              <a:t> </a:t>
            </a:r>
            <a:r>
              <a:rPr lang="en-US" sz="2400" spc="-50" dirty="0" smtClean="0">
                <a:latin typeface="Times New Roman"/>
                <a:cs typeface="Times New Roman"/>
              </a:rPr>
              <a:t>in</a:t>
            </a:r>
            <a:r>
              <a:rPr lang="en-US" sz="2400" spc="-10" dirty="0" smtClean="0">
                <a:latin typeface="Times New Roman"/>
                <a:cs typeface="Times New Roman"/>
              </a:rPr>
              <a:t> </a:t>
            </a:r>
            <a:r>
              <a:rPr lang="en-US" sz="2400" spc="-50" dirty="0" smtClean="0">
                <a:latin typeface="Times New Roman"/>
                <a:cs typeface="Times New Roman"/>
              </a:rPr>
              <a:t>parts</a:t>
            </a:r>
            <a:r>
              <a:rPr lang="en-US" sz="2400" spc="-10" dirty="0" smtClean="0">
                <a:latin typeface="Times New Roman"/>
                <a:cs typeface="Times New Roman"/>
              </a:rPr>
              <a:t> </a:t>
            </a:r>
            <a:r>
              <a:rPr lang="en-US" sz="2400" spc="-35" dirty="0" smtClean="0">
                <a:latin typeface="Times New Roman"/>
                <a:cs typeface="Times New Roman"/>
              </a:rPr>
              <a:t>of</a:t>
            </a:r>
            <a:r>
              <a:rPr lang="en-US" sz="2400" spc="-14" dirty="0" smtClean="0">
                <a:latin typeface="Times New Roman"/>
                <a:cs typeface="Times New Roman"/>
              </a:rPr>
              <a:t> </a:t>
            </a:r>
            <a:r>
              <a:rPr lang="en-US" sz="2400" spc="-45" dirty="0" smtClean="0">
                <a:latin typeface="Times New Roman"/>
                <a:cs typeface="Times New Roman"/>
              </a:rPr>
              <a:t>the</a:t>
            </a:r>
            <a:r>
              <a:rPr lang="en-US" sz="2400" spc="-4" dirty="0" smtClean="0">
                <a:latin typeface="Times New Roman"/>
                <a:cs typeface="Times New Roman"/>
              </a:rPr>
              <a:t> </a:t>
            </a:r>
            <a:r>
              <a:rPr lang="en-US" sz="2400" spc="-50" dirty="0" smtClean="0">
                <a:solidFill>
                  <a:srgbClr val="00B050"/>
                </a:solidFill>
                <a:latin typeface="Times New Roman"/>
                <a:cs typeface="Times New Roman"/>
              </a:rPr>
              <a:t>Indus</a:t>
            </a:r>
            <a:r>
              <a:rPr lang="en-US" sz="2400" spc="4" dirty="0" smtClean="0">
                <a:solidFill>
                  <a:srgbClr val="00B050"/>
                </a:solidFill>
                <a:latin typeface="Times New Roman"/>
                <a:cs typeface="Times New Roman"/>
              </a:rPr>
              <a:t> </a:t>
            </a:r>
            <a:r>
              <a:rPr lang="en-US" sz="2400" spc="-25" dirty="0" smtClean="0">
                <a:solidFill>
                  <a:srgbClr val="00B050"/>
                </a:solidFill>
                <a:latin typeface="Times New Roman"/>
                <a:cs typeface="Times New Roman"/>
              </a:rPr>
              <a:t>and </a:t>
            </a:r>
            <a:r>
              <a:rPr lang="en-US" sz="2400" spc="-30" dirty="0" smtClean="0">
                <a:solidFill>
                  <a:srgbClr val="00B050"/>
                </a:solidFill>
                <a:latin typeface="Times New Roman"/>
                <a:cs typeface="Times New Roman"/>
              </a:rPr>
              <a:t>the</a:t>
            </a:r>
            <a:r>
              <a:rPr lang="en-US" sz="2400" spc="-10" dirty="0" smtClean="0">
                <a:solidFill>
                  <a:srgbClr val="00B050"/>
                </a:solidFill>
                <a:latin typeface="Times New Roman"/>
                <a:cs typeface="Times New Roman"/>
              </a:rPr>
              <a:t> </a:t>
            </a:r>
            <a:r>
              <a:rPr lang="en-US" sz="2400" spc="-40" dirty="0" smtClean="0">
                <a:solidFill>
                  <a:srgbClr val="00B050"/>
                </a:solidFill>
                <a:latin typeface="Times New Roman"/>
                <a:cs typeface="Times New Roman"/>
              </a:rPr>
              <a:t>Ganges</a:t>
            </a:r>
            <a:r>
              <a:rPr lang="en-US" sz="2400" spc="-4" dirty="0" smtClean="0">
                <a:solidFill>
                  <a:srgbClr val="00B050"/>
                </a:solidFill>
                <a:latin typeface="Times New Roman"/>
                <a:cs typeface="Times New Roman"/>
              </a:rPr>
              <a:t> </a:t>
            </a:r>
            <a:r>
              <a:rPr lang="en-US" sz="2400" spc="-45" dirty="0" smtClean="0">
                <a:solidFill>
                  <a:srgbClr val="00B050"/>
                </a:solidFill>
                <a:latin typeface="Times New Roman"/>
                <a:cs typeface="Times New Roman"/>
              </a:rPr>
              <a:t>valleys</a:t>
            </a:r>
            <a:r>
              <a:rPr lang="en-US" sz="2400" spc="-45" dirty="0" smtClean="0">
                <a:latin typeface="Times New Roman"/>
                <a:cs typeface="Times New Roman"/>
              </a:rPr>
              <a:t>,</a:t>
            </a:r>
            <a:r>
              <a:rPr lang="en-US" sz="2400" spc="-4" dirty="0" smtClean="0">
                <a:latin typeface="Times New Roman"/>
                <a:cs typeface="Times New Roman"/>
              </a:rPr>
              <a:t> </a:t>
            </a:r>
            <a:r>
              <a:rPr lang="en-US" sz="2400" spc="-35" dirty="0" smtClean="0">
                <a:latin typeface="Times New Roman"/>
                <a:cs typeface="Times New Roman"/>
              </a:rPr>
              <a:t>which</a:t>
            </a:r>
            <a:r>
              <a:rPr lang="en-US" sz="2400" spc="-20" dirty="0" smtClean="0">
                <a:latin typeface="Times New Roman"/>
                <a:cs typeface="Times New Roman"/>
              </a:rPr>
              <a:t> </a:t>
            </a:r>
            <a:r>
              <a:rPr lang="en-US" sz="2400" spc="-10" dirty="0" smtClean="0">
                <a:latin typeface="Times New Roman"/>
                <a:cs typeface="Times New Roman"/>
              </a:rPr>
              <a:t>in</a:t>
            </a:r>
            <a:r>
              <a:rPr lang="en-US" sz="2400" spc="-20" dirty="0" smtClean="0">
                <a:latin typeface="Times New Roman"/>
                <a:cs typeface="Times New Roman"/>
              </a:rPr>
              <a:t> </a:t>
            </a:r>
            <a:r>
              <a:rPr lang="en-US" sz="2400" spc="-40" dirty="0" smtClean="0">
                <a:latin typeface="Times New Roman"/>
                <a:cs typeface="Times New Roman"/>
              </a:rPr>
              <a:t>turn</a:t>
            </a:r>
            <a:r>
              <a:rPr lang="en-US" sz="2400" spc="-14" dirty="0" smtClean="0">
                <a:latin typeface="Times New Roman"/>
                <a:cs typeface="Times New Roman"/>
              </a:rPr>
              <a:t> </a:t>
            </a:r>
            <a:r>
              <a:rPr lang="en-US" sz="2400" spc="-45" dirty="0" smtClean="0">
                <a:latin typeface="Times New Roman"/>
                <a:cs typeface="Times New Roman"/>
              </a:rPr>
              <a:t>triggered</a:t>
            </a:r>
            <a:r>
              <a:rPr lang="en-US" sz="2400" spc="-10" dirty="0" smtClean="0">
                <a:latin typeface="Times New Roman"/>
                <a:cs typeface="Times New Roman"/>
              </a:rPr>
              <a:t> </a:t>
            </a:r>
            <a:r>
              <a:rPr lang="en-US" sz="2400" spc="-35" dirty="0" smtClean="0">
                <a:latin typeface="Times New Roman"/>
                <a:cs typeface="Times New Roman"/>
              </a:rPr>
              <a:t>the</a:t>
            </a:r>
            <a:r>
              <a:rPr lang="en-US" sz="2400" spc="-25" dirty="0" smtClean="0">
                <a:latin typeface="Times New Roman"/>
                <a:cs typeface="Times New Roman"/>
              </a:rPr>
              <a:t> </a:t>
            </a:r>
            <a:r>
              <a:rPr lang="en-US" sz="2400" spc="-40" dirty="0" smtClean="0">
                <a:latin typeface="Times New Roman"/>
                <a:cs typeface="Times New Roman"/>
              </a:rPr>
              <a:t>need</a:t>
            </a:r>
            <a:r>
              <a:rPr lang="en-US" sz="2400" spc="-10" dirty="0" smtClean="0">
                <a:latin typeface="Times New Roman"/>
                <a:cs typeface="Times New Roman"/>
              </a:rPr>
              <a:t> </a:t>
            </a:r>
            <a:r>
              <a:rPr lang="en-US" sz="2400" spc="-35" dirty="0" smtClean="0">
                <a:latin typeface="Times New Roman"/>
                <a:cs typeface="Times New Roman"/>
              </a:rPr>
              <a:t>for</a:t>
            </a:r>
            <a:r>
              <a:rPr lang="en-US" sz="2400" spc="-4" dirty="0" smtClean="0">
                <a:latin typeface="Times New Roman"/>
                <a:cs typeface="Times New Roman"/>
              </a:rPr>
              <a:t> </a:t>
            </a:r>
          </a:p>
          <a:p>
            <a:pPr marL="355591" marR="5080" indent="-342900" algn="just">
              <a:lnSpc>
                <a:spcPct val="150000"/>
              </a:lnSpc>
              <a:spcBef>
                <a:spcPts val="55"/>
              </a:spcBef>
              <a:buFont typeface="Arial" panose="020B0604020202020204" pitchFamily="34" charset="0"/>
              <a:buChar char="•"/>
            </a:pPr>
            <a:r>
              <a:rPr lang="en-US" sz="2400" spc="-35" dirty="0" smtClean="0">
                <a:solidFill>
                  <a:schemeClr val="accent2">
                    <a:lumMod val="50000"/>
                  </a:schemeClr>
                </a:solidFill>
                <a:latin typeface="Times New Roman"/>
                <a:cs typeface="Times New Roman"/>
              </a:rPr>
              <a:t>pots</a:t>
            </a:r>
            <a:r>
              <a:rPr lang="en-US" sz="2400" spc="-20" dirty="0" smtClean="0">
                <a:solidFill>
                  <a:schemeClr val="accent2">
                    <a:lumMod val="50000"/>
                  </a:schemeClr>
                </a:solidFill>
                <a:latin typeface="Times New Roman"/>
                <a:cs typeface="Times New Roman"/>
              </a:rPr>
              <a:t> </a:t>
            </a:r>
          </a:p>
          <a:p>
            <a:pPr marL="355591" marR="5080" indent="-342900" algn="just">
              <a:lnSpc>
                <a:spcPct val="150000"/>
              </a:lnSpc>
              <a:spcBef>
                <a:spcPts val="55"/>
              </a:spcBef>
              <a:buFont typeface="Arial" panose="020B0604020202020204" pitchFamily="34" charset="0"/>
              <a:buChar char="•"/>
            </a:pPr>
            <a:r>
              <a:rPr lang="en-US" sz="2400" spc="-40" dirty="0" smtClean="0">
                <a:solidFill>
                  <a:schemeClr val="accent2">
                    <a:lumMod val="50000"/>
                  </a:schemeClr>
                </a:solidFill>
                <a:latin typeface="Times New Roman"/>
                <a:cs typeface="Times New Roman"/>
              </a:rPr>
              <a:t>water</a:t>
            </a:r>
            <a:r>
              <a:rPr lang="en-US" sz="2400" spc="-20" dirty="0" smtClean="0">
                <a:solidFill>
                  <a:schemeClr val="accent2">
                    <a:lumMod val="50000"/>
                  </a:schemeClr>
                </a:solidFill>
                <a:latin typeface="Times New Roman"/>
                <a:cs typeface="Times New Roman"/>
              </a:rPr>
              <a:t> </a:t>
            </a:r>
            <a:r>
              <a:rPr lang="en-US" sz="2400" spc="-50" dirty="0" smtClean="0">
                <a:solidFill>
                  <a:schemeClr val="accent2">
                    <a:lumMod val="50000"/>
                  </a:schemeClr>
                </a:solidFill>
                <a:latin typeface="Times New Roman"/>
                <a:cs typeface="Times New Roman"/>
              </a:rPr>
              <a:t>management</a:t>
            </a:r>
            <a:endParaRPr lang="en-US" sz="2400" spc="-4" dirty="0" smtClean="0">
              <a:solidFill>
                <a:schemeClr val="accent2">
                  <a:lumMod val="50000"/>
                </a:schemeClr>
              </a:solidFill>
              <a:latin typeface="Times New Roman"/>
              <a:cs typeface="Times New Roman"/>
            </a:endParaRPr>
          </a:p>
          <a:p>
            <a:pPr marL="355591" marR="5080" indent="-342900" algn="just">
              <a:lnSpc>
                <a:spcPct val="150000"/>
              </a:lnSpc>
              <a:spcBef>
                <a:spcPts val="55"/>
              </a:spcBef>
              <a:buFont typeface="Arial" panose="020B0604020202020204" pitchFamily="34" charset="0"/>
              <a:buChar char="•"/>
            </a:pPr>
            <a:r>
              <a:rPr lang="en-US" sz="2400" spc="-50" dirty="0" smtClean="0">
                <a:solidFill>
                  <a:schemeClr val="accent2">
                    <a:lumMod val="50000"/>
                  </a:schemeClr>
                </a:solidFill>
                <a:latin typeface="Times New Roman"/>
                <a:cs typeface="Times New Roman"/>
              </a:rPr>
              <a:t>metal</a:t>
            </a:r>
            <a:r>
              <a:rPr lang="en-US" sz="2400" spc="-14" dirty="0" smtClean="0">
                <a:solidFill>
                  <a:schemeClr val="accent2">
                    <a:lumMod val="50000"/>
                  </a:schemeClr>
                </a:solidFill>
                <a:latin typeface="Times New Roman"/>
                <a:cs typeface="Times New Roman"/>
              </a:rPr>
              <a:t> </a:t>
            </a:r>
            <a:r>
              <a:rPr lang="en-US" sz="2400" spc="-45" dirty="0" smtClean="0">
                <a:solidFill>
                  <a:schemeClr val="accent2">
                    <a:lumMod val="50000"/>
                  </a:schemeClr>
                </a:solidFill>
                <a:latin typeface="Times New Roman"/>
                <a:cs typeface="Times New Roman"/>
              </a:rPr>
              <a:t>tools</a:t>
            </a:r>
            <a:endParaRPr lang="en-US" sz="2400" spc="-10" dirty="0" smtClean="0">
              <a:solidFill>
                <a:schemeClr val="accent2">
                  <a:lumMod val="50000"/>
                </a:schemeClr>
              </a:solidFill>
              <a:latin typeface="Times New Roman"/>
              <a:cs typeface="Times New Roman"/>
            </a:endParaRPr>
          </a:p>
          <a:p>
            <a:pPr marL="355591" marR="5080" indent="-342900" algn="just">
              <a:lnSpc>
                <a:spcPct val="150000"/>
              </a:lnSpc>
              <a:spcBef>
                <a:spcPts val="55"/>
              </a:spcBef>
              <a:buFont typeface="Arial" panose="020B0604020202020204" pitchFamily="34" charset="0"/>
              <a:buChar char="•"/>
            </a:pPr>
            <a:r>
              <a:rPr lang="en-US" sz="2400" spc="-45" dirty="0" smtClean="0">
                <a:solidFill>
                  <a:schemeClr val="accent2">
                    <a:lumMod val="50000"/>
                  </a:schemeClr>
                </a:solidFill>
                <a:latin typeface="Times New Roman"/>
                <a:cs typeface="Times New Roman"/>
              </a:rPr>
              <a:t>transport</a:t>
            </a:r>
            <a:endParaRPr lang="en-US" sz="2400" spc="-20" dirty="0" smtClean="0">
              <a:solidFill>
                <a:schemeClr val="accent2">
                  <a:lumMod val="50000"/>
                </a:schemeClr>
              </a:solidFill>
              <a:latin typeface="Times New Roman"/>
              <a:cs typeface="Times New Roman"/>
            </a:endParaRPr>
          </a:p>
          <a:p>
            <a:pPr marL="12691" marR="5080" indent="456244" algn="just">
              <a:spcBef>
                <a:spcPts val="55"/>
              </a:spcBef>
            </a:pPr>
            <a:endParaRPr lang="en-US" sz="2400" spc="-20" dirty="0">
              <a:solidFill>
                <a:schemeClr val="accent2">
                  <a:lumMod val="50000"/>
                </a:schemeClr>
              </a:solidFill>
              <a:latin typeface="Times New Roman"/>
              <a:cs typeface="Times New Roman"/>
            </a:endParaRPr>
          </a:p>
          <a:p>
            <a:pPr marL="12691" marR="5080" indent="456244" algn="just">
              <a:spcBef>
                <a:spcPts val="55"/>
              </a:spcBef>
            </a:pPr>
            <a:endParaRPr lang="en-IN" sz="2400" dirty="0"/>
          </a:p>
        </p:txBody>
      </p:sp>
    </p:spTree>
    <p:extLst>
      <p:ext uri="{BB962C8B-B14F-4D97-AF65-F5344CB8AC3E}">
        <p14:creationId xmlns:p14="http://schemas.microsoft.com/office/powerpoint/2010/main" val="39255410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887506" y="706586"/>
            <a:ext cx="8382000" cy="6725174"/>
          </a:xfrm>
          <a:prstGeom prst="rect">
            <a:avLst/>
          </a:prstGeom>
        </p:spPr>
        <p:txBody>
          <a:bodyPr wrap="square" lIns="91378" tIns="45688" rIns="91378" bIns="45688">
            <a:spAutoFit/>
          </a:bodyPr>
          <a:lstStyle/>
          <a:p>
            <a:pPr marL="355591" marR="5080" indent="-342900" algn="just">
              <a:lnSpc>
                <a:spcPct val="150000"/>
              </a:lnSpc>
              <a:spcBef>
                <a:spcPts val="55"/>
              </a:spcBef>
              <a:buFont typeface="Wingdings" panose="05000000000000000000" pitchFamily="2" charset="2"/>
              <a:buChar char="§"/>
            </a:pPr>
            <a:r>
              <a:rPr lang="en-US" sz="2400" b="1" u="sng" spc="-30" dirty="0">
                <a:solidFill>
                  <a:srgbClr val="00B050"/>
                </a:solidFill>
                <a:latin typeface="Times New Roman"/>
                <a:cs typeface="Times New Roman"/>
              </a:rPr>
              <a:t>Metallurgy</a:t>
            </a:r>
            <a:r>
              <a:rPr lang="en-US" sz="2400" spc="-14" dirty="0">
                <a:latin typeface="Times New Roman"/>
                <a:cs typeface="Times New Roman"/>
              </a:rPr>
              <a:t> </a:t>
            </a:r>
            <a:r>
              <a:rPr lang="en-US" sz="2400" spc="-20" dirty="0">
                <a:latin typeface="Times New Roman"/>
                <a:cs typeface="Times New Roman"/>
              </a:rPr>
              <a:t>brought</a:t>
            </a:r>
            <a:r>
              <a:rPr lang="en-US" sz="2400" spc="14" dirty="0">
                <a:latin typeface="Times New Roman"/>
                <a:cs typeface="Times New Roman"/>
              </a:rPr>
              <a:t> </a:t>
            </a:r>
            <a:r>
              <a:rPr lang="en-US" sz="2400" spc="-10" dirty="0">
                <a:latin typeface="Times New Roman"/>
                <a:cs typeface="Times New Roman"/>
              </a:rPr>
              <a:t>about</a:t>
            </a:r>
            <a:r>
              <a:rPr lang="en-US" sz="2400" spc="-4" dirty="0">
                <a:latin typeface="Times New Roman"/>
                <a:cs typeface="Times New Roman"/>
              </a:rPr>
              <a:t> </a:t>
            </a:r>
            <a:r>
              <a:rPr lang="en-US" sz="2400" spc="-30" dirty="0">
                <a:latin typeface="Times New Roman"/>
                <a:cs typeface="Times New Roman"/>
              </a:rPr>
              <a:t>important</a:t>
            </a:r>
            <a:r>
              <a:rPr lang="en-US" sz="2400" spc="4" dirty="0">
                <a:latin typeface="Times New Roman"/>
                <a:cs typeface="Times New Roman"/>
              </a:rPr>
              <a:t> </a:t>
            </a:r>
            <a:r>
              <a:rPr lang="en-US" sz="2400" spc="-20" dirty="0">
                <a:latin typeface="Times New Roman"/>
                <a:cs typeface="Times New Roman"/>
              </a:rPr>
              <a:t>changes</a:t>
            </a:r>
            <a:r>
              <a:rPr lang="en-US" sz="2400" dirty="0">
                <a:latin typeface="Times New Roman"/>
                <a:cs typeface="Times New Roman"/>
              </a:rPr>
              <a:t> in</a:t>
            </a:r>
            <a:r>
              <a:rPr lang="en-US" sz="2400" spc="4" dirty="0">
                <a:latin typeface="Times New Roman"/>
                <a:cs typeface="Times New Roman"/>
              </a:rPr>
              <a:t> </a:t>
            </a:r>
            <a:r>
              <a:rPr lang="en-US" sz="2400" spc="-10" dirty="0">
                <a:latin typeface="Times New Roman"/>
                <a:cs typeface="Times New Roman"/>
              </a:rPr>
              <a:t>human</a:t>
            </a:r>
            <a:r>
              <a:rPr lang="en-US" sz="2400" spc="10" dirty="0">
                <a:latin typeface="Times New Roman"/>
                <a:cs typeface="Times New Roman"/>
              </a:rPr>
              <a:t> </a:t>
            </a:r>
            <a:r>
              <a:rPr lang="en-US" sz="2400" spc="-25" dirty="0">
                <a:latin typeface="Times New Roman"/>
                <a:cs typeface="Times New Roman"/>
              </a:rPr>
              <a:t>society,</a:t>
            </a:r>
            <a:r>
              <a:rPr lang="en-US" sz="2400" spc="14" dirty="0">
                <a:latin typeface="Times New Roman"/>
                <a:cs typeface="Times New Roman"/>
              </a:rPr>
              <a:t> </a:t>
            </a:r>
            <a:r>
              <a:rPr lang="en-US" sz="2400" dirty="0">
                <a:latin typeface="Times New Roman"/>
                <a:cs typeface="Times New Roman"/>
              </a:rPr>
              <a:t>as</a:t>
            </a:r>
            <a:r>
              <a:rPr lang="en-US" sz="2400" spc="14" dirty="0">
                <a:latin typeface="Times New Roman"/>
                <a:cs typeface="Times New Roman"/>
              </a:rPr>
              <a:t> </a:t>
            </a:r>
            <a:r>
              <a:rPr lang="en-US" sz="2400" dirty="0">
                <a:latin typeface="Times New Roman"/>
                <a:cs typeface="Times New Roman"/>
              </a:rPr>
              <a:t>it</a:t>
            </a:r>
            <a:r>
              <a:rPr lang="en-US" sz="2400" spc="20" dirty="0">
                <a:latin typeface="Times New Roman"/>
                <a:cs typeface="Times New Roman"/>
              </a:rPr>
              <a:t> </a:t>
            </a:r>
            <a:r>
              <a:rPr lang="en-US" sz="2400" dirty="0">
                <a:latin typeface="Times New Roman"/>
                <a:cs typeface="Times New Roman"/>
              </a:rPr>
              <a:t>gave</a:t>
            </a:r>
            <a:r>
              <a:rPr lang="en-US" sz="2400" spc="10" dirty="0">
                <a:latin typeface="Times New Roman"/>
                <a:cs typeface="Times New Roman"/>
              </a:rPr>
              <a:t> </a:t>
            </a:r>
            <a:r>
              <a:rPr lang="en-US" sz="2400" dirty="0">
                <a:latin typeface="Times New Roman"/>
                <a:cs typeface="Times New Roman"/>
              </a:rPr>
              <a:t>rise to a</a:t>
            </a:r>
            <a:r>
              <a:rPr lang="en-US" sz="2400" spc="10" dirty="0">
                <a:latin typeface="Times New Roman"/>
                <a:cs typeface="Times New Roman"/>
              </a:rPr>
              <a:t> </a:t>
            </a:r>
            <a:r>
              <a:rPr lang="en-US" sz="2400" spc="-10" dirty="0">
                <a:latin typeface="Times New Roman"/>
                <a:cs typeface="Times New Roman"/>
              </a:rPr>
              <a:t>whole</a:t>
            </a:r>
            <a:r>
              <a:rPr lang="en-US" sz="2400" dirty="0">
                <a:latin typeface="Times New Roman"/>
                <a:cs typeface="Times New Roman"/>
              </a:rPr>
              <a:t> new</a:t>
            </a:r>
            <a:r>
              <a:rPr lang="en-US" sz="2400" spc="10" dirty="0">
                <a:latin typeface="Times New Roman"/>
                <a:cs typeface="Times New Roman"/>
              </a:rPr>
              <a:t> </a:t>
            </a:r>
            <a:r>
              <a:rPr lang="en-US" sz="2400" spc="-10" dirty="0">
                <a:latin typeface="Times New Roman"/>
                <a:cs typeface="Times New Roman"/>
              </a:rPr>
              <a:t>range</a:t>
            </a:r>
            <a:r>
              <a:rPr lang="en-US" sz="2400" spc="10" dirty="0">
                <a:latin typeface="Times New Roman"/>
                <a:cs typeface="Times New Roman"/>
              </a:rPr>
              <a:t> </a:t>
            </a:r>
            <a:r>
              <a:rPr lang="en-US" sz="2400" spc="-25" dirty="0">
                <a:latin typeface="Times New Roman"/>
                <a:cs typeface="Times New Roman"/>
              </a:rPr>
              <a:t>of </a:t>
            </a:r>
            <a:r>
              <a:rPr lang="en-US" sz="2400" spc="-40" dirty="0">
                <a:solidFill>
                  <a:srgbClr val="00B050"/>
                </a:solidFill>
                <a:latin typeface="Times New Roman"/>
                <a:cs typeface="Times New Roman"/>
              </a:rPr>
              <a:t>weapons,</a:t>
            </a:r>
            <a:r>
              <a:rPr lang="en-US" sz="2400" spc="-35" dirty="0">
                <a:solidFill>
                  <a:srgbClr val="00B050"/>
                </a:solidFill>
                <a:latin typeface="Times New Roman"/>
                <a:cs typeface="Times New Roman"/>
              </a:rPr>
              <a:t> </a:t>
            </a:r>
            <a:r>
              <a:rPr lang="en-US" sz="2400" spc="-25" dirty="0">
                <a:solidFill>
                  <a:srgbClr val="00B050"/>
                </a:solidFill>
                <a:latin typeface="Times New Roman"/>
                <a:cs typeface="Times New Roman"/>
              </a:rPr>
              <a:t>tools</a:t>
            </a:r>
            <a:r>
              <a:rPr lang="en-US" sz="2400" spc="-40" dirty="0">
                <a:solidFill>
                  <a:srgbClr val="00B050"/>
                </a:solidFill>
                <a:latin typeface="Times New Roman"/>
                <a:cs typeface="Times New Roman"/>
              </a:rPr>
              <a:t> </a:t>
            </a:r>
            <a:r>
              <a:rPr lang="en-US" sz="2400" spc="-20" dirty="0">
                <a:solidFill>
                  <a:srgbClr val="00B050"/>
                </a:solidFill>
                <a:latin typeface="Times New Roman"/>
                <a:cs typeface="Times New Roman"/>
              </a:rPr>
              <a:t>and</a:t>
            </a:r>
            <a:r>
              <a:rPr lang="en-US" sz="2400" spc="-35" dirty="0">
                <a:solidFill>
                  <a:srgbClr val="00B050"/>
                </a:solidFill>
                <a:latin typeface="Times New Roman"/>
                <a:cs typeface="Times New Roman"/>
              </a:rPr>
              <a:t> </a:t>
            </a:r>
            <a:r>
              <a:rPr lang="en-US" sz="2400" spc="-45" dirty="0">
                <a:solidFill>
                  <a:srgbClr val="00B050"/>
                </a:solidFill>
                <a:latin typeface="Times New Roman"/>
                <a:cs typeface="Times New Roman"/>
              </a:rPr>
              <a:t>implements</a:t>
            </a:r>
            <a:r>
              <a:rPr lang="en-US" sz="2400" spc="-45" dirty="0">
                <a:latin typeface="Times New Roman"/>
                <a:cs typeface="Times New Roman"/>
              </a:rPr>
              <a:t>.</a:t>
            </a:r>
          </a:p>
          <a:p>
            <a:pPr marL="355591" marR="5080" indent="-342900" algn="just">
              <a:lnSpc>
                <a:spcPct val="150000"/>
              </a:lnSpc>
              <a:spcBef>
                <a:spcPts val="55"/>
              </a:spcBef>
              <a:buFont typeface="Wingdings" panose="05000000000000000000" pitchFamily="2" charset="2"/>
              <a:buChar char="§"/>
            </a:pPr>
            <a:r>
              <a:rPr lang="en-US" sz="2400" spc="-25" dirty="0">
                <a:latin typeface="Times New Roman"/>
                <a:cs typeface="Times New Roman"/>
              </a:rPr>
              <a:t>Some</a:t>
            </a:r>
            <a:r>
              <a:rPr lang="en-US" sz="2400" spc="-45" dirty="0">
                <a:latin typeface="Times New Roman"/>
                <a:cs typeface="Times New Roman"/>
              </a:rPr>
              <a:t> </a:t>
            </a:r>
            <a:r>
              <a:rPr lang="en-US" sz="2400" dirty="0">
                <a:latin typeface="Times New Roman"/>
                <a:cs typeface="Times New Roman"/>
              </a:rPr>
              <a:t>of</a:t>
            </a:r>
            <a:r>
              <a:rPr lang="en-US" sz="2400" spc="-35" dirty="0">
                <a:latin typeface="Times New Roman"/>
                <a:cs typeface="Times New Roman"/>
              </a:rPr>
              <a:t> </a:t>
            </a:r>
            <a:r>
              <a:rPr lang="en-US" sz="2400" spc="-30" dirty="0">
                <a:latin typeface="Times New Roman"/>
                <a:cs typeface="Times New Roman"/>
              </a:rPr>
              <a:t>these</a:t>
            </a:r>
            <a:r>
              <a:rPr lang="en-US" sz="2400" spc="-25" dirty="0">
                <a:latin typeface="Times New Roman"/>
                <a:cs typeface="Times New Roman"/>
              </a:rPr>
              <a:t> </a:t>
            </a:r>
            <a:r>
              <a:rPr lang="en-US" sz="2400" spc="-20" dirty="0">
                <a:latin typeface="Times New Roman"/>
                <a:cs typeface="Times New Roman"/>
              </a:rPr>
              <a:t>had</a:t>
            </a:r>
            <a:r>
              <a:rPr lang="en-US" sz="2400" spc="-35" dirty="0">
                <a:latin typeface="Times New Roman"/>
                <a:cs typeface="Times New Roman"/>
              </a:rPr>
              <a:t> </a:t>
            </a:r>
            <a:r>
              <a:rPr lang="en-US" sz="2400" spc="-25" dirty="0">
                <a:latin typeface="Times New Roman"/>
                <a:cs typeface="Times New Roman"/>
              </a:rPr>
              <a:t>been</a:t>
            </a:r>
            <a:r>
              <a:rPr lang="en-US" sz="2400" spc="-35" dirty="0">
                <a:latin typeface="Times New Roman"/>
                <a:cs typeface="Times New Roman"/>
              </a:rPr>
              <a:t> made</a:t>
            </a:r>
            <a:r>
              <a:rPr lang="en-US" sz="2400" spc="-40" dirty="0">
                <a:latin typeface="Times New Roman"/>
                <a:cs typeface="Times New Roman"/>
              </a:rPr>
              <a:t> </a:t>
            </a:r>
            <a:r>
              <a:rPr lang="en-US" sz="2400" dirty="0">
                <a:latin typeface="Times New Roman"/>
                <a:cs typeface="Times New Roman"/>
              </a:rPr>
              <a:t>in</a:t>
            </a:r>
            <a:r>
              <a:rPr lang="en-US" sz="2400" spc="-40" dirty="0">
                <a:latin typeface="Times New Roman"/>
                <a:cs typeface="Times New Roman"/>
              </a:rPr>
              <a:t> </a:t>
            </a:r>
            <a:r>
              <a:rPr lang="en-US" sz="2400" spc="-30" dirty="0">
                <a:latin typeface="Times New Roman"/>
                <a:cs typeface="Times New Roman"/>
              </a:rPr>
              <a:t>stone</a:t>
            </a:r>
            <a:r>
              <a:rPr lang="en-US" sz="2400" spc="-40" dirty="0">
                <a:latin typeface="Times New Roman"/>
                <a:cs typeface="Times New Roman"/>
              </a:rPr>
              <a:t> earlier,</a:t>
            </a:r>
            <a:r>
              <a:rPr lang="en-US" sz="2400" spc="-35" dirty="0">
                <a:latin typeface="Times New Roman"/>
                <a:cs typeface="Times New Roman"/>
              </a:rPr>
              <a:t> </a:t>
            </a:r>
            <a:r>
              <a:rPr lang="en-US" sz="2400" dirty="0">
                <a:latin typeface="Times New Roman"/>
                <a:cs typeface="Times New Roman"/>
              </a:rPr>
              <a:t>it</a:t>
            </a:r>
            <a:r>
              <a:rPr lang="en-US" sz="2400" spc="-30" dirty="0">
                <a:latin typeface="Times New Roman"/>
                <a:cs typeface="Times New Roman"/>
              </a:rPr>
              <a:t> </a:t>
            </a:r>
            <a:r>
              <a:rPr lang="en-US" sz="2400" dirty="0">
                <a:latin typeface="Times New Roman"/>
                <a:cs typeface="Times New Roman"/>
              </a:rPr>
              <a:t>is</a:t>
            </a:r>
            <a:r>
              <a:rPr lang="en-US" sz="2400" spc="-30" dirty="0">
                <a:latin typeface="Times New Roman"/>
                <a:cs typeface="Times New Roman"/>
              </a:rPr>
              <a:t> true,</a:t>
            </a:r>
            <a:r>
              <a:rPr lang="en-US" sz="2400" spc="-25" dirty="0">
                <a:latin typeface="Times New Roman"/>
                <a:cs typeface="Times New Roman"/>
              </a:rPr>
              <a:t> </a:t>
            </a:r>
            <a:r>
              <a:rPr lang="en-US" sz="2400" spc="-20" dirty="0">
                <a:latin typeface="Times New Roman"/>
                <a:cs typeface="Times New Roman"/>
              </a:rPr>
              <a:t>but</a:t>
            </a:r>
            <a:r>
              <a:rPr lang="en-US" sz="2400" spc="-30" dirty="0">
                <a:latin typeface="Times New Roman"/>
                <a:cs typeface="Times New Roman"/>
              </a:rPr>
              <a:t> </a:t>
            </a:r>
            <a:r>
              <a:rPr lang="en-US" sz="2400" spc="-20" dirty="0">
                <a:latin typeface="Times New Roman"/>
                <a:cs typeface="Times New Roman"/>
              </a:rPr>
              <a:t>the</a:t>
            </a:r>
            <a:r>
              <a:rPr lang="en-US" sz="2400" spc="-25" dirty="0">
                <a:latin typeface="Times New Roman"/>
                <a:cs typeface="Times New Roman"/>
              </a:rPr>
              <a:t> </a:t>
            </a:r>
            <a:r>
              <a:rPr lang="en-US" sz="2400" spc="-35" dirty="0">
                <a:latin typeface="Times New Roman"/>
                <a:cs typeface="Times New Roman"/>
              </a:rPr>
              <a:t>result</a:t>
            </a:r>
            <a:r>
              <a:rPr lang="en-US" sz="2400" spc="-25" dirty="0">
                <a:latin typeface="Times New Roman"/>
                <a:cs typeface="Times New Roman"/>
              </a:rPr>
              <a:t> was </a:t>
            </a:r>
            <a:r>
              <a:rPr lang="en-US" sz="2400" spc="-35" dirty="0">
                <a:latin typeface="Times New Roman"/>
                <a:cs typeface="Times New Roman"/>
              </a:rPr>
              <a:t>coarser</a:t>
            </a:r>
            <a:r>
              <a:rPr lang="en-US" sz="2400" spc="-40" dirty="0">
                <a:latin typeface="Times New Roman"/>
                <a:cs typeface="Times New Roman"/>
              </a:rPr>
              <a:t> </a:t>
            </a:r>
            <a:r>
              <a:rPr lang="en-US" sz="2400" dirty="0">
                <a:latin typeface="Times New Roman"/>
                <a:cs typeface="Times New Roman"/>
              </a:rPr>
              <a:t>as</a:t>
            </a:r>
            <a:r>
              <a:rPr lang="en-US" sz="2400" spc="-50" dirty="0">
                <a:latin typeface="Times New Roman"/>
                <a:cs typeface="Times New Roman"/>
              </a:rPr>
              <a:t> </a:t>
            </a:r>
            <a:r>
              <a:rPr lang="en-US" sz="2400" spc="-25" dirty="0">
                <a:latin typeface="Times New Roman"/>
                <a:cs typeface="Times New Roman"/>
              </a:rPr>
              <a:t>well </a:t>
            </a:r>
            <a:r>
              <a:rPr lang="en-US" sz="2400" dirty="0">
                <a:latin typeface="Times New Roman"/>
                <a:cs typeface="Times New Roman"/>
              </a:rPr>
              <a:t>as</a:t>
            </a:r>
            <a:r>
              <a:rPr lang="en-US" sz="2400" spc="-35" dirty="0">
                <a:latin typeface="Times New Roman"/>
                <a:cs typeface="Times New Roman"/>
              </a:rPr>
              <a:t> </a:t>
            </a:r>
            <a:r>
              <a:rPr lang="en-US" sz="2400" spc="-40" dirty="0">
                <a:latin typeface="Times New Roman"/>
                <a:cs typeface="Times New Roman"/>
              </a:rPr>
              <a:t>heavier. </a:t>
            </a:r>
            <a:r>
              <a:rPr lang="en-US" sz="2400" spc="-35" dirty="0">
                <a:latin typeface="Times New Roman"/>
                <a:cs typeface="Times New Roman"/>
              </a:rPr>
              <a:t>Metal,</a:t>
            </a:r>
            <a:r>
              <a:rPr lang="en-US" sz="2400" spc="-40" dirty="0">
                <a:latin typeface="Times New Roman"/>
                <a:cs typeface="Times New Roman"/>
              </a:rPr>
              <a:t> precious</a:t>
            </a:r>
            <a:r>
              <a:rPr lang="en-US" sz="2400" spc="-35" dirty="0">
                <a:latin typeface="Times New Roman"/>
                <a:cs typeface="Times New Roman"/>
              </a:rPr>
              <a:t> </a:t>
            </a:r>
            <a:r>
              <a:rPr lang="en-US" sz="2400" dirty="0">
                <a:latin typeface="Times New Roman"/>
                <a:cs typeface="Times New Roman"/>
              </a:rPr>
              <a:t>or</a:t>
            </a:r>
            <a:r>
              <a:rPr lang="en-US" sz="2400" spc="-55" dirty="0">
                <a:latin typeface="Times New Roman"/>
                <a:cs typeface="Times New Roman"/>
              </a:rPr>
              <a:t> </a:t>
            </a:r>
            <a:r>
              <a:rPr lang="en-US" sz="2400" spc="-25" dirty="0">
                <a:latin typeface="Times New Roman"/>
                <a:cs typeface="Times New Roman"/>
              </a:rPr>
              <a:t>not,</a:t>
            </a:r>
            <a:r>
              <a:rPr lang="en-US" sz="2400" spc="-35" dirty="0">
                <a:latin typeface="Times New Roman"/>
                <a:cs typeface="Times New Roman"/>
              </a:rPr>
              <a:t> </a:t>
            </a:r>
            <a:r>
              <a:rPr lang="en-US" sz="2400" dirty="0">
                <a:latin typeface="Times New Roman"/>
                <a:cs typeface="Times New Roman"/>
              </a:rPr>
              <a:t>is</a:t>
            </a:r>
            <a:r>
              <a:rPr lang="en-US" sz="2400" spc="-30" dirty="0">
                <a:latin typeface="Times New Roman"/>
                <a:cs typeface="Times New Roman"/>
              </a:rPr>
              <a:t> </a:t>
            </a:r>
            <a:r>
              <a:rPr lang="en-US" sz="2400" spc="-25" dirty="0">
                <a:latin typeface="Times New Roman"/>
                <a:cs typeface="Times New Roman"/>
              </a:rPr>
              <a:t>also</a:t>
            </a:r>
            <a:r>
              <a:rPr lang="en-US" sz="2400" spc="-40" dirty="0">
                <a:latin typeface="Times New Roman"/>
                <a:cs typeface="Times New Roman"/>
              </a:rPr>
              <a:t> </a:t>
            </a:r>
            <a:r>
              <a:rPr lang="en-US" sz="2400" dirty="0">
                <a:latin typeface="Times New Roman"/>
                <a:cs typeface="Times New Roman"/>
              </a:rPr>
              <a:t>a</a:t>
            </a:r>
            <a:r>
              <a:rPr lang="en-US" sz="2400" spc="-40" dirty="0">
                <a:latin typeface="Times New Roman"/>
                <a:cs typeface="Times New Roman"/>
              </a:rPr>
              <a:t> </a:t>
            </a:r>
            <a:r>
              <a:rPr lang="en-US" sz="2400" spc="-35" dirty="0">
                <a:latin typeface="Times New Roman"/>
                <a:cs typeface="Times New Roman"/>
              </a:rPr>
              <a:t>prime</a:t>
            </a:r>
            <a:r>
              <a:rPr lang="en-US" sz="2400" spc="-40" dirty="0">
                <a:latin typeface="Times New Roman"/>
                <a:cs typeface="Times New Roman"/>
              </a:rPr>
              <a:t> material</a:t>
            </a:r>
            <a:r>
              <a:rPr lang="en-US" sz="2400" spc="-35" dirty="0">
                <a:latin typeface="Times New Roman"/>
                <a:cs typeface="Times New Roman"/>
              </a:rPr>
              <a:t> </a:t>
            </a:r>
            <a:r>
              <a:rPr lang="en-US" sz="2400" spc="-10" dirty="0">
                <a:latin typeface="Times New Roman"/>
                <a:cs typeface="Times New Roman"/>
              </a:rPr>
              <a:t>for</a:t>
            </a:r>
            <a:r>
              <a:rPr lang="en-US" sz="2400" spc="-40" dirty="0">
                <a:latin typeface="Times New Roman"/>
                <a:cs typeface="Times New Roman"/>
              </a:rPr>
              <a:t> ornaments,</a:t>
            </a:r>
            <a:r>
              <a:rPr lang="en-US" sz="2400" spc="-35" dirty="0">
                <a:latin typeface="Times New Roman"/>
                <a:cs typeface="Times New Roman"/>
              </a:rPr>
              <a:t> </a:t>
            </a:r>
            <a:r>
              <a:rPr lang="en-US" sz="2400" spc="-20" dirty="0">
                <a:latin typeface="Times New Roman"/>
                <a:cs typeface="Times New Roman"/>
              </a:rPr>
              <a:t>and</a:t>
            </a:r>
            <a:r>
              <a:rPr lang="en-US" sz="2400" spc="-40" dirty="0">
                <a:latin typeface="Times New Roman"/>
                <a:cs typeface="Times New Roman"/>
              </a:rPr>
              <a:t> </a:t>
            </a:r>
            <a:r>
              <a:rPr lang="en-US" sz="2400" spc="-20" dirty="0">
                <a:latin typeface="Times New Roman"/>
                <a:cs typeface="Times New Roman"/>
              </a:rPr>
              <a:t>thus</a:t>
            </a:r>
            <a:r>
              <a:rPr lang="en-US" sz="2400" spc="-35" dirty="0">
                <a:latin typeface="Times New Roman"/>
                <a:cs typeface="Times New Roman"/>
              </a:rPr>
              <a:t> </a:t>
            </a:r>
            <a:r>
              <a:rPr lang="en-US" sz="2400" spc="-10" dirty="0">
                <a:latin typeface="Times New Roman"/>
                <a:cs typeface="Times New Roman"/>
              </a:rPr>
              <a:t>enriches </a:t>
            </a:r>
            <a:r>
              <a:rPr lang="en-US" sz="2400" spc="-35" dirty="0">
                <a:latin typeface="Times New Roman"/>
                <a:cs typeface="Times New Roman"/>
              </a:rPr>
              <a:t>cultural</a:t>
            </a:r>
            <a:r>
              <a:rPr lang="en-US" sz="2400" spc="-14" dirty="0">
                <a:latin typeface="Times New Roman"/>
                <a:cs typeface="Times New Roman"/>
              </a:rPr>
              <a:t> </a:t>
            </a:r>
            <a:r>
              <a:rPr lang="en-US" sz="2400" spc="-20" dirty="0">
                <a:latin typeface="Times New Roman"/>
                <a:cs typeface="Times New Roman"/>
              </a:rPr>
              <a:t>life.</a:t>
            </a:r>
            <a:r>
              <a:rPr lang="en-US" sz="2400" spc="-10" dirty="0">
                <a:latin typeface="Times New Roman"/>
                <a:cs typeface="Times New Roman"/>
              </a:rPr>
              <a:t> </a:t>
            </a:r>
          </a:p>
          <a:p>
            <a:pPr marL="12691" marR="5080" indent="456244" algn="just">
              <a:lnSpc>
                <a:spcPct val="150000"/>
              </a:lnSpc>
              <a:spcBef>
                <a:spcPts val="55"/>
              </a:spcBef>
            </a:pPr>
            <a:r>
              <a:rPr lang="en-US" sz="2400" spc="-40" dirty="0" smtClean="0">
                <a:solidFill>
                  <a:srgbClr val="00B050"/>
                </a:solidFill>
                <a:latin typeface="Times New Roman"/>
                <a:cs typeface="Times New Roman"/>
              </a:rPr>
              <a:t>Metallurgy</a:t>
            </a:r>
            <a:r>
              <a:rPr lang="en-US" sz="2400" spc="-30" dirty="0" smtClean="0">
                <a:solidFill>
                  <a:srgbClr val="00B050"/>
                </a:solidFill>
                <a:latin typeface="Times New Roman"/>
                <a:cs typeface="Times New Roman"/>
              </a:rPr>
              <a:t> </a:t>
            </a:r>
            <a:r>
              <a:rPr lang="en-US" sz="2400" dirty="0" smtClean="0">
                <a:solidFill>
                  <a:srgbClr val="00B050"/>
                </a:solidFill>
                <a:latin typeface="Times New Roman"/>
                <a:cs typeface="Times New Roman"/>
              </a:rPr>
              <a:t>may</a:t>
            </a:r>
            <a:r>
              <a:rPr lang="en-US" sz="2400" spc="-30" dirty="0" smtClean="0">
                <a:solidFill>
                  <a:srgbClr val="00B050"/>
                </a:solidFill>
                <a:latin typeface="Times New Roman"/>
                <a:cs typeface="Times New Roman"/>
              </a:rPr>
              <a:t> </a:t>
            </a:r>
            <a:r>
              <a:rPr lang="en-US" sz="2400" dirty="0" smtClean="0">
                <a:solidFill>
                  <a:srgbClr val="00B050"/>
                </a:solidFill>
                <a:latin typeface="Times New Roman"/>
                <a:cs typeface="Times New Roman"/>
              </a:rPr>
              <a:t>be</a:t>
            </a:r>
            <a:r>
              <a:rPr lang="en-US" sz="2400" spc="-10" dirty="0" smtClean="0">
                <a:solidFill>
                  <a:srgbClr val="00B050"/>
                </a:solidFill>
                <a:latin typeface="Times New Roman"/>
                <a:cs typeface="Times New Roman"/>
              </a:rPr>
              <a:t> </a:t>
            </a:r>
            <a:r>
              <a:rPr lang="en-US" sz="2400" spc="-30" dirty="0" smtClean="0">
                <a:solidFill>
                  <a:srgbClr val="00B050"/>
                </a:solidFill>
                <a:latin typeface="Times New Roman"/>
                <a:cs typeface="Times New Roman"/>
              </a:rPr>
              <a:t>defined</a:t>
            </a:r>
            <a:r>
              <a:rPr lang="en-US" sz="2400" spc="-10" dirty="0" smtClean="0">
                <a:solidFill>
                  <a:srgbClr val="00B050"/>
                </a:solidFill>
                <a:latin typeface="Times New Roman"/>
                <a:cs typeface="Times New Roman"/>
              </a:rPr>
              <a:t> </a:t>
            </a:r>
            <a:r>
              <a:rPr lang="en-US" sz="2400" dirty="0" smtClean="0">
                <a:solidFill>
                  <a:srgbClr val="00B050"/>
                </a:solidFill>
                <a:latin typeface="Times New Roman"/>
                <a:cs typeface="Times New Roman"/>
              </a:rPr>
              <a:t>as</a:t>
            </a:r>
            <a:r>
              <a:rPr lang="en-US" sz="2400" spc="-10" dirty="0" smtClean="0">
                <a:solidFill>
                  <a:srgbClr val="00B050"/>
                </a:solidFill>
                <a:latin typeface="Times New Roman"/>
                <a:cs typeface="Times New Roman"/>
              </a:rPr>
              <a:t> </a:t>
            </a:r>
            <a:r>
              <a:rPr lang="en-US" sz="2400" dirty="0" smtClean="0">
                <a:solidFill>
                  <a:srgbClr val="00B050"/>
                </a:solidFill>
                <a:latin typeface="Times New Roman"/>
                <a:cs typeface="Times New Roman"/>
              </a:rPr>
              <a:t>the</a:t>
            </a:r>
            <a:r>
              <a:rPr lang="en-US" sz="2400" spc="-14" dirty="0" smtClean="0">
                <a:solidFill>
                  <a:srgbClr val="00B050"/>
                </a:solidFill>
                <a:latin typeface="Times New Roman"/>
                <a:cs typeface="Times New Roman"/>
              </a:rPr>
              <a:t> </a:t>
            </a:r>
            <a:r>
              <a:rPr lang="en-US" sz="2400" spc="-40" dirty="0" smtClean="0">
                <a:solidFill>
                  <a:srgbClr val="00B050"/>
                </a:solidFill>
                <a:latin typeface="Times New Roman"/>
                <a:cs typeface="Times New Roman"/>
              </a:rPr>
              <a:t>extraction,</a:t>
            </a:r>
            <a:r>
              <a:rPr lang="en-US" sz="2400" spc="-10" dirty="0" smtClean="0">
                <a:solidFill>
                  <a:srgbClr val="00B050"/>
                </a:solidFill>
                <a:latin typeface="Times New Roman"/>
                <a:cs typeface="Times New Roman"/>
              </a:rPr>
              <a:t> </a:t>
            </a:r>
            <a:r>
              <a:rPr lang="en-US" sz="2400" spc="-40" dirty="0" smtClean="0">
                <a:solidFill>
                  <a:srgbClr val="00B050"/>
                </a:solidFill>
                <a:latin typeface="Times New Roman"/>
                <a:cs typeface="Times New Roman"/>
              </a:rPr>
              <a:t>purification,</a:t>
            </a:r>
            <a:r>
              <a:rPr lang="en-US" sz="2400" spc="-10" dirty="0" smtClean="0">
                <a:solidFill>
                  <a:srgbClr val="00B050"/>
                </a:solidFill>
                <a:latin typeface="Times New Roman"/>
                <a:cs typeface="Times New Roman"/>
              </a:rPr>
              <a:t> </a:t>
            </a:r>
            <a:r>
              <a:rPr lang="en-US" sz="2400" spc="-35" dirty="0" smtClean="0">
                <a:solidFill>
                  <a:srgbClr val="00B050"/>
                </a:solidFill>
                <a:latin typeface="Times New Roman"/>
                <a:cs typeface="Times New Roman"/>
              </a:rPr>
              <a:t>alloying</a:t>
            </a:r>
            <a:r>
              <a:rPr lang="en-US" sz="2400" spc="-4" dirty="0" smtClean="0">
                <a:solidFill>
                  <a:srgbClr val="00B050"/>
                </a:solidFill>
                <a:latin typeface="Times New Roman"/>
                <a:cs typeface="Times New Roman"/>
              </a:rPr>
              <a:t> </a:t>
            </a:r>
            <a:r>
              <a:rPr lang="en-US" sz="2400" dirty="0" smtClean="0">
                <a:solidFill>
                  <a:srgbClr val="00B050"/>
                </a:solidFill>
                <a:latin typeface="Times New Roman"/>
                <a:cs typeface="Times New Roman"/>
              </a:rPr>
              <a:t>and</a:t>
            </a:r>
            <a:r>
              <a:rPr lang="en-US" sz="2400" spc="-10" dirty="0" smtClean="0">
                <a:solidFill>
                  <a:srgbClr val="00B050"/>
                </a:solidFill>
                <a:latin typeface="Times New Roman"/>
                <a:cs typeface="Times New Roman"/>
              </a:rPr>
              <a:t> </a:t>
            </a:r>
            <a:r>
              <a:rPr lang="en-US" sz="2400" spc="-40" dirty="0" smtClean="0">
                <a:solidFill>
                  <a:srgbClr val="00B050"/>
                </a:solidFill>
                <a:latin typeface="Times New Roman"/>
                <a:cs typeface="Times New Roman"/>
              </a:rPr>
              <a:t>application</a:t>
            </a:r>
            <a:r>
              <a:rPr lang="en-US" sz="2400" spc="-10" dirty="0" smtClean="0">
                <a:solidFill>
                  <a:srgbClr val="00B050"/>
                </a:solidFill>
                <a:latin typeface="Times New Roman"/>
                <a:cs typeface="Times New Roman"/>
              </a:rPr>
              <a:t> </a:t>
            </a:r>
            <a:r>
              <a:rPr lang="en-US" sz="2400" dirty="0" smtClean="0">
                <a:solidFill>
                  <a:srgbClr val="00B050"/>
                </a:solidFill>
                <a:latin typeface="Times New Roman"/>
                <a:cs typeface="Times New Roman"/>
              </a:rPr>
              <a:t>of</a:t>
            </a:r>
            <a:r>
              <a:rPr lang="en-US" sz="2400" spc="-14" dirty="0" smtClean="0">
                <a:solidFill>
                  <a:srgbClr val="00B050"/>
                </a:solidFill>
                <a:latin typeface="Times New Roman"/>
                <a:cs typeface="Times New Roman"/>
              </a:rPr>
              <a:t> </a:t>
            </a:r>
            <a:r>
              <a:rPr lang="en-US" sz="2400" spc="-10" dirty="0" smtClean="0">
                <a:solidFill>
                  <a:srgbClr val="00B050"/>
                </a:solidFill>
                <a:latin typeface="Times New Roman"/>
                <a:cs typeface="Times New Roman"/>
              </a:rPr>
              <a:t>metals. </a:t>
            </a:r>
          </a:p>
          <a:p>
            <a:pPr marL="12691" marR="5080" indent="456244" algn="just">
              <a:lnSpc>
                <a:spcPct val="150000"/>
              </a:lnSpc>
              <a:spcBef>
                <a:spcPts val="55"/>
              </a:spcBef>
            </a:pPr>
            <a:r>
              <a:rPr lang="en-US" sz="2400" spc="-35" dirty="0" smtClean="0">
                <a:latin typeface="Times New Roman"/>
                <a:cs typeface="Times New Roman"/>
              </a:rPr>
              <a:t>Today, </a:t>
            </a:r>
            <a:r>
              <a:rPr lang="en-US" sz="2400" spc="-20" dirty="0" smtClean="0">
                <a:latin typeface="Times New Roman"/>
                <a:cs typeface="Times New Roman"/>
              </a:rPr>
              <a:t>some</a:t>
            </a:r>
            <a:r>
              <a:rPr lang="en-US" sz="2400" spc="-35" dirty="0" smtClean="0">
                <a:latin typeface="Times New Roman"/>
                <a:cs typeface="Times New Roman"/>
              </a:rPr>
              <a:t> </a:t>
            </a:r>
            <a:r>
              <a:rPr lang="en-US" sz="2400" spc="-55" dirty="0" smtClean="0">
                <a:solidFill>
                  <a:schemeClr val="accent6">
                    <a:lumMod val="75000"/>
                  </a:schemeClr>
                </a:solidFill>
                <a:latin typeface="Times New Roman"/>
                <a:cs typeface="Times New Roman"/>
              </a:rPr>
              <a:t>eighty-</a:t>
            </a:r>
            <a:r>
              <a:rPr lang="en-US" sz="2400" spc="-10" dirty="0" smtClean="0">
                <a:solidFill>
                  <a:schemeClr val="accent6">
                    <a:lumMod val="75000"/>
                  </a:schemeClr>
                </a:solidFill>
                <a:latin typeface="Times New Roman"/>
                <a:cs typeface="Times New Roman"/>
              </a:rPr>
              <a:t>six</a:t>
            </a:r>
            <a:r>
              <a:rPr lang="en-US" sz="2400" spc="-30" dirty="0" smtClean="0">
                <a:solidFill>
                  <a:schemeClr val="accent6">
                    <a:lumMod val="75000"/>
                  </a:schemeClr>
                </a:solidFill>
                <a:latin typeface="Times New Roman"/>
                <a:cs typeface="Times New Roman"/>
              </a:rPr>
              <a:t> </a:t>
            </a:r>
            <a:r>
              <a:rPr lang="en-US" sz="2400" spc="-35" dirty="0" smtClean="0">
                <a:solidFill>
                  <a:schemeClr val="accent6">
                    <a:lumMod val="75000"/>
                  </a:schemeClr>
                </a:solidFill>
                <a:latin typeface="Times New Roman"/>
                <a:cs typeface="Times New Roman"/>
              </a:rPr>
              <a:t>metals</a:t>
            </a:r>
            <a:r>
              <a:rPr lang="en-US" sz="2400" spc="-20" dirty="0" smtClean="0">
                <a:solidFill>
                  <a:schemeClr val="accent6">
                    <a:lumMod val="75000"/>
                  </a:schemeClr>
                </a:solidFill>
                <a:latin typeface="Times New Roman"/>
                <a:cs typeface="Times New Roman"/>
              </a:rPr>
              <a:t> </a:t>
            </a:r>
            <a:r>
              <a:rPr lang="en-US" sz="2400" spc="-30" dirty="0" smtClean="0">
                <a:latin typeface="Times New Roman"/>
                <a:cs typeface="Times New Roman"/>
              </a:rPr>
              <a:t>are</a:t>
            </a:r>
            <a:r>
              <a:rPr lang="en-US" sz="2400" spc="-45" dirty="0" smtClean="0">
                <a:latin typeface="Times New Roman"/>
                <a:cs typeface="Times New Roman"/>
              </a:rPr>
              <a:t> </a:t>
            </a:r>
            <a:r>
              <a:rPr lang="en-US" sz="2400" spc="-35" dirty="0" smtClean="0">
                <a:latin typeface="Times New Roman"/>
                <a:cs typeface="Times New Roman"/>
              </a:rPr>
              <a:t>known, </a:t>
            </a:r>
            <a:r>
              <a:rPr lang="en-US" sz="2400" spc="-20" dirty="0" smtClean="0">
                <a:latin typeface="Times New Roman"/>
                <a:cs typeface="Times New Roman"/>
              </a:rPr>
              <a:t>but</a:t>
            </a:r>
            <a:r>
              <a:rPr lang="en-US" sz="2400" spc="-35" dirty="0" smtClean="0">
                <a:latin typeface="Times New Roman"/>
                <a:cs typeface="Times New Roman"/>
              </a:rPr>
              <a:t> most</a:t>
            </a:r>
            <a:r>
              <a:rPr lang="en-US" sz="2400" spc="-40" dirty="0" smtClean="0">
                <a:latin typeface="Times New Roman"/>
                <a:cs typeface="Times New Roman"/>
              </a:rPr>
              <a:t> </a:t>
            </a:r>
            <a:r>
              <a:rPr lang="en-US" sz="2400" dirty="0" smtClean="0">
                <a:latin typeface="Times New Roman"/>
                <a:cs typeface="Times New Roman"/>
              </a:rPr>
              <a:t>of</a:t>
            </a:r>
            <a:r>
              <a:rPr lang="en-US" sz="2400" spc="-25" dirty="0" smtClean="0">
                <a:latin typeface="Times New Roman"/>
                <a:cs typeface="Times New Roman"/>
              </a:rPr>
              <a:t> </a:t>
            </a:r>
            <a:r>
              <a:rPr lang="en-US" sz="2400" spc="-35" dirty="0" smtClean="0">
                <a:latin typeface="Times New Roman"/>
                <a:cs typeface="Times New Roman"/>
              </a:rPr>
              <a:t>them</a:t>
            </a:r>
            <a:r>
              <a:rPr lang="en-US" sz="2400" spc="-25" dirty="0" smtClean="0">
                <a:latin typeface="Times New Roman"/>
                <a:cs typeface="Times New Roman"/>
              </a:rPr>
              <a:t> were</a:t>
            </a:r>
            <a:r>
              <a:rPr lang="en-US" sz="2400" spc="-35" dirty="0" smtClean="0">
                <a:latin typeface="Times New Roman"/>
                <a:cs typeface="Times New Roman"/>
              </a:rPr>
              <a:t> </a:t>
            </a:r>
            <a:r>
              <a:rPr lang="en-US" sz="2400" spc="-45" dirty="0" smtClean="0">
                <a:latin typeface="Times New Roman"/>
                <a:cs typeface="Times New Roman"/>
              </a:rPr>
              <a:t>discovered</a:t>
            </a:r>
            <a:r>
              <a:rPr lang="en-US" sz="2400" spc="-30" dirty="0" smtClean="0">
                <a:latin typeface="Times New Roman"/>
                <a:cs typeface="Times New Roman"/>
              </a:rPr>
              <a:t> </a:t>
            </a:r>
            <a:r>
              <a:rPr lang="en-US" sz="2400" dirty="0" smtClean="0">
                <a:latin typeface="Times New Roman"/>
                <a:cs typeface="Times New Roman"/>
              </a:rPr>
              <a:t>in</a:t>
            </a:r>
            <a:r>
              <a:rPr lang="en-US" sz="2400" spc="-25" dirty="0" smtClean="0">
                <a:latin typeface="Times New Roman"/>
                <a:cs typeface="Times New Roman"/>
              </a:rPr>
              <a:t> </a:t>
            </a:r>
            <a:r>
              <a:rPr lang="en-US" sz="2400" spc="-20" dirty="0" smtClean="0">
                <a:latin typeface="Times New Roman"/>
                <a:cs typeface="Times New Roman"/>
              </a:rPr>
              <a:t>the</a:t>
            </a:r>
            <a:r>
              <a:rPr lang="en-US" sz="2400" spc="-40" dirty="0" smtClean="0">
                <a:latin typeface="Times New Roman"/>
                <a:cs typeface="Times New Roman"/>
              </a:rPr>
              <a:t> </a:t>
            </a:r>
            <a:r>
              <a:rPr lang="en-US" sz="2400" spc="-25" dirty="0" smtClean="0">
                <a:latin typeface="Times New Roman"/>
                <a:cs typeface="Times New Roman"/>
              </a:rPr>
              <a:t>last </a:t>
            </a:r>
            <a:r>
              <a:rPr lang="en-US" sz="2400" spc="-20" dirty="0" smtClean="0">
                <a:latin typeface="Times New Roman"/>
                <a:cs typeface="Times New Roman"/>
              </a:rPr>
              <a:t>two</a:t>
            </a:r>
            <a:r>
              <a:rPr lang="en-US" sz="2400" spc="-30" dirty="0" smtClean="0">
                <a:latin typeface="Times New Roman"/>
                <a:cs typeface="Times New Roman"/>
              </a:rPr>
              <a:t> </a:t>
            </a:r>
            <a:r>
              <a:rPr lang="en-US" sz="2400" spc="-40" dirty="0" smtClean="0">
                <a:latin typeface="Times New Roman"/>
                <a:cs typeface="Times New Roman"/>
              </a:rPr>
              <a:t>centuries.</a:t>
            </a:r>
            <a:r>
              <a:rPr lang="en-US" sz="2400" spc="-25" dirty="0" smtClean="0">
                <a:latin typeface="Times New Roman"/>
                <a:cs typeface="Times New Roman"/>
              </a:rPr>
              <a:t> </a:t>
            </a:r>
          </a:p>
          <a:p>
            <a:pPr marL="12691" marR="8884" algn="just">
              <a:lnSpc>
                <a:spcPct val="150000"/>
              </a:lnSpc>
              <a:spcBef>
                <a:spcPts val="70"/>
              </a:spcBef>
            </a:pPr>
            <a:endParaRPr lang="en-US" sz="2400" spc="-10" dirty="0">
              <a:latin typeface="Times New Roman"/>
              <a:cs typeface="Times New Roman"/>
            </a:endParaRPr>
          </a:p>
        </p:txBody>
      </p:sp>
    </p:spTree>
    <p:extLst>
      <p:ext uri="{BB962C8B-B14F-4D97-AF65-F5344CB8AC3E}">
        <p14:creationId xmlns:p14="http://schemas.microsoft.com/office/powerpoint/2010/main" val="158536361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753865" y="700987"/>
            <a:ext cx="8550672" cy="289613"/>
          </a:xfrm>
        </p:spPr>
        <p:txBody>
          <a:bodyPr>
            <a:normAutofit fontScale="90000"/>
          </a:bodyPr>
          <a:lstStyle/>
          <a:p>
            <a:r>
              <a:rPr lang="en-US" dirty="0" smtClean="0"/>
              <a:t>                </a:t>
            </a:r>
            <a:endParaRPr lang="en-US" dirty="0"/>
          </a:p>
        </p:txBody>
      </p:sp>
      <p:sp>
        <p:nvSpPr>
          <p:cNvPr id="3" name="Content Placeholder 2"/>
          <p:cNvSpPr>
            <a:spLocks noGrp="1"/>
          </p:cNvSpPr>
          <p:nvPr>
            <p:ph sz="quarter" idx="13"/>
          </p:nvPr>
        </p:nvSpPr>
        <p:spPr>
          <a:xfrm>
            <a:off x="838200" y="1066800"/>
            <a:ext cx="8550157" cy="5039361"/>
          </a:xfrm>
        </p:spPr>
        <p:txBody>
          <a:bodyPr>
            <a:noAutofit/>
          </a:bodyPr>
          <a:lstStyle/>
          <a:p>
            <a:pPr marL="12691" marR="5080" indent="0" algn="just">
              <a:lnSpc>
                <a:spcPct val="150000"/>
              </a:lnSpc>
              <a:spcBef>
                <a:spcPts val="55"/>
              </a:spcBef>
              <a:buNone/>
            </a:pPr>
            <a:r>
              <a:rPr lang="en-US" sz="2400" cap="none" spc="-25" dirty="0" smtClean="0">
                <a:latin typeface="Times New Roman"/>
                <a:cs typeface="Times New Roman"/>
              </a:rPr>
              <a:t>The </a:t>
            </a:r>
            <a:r>
              <a:rPr lang="en-US" sz="2400" b="1" cap="none" spc="-55" dirty="0" smtClean="0">
                <a:solidFill>
                  <a:srgbClr val="00B050"/>
                </a:solidFill>
                <a:latin typeface="Times New Roman"/>
                <a:cs typeface="Times New Roman"/>
              </a:rPr>
              <a:t>SEVEN</a:t>
            </a:r>
            <a:r>
              <a:rPr lang="en-US" sz="2400" b="1" cap="none" spc="-4" dirty="0" smtClean="0">
                <a:solidFill>
                  <a:srgbClr val="00B050"/>
                </a:solidFill>
                <a:latin typeface="Times New Roman"/>
                <a:cs typeface="Times New Roman"/>
              </a:rPr>
              <a:t> </a:t>
            </a:r>
            <a:r>
              <a:rPr lang="en-US" sz="2400" b="1" cap="none" spc="-30" dirty="0" smtClean="0">
                <a:solidFill>
                  <a:srgbClr val="00B050"/>
                </a:solidFill>
                <a:latin typeface="Times New Roman"/>
                <a:cs typeface="Times New Roman"/>
              </a:rPr>
              <a:t>METALS</a:t>
            </a:r>
            <a:r>
              <a:rPr lang="en-US" sz="2400" b="1" cap="none" dirty="0" smtClean="0">
                <a:solidFill>
                  <a:srgbClr val="00B050"/>
                </a:solidFill>
                <a:latin typeface="Times New Roman"/>
                <a:cs typeface="Times New Roman"/>
              </a:rPr>
              <a:t> OF </a:t>
            </a:r>
            <a:r>
              <a:rPr lang="en-US" sz="2400" b="1" cap="none" spc="-40" dirty="0" smtClean="0">
                <a:solidFill>
                  <a:srgbClr val="00B050"/>
                </a:solidFill>
                <a:latin typeface="Times New Roman"/>
                <a:cs typeface="Times New Roman"/>
              </a:rPr>
              <a:t>ANTIQUITY,</a:t>
            </a:r>
            <a:r>
              <a:rPr lang="en-US" sz="2400" b="1" cap="none" spc="-4" dirty="0" smtClean="0">
                <a:solidFill>
                  <a:srgbClr val="00B050"/>
                </a:solidFill>
                <a:latin typeface="Times New Roman"/>
                <a:cs typeface="Times New Roman"/>
              </a:rPr>
              <a:t> </a:t>
            </a:r>
            <a:r>
              <a:rPr lang="en-US" sz="2400" cap="none" spc="-4" dirty="0" smtClean="0">
                <a:latin typeface="Times New Roman"/>
                <a:cs typeface="Times New Roman"/>
              </a:rPr>
              <a:t> </a:t>
            </a:r>
            <a:r>
              <a:rPr lang="en-US" sz="2400" cap="none" dirty="0" smtClean="0">
                <a:latin typeface="Times New Roman"/>
                <a:cs typeface="Times New Roman"/>
              </a:rPr>
              <a:t>in</a:t>
            </a:r>
            <a:r>
              <a:rPr lang="en-US" sz="2400" cap="none" spc="-14" dirty="0" smtClean="0">
                <a:latin typeface="Times New Roman"/>
                <a:cs typeface="Times New Roman"/>
              </a:rPr>
              <a:t> </a:t>
            </a:r>
            <a:r>
              <a:rPr lang="en-US" sz="2400" cap="none" spc="-20" dirty="0" smtClean="0">
                <a:latin typeface="Times New Roman"/>
                <a:cs typeface="Times New Roman"/>
              </a:rPr>
              <a:t>order</a:t>
            </a:r>
            <a:r>
              <a:rPr lang="en-US" sz="2400" cap="none" spc="-4" dirty="0" smtClean="0">
                <a:latin typeface="Times New Roman"/>
                <a:cs typeface="Times New Roman"/>
              </a:rPr>
              <a:t> </a:t>
            </a:r>
            <a:r>
              <a:rPr lang="en-US" sz="2400" cap="none" dirty="0" smtClean="0">
                <a:latin typeface="Times New Roman"/>
                <a:cs typeface="Times New Roman"/>
              </a:rPr>
              <a:t>of</a:t>
            </a:r>
            <a:r>
              <a:rPr lang="en-US" sz="2400" cap="none" spc="-4" dirty="0" smtClean="0">
                <a:latin typeface="Times New Roman"/>
                <a:cs typeface="Times New Roman"/>
              </a:rPr>
              <a:t> </a:t>
            </a:r>
            <a:r>
              <a:rPr lang="en-US" sz="2400" cap="none" spc="-40" dirty="0" smtClean="0">
                <a:latin typeface="Times New Roman"/>
                <a:cs typeface="Times New Roman"/>
              </a:rPr>
              <a:t>discovery:</a:t>
            </a:r>
            <a:r>
              <a:rPr lang="en-US" sz="2400" cap="none" dirty="0" smtClean="0">
                <a:latin typeface="Times New Roman"/>
                <a:cs typeface="Times New Roman"/>
              </a:rPr>
              <a:t> </a:t>
            </a:r>
          </a:p>
          <a:p>
            <a:pPr marL="355592" marR="5080" indent="-342900" algn="just">
              <a:lnSpc>
                <a:spcPct val="150000"/>
              </a:lnSpc>
              <a:spcBef>
                <a:spcPts val="55"/>
              </a:spcBef>
            </a:pPr>
            <a:r>
              <a:rPr lang="en-US" sz="2400" cap="none" spc="-10" dirty="0" smtClean="0">
                <a:solidFill>
                  <a:schemeClr val="accent2">
                    <a:lumMod val="50000"/>
                  </a:schemeClr>
                </a:solidFill>
                <a:latin typeface="Times New Roman"/>
                <a:cs typeface="Times New Roman"/>
              </a:rPr>
              <a:t>Gold</a:t>
            </a:r>
            <a:endParaRPr lang="en-US" sz="2400" cap="none" dirty="0" smtClean="0">
              <a:solidFill>
                <a:schemeClr val="accent2">
                  <a:lumMod val="50000"/>
                </a:schemeClr>
              </a:solidFill>
              <a:latin typeface="Times New Roman"/>
              <a:cs typeface="Times New Roman"/>
            </a:endParaRPr>
          </a:p>
          <a:p>
            <a:pPr marL="355592" marR="8884" indent="-342900" algn="just">
              <a:lnSpc>
                <a:spcPct val="150000"/>
              </a:lnSpc>
              <a:spcBef>
                <a:spcPts val="70"/>
              </a:spcBef>
            </a:pPr>
            <a:r>
              <a:rPr lang="en-US" sz="2400" cap="none" dirty="0" smtClean="0">
                <a:solidFill>
                  <a:schemeClr val="accent2">
                    <a:lumMod val="50000"/>
                  </a:schemeClr>
                </a:solidFill>
                <a:latin typeface="Times New Roman"/>
                <a:cs typeface="Times New Roman"/>
              </a:rPr>
              <a:t>Copper</a:t>
            </a:r>
            <a:endParaRPr lang="en-US" sz="2400" cap="none" spc="95" dirty="0" smtClean="0">
              <a:solidFill>
                <a:schemeClr val="accent2">
                  <a:lumMod val="50000"/>
                </a:schemeClr>
              </a:solidFill>
              <a:latin typeface="Times New Roman"/>
              <a:cs typeface="Times New Roman"/>
            </a:endParaRPr>
          </a:p>
          <a:p>
            <a:pPr marL="355592" marR="8884" indent="-342900" algn="just">
              <a:lnSpc>
                <a:spcPct val="150000"/>
              </a:lnSpc>
              <a:spcBef>
                <a:spcPts val="70"/>
              </a:spcBef>
            </a:pPr>
            <a:r>
              <a:rPr lang="en-US" sz="2400" cap="none" dirty="0" smtClean="0">
                <a:solidFill>
                  <a:schemeClr val="accent2">
                    <a:lumMod val="50000"/>
                  </a:schemeClr>
                </a:solidFill>
                <a:latin typeface="Times New Roman"/>
                <a:cs typeface="Times New Roman"/>
              </a:rPr>
              <a:t>Silver</a:t>
            </a:r>
            <a:endParaRPr lang="en-US" sz="2400" cap="none" spc="95" dirty="0" smtClean="0">
              <a:solidFill>
                <a:schemeClr val="accent2">
                  <a:lumMod val="50000"/>
                </a:schemeClr>
              </a:solidFill>
              <a:latin typeface="Times New Roman"/>
              <a:cs typeface="Times New Roman"/>
            </a:endParaRPr>
          </a:p>
          <a:p>
            <a:pPr marL="355592" marR="8884" indent="-342900" algn="just">
              <a:lnSpc>
                <a:spcPct val="150000"/>
              </a:lnSpc>
              <a:spcBef>
                <a:spcPts val="70"/>
              </a:spcBef>
            </a:pPr>
            <a:r>
              <a:rPr lang="en-US" sz="2400" cap="none" dirty="0" smtClean="0">
                <a:solidFill>
                  <a:schemeClr val="accent2">
                    <a:lumMod val="50000"/>
                  </a:schemeClr>
                </a:solidFill>
                <a:latin typeface="Times New Roman"/>
                <a:cs typeface="Times New Roman"/>
              </a:rPr>
              <a:t>Lead</a:t>
            </a:r>
          </a:p>
          <a:p>
            <a:pPr marL="355592" marR="8884" indent="-342900" algn="just">
              <a:lnSpc>
                <a:spcPct val="150000"/>
              </a:lnSpc>
              <a:spcBef>
                <a:spcPts val="70"/>
              </a:spcBef>
            </a:pPr>
            <a:r>
              <a:rPr lang="en-US" sz="2400" cap="none" dirty="0" smtClean="0">
                <a:solidFill>
                  <a:schemeClr val="accent2">
                    <a:lumMod val="50000"/>
                  </a:schemeClr>
                </a:solidFill>
                <a:latin typeface="Times New Roman"/>
                <a:cs typeface="Times New Roman"/>
              </a:rPr>
              <a:t>Tin</a:t>
            </a:r>
          </a:p>
          <a:p>
            <a:pPr marL="355592" marR="8884" indent="-342900" algn="just">
              <a:lnSpc>
                <a:spcPct val="150000"/>
              </a:lnSpc>
              <a:spcBef>
                <a:spcPts val="70"/>
              </a:spcBef>
            </a:pPr>
            <a:r>
              <a:rPr lang="en-US" sz="2400" cap="none" dirty="0" smtClean="0">
                <a:solidFill>
                  <a:schemeClr val="accent2">
                    <a:lumMod val="50000"/>
                  </a:schemeClr>
                </a:solidFill>
                <a:latin typeface="Times New Roman"/>
                <a:cs typeface="Times New Roman"/>
              </a:rPr>
              <a:t>Iron</a:t>
            </a:r>
          </a:p>
          <a:p>
            <a:pPr marL="355592" marR="8884" indent="-342900" algn="just">
              <a:lnSpc>
                <a:spcPct val="150000"/>
              </a:lnSpc>
              <a:spcBef>
                <a:spcPts val="70"/>
              </a:spcBef>
            </a:pPr>
            <a:r>
              <a:rPr lang="en-US" sz="2400" cap="none" spc="-10" dirty="0" smtClean="0">
                <a:solidFill>
                  <a:schemeClr val="accent2">
                    <a:lumMod val="50000"/>
                  </a:schemeClr>
                </a:solidFill>
                <a:latin typeface="Times New Roman"/>
                <a:cs typeface="Times New Roman"/>
              </a:rPr>
              <a:t>Mercury</a:t>
            </a:r>
            <a:endParaRPr lang="en-US" sz="2400" cap="none" spc="100" dirty="0" smtClean="0">
              <a:solidFill>
                <a:schemeClr val="accent2">
                  <a:lumMod val="50000"/>
                </a:schemeClr>
              </a:solidFill>
              <a:latin typeface="Times New Roman"/>
              <a:cs typeface="Times New Roman"/>
            </a:endParaRPr>
          </a:p>
          <a:p>
            <a:pPr marL="0" marR="8884" indent="0" algn="just">
              <a:lnSpc>
                <a:spcPct val="150000"/>
              </a:lnSpc>
              <a:spcBef>
                <a:spcPts val="70"/>
              </a:spcBef>
              <a:buNone/>
            </a:pPr>
            <a:r>
              <a:rPr lang="en-US" sz="2400" cap="none" dirty="0" smtClean="0">
                <a:latin typeface="Times New Roman"/>
                <a:cs typeface="Times New Roman"/>
              </a:rPr>
              <a:t>For</a:t>
            </a:r>
            <a:r>
              <a:rPr lang="en-US" sz="2400" cap="none" spc="105" dirty="0" smtClean="0">
                <a:latin typeface="Times New Roman"/>
                <a:cs typeface="Times New Roman"/>
              </a:rPr>
              <a:t> </a:t>
            </a:r>
            <a:r>
              <a:rPr lang="en-US" sz="2400" cap="none" dirty="0" smtClean="0">
                <a:latin typeface="Times New Roman"/>
                <a:cs typeface="Times New Roman"/>
              </a:rPr>
              <a:t>over</a:t>
            </a:r>
            <a:r>
              <a:rPr lang="en-US" sz="2400" cap="none" spc="105" dirty="0" smtClean="0">
                <a:latin typeface="Times New Roman"/>
                <a:cs typeface="Times New Roman"/>
              </a:rPr>
              <a:t> </a:t>
            </a:r>
            <a:r>
              <a:rPr lang="en-US" sz="2400" cap="none" dirty="0" smtClean="0">
                <a:latin typeface="Times New Roman"/>
                <a:cs typeface="Times New Roman"/>
              </a:rPr>
              <a:t>7,000</a:t>
            </a:r>
            <a:r>
              <a:rPr lang="en-US" sz="2400" cap="none" spc="100" dirty="0" smtClean="0">
                <a:latin typeface="Times New Roman"/>
                <a:cs typeface="Times New Roman"/>
              </a:rPr>
              <a:t> </a:t>
            </a:r>
            <a:r>
              <a:rPr lang="en-US" sz="2400" cap="none" dirty="0" smtClean="0">
                <a:latin typeface="Times New Roman"/>
                <a:cs typeface="Times New Roman"/>
              </a:rPr>
              <a:t>years,</a:t>
            </a:r>
            <a:r>
              <a:rPr lang="en-US" sz="2400" cap="none" spc="105" dirty="0" smtClean="0">
                <a:latin typeface="Times New Roman"/>
                <a:cs typeface="Times New Roman"/>
              </a:rPr>
              <a:t> I</a:t>
            </a:r>
            <a:r>
              <a:rPr lang="en-US" sz="2400" cap="none" dirty="0" smtClean="0">
                <a:latin typeface="Times New Roman"/>
                <a:cs typeface="Times New Roman"/>
              </a:rPr>
              <a:t>ndia</a:t>
            </a:r>
            <a:r>
              <a:rPr lang="en-US" sz="2400" cap="none" spc="100" dirty="0" smtClean="0">
                <a:latin typeface="Times New Roman"/>
                <a:cs typeface="Times New Roman"/>
              </a:rPr>
              <a:t> </a:t>
            </a:r>
            <a:r>
              <a:rPr lang="en-US" sz="2400" cap="none" dirty="0" smtClean="0">
                <a:latin typeface="Times New Roman"/>
                <a:cs typeface="Times New Roman"/>
              </a:rPr>
              <a:t>has</a:t>
            </a:r>
            <a:r>
              <a:rPr lang="en-US" sz="2400" cap="none" spc="100" dirty="0" smtClean="0">
                <a:latin typeface="Times New Roman"/>
                <a:cs typeface="Times New Roman"/>
              </a:rPr>
              <a:t> </a:t>
            </a:r>
            <a:r>
              <a:rPr lang="en-US" sz="2400" cap="none" dirty="0" smtClean="0">
                <a:latin typeface="Times New Roman"/>
                <a:cs typeface="Times New Roman"/>
              </a:rPr>
              <a:t>had</a:t>
            </a:r>
            <a:r>
              <a:rPr lang="en-US" sz="2400" cap="none" spc="100" dirty="0" smtClean="0">
                <a:latin typeface="Times New Roman"/>
                <a:cs typeface="Times New Roman"/>
              </a:rPr>
              <a:t> </a:t>
            </a:r>
            <a:r>
              <a:rPr lang="en-US" sz="2400" cap="none" dirty="0" smtClean="0">
                <a:latin typeface="Times New Roman"/>
                <a:cs typeface="Times New Roman"/>
              </a:rPr>
              <a:t>a</a:t>
            </a:r>
            <a:r>
              <a:rPr lang="en-US" sz="2400" cap="none" spc="95" dirty="0" smtClean="0">
                <a:latin typeface="Times New Roman"/>
                <a:cs typeface="Times New Roman"/>
              </a:rPr>
              <a:t> </a:t>
            </a:r>
            <a:r>
              <a:rPr lang="en-US" sz="2400" cap="none" dirty="0" smtClean="0">
                <a:latin typeface="Times New Roman"/>
                <a:cs typeface="Times New Roman"/>
              </a:rPr>
              <a:t>high</a:t>
            </a:r>
            <a:r>
              <a:rPr lang="en-US" sz="2400" cap="none" spc="95" dirty="0" smtClean="0">
                <a:latin typeface="Times New Roman"/>
                <a:cs typeface="Times New Roman"/>
              </a:rPr>
              <a:t> </a:t>
            </a:r>
            <a:r>
              <a:rPr lang="en-US" sz="2400" cap="none" spc="-10" dirty="0" smtClean="0">
                <a:latin typeface="Times New Roman"/>
                <a:cs typeface="Times New Roman"/>
              </a:rPr>
              <a:t>tradition</a:t>
            </a:r>
            <a:r>
              <a:rPr lang="en-US" sz="2400" cap="none" spc="95" dirty="0" smtClean="0">
                <a:latin typeface="Times New Roman"/>
                <a:cs typeface="Times New Roman"/>
              </a:rPr>
              <a:t> </a:t>
            </a:r>
            <a:r>
              <a:rPr lang="en-US" sz="2400" cap="none" spc="-25" dirty="0" smtClean="0">
                <a:latin typeface="Times New Roman"/>
                <a:cs typeface="Times New Roman"/>
              </a:rPr>
              <a:t>of </a:t>
            </a:r>
            <a:r>
              <a:rPr lang="en-US" sz="2400" cap="none" spc="-50" dirty="0" smtClean="0">
                <a:latin typeface="Times New Roman"/>
                <a:cs typeface="Times New Roman"/>
              </a:rPr>
              <a:t>metallurgical</a:t>
            </a:r>
            <a:r>
              <a:rPr lang="en-US" sz="2400" cap="none" spc="-40" dirty="0" smtClean="0">
                <a:latin typeface="Times New Roman"/>
                <a:cs typeface="Times New Roman"/>
              </a:rPr>
              <a:t> </a:t>
            </a:r>
            <a:r>
              <a:rPr lang="en-US" sz="2400" cap="none" spc="-50" dirty="0" smtClean="0">
                <a:latin typeface="Times New Roman"/>
                <a:cs typeface="Times New Roman"/>
              </a:rPr>
              <a:t>skills.</a:t>
            </a:r>
            <a:endParaRPr lang="en-US" sz="2400" cap="none" spc="-10" dirty="0" smtClean="0">
              <a:latin typeface="Times New Roman"/>
              <a:cs typeface="Times New Roman"/>
            </a:endParaRPr>
          </a:p>
          <a:p>
            <a:endParaRPr lang="en-US" sz="2400" dirty="0"/>
          </a:p>
        </p:txBody>
      </p:sp>
    </p:spTree>
    <p:extLst>
      <p:ext uri="{BB962C8B-B14F-4D97-AF65-F5344CB8AC3E}">
        <p14:creationId xmlns:p14="http://schemas.microsoft.com/office/powerpoint/2010/main" val="115295710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838200" y="609600"/>
            <a:ext cx="8458200" cy="6347892"/>
          </a:xfrm>
          <a:prstGeom prst="rect">
            <a:avLst/>
          </a:prstGeom>
        </p:spPr>
        <p:txBody>
          <a:bodyPr wrap="square">
            <a:spAutoFit/>
          </a:bodyPr>
          <a:lstStyle/>
          <a:p>
            <a:pPr marL="467031" lvl="2" indent="-454338" algn="ctr">
              <a:buAutoNum type="arabicPeriod" startAt="2"/>
              <a:tabLst>
                <a:tab pos="467031" algn="l"/>
              </a:tabLst>
            </a:pPr>
            <a:r>
              <a:rPr lang="en-US" sz="2800" b="1" u="sng" spc="-45" dirty="0" smtClean="0">
                <a:solidFill>
                  <a:srgbClr val="002060"/>
                </a:solidFill>
                <a:latin typeface="Times New Roman"/>
                <a:cs typeface="Times New Roman"/>
              </a:rPr>
              <a:t>COPPER</a:t>
            </a:r>
            <a:r>
              <a:rPr lang="en-US" sz="2800" b="1" u="sng" spc="-35" dirty="0" smtClean="0">
                <a:solidFill>
                  <a:srgbClr val="002060"/>
                </a:solidFill>
                <a:latin typeface="Times New Roman"/>
                <a:cs typeface="Times New Roman"/>
              </a:rPr>
              <a:t> </a:t>
            </a:r>
            <a:r>
              <a:rPr lang="en-US" sz="2800" b="1" u="sng" spc="-50" dirty="0" smtClean="0">
                <a:solidFill>
                  <a:srgbClr val="002060"/>
                </a:solidFill>
                <a:latin typeface="Times New Roman"/>
                <a:cs typeface="Times New Roman"/>
              </a:rPr>
              <a:t>METALLURGY</a:t>
            </a:r>
            <a:r>
              <a:rPr lang="en-US" sz="2800" b="1" u="sng" spc="-40" dirty="0" smtClean="0">
                <a:solidFill>
                  <a:srgbClr val="002060"/>
                </a:solidFill>
                <a:latin typeface="Times New Roman"/>
                <a:cs typeface="Times New Roman"/>
              </a:rPr>
              <a:t> </a:t>
            </a:r>
            <a:r>
              <a:rPr lang="en-US" sz="2800" b="1" u="sng" spc="-30" dirty="0" smtClean="0">
                <a:solidFill>
                  <a:srgbClr val="002060"/>
                </a:solidFill>
                <a:latin typeface="Times New Roman"/>
                <a:cs typeface="Times New Roman"/>
              </a:rPr>
              <a:t>IN </a:t>
            </a:r>
            <a:r>
              <a:rPr lang="en-US" sz="2800" b="1" u="sng" spc="-45" dirty="0" smtClean="0">
                <a:solidFill>
                  <a:srgbClr val="002060"/>
                </a:solidFill>
                <a:latin typeface="Times New Roman"/>
                <a:cs typeface="Times New Roman"/>
              </a:rPr>
              <a:t>ANCIENT </a:t>
            </a:r>
            <a:r>
              <a:rPr lang="en-US" sz="2800" b="1" u="sng" spc="-20" dirty="0" smtClean="0">
                <a:solidFill>
                  <a:srgbClr val="002060"/>
                </a:solidFill>
                <a:latin typeface="Times New Roman"/>
                <a:cs typeface="Times New Roman"/>
              </a:rPr>
              <a:t>INDIA</a:t>
            </a:r>
          </a:p>
          <a:p>
            <a:pPr marL="12693" lvl="2" algn="ctr">
              <a:tabLst>
                <a:tab pos="467031" algn="l"/>
              </a:tabLst>
            </a:pPr>
            <a:endParaRPr lang="en-US" sz="2800" b="1" u="sng" spc="-20" dirty="0" smtClean="0">
              <a:solidFill>
                <a:srgbClr val="FF0000"/>
              </a:solidFill>
              <a:latin typeface="Times New Roman"/>
              <a:cs typeface="Times New Roman"/>
            </a:endParaRPr>
          </a:p>
          <a:p>
            <a:pPr marL="12693" lvl="3" algn="just">
              <a:buSzPct val="95833"/>
              <a:tabLst>
                <a:tab pos="466397" algn="l"/>
              </a:tabLst>
            </a:pPr>
            <a:r>
              <a:rPr lang="en-US" sz="2400" b="1" spc="-45" dirty="0" smtClean="0">
                <a:solidFill>
                  <a:srgbClr val="0070C0"/>
                </a:solidFill>
                <a:latin typeface="Times New Roman"/>
                <a:cs typeface="Times New Roman"/>
              </a:rPr>
              <a:t> </a:t>
            </a:r>
            <a:r>
              <a:rPr lang="en-US" sz="2400" b="1" u="sng" spc="-45" dirty="0" err="1" smtClean="0">
                <a:solidFill>
                  <a:srgbClr val="0070C0"/>
                </a:solidFill>
                <a:latin typeface="Times New Roman"/>
                <a:cs typeface="Times New Roman"/>
              </a:rPr>
              <a:t>Harappan</a:t>
            </a:r>
            <a:r>
              <a:rPr lang="en-US" sz="2400" b="1" u="sng" spc="-25" dirty="0" smtClean="0">
                <a:solidFill>
                  <a:srgbClr val="0070C0"/>
                </a:solidFill>
                <a:latin typeface="Times New Roman"/>
                <a:cs typeface="Times New Roman"/>
              </a:rPr>
              <a:t> </a:t>
            </a:r>
            <a:r>
              <a:rPr lang="en-US" sz="2400" b="1" u="sng" spc="-10" dirty="0" smtClean="0">
                <a:solidFill>
                  <a:srgbClr val="0070C0"/>
                </a:solidFill>
                <a:latin typeface="Times New Roman"/>
                <a:cs typeface="Times New Roman"/>
              </a:rPr>
              <a:t>Civilization:</a:t>
            </a:r>
          </a:p>
          <a:p>
            <a:pPr marL="12691" marR="6349" indent="456244" algn="just">
              <a:lnSpc>
                <a:spcPct val="150000"/>
              </a:lnSpc>
              <a:spcBef>
                <a:spcPts val="55"/>
              </a:spcBef>
            </a:pPr>
            <a:r>
              <a:rPr lang="en-US" sz="2400" spc="-45" dirty="0" smtClean="0">
                <a:latin typeface="Times New Roman"/>
                <a:cs typeface="Times New Roman"/>
              </a:rPr>
              <a:t>The</a:t>
            </a:r>
            <a:r>
              <a:rPr lang="en-US" sz="2400" spc="-4" dirty="0" smtClean="0">
                <a:latin typeface="Times New Roman"/>
                <a:cs typeface="Times New Roman"/>
              </a:rPr>
              <a:t> </a:t>
            </a:r>
            <a:r>
              <a:rPr lang="en-US" sz="2400" spc="-50" dirty="0" smtClean="0">
                <a:latin typeface="Times New Roman"/>
                <a:cs typeface="Times New Roman"/>
              </a:rPr>
              <a:t>first</a:t>
            </a:r>
            <a:r>
              <a:rPr lang="en-US" sz="2400" dirty="0" smtClean="0">
                <a:latin typeface="Times New Roman"/>
                <a:cs typeface="Times New Roman"/>
              </a:rPr>
              <a:t> </a:t>
            </a:r>
            <a:r>
              <a:rPr lang="en-US" sz="2400" spc="-50" dirty="0" smtClean="0">
                <a:latin typeface="Times New Roman"/>
                <a:cs typeface="Times New Roman"/>
              </a:rPr>
              <a:t>evidence</a:t>
            </a:r>
            <a:r>
              <a:rPr lang="en-US" sz="2400" spc="-25" dirty="0" smtClean="0">
                <a:latin typeface="Times New Roman"/>
                <a:cs typeface="Times New Roman"/>
              </a:rPr>
              <a:t> </a:t>
            </a:r>
            <a:r>
              <a:rPr lang="en-US" sz="2400" spc="-35" dirty="0" smtClean="0">
                <a:latin typeface="Times New Roman"/>
                <a:cs typeface="Times New Roman"/>
              </a:rPr>
              <a:t>of</a:t>
            </a:r>
            <a:r>
              <a:rPr lang="en-US" sz="2400" spc="-4" dirty="0" smtClean="0">
                <a:latin typeface="Times New Roman"/>
                <a:cs typeface="Times New Roman"/>
              </a:rPr>
              <a:t> </a:t>
            </a:r>
            <a:r>
              <a:rPr lang="en-US" sz="2400" spc="-55" dirty="0" smtClean="0">
                <a:latin typeface="Times New Roman"/>
                <a:cs typeface="Times New Roman"/>
              </a:rPr>
              <a:t>metal</a:t>
            </a:r>
            <a:r>
              <a:rPr lang="en-US" sz="2400" spc="-10" dirty="0" smtClean="0">
                <a:latin typeface="Times New Roman"/>
                <a:cs typeface="Times New Roman"/>
              </a:rPr>
              <a:t> </a:t>
            </a:r>
            <a:r>
              <a:rPr lang="en-US" sz="2400" spc="-30" dirty="0" smtClean="0">
                <a:latin typeface="Times New Roman"/>
                <a:cs typeface="Times New Roman"/>
              </a:rPr>
              <a:t>in</a:t>
            </a:r>
            <a:r>
              <a:rPr lang="en-US" sz="2400" dirty="0" smtClean="0">
                <a:latin typeface="Times New Roman"/>
                <a:cs typeface="Times New Roman"/>
              </a:rPr>
              <a:t> </a:t>
            </a:r>
            <a:r>
              <a:rPr lang="en-US" sz="2400" spc="-50" dirty="0" smtClean="0">
                <a:latin typeface="Times New Roman"/>
                <a:cs typeface="Times New Roman"/>
              </a:rPr>
              <a:t>the</a:t>
            </a:r>
            <a:r>
              <a:rPr lang="en-US" sz="2400" dirty="0" smtClean="0">
                <a:latin typeface="Times New Roman"/>
                <a:cs typeface="Times New Roman"/>
              </a:rPr>
              <a:t> </a:t>
            </a:r>
            <a:r>
              <a:rPr lang="en-US" sz="2400" spc="-55" dirty="0" smtClean="0">
                <a:latin typeface="Times New Roman"/>
                <a:cs typeface="Times New Roman"/>
              </a:rPr>
              <a:t>Indian</a:t>
            </a:r>
            <a:r>
              <a:rPr lang="en-US" sz="2400" dirty="0" smtClean="0">
                <a:latin typeface="Times New Roman"/>
                <a:cs typeface="Times New Roman"/>
              </a:rPr>
              <a:t> </a:t>
            </a:r>
            <a:r>
              <a:rPr lang="en-US" sz="2400" spc="-50" dirty="0" smtClean="0">
                <a:latin typeface="Times New Roman"/>
                <a:cs typeface="Times New Roman"/>
              </a:rPr>
              <a:t>subcontinent</a:t>
            </a:r>
            <a:r>
              <a:rPr lang="en-US" sz="2400" dirty="0" smtClean="0">
                <a:latin typeface="Times New Roman"/>
                <a:cs typeface="Times New Roman"/>
              </a:rPr>
              <a:t> </a:t>
            </a:r>
            <a:r>
              <a:rPr lang="en-US" sz="2400" spc="-55" dirty="0" smtClean="0">
                <a:latin typeface="Times New Roman"/>
                <a:cs typeface="Times New Roman"/>
              </a:rPr>
              <a:t>comes</a:t>
            </a:r>
            <a:r>
              <a:rPr lang="en-US" sz="2400" spc="4" dirty="0" smtClean="0">
                <a:latin typeface="Times New Roman"/>
                <a:cs typeface="Times New Roman"/>
              </a:rPr>
              <a:t> </a:t>
            </a:r>
            <a:r>
              <a:rPr lang="en-US" sz="2400" spc="-55" dirty="0" smtClean="0">
                <a:latin typeface="Times New Roman"/>
                <a:cs typeface="Times New Roman"/>
              </a:rPr>
              <a:t>from</a:t>
            </a:r>
            <a:r>
              <a:rPr lang="en-US" sz="2400" spc="-14" dirty="0" smtClean="0">
                <a:latin typeface="Times New Roman"/>
                <a:cs typeface="Times New Roman"/>
              </a:rPr>
              <a:t> </a:t>
            </a:r>
            <a:r>
              <a:rPr lang="en-US" sz="2400" b="1" spc="-45" dirty="0" err="1" smtClean="0">
                <a:solidFill>
                  <a:srgbClr val="00823B"/>
                </a:solidFill>
                <a:latin typeface="Times New Roman"/>
                <a:cs typeface="Times New Roman"/>
              </a:rPr>
              <a:t>Mehrgarh</a:t>
            </a:r>
            <a:r>
              <a:rPr lang="en-US" sz="2400" b="1" spc="4" dirty="0" smtClean="0">
                <a:solidFill>
                  <a:srgbClr val="00823B"/>
                </a:solidFill>
                <a:latin typeface="Times New Roman"/>
                <a:cs typeface="Times New Roman"/>
              </a:rPr>
              <a:t> </a:t>
            </a:r>
            <a:r>
              <a:rPr lang="en-US" sz="2400" b="1" spc="-30" dirty="0" smtClean="0">
                <a:solidFill>
                  <a:srgbClr val="00823B"/>
                </a:solidFill>
                <a:latin typeface="Times New Roman"/>
                <a:cs typeface="Times New Roman"/>
              </a:rPr>
              <a:t>in</a:t>
            </a:r>
            <a:r>
              <a:rPr lang="en-US" sz="2400" b="1" dirty="0" smtClean="0">
                <a:solidFill>
                  <a:srgbClr val="00823B"/>
                </a:solidFill>
                <a:latin typeface="Times New Roman"/>
                <a:cs typeface="Times New Roman"/>
              </a:rPr>
              <a:t> </a:t>
            </a:r>
            <a:r>
              <a:rPr lang="en-US" sz="2400" b="1" spc="-50" dirty="0" smtClean="0">
                <a:solidFill>
                  <a:srgbClr val="00823B"/>
                </a:solidFill>
                <a:latin typeface="Times New Roman"/>
                <a:cs typeface="Times New Roman"/>
              </a:rPr>
              <a:t>Baluchistan</a:t>
            </a:r>
            <a:r>
              <a:rPr lang="en-US" sz="2400" spc="-50" dirty="0" smtClean="0">
                <a:solidFill>
                  <a:srgbClr val="00B050"/>
                </a:solidFill>
                <a:latin typeface="Times New Roman"/>
                <a:cs typeface="Times New Roman"/>
              </a:rPr>
              <a:t>,</a:t>
            </a:r>
            <a:r>
              <a:rPr lang="en-US" sz="2400" dirty="0" smtClean="0">
                <a:solidFill>
                  <a:srgbClr val="00B050"/>
                </a:solidFill>
                <a:latin typeface="Times New Roman"/>
                <a:cs typeface="Times New Roman"/>
              </a:rPr>
              <a:t> </a:t>
            </a:r>
            <a:r>
              <a:rPr lang="en-US" sz="2400" spc="-55" dirty="0" smtClean="0">
                <a:latin typeface="Times New Roman"/>
                <a:cs typeface="Times New Roman"/>
              </a:rPr>
              <a:t>where</a:t>
            </a:r>
            <a:r>
              <a:rPr lang="en-US" sz="2400" spc="-4" dirty="0" smtClean="0">
                <a:latin typeface="Times New Roman"/>
                <a:cs typeface="Times New Roman"/>
              </a:rPr>
              <a:t> </a:t>
            </a:r>
            <a:r>
              <a:rPr lang="en-US" sz="2400" spc="-50" dirty="0" smtClean="0">
                <a:latin typeface="Times New Roman"/>
                <a:cs typeface="Times New Roman"/>
              </a:rPr>
              <a:t>a </a:t>
            </a:r>
            <a:r>
              <a:rPr lang="en-US" sz="2400" spc="-35" dirty="0" smtClean="0">
                <a:latin typeface="Times New Roman"/>
                <a:cs typeface="Times New Roman"/>
              </a:rPr>
              <a:t>small</a:t>
            </a:r>
            <a:r>
              <a:rPr lang="en-US" sz="2400" spc="-40" dirty="0" smtClean="0">
                <a:latin typeface="Times New Roman"/>
                <a:cs typeface="Times New Roman"/>
              </a:rPr>
              <a:t> copper</a:t>
            </a:r>
            <a:r>
              <a:rPr lang="en-US" sz="2400" spc="-35" dirty="0" smtClean="0">
                <a:latin typeface="Times New Roman"/>
                <a:cs typeface="Times New Roman"/>
              </a:rPr>
              <a:t> </a:t>
            </a:r>
            <a:r>
              <a:rPr lang="en-US" sz="2400" spc="-40" dirty="0" smtClean="0">
                <a:latin typeface="Times New Roman"/>
                <a:cs typeface="Times New Roman"/>
              </a:rPr>
              <a:t>bead</a:t>
            </a:r>
            <a:r>
              <a:rPr lang="en-US" sz="2400" spc="-35" dirty="0" smtClean="0">
                <a:latin typeface="Times New Roman"/>
                <a:cs typeface="Times New Roman"/>
              </a:rPr>
              <a:t> </a:t>
            </a:r>
            <a:r>
              <a:rPr lang="en-US" sz="2400" spc="-20" dirty="0" smtClean="0">
                <a:latin typeface="Times New Roman"/>
                <a:cs typeface="Times New Roman"/>
              </a:rPr>
              <a:t>was</a:t>
            </a:r>
            <a:r>
              <a:rPr lang="en-US" sz="2400" spc="-40" dirty="0" smtClean="0">
                <a:latin typeface="Times New Roman"/>
                <a:cs typeface="Times New Roman"/>
              </a:rPr>
              <a:t> </a:t>
            </a:r>
            <a:r>
              <a:rPr lang="en-US" sz="2400" spc="-45" dirty="0" smtClean="0">
                <a:latin typeface="Times New Roman"/>
                <a:cs typeface="Times New Roman"/>
              </a:rPr>
              <a:t>dated</a:t>
            </a:r>
            <a:r>
              <a:rPr lang="en-US" sz="2400" spc="-30" dirty="0" smtClean="0">
                <a:latin typeface="Times New Roman"/>
                <a:cs typeface="Times New Roman"/>
              </a:rPr>
              <a:t> </a:t>
            </a:r>
            <a:r>
              <a:rPr lang="en-US" sz="2400" dirty="0" smtClean="0">
                <a:latin typeface="Times New Roman"/>
                <a:cs typeface="Times New Roman"/>
              </a:rPr>
              <a:t>to</a:t>
            </a:r>
            <a:r>
              <a:rPr lang="en-US" sz="2400" spc="-25" dirty="0" smtClean="0">
                <a:latin typeface="Times New Roman"/>
                <a:cs typeface="Times New Roman"/>
              </a:rPr>
              <a:t> </a:t>
            </a:r>
            <a:r>
              <a:rPr lang="en-US" sz="2400" spc="-35" dirty="0" smtClean="0">
                <a:latin typeface="Times New Roman"/>
                <a:cs typeface="Times New Roman"/>
              </a:rPr>
              <a:t>about</a:t>
            </a:r>
            <a:r>
              <a:rPr lang="en-US" sz="2400" spc="-25" dirty="0" smtClean="0">
                <a:latin typeface="Times New Roman"/>
                <a:cs typeface="Times New Roman"/>
              </a:rPr>
              <a:t> 6000</a:t>
            </a:r>
            <a:r>
              <a:rPr lang="en-US" sz="2400" spc="-30" dirty="0" smtClean="0">
                <a:latin typeface="Times New Roman"/>
                <a:cs typeface="Times New Roman"/>
              </a:rPr>
              <a:t> </a:t>
            </a:r>
            <a:r>
              <a:rPr lang="en-US" sz="2400" spc="-40" dirty="0" smtClean="0">
                <a:latin typeface="Times New Roman"/>
                <a:cs typeface="Times New Roman"/>
              </a:rPr>
              <a:t>BCE;</a:t>
            </a:r>
            <a:r>
              <a:rPr lang="en-US" sz="2400" spc="-35" dirty="0" smtClean="0">
                <a:latin typeface="Times New Roman"/>
                <a:cs typeface="Times New Roman"/>
              </a:rPr>
              <a:t> </a:t>
            </a:r>
          </a:p>
          <a:p>
            <a:pPr marL="12691" marR="6349" indent="456244" algn="just">
              <a:lnSpc>
                <a:spcPct val="150000"/>
              </a:lnSpc>
              <a:spcBef>
                <a:spcPts val="55"/>
              </a:spcBef>
            </a:pPr>
            <a:r>
              <a:rPr lang="en-US" sz="2400" dirty="0" smtClean="0">
                <a:latin typeface="Times New Roman"/>
                <a:cs typeface="Times New Roman"/>
              </a:rPr>
              <a:t>It</a:t>
            </a:r>
            <a:r>
              <a:rPr lang="en-US" sz="2400" spc="-35" dirty="0" smtClean="0">
                <a:latin typeface="Times New Roman"/>
                <a:cs typeface="Times New Roman"/>
              </a:rPr>
              <a:t> </a:t>
            </a:r>
            <a:r>
              <a:rPr lang="en-US" sz="2400" dirty="0" smtClean="0">
                <a:latin typeface="Times New Roman"/>
                <a:cs typeface="Times New Roman"/>
              </a:rPr>
              <a:t>is</a:t>
            </a:r>
            <a:r>
              <a:rPr lang="en-US" sz="2400" spc="-30" dirty="0" smtClean="0">
                <a:latin typeface="Times New Roman"/>
                <a:cs typeface="Times New Roman"/>
              </a:rPr>
              <a:t> </a:t>
            </a:r>
            <a:r>
              <a:rPr lang="en-US" sz="2400" spc="-40" dirty="0" smtClean="0">
                <a:latin typeface="Times New Roman"/>
                <a:cs typeface="Times New Roman"/>
              </a:rPr>
              <a:t>however</a:t>
            </a:r>
            <a:r>
              <a:rPr lang="en-US" sz="2400" spc="-35" dirty="0" smtClean="0">
                <a:latin typeface="Times New Roman"/>
                <a:cs typeface="Times New Roman"/>
              </a:rPr>
              <a:t> </a:t>
            </a:r>
            <a:r>
              <a:rPr lang="en-US" sz="2400" spc="-40" dirty="0" smtClean="0">
                <a:latin typeface="Times New Roman"/>
                <a:cs typeface="Times New Roman"/>
              </a:rPr>
              <a:t>thought</a:t>
            </a:r>
            <a:r>
              <a:rPr lang="en-US" sz="2400" spc="-35" dirty="0" smtClean="0">
                <a:latin typeface="Times New Roman"/>
                <a:cs typeface="Times New Roman"/>
              </a:rPr>
              <a:t> </a:t>
            </a:r>
            <a:r>
              <a:rPr lang="en-US" sz="2400" dirty="0" smtClean="0">
                <a:latin typeface="Times New Roman"/>
                <a:cs typeface="Times New Roman"/>
              </a:rPr>
              <a:t>to</a:t>
            </a:r>
            <a:r>
              <a:rPr lang="en-US" sz="2400" spc="-25" dirty="0" smtClean="0">
                <a:latin typeface="Times New Roman"/>
                <a:cs typeface="Times New Roman"/>
              </a:rPr>
              <a:t> </a:t>
            </a:r>
            <a:r>
              <a:rPr lang="en-US" sz="2400" spc="-35" dirty="0" smtClean="0">
                <a:latin typeface="Times New Roman"/>
                <a:cs typeface="Times New Roman"/>
              </a:rPr>
              <a:t>have</a:t>
            </a:r>
            <a:r>
              <a:rPr lang="en-US" sz="2400" spc="-40" dirty="0" smtClean="0">
                <a:latin typeface="Times New Roman"/>
                <a:cs typeface="Times New Roman"/>
              </a:rPr>
              <a:t> </a:t>
            </a:r>
            <a:r>
              <a:rPr lang="en-US" sz="2400" spc="-30" dirty="0" smtClean="0">
                <a:latin typeface="Times New Roman"/>
                <a:cs typeface="Times New Roman"/>
              </a:rPr>
              <a:t>been</a:t>
            </a:r>
            <a:r>
              <a:rPr lang="en-US" sz="2400" spc="-25" dirty="0" smtClean="0">
                <a:latin typeface="Times New Roman"/>
                <a:cs typeface="Times New Roman"/>
              </a:rPr>
              <a:t> </a:t>
            </a:r>
            <a:r>
              <a:rPr lang="en-US" sz="2400" spc="-45" dirty="0" smtClean="0">
                <a:solidFill>
                  <a:srgbClr val="00B050"/>
                </a:solidFill>
                <a:latin typeface="Times New Roman"/>
                <a:cs typeface="Times New Roman"/>
              </a:rPr>
              <a:t>native</a:t>
            </a:r>
            <a:r>
              <a:rPr lang="en-US" sz="2400" spc="-30" dirty="0" smtClean="0">
                <a:solidFill>
                  <a:srgbClr val="00B050"/>
                </a:solidFill>
                <a:latin typeface="Times New Roman"/>
                <a:cs typeface="Times New Roman"/>
              </a:rPr>
              <a:t> </a:t>
            </a:r>
            <a:r>
              <a:rPr lang="en-US" sz="2400" spc="-40" dirty="0" smtClean="0">
                <a:solidFill>
                  <a:srgbClr val="00B050"/>
                </a:solidFill>
                <a:latin typeface="Times New Roman"/>
                <a:cs typeface="Times New Roman"/>
              </a:rPr>
              <a:t>copper,</a:t>
            </a:r>
            <a:r>
              <a:rPr lang="en-US" sz="2400" spc="-35" dirty="0" smtClean="0">
                <a:solidFill>
                  <a:srgbClr val="00B050"/>
                </a:solidFill>
                <a:latin typeface="Times New Roman"/>
                <a:cs typeface="Times New Roman"/>
              </a:rPr>
              <a:t> </a:t>
            </a:r>
            <a:r>
              <a:rPr lang="en-US" sz="2400" spc="-20" dirty="0" smtClean="0">
                <a:solidFill>
                  <a:srgbClr val="00B050"/>
                </a:solidFill>
                <a:latin typeface="Times New Roman"/>
                <a:cs typeface="Times New Roman"/>
              </a:rPr>
              <a:t>not</a:t>
            </a:r>
            <a:r>
              <a:rPr lang="en-US" sz="2400" spc="-30" dirty="0" smtClean="0">
                <a:solidFill>
                  <a:srgbClr val="00B050"/>
                </a:solidFill>
                <a:latin typeface="Times New Roman"/>
                <a:cs typeface="Times New Roman"/>
              </a:rPr>
              <a:t> </a:t>
            </a:r>
            <a:r>
              <a:rPr lang="en-US" sz="2400" spc="-25" dirty="0" smtClean="0">
                <a:solidFill>
                  <a:srgbClr val="00B050"/>
                </a:solidFill>
                <a:latin typeface="Times New Roman"/>
                <a:cs typeface="Times New Roman"/>
              </a:rPr>
              <a:t>the </a:t>
            </a:r>
            <a:r>
              <a:rPr lang="en-US" sz="2400" spc="-45" dirty="0" smtClean="0">
                <a:solidFill>
                  <a:srgbClr val="00B050"/>
                </a:solidFill>
                <a:latin typeface="Times New Roman"/>
                <a:cs typeface="Times New Roman"/>
              </a:rPr>
              <a:t>smelted</a:t>
            </a:r>
            <a:r>
              <a:rPr lang="en-US" sz="2400" spc="-30" dirty="0" smtClean="0">
                <a:solidFill>
                  <a:srgbClr val="00B050"/>
                </a:solidFill>
                <a:latin typeface="Times New Roman"/>
                <a:cs typeface="Times New Roman"/>
              </a:rPr>
              <a:t> </a:t>
            </a:r>
            <a:r>
              <a:rPr lang="en-US" sz="2400" spc="-50" dirty="0" smtClean="0">
                <a:solidFill>
                  <a:srgbClr val="00B050"/>
                </a:solidFill>
                <a:latin typeface="Times New Roman"/>
                <a:cs typeface="Times New Roman"/>
              </a:rPr>
              <a:t>metal</a:t>
            </a:r>
            <a:r>
              <a:rPr lang="en-US" sz="2400" spc="-25" dirty="0" smtClean="0">
                <a:solidFill>
                  <a:srgbClr val="00B050"/>
                </a:solidFill>
                <a:latin typeface="Times New Roman"/>
                <a:cs typeface="Times New Roman"/>
              </a:rPr>
              <a:t> </a:t>
            </a:r>
            <a:r>
              <a:rPr lang="en-US" sz="2400" spc="-45" dirty="0" smtClean="0">
                <a:solidFill>
                  <a:srgbClr val="00B050"/>
                </a:solidFill>
                <a:latin typeface="Times New Roman"/>
                <a:cs typeface="Times New Roman"/>
              </a:rPr>
              <a:t>extracted</a:t>
            </a:r>
            <a:r>
              <a:rPr lang="en-US" sz="2400" spc="-14" dirty="0" smtClean="0">
                <a:solidFill>
                  <a:srgbClr val="00B050"/>
                </a:solidFill>
                <a:latin typeface="Times New Roman"/>
                <a:cs typeface="Times New Roman"/>
              </a:rPr>
              <a:t> </a:t>
            </a:r>
            <a:r>
              <a:rPr lang="en-US" sz="2400" spc="-35" dirty="0" smtClean="0">
                <a:solidFill>
                  <a:srgbClr val="00B050"/>
                </a:solidFill>
                <a:latin typeface="Times New Roman"/>
                <a:cs typeface="Times New Roman"/>
              </a:rPr>
              <a:t>from</a:t>
            </a:r>
            <a:r>
              <a:rPr lang="en-US" sz="2400" spc="-4" dirty="0" smtClean="0">
                <a:solidFill>
                  <a:srgbClr val="00B050"/>
                </a:solidFill>
                <a:latin typeface="Times New Roman"/>
                <a:cs typeface="Times New Roman"/>
              </a:rPr>
              <a:t> </a:t>
            </a:r>
            <a:r>
              <a:rPr lang="en-US" sz="2400" spc="-45" dirty="0" smtClean="0">
                <a:solidFill>
                  <a:srgbClr val="00B050"/>
                </a:solidFill>
                <a:latin typeface="Times New Roman"/>
                <a:cs typeface="Times New Roman"/>
              </a:rPr>
              <a:t>ore.</a:t>
            </a:r>
            <a:r>
              <a:rPr lang="en-US" sz="2400" spc="-25" dirty="0" smtClean="0">
                <a:solidFill>
                  <a:srgbClr val="00B050"/>
                </a:solidFill>
                <a:latin typeface="Times New Roman"/>
                <a:cs typeface="Times New Roman"/>
              </a:rPr>
              <a:t> </a:t>
            </a:r>
          </a:p>
          <a:p>
            <a:pPr marL="12691" marR="6349" indent="456244" algn="just">
              <a:lnSpc>
                <a:spcPct val="150000"/>
              </a:lnSpc>
              <a:spcBef>
                <a:spcPts val="55"/>
              </a:spcBef>
            </a:pPr>
            <a:r>
              <a:rPr lang="en-US" sz="2400" spc="-40" dirty="0" smtClean="0">
                <a:latin typeface="Times New Roman"/>
                <a:cs typeface="Times New Roman"/>
              </a:rPr>
              <a:t>The</a:t>
            </a:r>
            <a:r>
              <a:rPr lang="en-US" sz="2400" spc="-20" dirty="0" smtClean="0">
                <a:latin typeface="Times New Roman"/>
                <a:cs typeface="Times New Roman"/>
              </a:rPr>
              <a:t> </a:t>
            </a:r>
            <a:r>
              <a:rPr lang="en-US" sz="2400" spc="-50" dirty="0" smtClean="0">
                <a:latin typeface="Times New Roman"/>
                <a:cs typeface="Times New Roman"/>
              </a:rPr>
              <a:t>growth</a:t>
            </a:r>
            <a:r>
              <a:rPr lang="en-US" sz="2400" spc="-25" dirty="0" smtClean="0">
                <a:latin typeface="Times New Roman"/>
                <a:cs typeface="Times New Roman"/>
              </a:rPr>
              <a:t> </a:t>
            </a:r>
            <a:r>
              <a:rPr lang="en-US" sz="2400" spc="-10" dirty="0" smtClean="0">
                <a:latin typeface="Times New Roman"/>
                <a:cs typeface="Times New Roman"/>
              </a:rPr>
              <a:t>of</a:t>
            </a:r>
            <a:r>
              <a:rPr lang="en-US" sz="2400" spc="-20" dirty="0" smtClean="0">
                <a:latin typeface="Times New Roman"/>
                <a:cs typeface="Times New Roman"/>
              </a:rPr>
              <a:t> </a:t>
            </a:r>
            <a:r>
              <a:rPr lang="en-US" sz="2400" spc="-45" dirty="0" smtClean="0">
                <a:latin typeface="Times New Roman"/>
                <a:cs typeface="Times New Roman"/>
              </a:rPr>
              <a:t>copper</a:t>
            </a:r>
            <a:r>
              <a:rPr lang="en-US" sz="2400" spc="-14" dirty="0" smtClean="0">
                <a:latin typeface="Times New Roman"/>
                <a:cs typeface="Times New Roman"/>
              </a:rPr>
              <a:t> </a:t>
            </a:r>
            <a:r>
              <a:rPr lang="en-US" sz="2400" spc="-50" dirty="0" smtClean="0">
                <a:latin typeface="Times New Roman"/>
                <a:cs typeface="Times New Roman"/>
              </a:rPr>
              <a:t>metallurgy</a:t>
            </a:r>
            <a:r>
              <a:rPr lang="en-US" sz="2400" spc="-25" dirty="0" smtClean="0">
                <a:latin typeface="Times New Roman"/>
                <a:cs typeface="Times New Roman"/>
              </a:rPr>
              <a:t> </a:t>
            </a:r>
            <a:r>
              <a:rPr lang="en-US" sz="2400" spc="-35" dirty="0" smtClean="0">
                <a:latin typeface="Times New Roman"/>
                <a:cs typeface="Times New Roman"/>
              </a:rPr>
              <a:t>had</a:t>
            </a:r>
            <a:r>
              <a:rPr lang="en-US" sz="2400" spc="-14" dirty="0" smtClean="0">
                <a:latin typeface="Times New Roman"/>
                <a:cs typeface="Times New Roman"/>
              </a:rPr>
              <a:t> </a:t>
            </a:r>
            <a:r>
              <a:rPr lang="en-US" sz="2400" spc="-10" dirty="0" smtClean="0">
                <a:latin typeface="Times New Roman"/>
                <a:cs typeface="Times New Roman"/>
              </a:rPr>
              <a:t>to</a:t>
            </a:r>
            <a:r>
              <a:rPr lang="en-US" sz="2400" spc="-14" dirty="0" smtClean="0">
                <a:latin typeface="Times New Roman"/>
                <a:cs typeface="Times New Roman"/>
              </a:rPr>
              <a:t> </a:t>
            </a:r>
            <a:r>
              <a:rPr lang="en-US" sz="2400" spc="-50" dirty="0" smtClean="0">
                <a:latin typeface="Times New Roman"/>
                <a:cs typeface="Times New Roman"/>
              </a:rPr>
              <a:t>wait</a:t>
            </a:r>
            <a:r>
              <a:rPr lang="en-US" sz="2400" spc="-10" dirty="0" smtClean="0">
                <a:latin typeface="Times New Roman"/>
                <a:cs typeface="Times New Roman"/>
              </a:rPr>
              <a:t> </a:t>
            </a:r>
            <a:r>
              <a:rPr lang="en-US" sz="2400" spc="-40" dirty="0" smtClean="0">
                <a:latin typeface="Times New Roman"/>
                <a:cs typeface="Times New Roman"/>
              </a:rPr>
              <a:t>for</a:t>
            </a:r>
            <a:r>
              <a:rPr lang="en-US" sz="2400" spc="-14" dirty="0" smtClean="0">
                <a:latin typeface="Times New Roman"/>
                <a:cs typeface="Times New Roman"/>
              </a:rPr>
              <a:t> </a:t>
            </a:r>
            <a:r>
              <a:rPr lang="en-US" sz="2400" spc="-45" dirty="0" smtClean="0">
                <a:latin typeface="Times New Roman"/>
                <a:cs typeface="Times New Roman"/>
              </a:rPr>
              <a:t>another</a:t>
            </a:r>
            <a:r>
              <a:rPr lang="en-US" sz="2400" spc="-30" dirty="0" smtClean="0">
                <a:latin typeface="Times New Roman"/>
                <a:cs typeface="Times New Roman"/>
              </a:rPr>
              <a:t> </a:t>
            </a:r>
            <a:r>
              <a:rPr lang="en-US" sz="2400" spc="-35" dirty="0" smtClean="0">
                <a:latin typeface="Times New Roman"/>
                <a:cs typeface="Times New Roman"/>
              </a:rPr>
              <a:t>1,500</a:t>
            </a:r>
            <a:r>
              <a:rPr lang="en-US" sz="2400" spc="-4" dirty="0" smtClean="0">
                <a:latin typeface="Times New Roman"/>
                <a:cs typeface="Times New Roman"/>
              </a:rPr>
              <a:t> </a:t>
            </a:r>
            <a:r>
              <a:rPr lang="en-US" sz="2400" spc="-45" dirty="0" smtClean="0">
                <a:latin typeface="Times New Roman"/>
                <a:cs typeface="Times New Roman"/>
              </a:rPr>
              <a:t>years;</a:t>
            </a:r>
            <a:r>
              <a:rPr lang="en-US" sz="2400" spc="-10" dirty="0" smtClean="0">
                <a:latin typeface="Times New Roman"/>
                <a:cs typeface="Times New Roman"/>
              </a:rPr>
              <a:t> </a:t>
            </a:r>
            <a:r>
              <a:rPr lang="en-US" sz="2400" spc="-20" dirty="0" smtClean="0">
                <a:latin typeface="Times New Roman"/>
                <a:cs typeface="Times New Roman"/>
              </a:rPr>
              <a:t>that </a:t>
            </a:r>
            <a:r>
              <a:rPr lang="en-US" sz="2400" dirty="0" smtClean="0">
                <a:latin typeface="Times New Roman"/>
                <a:cs typeface="Times New Roman"/>
              </a:rPr>
              <a:t>was</a:t>
            </a:r>
            <a:r>
              <a:rPr lang="en-US" sz="2400" spc="-4" dirty="0" smtClean="0">
                <a:latin typeface="Times New Roman"/>
                <a:cs typeface="Times New Roman"/>
              </a:rPr>
              <a:t> </a:t>
            </a:r>
            <a:r>
              <a:rPr lang="en-US" sz="2400" dirty="0" smtClean="0">
                <a:latin typeface="Times New Roman"/>
                <a:cs typeface="Times New Roman"/>
              </a:rPr>
              <a:t>the</a:t>
            </a:r>
            <a:r>
              <a:rPr lang="en-US" sz="2400" spc="-4" dirty="0" smtClean="0">
                <a:latin typeface="Times New Roman"/>
                <a:cs typeface="Times New Roman"/>
              </a:rPr>
              <a:t> </a:t>
            </a:r>
            <a:r>
              <a:rPr lang="en-US" sz="2400" dirty="0" smtClean="0">
                <a:latin typeface="Times New Roman"/>
                <a:cs typeface="Times New Roman"/>
              </a:rPr>
              <a:t>time</a:t>
            </a:r>
            <a:r>
              <a:rPr lang="en-US" sz="2400" spc="-10" dirty="0" smtClean="0">
                <a:latin typeface="Times New Roman"/>
                <a:cs typeface="Times New Roman"/>
              </a:rPr>
              <a:t> </a:t>
            </a:r>
            <a:r>
              <a:rPr lang="en-US" sz="2400" dirty="0" smtClean="0">
                <a:latin typeface="Times New Roman"/>
                <a:cs typeface="Times New Roman"/>
              </a:rPr>
              <a:t>when </a:t>
            </a:r>
            <a:r>
              <a:rPr lang="en-US" sz="2400" spc="-25" dirty="0" smtClean="0">
                <a:latin typeface="Times New Roman"/>
                <a:cs typeface="Times New Roman"/>
              </a:rPr>
              <a:t>village</a:t>
            </a:r>
            <a:r>
              <a:rPr lang="en-US" sz="2400" spc="-10" dirty="0" smtClean="0">
                <a:latin typeface="Times New Roman"/>
                <a:cs typeface="Times New Roman"/>
              </a:rPr>
              <a:t> </a:t>
            </a:r>
            <a:r>
              <a:rPr lang="en-US" sz="2400" spc="-35" dirty="0" smtClean="0">
                <a:latin typeface="Times New Roman"/>
                <a:cs typeface="Times New Roman"/>
              </a:rPr>
              <a:t>communities</a:t>
            </a:r>
            <a:r>
              <a:rPr lang="en-US" sz="2400" spc="-10" dirty="0" smtClean="0">
                <a:latin typeface="Times New Roman"/>
                <a:cs typeface="Times New Roman"/>
              </a:rPr>
              <a:t> </a:t>
            </a:r>
            <a:r>
              <a:rPr lang="en-US" sz="2400" dirty="0" smtClean="0">
                <a:latin typeface="Times New Roman"/>
                <a:cs typeface="Times New Roman"/>
              </a:rPr>
              <a:t>were</a:t>
            </a:r>
            <a:r>
              <a:rPr lang="en-US" sz="2400" spc="-10" dirty="0" smtClean="0">
                <a:latin typeface="Times New Roman"/>
                <a:cs typeface="Times New Roman"/>
              </a:rPr>
              <a:t> </a:t>
            </a:r>
            <a:r>
              <a:rPr lang="en-US" sz="2400" spc="-30" dirty="0" smtClean="0">
                <a:latin typeface="Times New Roman"/>
                <a:cs typeface="Times New Roman"/>
              </a:rPr>
              <a:t>developing</a:t>
            </a:r>
            <a:r>
              <a:rPr lang="en-US" sz="2400" spc="-10" dirty="0" smtClean="0">
                <a:latin typeface="Times New Roman"/>
                <a:cs typeface="Times New Roman"/>
              </a:rPr>
              <a:t> trade</a:t>
            </a:r>
            <a:r>
              <a:rPr lang="en-US" sz="2400" spc="-14" dirty="0" smtClean="0">
                <a:latin typeface="Times New Roman"/>
                <a:cs typeface="Times New Roman"/>
              </a:rPr>
              <a:t> </a:t>
            </a:r>
            <a:r>
              <a:rPr lang="en-US" sz="2400" spc="-25" dirty="0" smtClean="0">
                <a:latin typeface="Times New Roman"/>
                <a:cs typeface="Times New Roman"/>
              </a:rPr>
              <a:t>networks</a:t>
            </a:r>
            <a:r>
              <a:rPr lang="en-US" sz="2400" spc="-10" dirty="0" smtClean="0">
                <a:latin typeface="Times New Roman"/>
                <a:cs typeface="Times New Roman"/>
              </a:rPr>
              <a:t> </a:t>
            </a:r>
            <a:r>
              <a:rPr lang="en-US" sz="2400" dirty="0" smtClean="0">
                <a:latin typeface="Times New Roman"/>
                <a:cs typeface="Times New Roman"/>
              </a:rPr>
              <a:t>and</a:t>
            </a:r>
            <a:r>
              <a:rPr lang="en-US" sz="2400" spc="-25" dirty="0" smtClean="0">
                <a:latin typeface="Times New Roman"/>
                <a:cs typeface="Times New Roman"/>
              </a:rPr>
              <a:t> </a:t>
            </a:r>
            <a:r>
              <a:rPr lang="en-US" sz="2400" spc="-35" dirty="0" smtClean="0">
                <a:latin typeface="Times New Roman"/>
                <a:cs typeface="Times New Roman"/>
              </a:rPr>
              <a:t>technologies</a:t>
            </a:r>
            <a:r>
              <a:rPr lang="en-US" sz="2400" dirty="0" smtClean="0">
                <a:latin typeface="Times New Roman"/>
                <a:cs typeface="Times New Roman"/>
              </a:rPr>
              <a:t> </a:t>
            </a:r>
            <a:r>
              <a:rPr lang="en-US" sz="2400" spc="-10" dirty="0" smtClean="0">
                <a:latin typeface="Times New Roman"/>
                <a:cs typeface="Times New Roman"/>
              </a:rPr>
              <a:t>which would </a:t>
            </a:r>
            <a:r>
              <a:rPr lang="en-US" sz="2400" dirty="0" smtClean="0">
                <a:latin typeface="Times New Roman"/>
                <a:cs typeface="Times New Roman"/>
              </a:rPr>
              <a:t>allow</a:t>
            </a:r>
            <a:r>
              <a:rPr lang="en-US" sz="2400" spc="4" dirty="0" smtClean="0">
                <a:latin typeface="Times New Roman"/>
                <a:cs typeface="Times New Roman"/>
              </a:rPr>
              <a:t> </a:t>
            </a:r>
            <a:r>
              <a:rPr lang="en-US" sz="2400" dirty="0" smtClean="0">
                <a:latin typeface="Times New Roman"/>
                <a:cs typeface="Times New Roman"/>
              </a:rPr>
              <a:t>them,</a:t>
            </a:r>
            <a:r>
              <a:rPr lang="en-US" sz="2400" spc="14" dirty="0" smtClean="0">
                <a:latin typeface="Times New Roman"/>
                <a:cs typeface="Times New Roman"/>
              </a:rPr>
              <a:t> </a:t>
            </a:r>
            <a:r>
              <a:rPr lang="en-US" sz="2400" spc="-25" dirty="0" smtClean="0">
                <a:latin typeface="Times New Roman"/>
                <a:cs typeface="Times New Roman"/>
              </a:rPr>
              <a:t>centuries</a:t>
            </a:r>
            <a:r>
              <a:rPr lang="en-US" sz="2400" spc="10" dirty="0" smtClean="0">
                <a:latin typeface="Times New Roman"/>
                <a:cs typeface="Times New Roman"/>
              </a:rPr>
              <a:t> </a:t>
            </a:r>
            <a:r>
              <a:rPr lang="en-US" sz="2400" dirty="0" smtClean="0">
                <a:latin typeface="Times New Roman"/>
                <a:cs typeface="Times New Roman"/>
              </a:rPr>
              <a:t>later,</a:t>
            </a:r>
            <a:r>
              <a:rPr lang="en-US" sz="2400" spc="14" dirty="0" smtClean="0">
                <a:latin typeface="Times New Roman"/>
                <a:cs typeface="Times New Roman"/>
              </a:rPr>
              <a:t> </a:t>
            </a:r>
            <a:r>
              <a:rPr lang="en-US" sz="2400" dirty="0" smtClean="0">
                <a:latin typeface="Times New Roman"/>
                <a:cs typeface="Times New Roman"/>
              </a:rPr>
              <a:t>to</a:t>
            </a:r>
            <a:r>
              <a:rPr lang="en-US" sz="2400" spc="20" dirty="0" smtClean="0">
                <a:solidFill>
                  <a:srgbClr val="0070C0"/>
                </a:solidFill>
                <a:latin typeface="Times New Roman"/>
                <a:cs typeface="Times New Roman"/>
              </a:rPr>
              <a:t> </a:t>
            </a:r>
            <a:r>
              <a:rPr lang="en-US" sz="2400" spc="-10" dirty="0" smtClean="0">
                <a:solidFill>
                  <a:srgbClr val="0070C0"/>
                </a:solidFill>
                <a:latin typeface="Times New Roman"/>
                <a:cs typeface="Times New Roman"/>
              </a:rPr>
              <a:t>create</a:t>
            </a:r>
            <a:r>
              <a:rPr lang="en-US" sz="2400" spc="4" dirty="0" smtClean="0">
                <a:solidFill>
                  <a:srgbClr val="0070C0"/>
                </a:solidFill>
                <a:latin typeface="Times New Roman"/>
                <a:cs typeface="Times New Roman"/>
              </a:rPr>
              <a:t> </a:t>
            </a:r>
            <a:r>
              <a:rPr lang="en-US" sz="2400" dirty="0" smtClean="0">
                <a:solidFill>
                  <a:srgbClr val="0070C0"/>
                </a:solidFill>
                <a:latin typeface="Times New Roman"/>
                <a:cs typeface="Times New Roman"/>
              </a:rPr>
              <a:t>the</a:t>
            </a:r>
            <a:r>
              <a:rPr lang="en-US" sz="2400" spc="14" dirty="0" smtClean="0">
                <a:solidFill>
                  <a:srgbClr val="0070C0"/>
                </a:solidFill>
                <a:latin typeface="Times New Roman"/>
                <a:cs typeface="Times New Roman"/>
              </a:rPr>
              <a:t> </a:t>
            </a:r>
            <a:r>
              <a:rPr lang="en-US" sz="2400" b="1" spc="-20" dirty="0" err="1" smtClean="0">
                <a:solidFill>
                  <a:srgbClr val="0070C0"/>
                </a:solidFill>
                <a:latin typeface="Times New Roman"/>
                <a:cs typeface="Times New Roman"/>
              </a:rPr>
              <a:t>Harappan</a:t>
            </a:r>
            <a:r>
              <a:rPr lang="en-US" sz="2400" b="1" spc="4" dirty="0" smtClean="0">
                <a:solidFill>
                  <a:srgbClr val="0070C0"/>
                </a:solidFill>
                <a:latin typeface="Times New Roman"/>
                <a:cs typeface="Times New Roman"/>
              </a:rPr>
              <a:t> </a:t>
            </a:r>
            <a:r>
              <a:rPr lang="en-US" sz="2400" b="1" spc="-10" dirty="0" smtClean="0">
                <a:solidFill>
                  <a:srgbClr val="0070C0"/>
                </a:solidFill>
                <a:latin typeface="Times New Roman"/>
                <a:cs typeface="Times New Roman"/>
              </a:rPr>
              <a:t>Cities.</a:t>
            </a:r>
            <a:endParaRPr lang="en-IN" sz="2400" b="1" dirty="0">
              <a:solidFill>
                <a:srgbClr val="0070C0"/>
              </a:solidFill>
            </a:endParaRPr>
          </a:p>
        </p:txBody>
      </p:sp>
    </p:spTree>
    <p:extLst>
      <p:ext uri="{BB962C8B-B14F-4D97-AF65-F5344CB8AC3E}">
        <p14:creationId xmlns:p14="http://schemas.microsoft.com/office/powerpoint/2010/main" val="399421731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838200" y="381000"/>
            <a:ext cx="8534400" cy="7294240"/>
          </a:xfrm>
          <a:prstGeom prst="rect">
            <a:avLst/>
          </a:prstGeom>
        </p:spPr>
        <p:txBody>
          <a:bodyPr wrap="square" lIns="91378" tIns="45688" rIns="91378" bIns="45688">
            <a:spAutoFit/>
          </a:bodyPr>
          <a:lstStyle/>
          <a:p>
            <a:pPr marL="298441" lvl="2" indent="-285750" algn="just">
              <a:lnSpc>
                <a:spcPct val="150000"/>
              </a:lnSpc>
              <a:buFont typeface="Arial" panose="020B0604020202020204" pitchFamily="34" charset="0"/>
              <a:buChar char="•"/>
              <a:tabLst>
                <a:tab pos="467031" algn="l"/>
              </a:tabLst>
            </a:pPr>
            <a:r>
              <a:rPr lang="en-US" sz="1600" spc="20" dirty="0">
                <a:latin typeface="Times New Roman"/>
                <a:cs typeface="Times New Roman"/>
              </a:rPr>
              <a:t> </a:t>
            </a:r>
            <a:r>
              <a:rPr lang="en-US" sz="2400" spc="-35" dirty="0">
                <a:latin typeface="Times New Roman"/>
                <a:cs typeface="Times New Roman"/>
              </a:rPr>
              <a:t>Archaeological</a:t>
            </a:r>
            <a:r>
              <a:rPr lang="en-US" sz="2400" spc="20" dirty="0">
                <a:latin typeface="Times New Roman"/>
                <a:cs typeface="Times New Roman"/>
              </a:rPr>
              <a:t> </a:t>
            </a:r>
            <a:r>
              <a:rPr lang="en-US" sz="2400" spc="-25" dirty="0">
                <a:latin typeface="Times New Roman"/>
                <a:cs typeface="Times New Roman"/>
              </a:rPr>
              <a:t>excavations</a:t>
            </a:r>
            <a:r>
              <a:rPr lang="en-US" sz="2400" spc="10" dirty="0">
                <a:latin typeface="Times New Roman"/>
                <a:cs typeface="Times New Roman"/>
              </a:rPr>
              <a:t> </a:t>
            </a:r>
            <a:r>
              <a:rPr lang="en-US" sz="2400" dirty="0" smtClean="0">
                <a:latin typeface="Times New Roman"/>
                <a:cs typeface="Times New Roman"/>
              </a:rPr>
              <a:t>have</a:t>
            </a:r>
            <a:r>
              <a:rPr lang="en-US" sz="2400" spc="10" dirty="0">
                <a:latin typeface="Times New Roman"/>
                <a:cs typeface="Times New Roman"/>
              </a:rPr>
              <a:t> </a:t>
            </a:r>
            <a:r>
              <a:rPr lang="en-US" sz="2400" dirty="0" smtClean="0">
                <a:latin typeface="Times New Roman"/>
                <a:cs typeface="Times New Roman"/>
              </a:rPr>
              <a:t>shown</a:t>
            </a:r>
            <a:r>
              <a:rPr lang="en-US" sz="2400" spc="10" dirty="0">
                <a:latin typeface="Times New Roman"/>
                <a:cs typeface="Times New Roman"/>
              </a:rPr>
              <a:t> </a:t>
            </a:r>
            <a:r>
              <a:rPr lang="en-US" sz="2400" spc="-20" dirty="0">
                <a:latin typeface="Times New Roman"/>
                <a:cs typeface="Times New Roman"/>
              </a:rPr>
              <a:t>that </a:t>
            </a:r>
            <a:r>
              <a:rPr lang="en-US" sz="2400" spc="-20" dirty="0" err="1">
                <a:solidFill>
                  <a:srgbClr val="00823B"/>
                </a:solidFill>
                <a:latin typeface="Times New Roman"/>
                <a:cs typeface="Times New Roman"/>
              </a:rPr>
              <a:t>Harappan</a:t>
            </a:r>
            <a:r>
              <a:rPr lang="en-US" sz="2400" spc="-4" dirty="0">
                <a:solidFill>
                  <a:srgbClr val="00823B"/>
                </a:solidFill>
                <a:latin typeface="Times New Roman"/>
                <a:cs typeface="Times New Roman"/>
              </a:rPr>
              <a:t> </a:t>
            </a:r>
            <a:r>
              <a:rPr lang="en-US" sz="2400" dirty="0" smtClean="0">
                <a:solidFill>
                  <a:srgbClr val="00823B"/>
                </a:solidFill>
                <a:latin typeface="Times New Roman"/>
                <a:cs typeface="Times New Roman"/>
              </a:rPr>
              <a:t>metal</a:t>
            </a:r>
            <a:r>
              <a:rPr lang="en-US" sz="2400" spc="-4" dirty="0">
                <a:solidFill>
                  <a:srgbClr val="00823B"/>
                </a:solidFill>
                <a:latin typeface="Times New Roman"/>
                <a:cs typeface="Times New Roman"/>
              </a:rPr>
              <a:t> </a:t>
            </a:r>
            <a:r>
              <a:rPr lang="en-US" sz="2400" dirty="0" smtClean="0">
                <a:latin typeface="Times New Roman"/>
                <a:cs typeface="Times New Roman"/>
              </a:rPr>
              <a:t>smiths </a:t>
            </a:r>
            <a:r>
              <a:rPr lang="en-US" sz="2400" spc="-20" dirty="0">
                <a:latin typeface="Times New Roman"/>
                <a:cs typeface="Times New Roman"/>
              </a:rPr>
              <a:t>obtained</a:t>
            </a:r>
            <a:r>
              <a:rPr lang="en-US" sz="2400" dirty="0" smtClean="0">
                <a:latin typeface="Times New Roman"/>
                <a:cs typeface="Times New Roman"/>
              </a:rPr>
              <a:t> </a:t>
            </a:r>
            <a:r>
              <a:rPr lang="en-US" sz="2400" spc="-10" dirty="0">
                <a:solidFill>
                  <a:srgbClr val="0070C0"/>
                </a:solidFill>
                <a:latin typeface="Times New Roman"/>
                <a:cs typeface="Times New Roman"/>
              </a:rPr>
              <a:t>copper</a:t>
            </a:r>
            <a:r>
              <a:rPr lang="en-US" sz="2400" spc="-4" dirty="0">
                <a:solidFill>
                  <a:srgbClr val="0070C0"/>
                </a:solidFill>
                <a:latin typeface="Times New Roman"/>
                <a:cs typeface="Times New Roman"/>
              </a:rPr>
              <a:t> </a:t>
            </a:r>
            <a:r>
              <a:rPr lang="en-US" sz="2400" dirty="0" smtClean="0">
                <a:solidFill>
                  <a:srgbClr val="0070C0"/>
                </a:solidFill>
                <a:latin typeface="Times New Roman"/>
                <a:cs typeface="Times New Roman"/>
              </a:rPr>
              <a:t>ore </a:t>
            </a:r>
            <a:r>
              <a:rPr lang="en-US" sz="2400" dirty="0" smtClean="0">
                <a:latin typeface="Times New Roman"/>
                <a:cs typeface="Times New Roman"/>
              </a:rPr>
              <a:t>from the</a:t>
            </a:r>
            <a:r>
              <a:rPr lang="en-US" sz="2400" spc="4" dirty="0">
                <a:latin typeface="Times New Roman"/>
                <a:cs typeface="Times New Roman"/>
              </a:rPr>
              <a:t> </a:t>
            </a:r>
            <a:r>
              <a:rPr lang="en-US" sz="2400" spc="-20" dirty="0" err="1">
                <a:solidFill>
                  <a:srgbClr val="0070C0"/>
                </a:solidFill>
                <a:latin typeface="Times New Roman"/>
                <a:cs typeface="Times New Roman"/>
              </a:rPr>
              <a:t>Aravalli</a:t>
            </a:r>
            <a:r>
              <a:rPr lang="en-US" sz="2400" dirty="0" smtClean="0">
                <a:solidFill>
                  <a:srgbClr val="0070C0"/>
                </a:solidFill>
                <a:latin typeface="Times New Roman"/>
                <a:cs typeface="Times New Roman"/>
              </a:rPr>
              <a:t> </a:t>
            </a:r>
            <a:r>
              <a:rPr lang="en-US" sz="2400" spc="-10" dirty="0">
                <a:solidFill>
                  <a:srgbClr val="0070C0"/>
                </a:solidFill>
                <a:latin typeface="Times New Roman"/>
                <a:cs typeface="Times New Roman"/>
              </a:rPr>
              <a:t>hills,</a:t>
            </a:r>
            <a:r>
              <a:rPr lang="en-US" sz="2400" spc="4" dirty="0">
                <a:solidFill>
                  <a:srgbClr val="0070C0"/>
                </a:solidFill>
                <a:latin typeface="Times New Roman"/>
                <a:cs typeface="Times New Roman"/>
              </a:rPr>
              <a:t> </a:t>
            </a:r>
            <a:r>
              <a:rPr lang="en-US" sz="2400" spc="-30" dirty="0">
                <a:solidFill>
                  <a:srgbClr val="0070C0"/>
                </a:solidFill>
                <a:latin typeface="Times New Roman"/>
                <a:cs typeface="Times New Roman"/>
              </a:rPr>
              <a:t>Baluchistan</a:t>
            </a:r>
            <a:r>
              <a:rPr lang="en-US" sz="2400" dirty="0" smtClean="0">
                <a:solidFill>
                  <a:srgbClr val="0070C0"/>
                </a:solidFill>
                <a:latin typeface="Times New Roman"/>
                <a:cs typeface="Times New Roman"/>
              </a:rPr>
              <a:t> or</a:t>
            </a:r>
            <a:r>
              <a:rPr lang="en-US" sz="2400" spc="-4" dirty="0">
                <a:solidFill>
                  <a:srgbClr val="0070C0"/>
                </a:solidFill>
                <a:latin typeface="Times New Roman"/>
                <a:cs typeface="Times New Roman"/>
              </a:rPr>
              <a:t> </a:t>
            </a:r>
            <a:r>
              <a:rPr lang="en-US" sz="2400" spc="-10" dirty="0">
                <a:solidFill>
                  <a:srgbClr val="0070C0"/>
                </a:solidFill>
                <a:latin typeface="Times New Roman"/>
                <a:cs typeface="Times New Roman"/>
              </a:rPr>
              <a:t>beyond.</a:t>
            </a:r>
            <a:r>
              <a:rPr lang="en-US" sz="2400" dirty="0" smtClean="0">
                <a:solidFill>
                  <a:srgbClr val="0070C0"/>
                </a:solidFill>
                <a:latin typeface="Times New Roman"/>
                <a:cs typeface="Times New Roman"/>
              </a:rPr>
              <a:t> </a:t>
            </a:r>
          </a:p>
          <a:p>
            <a:pPr marL="355591" lvl="2" indent="-342900" algn="just">
              <a:lnSpc>
                <a:spcPct val="150000"/>
              </a:lnSpc>
              <a:buFont typeface="Arial" panose="020B0604020202020204" pitchFamily="34" charset="0"/>
              <a:buChar char="•"/>
              <a:tabLst>
                <a:tab pos="467031" algn="l"/>
              </a:tabLst>
            </a:pPr>
            <a:r>
              <a:rPr lang="en-US" sz="2400" dirty="0" smtClean="0">
                <a:latin typeface="Times New Roman"/>
                <a:cs typeface="Times New Roman"/>
              </a:rPr>
              <a:t>They</a:t>
            </a:r>
            <a:r>
              <a:rPr lang="en-US" sz="2400" spc="-14" dirty="0">
                <a:latin typeface="Times New Roman"/>
                <a:cs typeface="Times New Roman"/>
              </a:rPr>
              <a:t> </a:t>
            </a:r>
            <a:r>
              <a:rPr lang="en-US" sz="2400" spc="-20" dirty="0">
                <a:latin typeface="Times New Roman"/>
                <a:cs typeface="Times New Roman"/>
              </a:rPr>
              <a:t>soon </a:t>
            </a:r>
            <a:r>
              <a:rPr lang="en-US" sz="2400" spc="-45" dirty="0">
                <a:latin typeface="Times New Roman"/>
                <a:cs typeface="Times New Roman"/>
              </a:rPr>
              <a:t>discovered</a:t>
            </a:r>
            <a:r>
              <a:rPr lang="en-US" sz="2400" spc="-30" dirty="0">
                <a:latin typeface="Times New Roman"/>
                <a:cs typeface="Times New Roman"/>
              </a:rPr>
              <a:t> </a:t>
            </a:r>
            <a:r>
              <a:rPr lang="en-US" sz="2400" spc="-45" dirty="0">
                <a:latin typeface="Times New Roman"/>
                <a:cs typeface="Times New Roman"/>
              </a:rPr>
              <a:t>that</a:t>
            </a:r>
            <a:r>
              <a:rPr lang="en-US" sz="2400" spc="-30" dirty="0">
                <a:latin typeface="Times New Roman"/>
                <a:cs typeface="Times New Roman"/>
              </a:rPr>
              <a:t> </a:t>
            </a:r>
            <a:r>
              <a:rPr lang="en-US" sz="2400" spc="-40" dirty="0">
                <a:solidFill>
                  <a:srgbClr val="0070C0"/>
                </a:solidFill>
                <a:latin typeface="Times New Roman"/>
                <a:cs typeface="Times New Roman"/>
              </a:rPr>
              <a:t>adding</a:t>
            </a:r>
            <a:r>
              <a:rPr lang="en-US" sz="2400" spc="-25" dirty="0">
                <a:solidFill>
                  <a:srgbClr val="0070C0"/>
                </a:solidFill>
                <a:latin typeface="Times New Roman"/>
                <a:cs typeface="Times New Roman"/>
              </a:rPr>
              <a:t> </a:t>
            </a:r>
            <a:r>
              <a:rPr lang="en-US" sz="2400" spc="-40" dirty="0">
                <a:solidFill>
                  <a:srgbClr val="0070C0"/>
                </a:solidFill>
                <a:latin typeface="Times New Roman"/>
                <a:cs typeface="Times New Roman"/>
              </a:rPr>
              <a:t>tin</a:t>
            </a:r>
            <a:r>
              <a:rPr lang="en-US" sz="2400" spc="-30" dirty="0">
                <a:solidFill>
                  <a:srgbClr val="0070C0"/>
                </a:solidFill>
                <a:latin typeface="Times New Roman"/>
                <a:cs typeface="Times New Roman"/>
              </a:rPr>
              <a:t> </a:t>
            </a:r>
            <a:r>
              <a:rPr lang="en-US" sz="2400" spc="-20" dirty="0">
                <a:solidFill>
                  <a:srgbClr val="0070C0"/>
                </a:solidFill>
                <a:latin typeface="Times New Roman"/>
                <a:cs typeface="Times New Roman"/>
              </a:rPr>
              <a:t>to</a:t>
            </a:r>
            <a:r>
              <a:rPr lang="en-US" sz="2400" spc="-14" dirty="0">
                <a:solidFill>
                  <a:srgbClr val="0070C0"/>
                </a:solidFill>
                <a:latin typeface="Times New Roman"/>
                <a:cs typeface="Times New Roman"/>
              </a:rPr>
              <a:t> </a:t>
            </a:r>
            <a:r>
              <a:rPr lang="en-US" sz="2400" spc="-40" dirty="0">
                <a:solidFill>
                  <a:srgbClr val="0070C0"/>
                </a:solidFill>
                <a:latin typeface="Times New Roman"/>
                <a:cs typeface="Times New Roman"/>
              </a:rPr>
              <a:t>copper</a:t>
            </a:r>
            <a:r>
              <a:rPr lang="en-US" sz="2400" spc="-25" dirty="0">
                <a:solidFill>
                  <a:srgbClr val="0070C0"/>
                </a:solidFill>
                <a:latin typeface="Times New Roman"/>
                <a:cs typeface="Times New Roman"/>
              </a:rPr>
              <a:t> </a:t>
            </a:r>
            <a:r>
              <a:rPr lang="en-US" sz="2400" spc="-45" dirty="0">
                <a:solidFill>
                  <a:srgbClr val="0070C0"/>
                </a:solidFill>
                <a:latin typeface="Times New Roman"/>
                <a:cs typeface="Times New Roman"/>
              </a:rPr>
              <a:t>produced</a:t>
            </a:r>
            <a:r>
              <a:rPr lang="en-US" sz="2400" spc="-25" dirty="0">
                <a:solidFill>
                  <a:srgbClr val="0070C0"/>
                </a:solidFill>
                <a:latin typeface="Times New Roman"/>
                <a:cs typeface="Times New Roman"/>
              </a:rPr>
              <a:t> </a:t>
            </a:r>
            <a:r>
              <a:rPr lang="en-US" sz="2400" spc="-40" dirty="0">
                <a:solidFill>
                  <a:srgbClr val="0070C0"/>
                </a:solidFill>
                <a:latin typeface="Times New Roman"/>
                <a:cs typeface="Times New Roman"/>
              </a:rPr>
              <a:t>bronze</a:t>
            </a:r>
            <a:r>
              <a:rPr lang="en-US" sz="2400" spc="-40" dirty="0">
                <a:latin typeface="Times New Roman"/>
                <a:cs typeface="Times New Roman"/>
              </a:rPr>
              <a:t>,</a:t>
            </a:r>
            <a:r>
              <a:rPr lang="en-US" sz="2400" spc="-25" dirty="0">
                <a:latin typeface="Times New Roman"/>
                <a:cs typeface="Times New Roman"/>
              </a:rPr>
              <a:t> </a:t>
            </a:r>
            <a:r>
              <a:rPr lang="en-US" sz="2400" dirty="0" smtClean="0">
                <a:latin typeface="Times New Roman"/>
                <a:cs typeface="Times New Roman"/>
              </a:rPr>
              <a:t>a</a:t>
            </a:r>
            <a:r>
              <a:rPr lang="en-US" sz="2400" spc="-14" dirty="0">
                <a:latin typeface="Times New Roman"/>
                <a:cs typeface="Times New Roman"/>
              </a:rPr>
              <a:t> </a:t>
            </a:r>
            <a:r>
              <a:rPr lang="en-US" sz="2400" spc="-50" dirty="0">
                <a:latin typeface="Times New Roman"/>
                <a:cs typeface="Times New Roman"/>
              </a:rPr>
              <a:t>metal</a:t>
            </a:r>
            <a:r>
              <a:rPr lang="en-US" sz="2400" spc="-25" dirty="0">
                <a:latin typeface="Times New Roman"/>
                <a:cs typeface="Times New Roman"/>
              </a:rPr>
              <a:t> </a:t>
            </a:r>
            <a:r>
              <a:rPr lang="en-US" sz="2400" spc="-40" dirty="0">
                <a:latin typeface="Times New Roman"/>
                <a:cs typeface="Times New Roman"/>
              </a:rPr>
              <a:t>harder</a:t>
            </a:r>
            <a:r>
              <a:rPr lang="en-US" sz="2400" spc="-30" dirty="0">
                <a:latin typeface="Times New Roman"/>
                <a:cs typeface="Times New Roman"/>
              </a:rPr>
              <a:t> </a:t>
            </a:r>
            <a:r>
              <a:rPr lang="en-US" sz="2400" spc="-35" dirty="0">
                <a:latin typeface="Times New Roman"/>
                <a:cs typeface="Times New Roman"/>
              </a:rPr>
              <a:t>than</a:t>
            </a:r>
            <a:r>
              <a:rPr lang="en-US" sz="2400" spc="-14" dirty="0">
                <a:latin typeface="Times New Roman"/>
                <a:cs typeface="Times New Roman"/>
              </a:rPr>
              <a:t> </a:t>
            </a:r>
            <a:r>
              <a:rPr lang="en-US" sz="2400" spc="-45" dirty="0">
                <a:latin typeface="Times New Roman"/>
                <a:cs typeface="Times New Roman"/>
              </a:rPr>
              <a:t>copper</a:t>
            </a:r>
            <a:r>
              <a:rPr lang="en-US" sz="2400" spc="-30" dirty="0">
                <a:latin typeface="Times New Roman"/>
                <a:cs typeface="Times New Roman"/>
              </a:rPr>
              <a:t> </a:t>
            </a:r>
            <a:r>
              <a:rPr lang="en-US" sz="2400" spc="-40" dirty="0">
                <a:latin typeface="Times New Roman"/>
                <a:cs typeface="Times New Roman"/>
              </a:rPr>
              <a:t>yet</a:t>
            </a:r>
            <a:r>
              <a:rPr lang="en-US" sz="2400" spc="-10" dirty="0">
                <a:latin typeface="Times New Roman"/>
                <a:cs typeface="Times New Roman"/>
              </a:rPr>
              <a:t> </a:t>
            </a:r>
            <a:r>
              <a:rPr lang="en-US" sz="2400" spc="-40" dirty="0">
                <a:latin typeface="Times New Roman"/>
                <a:cs typeface="Times New Roman"/>
              </a:rPr>
              <a:t>easier</a:t>
            </a:r>
            <a:r>
              <a:rPr lang="en-US" sz="2400" spc="-14" dirty="0">
                <a:latin typeface="Times New Roman"/>
                <a:cs typeface="Times New Roman"/>
              </a:rPr>
              <a:t> </a:t>
            </a:r>
            <a:r>
              <a:rPr lang="en-US" sz="2400" spc="-20" dirty="0">
                <a:latin typeface="Times New Roman"/>
                <a:cs typeface="Times New Roman"/>
              </a:rPr>
              <a:t>to</a:t>
            </a:r>
            <a:r>
              <a:rPr lang="en-US" sz="2400" spc="-14" dirty="0">
                <a:latin typeface="Times New Roman"/>
                <a:cs typeface="Times New Roman"/>
              </a:rPr>
              <a:t> </a:t>
            </a:r>
            <a:r>
              <a:rPr lang="en-US" sz="2400" spc="-40" dirty="0">
                <a:latin typeface="Times New Roman"/>
                <a:cs typeface="Times New Roman"/>
              </a:rPr>
              <a:t>cast,</a:t>
            </a:r>
            <a:r>
              <a:rPr lang="en-US" sz="2400" spc="-25" dirty="0">
                <a:latin typeface="Times New Roman"/>
                <a:cs typeface="Times New Roman"/>
              </a:rPr>
              <a:t> </a:t>
            </a:r>
            <a:r>
              <a:rPr lang="en-US" sz="2400" spc="-35" dirty="0">
                <a:latin typeface="Times New Roman"/>
                <a:cs typeface="Times New Roman"/>
              </a:rPr>
              <a:t>and</a:t>
            </a:r>
            <a:r>
              <a:rPr lang="en-US" sz="2400" spc="-30" dirty="0">
                <a:latin typeface="Times New Roman"/>
                <a:cs typeface="Times New Roman"/>
              </a:rPr>
              <a:t> </a:t>
            </a:r>
            <a:r>
              <a:rPr lang="en-US" sz="2400" spc="-20" dirty="0">
                <a:latin typeface="Times New Roman"/>
                <a:cs typeface="Times New Roman"/>
              </a:rPr>
              <a:t>also </a:t>
            </a:r>
            <a:r>
              <a:rPr lang="en-US" sz="2400" dirty="0" smtClean="0">
                <a:latin typeface="Times New Roman"/>
                <a:cs typeface="Times New Roman"/>
              </a:rPr>
              <a:t>more</a:t>
            </a:r>
            <a:r>
              <a:rPr lang="en-US" sz="2400" spc="-14" dirty="0">
                <a:latin typeface="Times New Roman"/>
                <a:cs typeface="Times New Roman"/>
              </a:rPr>
              <a:t> </a:t>
            </a:r>
            <a:r>
              <a:rPr lang="en-US" sz="2400" spc="-35" dirty="0">
                <a:latin typeface="Times New Roman"/>
                <a:cs typeface="Times New Roman"/>
              </a:rPr>
              <a:t>resistant</a:t>
            </a:r>
            <a:r>
              <a:rPr lang="en-US" sz="2400" spc="-14" dirty="0">
                <a:latin typeface="Times New Roman"/>
                <a:cs typeface="Times New Roman"/>
              </a:rPr>
              <a:t> </a:t>
            </a:r>
            <a:r>
              <a:rPr lang="en-US" sz="2400" dirty="0" smtClean="0">
                <a:latin typeface="Times New Roman"/>
                <a:cs typeface="Times New Roman"/>
              </a:rPr>
              <a:t>to</a:t>
            </a:r>
            <a:r>
              <a:rPr lang="en-US" sz="2400" spc="-14" dirty="0">
                <a:latin typeface="Times New Roman"/>
                <a:cs typeface="Times New Roman"/>
              </a:rPr>
              <a:t> </a:t>
            </a:r>
            <a:r>
              <a:rPr lang="en-US" sz="2400" spc="-35" dirty="0">
                <a:latin typeface="Times New Roman"/>
                <a:cs typeface="Times New Roman"/>
              </a:rPr>
              <a:t>corrosion.</a:t>
            </a:r>
            <a:r>
              <a:rPr lang="en-US" sz="2400" spc="-20" dirty="0">
                <a:latin typeface="Times New Roman"/>
                <a:cs typeface="Times New Roman"/>
              </a:rPr>
              <a:t> </a:t>
            </a:r>
          </a:p>
          <a:p>
            <a:pPr marL="355591" lvl="2" indent="-342900" algn="just">
              <a:lnSpc>
                <a:spcPct val="150000"/>
              </a:lnSpc>
              <a:buFont typeface="Arial" panose="020B0604020202020204" pitchFamily="34" charset="0"/>
              <a:buChar char="•"/>
              <a:tabLst>
                <a:tab pos="467031" algn="l"/>
              </a:tabLst>
            </a:pPr>
            <a:r>
              <a:rPr lang="en-US" sz="2400" spc="-30" dirty="0">
                <a:latin typeface="Times New Roman"/>
                <a:cs typeface="Times New Roman"/>
              </a:rPr>
              <a:t>Whether</a:t>
            </a:r>
            <a:r>
              <a:rPr lang="en-US" sz="2400" spc="-14" dirty="0">
                <a:latin typeface="Times New Roman"/>
                <a:cs typeface="Times New Roman"/>
              </a:rPr>
              <a:t> </a:t>
            </a:r>
            <a:r>
              <a:rPr lang="en-US" sz="2400" spc="-40" dirty="0">
                <a:latin typeface="Times New Roman"/>
                <a:cs typeface="Times New Roman"/>
              </a:rPr>
              <a:t>deliberately</a:t>
            </a:r>
            <a:r>
              <a:rPr lang="en-US" sz="2400" spc="-35" dirty="0">
                <a:latin typeface="Times New Roman"/>
                <a:cs typeface="Times New Roman"/>
              </a:rPr>
              <a:t> </a:t>
            </a:r>
            <a:r>
              <a:rPr lang="en-US" sz="2400" spc="-10" dirty="0">
                <a:latin typeface="Times New Roman"/>
                <a:cs typeface="Times New Roman"/>
              </a:rPr>
              <a:t>added</a:t>
            </a:r>
            <a:r>
              <a:rPr lang="en-US" sz="2400" spc="-4" dirty="0">
                <a:latin typeface="Times New Roman"/>
                <a:cs typeface="Times New Roman"/>
              </a:rPr>
              <a:t> </a:t>
            </a:r>
            <a:r>
              <a:rPr lang="en-US" sz="2400" dirty="0" smtClean="0">
                <a:latin typeface="Times New Roman"/>
                <a:cs typeface="Times New Roman"/>
              </a:rPr>
              <a:t>or</a:t>
            </a:r>
            <a:r>
              <a:rPr lang="en-US" sz="2400" spc="-10" dirty="0">
                <a:latin typeface="Times New Roman"/>
                <a:cs typeface="Times New Roman"/>
              </a:rPr>
              <a:t> </a:t>
            </a:r>
            <a:r>
              <a:rPr lang="en-US" sz="2400" spc="-35" dirty="0">
                <a:latin typeface="Times New Roman"/>
                <a:cs typeface="Times New Roman"/>
              </a:rPr>
              <a:t>already</a:t>
            </a:r>
            <a:r>
              <a:rPr lang="en-US" sz="2400" spc="-40" dirty="0">
                <a:latin typeface="Times New Roman"/>
                <a:cs typeface="Times New Roman"/>
              </a:rPr>
              <a:t> </a:t>
            </a:r>
            <a:r>
              <a:rPr lang="en-US" sz="2400" spc="-25" dirty="0">
                <a:latin typeface="Times New Roman"/>
                <a:cs typeface="Times New Roman"/>
              </a:rPr>
              <a:t>present</a:t>
            </a:r>
            <a:r>
              <a:rPr lang="en-US" sz="2400" spc="-4" dirty="0">
                <a:latin typeface="Times New Roman"/>
                <a:cs typeface="Times New Roman"/>
              </a:rPr>
              <a:t> </a:t>
            </a:r>
            <a:r>
              <a:rPr lang="en-US" sz="2400" dirty="0" smtClean="0">
                <a:latin typeface="Times New Roman"/>
                <a:cs typeface="Times New Roman"/>
              </a:rPr>
              <a:t>in</a:t>
            </a:r>
            <a:r>
              <a:rPr lang="en-US" sz="2400" spc="-14" dirty="0">
                <a:latin typeface="Times New Roman"/>
                <a:cs typeface="Times New Roman"/>
              </a:rPr>
              <a:t> </a:t>
            </a:r>
            <a:r>
              <a:rPr lang="en-US" sz="2400" dirty="0" smtClean="0">
                <a:latin typeface="Times New Roman"/>
                <a:cs typeface="Times New Roman"/>
              </a:rPr>
              <a:t>the</a:t>
            </a:r>
            <a:r>
              <a:rPr lang="en-US" sz="2400" spc="-10" dirty="0">
                <a:latin typeface="Times New Roman"/>
                <a:cs typeface="Times New Roman"/>
              </a:rPr>
              <a:t> ore,</a:t>
            </a:r>
            <a:r>
              <a:rPr lang="en-US" sz="2400" spc="-20" dirty="0">
                <a:latin typeface="Times New Roman"/>
                <a:cs typeface="Times New Roman"/>
              </a:rPr>
              <a:t> </a:t>
            </a:r>
            <a:r>
              <a:rPr lang="en-US" sz="2400" spc="-20" dirty="0">
                <a:solidFill>
                  <a:srgbClr val="00B050"/>
                </a:solidFill>
                <a:latin typeface="Times New Roman"/>
                <a:cs typeface="Times New Roman"/>
              </a:rPr>
              <a:t>“</a:t>
            </a:r>
            <a:r>
              <a:rPr lang="en-US" sz="2400" spc="-30" dirty="0">
                <a:solidFill>
                  <a:srgbClr val="00B050"/>
                </a:solidFill>
                <a:latin typeface="Times New Roman"/>
                <a:cs typeface="Times New Roman"/>
              </a:rPr>
              <a:t>various</a:t>
            </a:r>
            <a:r>
              <a:rPr lang="en-US" sz="2400" spc="-14" dirty="0">
                <a:solidFill>
                  <a:srgbClr val="00B050"/>
                </a:solidFill>
                <a:latin typeface="Times New Roman"/>
                <a:cs typeface="Times New Roman"/>
              </a:rPr>
              <a:t> </a:t>
            </a:r>
            <a:r>
              <a:rPr lang="en-US" sz="2400" spc="-35" dirty="0">
                <a:solidFill>
                  <a:srgbClr val="00B050"/>
                </a:solidFill>
                <a:latin typeface="Times New Roman"/>
                <a:cs typeface="Times New Roman"/>
              </a:rPr>
              <a:t>impurities” </a:t>
            </a:r>
            <a:r>
              <a:rPr lang="en-US" sz="2400" spc="-10" dirty="0">
                <a:solidFill>
                  <a:srgbClr val="00B050"/>
                </a:solidFill>
                <a:latin typeface="Times New Roman"/>
                <a:cs typeface="Times New Roman"/>
              </a:rPr>
              <a:t>such</a:t>
            </a:r>
            <a:r>
              <a:rPr lang="en-US" sz="2400" spc="-25" dirty="0">
                <a:solidFill>
                  <a:srgbClr val="00B050"/>
                </a:solidFill>
                <a:latin typeface="Times New Roman"/>
                <a:cs typeface="Times New Roman"/>
              </a:rPr>
              <a:t> </a:t>
            </a:r>
            <a:r>
              <a:rPr lang="en-US" sz="2400" dirty="0" smtClean="0">
                <a:solidFill>
                  <a:srgbClr val="00B050"/>
                </a:solidFill>
                <a:latin typeface="Times New Roman"/>
                <a:cs typeface="Times New Roman"/>
              </a:rPr>
              <a:t>as</a:t>
            </a:r>
            <a:r>
              <a:rPr lang="en-US" sz="2400" spc="-35" dirty="0">
                <a:solidFill>
                  <a:srgbClr val="00B050"/>
                </a:solidFill>
                <a:latin typeface="Times New Roman"/>
                <a:cs typeface="Times New Roman"/>
              </a:rPr>
              <a:t> </a:t>
            </a:r>
            <a:r>
              <a:rPr lang="en-US" sz="2400" spc="-30" dirty="0">
                <a:solidFill>
                  <a:srgbClr val="00B050"/>
                </a:solidFill>
                <a:latin typeface="Times New Roman"/>
                <a:cs typeface="Times New Roman"/>
              </a:rPr>
              <a:t>nickel,</a:t>
            </a:r>
            <a:r>
              <a:rPr lang="en-US" sz="2400" spc="-35" dirty="0">
                <a:solidFill>
                  <a:srgbClr val="00B050"/>
                </a:solidFill>
                <a:latin typeface="Times New Roman"/>
                <a:cs typeface="Times New Roman"/>
              </a:rPr>
              <a:t> </a:t>
            </a:r>
            <a:r>
              <a:rPr lang="en-US" sz="2400" spc="-30" dirty="0">
                <a:solidFill>
                  <a:srgbClr val="00B050"/>
                </a:solidFill>
                <a:latin typeface="Times New Roman"/>
                <a:cs typeface="Times New Roman"/>
              </a:rPr>
              <a:t>arsenic </a:t>
            </a:r>
            <a:r>
              <a:rPr lang="en-US" sz="2400" dirty="0" smtClean="0">
                <a:solidFill>
                  <a:srgbClr val="00B050"/>
                </a:solidFill>
                <a:latin typeface="Times New Roman"/>
                <a:cs typeface="Times New Roman"/>
              </a:rPr>
              <a:t>or</a:t>
            </a:r>
            <a:r>
              <a:rPr lang="en-US" sz="2400" spc="-35" dirty="0">
                <a:solidFill>
                  <a:srgbClr val="00B050"/>
                </a:solidFill>
                <a:latin typeface="Times New Roman"/>
                <a:cs typeface="Times New Roman"/>
              </a:rPr>
              <a:t> </a:t>
            </a:r>
            <a:r>
              <a:rPr lang="en-US" sz="2400" spc="-20" dirty="0">
                <a:solidFill>
                  <a:srgbClr val="00B050"/>
                </a:solidFill>
                <a:latin typeface="Times New Roman"/>
                <a:cs typeface="Times New Roman"/>
              </a:rPr>
              <a:t>lead</a:t>
            </a:r>
            <a:r>
              <a:rPr lang="en-US" sz="2400" spc="-25" dirty="0">
                <a:latin typeface="Times New Roman"/>
                <a:cs typeface="Times New Roman"/>
              </a:rPr>
              <a:t> </a:t>
            </a:r>
            <a:r>
              <a:rPr lang="en-US" sz="2400" spc="-30" dirty="0">
                <a:latin typeface="Times New Roman"/>
                <a:cs typeface="Times New Roman"/>
              </a:rPr>
              <a:t>enabled</a:t>
            </a:r>
            <a:r>
              <a:rPr lang="en-US" sz="2400" spc="-25" dirty="0">
                <a:latin typeface="Times New Roman"/>
                <a:cs typeface="Times New Roman"/>
              </a:rPr>
              <a:t> </a:t>
            </a:r>
            <a:r>
              <a:rPr lang="en-US" sz="2400" dirty="0" smtClean="0">
                <a:latin typeface="Times New Roman"/>
                <a:cs typeface="Times New Roman"/>
              </a:rPr>
              <a:t>the</a:t>
            </a:r>
            <a:r>
              <a:rPr lang="en-US" sz="2400" spc="-30" dirty="0">
                <a:latin typeface="Times New Roman"/>
                <a:cs typeface="Times New Roman"/>
              </a:rPr>
              <a:t> </a:t>
            </a:r>
            <a:r>
              <a:rPr lang="en-US" sz="2400" spc="-35" dirty="0" err="1">
                <a:latin typeface="Times New Roman"/>
                <a:cs typeface="Times New Roman"/>
              </a:rPr>
              <a:t>Harappans</a:t>
            </a:r>
            <a:r>
              <a:rPr lang="en-US" sz="2400" spc="-30" dirty="0">
                <a:latin typeface="Times New Roman"/>
                <a:cs typeface="Times New Roman"/>
              </a:rPr>
              <a:t> </a:t>
            </a:r>
            <a:r>
              <a:rPr lang="en-US" sz="2400" dirty="0" smtClean="0">
                <a:latin typeface="Times New Roman"/>
                <a:cs typeface="Times New Roman"/>
              </a:rPr>
              <a:t>to</a:t>
            </a:r>
            <a:r>
              <a:rPr lang="en-US" sz="2400" spc="-25" dirty="0">
                <a:latin typeface="Times New Roman"/>
                <a:cs typeface="Times New Roman"/>
              </a:rPr>
              <a:t> </a:t>
            </a:r>
            <a:r>
              <a:rPr lang="en-US" sz="2400" spc="-30" dirty="0">
                <a:solidFill>
                  <a:srgbClr val="00823B"/>
                </a:solidFill>
                <a:latin typeface="Times New Roman"/>
                <a:cs typeface="Times New Roman"/>
              </a:rPr>
              <a:t>harden</a:t>
            </a:r>
            <a:r>
              <a:rPr lang="en-US" sz="2400" spc="-25" dirty="0">
                <a:solidFill>
                  <a:srgbClr val="00823B"/>
                </a:solidFill>
                <a:latin typeface="Times New Roman"/>
                <a:cs typeface="Times New Roman"/>
              </a:rPr>
              <a:t> bronze</a:t>
            </a:r>
            <a:r>
              <a:rPr lang="en-US" sz="2400" spc="-30" dirty="0">
                <a:solidFill>
                  <a:srgbClr val="00823B"/>
                </a:solidFill>
                <a:latin typeface="Times New Roman"/>
                <a:cs typeface="Times New Roman"/>
              </a:rPr>
              <a:t> </a:t>
            </a:r>
            <a:r>
              <a:rPr lang="en-US" sz="2400" spc="-35" dirty="0">
                <a:solidFill>
                  <a:srgbClr val="00823B"/>
                </a:solidFill>
                <a:latin typeface="Times New Roman"/>
                <a:cs typeface="Times New Roman"/>
              </a:rPr>
              <a:t>further</a:t>
            </a:r>
            <a:r>
              <a:rPr lang="en-US" sz="2400" spc="-35" dirty="0">
                <a:latin typeface="Times New Roman"/>
                <a:cs typeface="Times New Roman"/>
              </a:rPr>
              <a:t>. </a:t>
            </a:r>
            <a:r>
              <a:rPr lang="en-US" sz="2400" dirty="0" smtClean="0">
                <a:latin typeface="Times New Roman"/>
                <a:cs typeface="Times New Roman"/>
              </a:rPr>
              <a:t>B</a:t>
            </a:r>
            <a:r>
              <a:rPr lang="en-US" sz="2400" spc="-10" dirty="0">
                <a:latin typeface="Times New Roman"/>
                <a:cs typeface="Times New Roman"/>
              </a:rPr>
              <a:t>ronze </a:t>
            </a:r>
            <a:r>
              <a:rPr lang="en-US" sz="2400" spc="-35" dirty="0">
                <a:latin typeface="Times New Roman"/>
                <a:cs typeface="Times New Roman"/>
              </a:rPr>
              <a:t>chisels</a:t>
            </a:r>
            <a:r>
              <a:rPr lang="en-US" sz="2400" spc="-30" dirty="0">
                <a:latin typeface="Times New Roman"/>
                <a:cs typeface="Times New Roman"/>
              </a:rPr>
              <a:t> </a:t>
            </a:r>
            <a:r>
              <a:rPr lang="en-US" sz="2400" spc="-25" dirty="0">
                <a:latin typeface="Times New Roman"/>
                <a:cs typeface="Times New Roman"/>
              </a:rPr>
              <a:t>could</a:t>
            </a:r>
            <a:r>
              <a:rPr lang="en-US" sz="2400" spc="-30" dirty="0">
                <a:latin typeface="Times New Roman"/>
                <a:cs typeface="Times New Roman"/>
              </a:rPr>
              <a:t> </a:t>
            </a:r>
            <a:r>
              <a:rPr lang="en-US" sz="2400" dirty="0" smtClean="0">
                <a:latin typeface="Times New Roman"/>
                <a:cs typeface="Times New Roman"/>
              </a:rPr>
              <a:t>be</a:t>
            </a:r>
            <a:r>
              <a:rPr lang="en-US" sz="2400" spc="-20" dirty="0">
                <a:latin typeface="Times New Roman"/>
                <a:cs typeface="Times New Roman"/>
              </a:rPr>
              <a:t> used</a:t>
            </a:r>
            <a:r>
              <a:rPr lang="en-US" sz="2400" spc="-30" dirty="0">
                <a:latin typeface="Times New Roman"/>
                <a:cs typeface="Times New Roman"/>
              </a:rPr>
              <a:t> </a:t>
            </a:r>
            <a:r>
              <a:rPr lang="en-US" sz="2400" dirty="0" smtClean="0">
                <a:latin typeface="Times New Roman"/>
                <a:cs typeface="Times New Roman"/>
              </a:rPr>
              <a:t>to</a:t>
            </a:r>
            <a:r>
              <a:rPr lang="en-US" sz="2400" spc="-25" dirty="0">
                <a:latin typeface="Times New Roman"/>
                <a:cs typeface="Times New Roman"/>
              </a:rPr>
              <a:t> dress</a:t>
            </a:r>
            <a:r>
              <a:rPr lang="en-US" sz="2400" spc="-30" dirty="0">
                <a:latin typeface="Times New Roman"/>
                <a:cs typeface="Times New Roman"/>
              </a:rPr>
              <a:t> </a:t>
            </a:r>
            <a:r>
              <a:rPr lang="en-US" sz="2400" spc="-35" dirty="0">
                <a:latin typeface="Times New Roman"/>
                <a:cs typeface="Times New Roman"/>
              </a:rPr>
              <a:t>stones.</a:t>
            </a:r>
            <a:r>
              <a:rPr lang="en-US" sz="2400" spc="-40" dirty="0">
                <a:latin typeface="Times New Roman"/>
                <a:cs typeface="Times New Roman"/>
              </a:rPr>
              <a:t> </a:t>
            </a:r>
          </a:p>
          <a:p>
            <a:pPr marL="355591" lvl="2" indent="-342900" algn="just">
              <a:lnSpc>
                <a:spcPct val="150000"/>
              </a:lnSpc>
              <a:buFont typeface="Arial" panose="020B0604020202020204" pitchFamily="34" charset="0"/>
              <a:buChar char="•"/>
              <a:tabLst>
                <a:tab pos="467031" algn="l"/>
              </a:tabLst>
            </a:pPr>
            <a:r>
              <a:rPr lang="en-US" sz="2400" spc="-30" dirty="0">
                <a:latin typeface="Times New Roman"/>
                <a:cs typeface="Times New Roman"/>
              </a:rPr>
              <a:t>Shaping</a:t>
            </a:r>
            <a:r>
              <a:rPr lang="en-US" sz="2400" spc="-25" dirty="0">
                <a:latin typeface="Times New Roman"/>
                <a:cs typeface="Times New Roman"/>
              </a:rPr>
              <a:t> </a:t>
            </a:r>
            <a:r>
              <a:rPr lang="en-US" sz="2400" spc="-35" dirty="0">
                <a:latin typeface="Times New Roman"/>
                <a:cs typeface="Times New Roman"/>
              </a:rPr>
              <a:t>copper </a:t>
            </a:r>
            <a:r>
              <a:rPr lang="en-US" sz="2400" dirty="0" smtClean="0">
                <a:latin typeface="Times New Roman"/>
                <a:cs typeface="Times New Roman"/>
              </a:rPr>
              <a:t>or</a:t>
            </a:r>
            <a:r>
              <a:rPr lang="en-US" sz="2400" spc="-20" dirty="0">
                <a:latin typeface="Times New Roman"/>
                <a:cs typeface="Times New Roman"/>
              </a:rPr>
              <a:t> </a:t>
            </a:r>
            <a:r>
              <a:rPr lang="en-US" sz="2400" spc="-30" dirty="0">
                <a:latin typeface="Times New Roman"/>
                <a:cs typeface="Times New Roman"/>
              </a:rPr>
              <a:t>bronze</a:t>
            </a:r>
            <a:r>
              <a:rPr lang="en-US" sz="2400" spc="-14" dirty="0">
                <a:latin typeface="Times New Roman"/>
                <a:cs typeface="Times New Roman"/>
              </a:rPr>
              <a:t> </a:t>
            </a:r>
            <a:r>
              <a:rPr lang="en-US" sz="2400" spc="-35" dirty="0">
                <a:latin typeface="Times New Roman"/>
                <a:cs typeface="Times New Roman"/>
              </a:rPr>
              <a:t>involved</a:t>
            </a:r>
            <a:r>
              <a:rPr lang="en-US" sz="2400" spc="-30" dirty="0">
                <a:latin typeface="Times New Roman"/>
                <a:cs typeface="Times New Roman"/>
              </a:rPr>
              <a:t> </a:t>
            </a:r>
            <a:r>
              <a:rPr lang="en-US" sz="2400" spc="-40" dirty="0">
                <a:latin typeface="Times New Roman"/>
                <a:cs typeface="Times New Roman"/>
              </a:rPr>
              <a:t>techniques</a:t>
            </a:r>
            <a:r>
              <a:rPr lang="en-US" sz="2400" spc="-25" dirty="0">
                <a:latin typeface="Times New Roman"/>
                <a:cs typeface="Times New Roman"/>
              </a:rPr>
              <a:t> </a:t>
            </a:r>
            <a:r>
              <a:rPr lang="en-US" sz="2400" dirty="0" smtClean="0">
                <a:latin typeface="Times New Roman"/>
                <a:cs typeface="Times New Roman"/>
              </a:rPr>
              <a:t>of</a:t>
            </a:r>
            <a:r>
              <a:rPr lang="en-US" sz="2400" spc="-25" dirty="0">
                <a:latin typeface="Times New Roman"/>
                <a:cs typeface="Times New Roman"/>
              </a:rPr>
              <a:t> </a:t>
            </a:r>
            <a:r>
              <a:rPr lang="en-US" sz="2400" spc="-45" dirty="0">
                <a:latin typeface="Times New Roman"/>
                <a:cs typeface="Times New Roman"/>
              </a:rPr>
              <a:t>fabrication</a:t>
            </a:r>
            <a:r>
              <a:rPr lang="en-US" sz="2400" spc="-14" dirty="0">
                <a:latin typeface="Times New Roman"/>
                <a:cs typeface="Times New Roman"/>
              </a:rPr>
              <a:t> </a:t>
            </a:r>
            <a:r>
              <a:rPr lang="en-US" sz="2400" spc="-20" dirty="0">
                <a:latin typeface="Times New Roman"/>
                <a:cs typeface="Times New Roman"/>
              </a:rPr>
              <a:t>such </a:t>
            </a:r>
            <a:r>
              <a:rPr lang="en-US" sz="2400" spc="-25" dirty="0">
                <a:latin typeface="Times New Roman"/>
                <a:cs typeface="Times New Roman"/>
              </a:rPr>
              <a:t>as </a:t>
            </a:r>
            <a:r>
              <a:rPr lang="en-US" sz="2400" spc="-45" dirty="0">
                <a:solidFill>
                  <a:srgbClr val="00B050"/>
                </a:solidFill>
                <a:latin typeface="Times New Roman"/>
                <a:cs typeface="Times New Roman"/>
              </a:rPr>
              <a:t>forging,</a:t>
            </a:r>
            <a:r>
              <a:rPr lang="en-US" sz="2400" spc="-25" dirty="0">
                <a:solidFill>
                  <a:srgbClr val="00B050"/>
                </a:solidFill>
                <a:latin typeface="Times New Roman"/>
                <a:cs typeface="Times New Roman"/>
              </a:rPr>
              <a:t> </a:t>
            </a:r>
            <a:r>
              <a:rPr lang="en-US" sz="2400" spc="-45" dirty="0">
                <a:solidFill>
                  <a:srgbClr val="00B050"/>
                </a:solidFill>
                <a:latin typeface="Times New Roman"/>
                <a:cs typeface="Times New Roman"/>
              </a:rPr>
              <a:t>sinking,</a:t>
            </a:r>
            <a:r>
              <a:rPr lang="en-US" sz="2400" spc="-25" dirty="0">
                <a:solidFill>
                  <a:srgbClr val="00B050"/>
                </a:solidFill>
                <a:latin typeface="Times New Roman"/>
                <a:cs typeface="Times New Roman"/>
              </a:rPr>
              <a:t> </a:t>
            </a:r>
            <a:r>
              <a:rPr lang="en-US" sz="2400" spc="-50" dirty="0">
                <a:solidFill>
                  <a:srgbClr val="00B050"/>
                </a:solidFill>
                <a:latin typeface="Times New Roman"/>
                <a:cs typeface="Times New Roman"/>
              </a:rPr>
              <a:t>raising,</a:t>
            </a:r>
            <a:r>
              <a:rPr lang="en-US" sz="2400" spc="-20" dirty="0">
                <a:solidFill>
                  <a:srgbClr val="00B050"/>
                </a:solidFill>
                <a:latin typeface="Times New Roman"/>
                <a:cs typeface="Times New Roman"/>
              </a:rPr>
              <a:t> </a:t>
            </a:r>
            <a:r>
              <a:rPr lang="en-US" sz="2400" spc="-45" dirty="0">
                <a:solidFill>
                  <a:srgbClr val="00B050"/>
                </a:solidFill>
                <a:latin typeface="Times New Roman"/>
                <a:cs typeface="Times New Roman"/>
              </a:rPr>
              <a:t>cold</a:t>
            </a:r>
            <a:r>
              <a:rPr lang="en-US" sz="2400" spc="-25" dirty="0">
                <a:solidFill>
                  <a:srgbClr val="00B050"/>
                </a:solidFill>
                <a:latin typeface="Times New Roman"/>
                <a:cs typeface="Times New Roman"/>
              </a:rPr>
              <a:t> </a:t>
            </a:r>
            <a:r>
              <a:rPr lang="en-US" sz="2400" spc="-45" dirty="0">
                <a:solidFill>
                  <a:srgbClr val="00B050"/>
                </a:solidFill>
                <a:latin typeface="Times New Roman"/>
                <a:cs typeface="Times New Roman"/>
              </a:rPr>
              <a:t>work,</a:t>
            </a:r>
            <a:r>
              <a:rPr lang="en-US" sz="2400" spc="-35" dirty="0">
                <a:solidFill>
                  <a:srgbClr val="00B050"/>
                </a:solidFill>
                <a:latin typeface="Times New Roman"/>
                <a:cs typeface="Times New Roman"/>
              </a:rPr>
              <a:t> </a:t>
            </a:r>
            <a:r>
              <a:rPr lang="en-US" sz="2400" spc="-50" dirty="0">
                <a:solidFill>
                  <a:srgbClr val="00B050"/>
                </a:solidFill>
                <a:latin typeface="Times New Roman"/>
                <a:cs typeface="Times New Roman"/>
              </a:rPr>
              <a:t>annealing,</a:t>
            </a:r>
            <a:r>
              <a:rPr lang="en-US" sz="2400" spc="-20" dirty="0">
                <a:solidFill>
                  <a:srgbClr val="00B050"/>
                </a:solidFill>
                <a:latin typeface="Times New Roman"/>
                <a:cs typeface="Times New Roman"/>
              </a:rPr>
              <a:t> </a:t>
            </a:r>
            <a:r>
              <a:rPr lang="en-US" sz="2400" spc="-50" dirty="0">
                <a:solidFill>
                  <a:srgbClr val="00B050"/>
                </a:solidFill>
                <a:latin typeface="Times New Roman"/>
                <a:cs typeface="Times New Roman"/>
              </a:rPr>
              <a:t>riveting,</a:t>
            </a:r>
            <a:r>
              <a:rPr lang="en-US" sz="2400" spc="-25" dirty="0">
                <a:solidFill>
                  <a:srgbClr val="00B050"/>
                </a:solidFill>
                <a:latin typeface="Times New Roman"/>
                <a:cs typeface="Times New Roman"/>
              </a:rPr>
              <a:t> </a:t>
            </a:r>
            <a:r>
              <a:rPr lang="en-US" sz="2400" spc="-45" dirty="0">
                <a:solidFill>
                  <a:srgbClr val="00B050"/>
                </a:solidFill>
                <a:latin typeface="Times New Roman"/>
                <a:cs typeface="Times New Roman"/>
              </a:rPr>
              <a:t>lapping</a:t>
            </a:r>
            <a:r>
              <a:rPr lang="en-US" sz="2400" spc="-35" dirty="0">
                <a:solidFill>
                  <a:srgbClr val="00B050"/>
                </a:solidFill>
                <a:latin typeface="Times New Roman"/>
                <a:cs typeface="Times New Roman"/>
              </a:rPr>
              <a:t> </a:t>
            </a:r>
            <a:r>
              <a:rPr lang="en-US" sz="2400" spc="-40" dirty="0">
                <a:solidFill>
                  <a:srgbClr val="00B050"/>
                </a:solidFill>
                <a:latin typeface="Times New Roman"/>
                <a:cs typeface="Times New Roman"/>
              </a:rPr>
              <a:t>and</a:t>
            </a:r>
            <a:r>
              <a:rPr lang="en-US" sz="2400" spc="-35" dirty="0">
                <a:solidFill>
                  <a:srgbClr val="00B050"/>
                </a:solidFill>
                <a:latin typeface="Times New Roman"/>
                <a:cs typeface="Times New Roman"/>
              </a:rPr>
              <a:t> </a:t>
            </a:r>
            <a:r>
              <a:rPr lang="en-US" sz="2400" spc="-10" dirty="0">
                <a:solidFill>
                  <a:srgbClr val="00B050"/>
                </a:solidFill>
                <a:latin typeface="Times New Roman"/>
                <a:cs typeface="Times New Roman"/>
              </a:rPr>
              <a:t>joining</a:t>
            </a:r>
            <a:r>
              <a:rPr lang="en-US" sz="2400" spc="-10" dirty="0" smtClean="0">
                <a:solidFill>
                  <a:srgbClr val="00B050"/>
                </a:solidFill>
                <a:latin typeface="Times New Roman"/>
                <a:cs typeface="Times New Roman"/>
              </a:rPr>
              <a:t>.</a:t>
            </a:r>
            <a:r>
              <a:rPr lang="en-US" sz="2400" spc="-4" dirty="0" smtClean="0">
                <a:solidFill>
                  <a:srgbClr val="7030A0"/>
                </a:solidFill>
                <a:latin typeface="Times New Roman"/>
                <a:cs typeface="Times New Roman"/>
              </a:rPr>
              <a:t> </a:t>
            </a:r>
            <a:endParaRPr lang="en-US" sz="2400" dirty="0">
              <a:latin typeface="Times New Roman"/>
              <a:cs typeface="Times New Roman"/>
            </a:endParaRPr>
          </a:p>
        </p:txBody>
      </p:sp>
    </p:spTree>
    <p:extLst>
      <p:ext uri="{BB962C8B-B14F-4D97-AF65-F5344CB8AC3E}">
        <p14:creationId xmlns:p14="http://schemas.microsoft.com/office/powerpoint/2010/main" val="325617061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685800" y="533400"/>
            <a:ext cx="8762999" cy="6740307"/>
          </a:xfrm>
          <a:prstGeom prst="rect">
            <a:avLst/>
          </a:prstGeom>
        </p:spPr>
        <p:txBody>
          <a:bodyPr wrap="square">
            <a:spAutoFit/>
          </a:bodyPr>
          <a:lstStyle/>
          <a:p>
            <a:pPr marL="355591" indent="-342900" algn="just">
              <a:lnSpc>
                <a:spcPct val="150000"/>
              </a:lnSpc>
              <a:buFont typeface="Arial" panose="020B0604020202020204" pitchFamily="34" charset="0"/>
              <a:buChar char="•"/>
            </a:pPr>
            <a:r>
              <a:rPr lang="en-US" sz="2400" dirty="0" smtClean="0">
                <a:latin typeface="Times New Roman"/>
                <a:cs typeface="Times New Roman"/>
              </a:rPr>
              <a:t>Among</a:t>
            </a:r>
            <a:r>
              <a:rPr lang="en-US" sz="2400" spc="191" dirty="0" smtClean="0">
                <a:latin typeface="Times New Roman"/>
                <a:cs typeface="Times New Roman"/>
              </a:rPr>
              <a:t> </a:t>
            </a:r>
            <a:r>
              <a:rPr lang="en-US" sz="2400" dirty="0" smtClean="0">
                <a:latin typeface="Times New Roman"/>
                <a:cs typeface="Times New Roman"/>
              </a:rPr>
              <a:t>the</a:t>
            </a:r>
            <a:r>
              <a:rPr lang="en-US" sz="2400" spc="195" dirty="0" smtClean="0">
                <a:latin typeface="Times New Roman"/>
                <a:cs typeface="Times New Roman"/>
              </a:rPr>
              <a:t> </a:t>
            </a:r>
            <a:r>
              <a:rPr lang="en-US" sz="2400" dirty="0" smtClean="0">
                <a:latin typeface="Times New Roman"/>
                <a:cs typeface="Times New Roman"/>
              </a:rPr>
              <a:t>metal</a:t>
            </a:r>
            <a:r>
              <a:rPr lang="en-US" sz="2400" spc="199" dirty="0" smtClean="0">
                <a:latin typeface="Times New Roman"/>
                <a:cs typeface="Times New Roman"/>
              </a:rPr>
              <a:t> </a:t>
            </a:r>
            <a:r>
              <a:rPr lang="en-US" sz="2400" spc="-30" dirty="0" smtClean="0">
                <a:latin typeface="Times New Roman"/>
                <a:cs typeface="Times New Roman"/>
              </a:rPr>
              <a:t>artifacts</a:t>
            </a:r>
            <a:r>
              <a:rPr lang="en-US" sz="2400" spc="199" dirty="0" smtClean="0">
                <a:latin typeface="Times New Roman"/>
                <a:cs typeface="Times New Roman"/>
              </a:rPr>
              <a:t> </a:t>
            </a:r>
            <a:r>
              <a:rPr lang="en-US" sz="2400" spc="-20" dirty="0" smtClean="0">
                <a:latin typeface="Times New Roman"/>
                <a:cs typeface="Times New Roman"/>
              </a:rPr>
              <a:t>produced</a:t>
            </a:r>
            <a:r>
              <a:rPr lang="en-US" sz="2400" spc="195" dirty="0" smtClean="0">
                <a:latin typeface="Times New Roman"/>
                <a:cs typeface="Times New Roman"/>
              </a:rPr>
              <a:t> </a:t>
            </a:r>
            <a:r>
              <a:rPr lang="en-US" sz="2400" dirty="0" smtClean="0">
                <a:latin typeface="Times New Roman"/>
                <a:cs typeface="Times New Roman"/>
              </a:rPr>
              <a:t>by</a:t>
            </a:r>
            <a:r>
              <a:rPr lang="en-US" sz="2400" spc="170" dirty="0" smtClean="0">
                <a:latin typeface="Times New Roman"/>
                <a:cs typeface="Times New Roman"/>
              </a:rPr>
              <a:t> </a:t>
            </a:r>
            <a:r>
              <a:rPr lang="en-US" sz="2400" dirty="0" smtClean="0">
                <a:latin typeface="Times New Roman"/>
                <a:cs typeface="Times New Roman"/>
              </a:rPr>
              <a:t>the</a:t>
            </a:r>
            <a:r>
              <a:rPr lang="en-US" sz="2400" spc="195" dirty="0" smtClean="0">
                <a:latin typeface="Times New Roman"/>
                <a:cs typeface="Times New Roman"/>
              </a:rPr>
              <a:t> </a:t>
            </a:r>
            <a:r>
              <a:rPr lang="en-US" sz="2400" spc="-25" dirty="0" err="1" smtClean="0">
                <a:latin typeface="Times New Roman"/>
                <a:cs typeface="Times New Roman"/>
              </a:rPr>
              <a:t>Harappans</a:t>
            </a:r>
            <a:r>
              <a:rPr lang="en-US" sz="2400" spc="-25" dirty="0" smtClean="0">
                <a:latin typeface="Times New Roman"/>
                <a:cs typeface="Times New Roman"/>
              </a:rPr>
              <a:t>,</a:t>
            </a:r>
            <a:r>
              <a:rPr lang="en-US" sz="2400" spc="199" dirty="0" smtClean="0">
                <a:latin typeface="Times New Roman"/>
                <a:cs typeface="Times New Roman"/>
              </a:rPr>
              <a:t> </a:t>
            </a:r>
            <a:r>
              <a:rPr lang="en-US" sz="2400" spc="-20" dirty="0" smtClean="0">
                <a:latin typeface="Times New Roman"/>
                <a:cs typeface="Times New Roman"/>
              </a:rPr>
              <a:t>objects</a:t>
            </a:r>
            <a:r>
              <a:rPr lang="en-US" sz="2400" spc="195" dirty="0" smtClean="0">
                <a:latin typeface="Times New Roman"/>
                <a:cs typeface="Times New Roman"/>
              </a:rPr>
              <a:t> </a:t>
            </a:r>
            <a:r>
              <a:rPr lang="en-US" sz="2400" spc="-25" dirty="0" smtClean="0">
                <a:latin typeface="Times New Roman"/>
                <a:cs typeface="Times New Roman"/>
              </a:rPr>
              <a:t>discovered</a:t>
            </a:r>
            <a:r>
              <a:rPr lang="en-US" sz="2400" spc="195" dirty="0" smtClean="0">
                <a:latin typeface="Times New Roman"/>
                <a:cs typeface="Times New Roman"/>
              </a:rPr>
              <a:t> </a:t>
            </a:r>
            <a:r>
              <a:rPr lang="en-US" sz="2400" dirty="0" smtClean="0">
                <a:latin typeface="Times New Roman"/>
                <a:cs typeface="Times New Roman"/>
              </a:rPr>
              <a:t>are</a:t>
            </a:r>
            <a:r>
              <a:rPr lang="en-US" sz="2400" spc="209" dirty="0" smtClean="0">
                <a:latin typeface="Times New Roman"/>
                <a:cs typeface="Times New Roman"/>
              </a:rPr>
              <a:t>  </a:t>
            </a:r>
            <a:r>
              <a:rPr lang="en-US" sz="2400" spc="-10" dirty="0" smtClean="0">
                <a:solidFill>
                  <a:srgbClr val="7030A0"/>
                </a:solidFill>
                <a:latin typeface="Times New Roman"/>
                <a:cs typeface="Times New Roman"/>
              </a:rPr>
              <a:t>spearheads, </a:t>
            </a:r>
            <a:r>
              <a:rPr lang="en-US" sz="2400" spc="-45" dirty="0" smtClean="0">
                <a:solidFill>
                  <a:srgbClr val="7030A0"/>
                </a:solidFill>
                <a:latin typeface="Times New Roman"/>
                <a:cs typeface="Times New Roman"/>
              </a:rPr>
              <a:t>arrowheads,</a:t>
            </a:r>
            <a:r>
              <a:rPr lang="en-US" sz="2400" spc="10" dirty="0" smtClean="0">
                <a:solidFill>
                  <a:srgbClr val="7030A0"/>
                </a:solidFill>
                <a:latin typeface="Times New Roman"/>
                <a:cs typeface="Times New Roman"/>
              </a:rPr>
              <a:t> </a:t>
            </a:r>
            <a:r>
              <a:rPr lang="en-US" sz="2400" spc="-40" dirty="0" smtClean="0">
                <a:solidFill>
                  <a:srgbClr val="7030A0"/>
                </a:solidFill>
                <a:latin typeface="Times New Roman"/>
                <a:cs typeface="Times New Roman"/>
              </a:rPr>
              <a:t>axes,</a:t>
            </a:r>
            <a:r>
              <a:rPr lang="en-US" sz="2400" spc="10" dirty="0" smtClean="0">
                <a:solidFill>
                  <a:srgbClr val="7030A0"/>
                </a:solidFill>
                <a:latin typeface="Times New Roman"/>
                <a:cs typeface="Times New Roman"/>
              </a:rPr>
              <a:t> </a:t>
            </a:r>
            <a:r>
              <a:rPr lang="en-US" sz="2400" spc="-45" dirty="0" smtClean="0">
                <a:solidFill>
                  <a:srgbClr val="7030A0"/>
                </a:solidFill>
                <a:latin typeface="Times New Roman"/>
                <a:cs typeface="Times New Roman"/>
              </a:rPr>
              <a:t>chisels,</a:t>
            </a:r>
            <a:r>
              <a:rPr lang="en-US" sz="2400" spc="-4" dirty="0" smtClean="0">
                <a:solidFill>
                  <a:srgbClr val="7030A0"/>
                </a:solidFill>
                <a:latin typeface="Times New Roman"/>
                <a:cs typeface="Times New Roman"/>
              </a:rPr>
              <a:t> </a:t>
            </a:r>
            <a:r>
              <a:rPr lang="en-US" sz="2400" spc="-40" dirty="0" smtClean="0">
                <a:solidFill>
                  <a:srgbClr val="7030A0"/>
                </a:solidFill>
                <a:latin typeface="Times New Roman"/>
                <a:cs typeface="Times New Roman"/>
              </a:rPr>
              <a:t>sickles,</a:t>
            </a:r>
            <a:r>
              <a:rPr lang="en-US" sz="2400" spc="-4" dirty="0" smtClean="0">
                <a:solidFill>
                  <a:srgbClr val="7030A0"/>
                </a:solidFill>
                <a:latin typeface="Times New Roman"/>
                <a:cs typeface="Times New Roman"/>
              </a:rPr>
              <a:t> </a:t>
            </a:r>
            <a:r>
              <a:rPr lang="en-US" sz="2400" spc="-40" dirty="0" smtClean="0">
                <a:solidFill>
                  <a:srgbClr val="7030A0"/>
                </a:solidFill>
                <a:latin typeface="Times New Roman"/>
                <a:cs typeface="Times New Roman"/>
              </a:rPr>
              <a:t>blades</a:t>
            </a:r>
            <a:r>
              <a:rPr lang="en-US" sz="2400" spc="10" dirty="0" smtClean="0">
                <a:solidFill>
                  <a:srgbClr val="7030A0"/>
                </a:solidFill>
                <a:latin typeface="Times New Roman"/>
                <a:cs typeface="Times New Roman"/>
              </a:rPr>
              <a:t> </a:t>
            </a:r>
            <a:r>
              <a:rPr lang="en-US" sz="2400" spc="-35" dirty="0" smtClean="0">
                <a:solidFill>
                  <a:srgbClr val="7030A0"/>
                </a:solidFill>
                <a:latin typeface="Times New Roman"/>
                <a:cs typeface="Times New Roman"/>
              </a:rPr>
              <a:t>(for</a:t>
            </a:r>
            <a:r>
              <a:rPr lang="en-US" sz="2400" spc="-4" dirty="0" smtClean="0">
                <a:solidFill>
                  <a:srgbClr val="7030A0"/>
                </a:solidFill>
                <a:latin typeface="Times New Roman"/>
                <a:cs typeface="Times New Roman"/>
              </a:rPr>
              <a:t> </a:t>
            </a:r>
            <a:r>
              <a:rPr lang="en-US" sz="2400" spc="-40" dirty="0" smtClean="0">
                <a:solidFill>
                  <a:srgbClr val="7030A0"/>
                </a:solidFill>
                <a:latin typeface="Times New Roman"/>
                <a:cs typeface="Times New Roman"/>
              </a:rPr>
              <a:t>knives</a:t>
            </a:r>
            <a:r>
              <a:rPr lang="en-US" sz="2400" dirty="0" smtClean="0">
                <a:solidFill>
                  <a:srgbClr val="7030A0"/>
                </a:solidFill>
                <a:latin typeface="Times New Roman"/>
                <a:cs typeface="Times New Roman"/>
              </a:rPr>
              <a:t> </a:t>
            </a:r>
            <a:r>
              <a:rPr lang="en-US" sz="2400" spc="-30" dirty="0" smtClean="0">
                <a:solidFill>
                  <a:srgbClr val="7030A0"/>
                </a:solidFill>
                <a:latin typeface="Times New Roman"/>
                <a:cs typeface="Times New Roman"/>
              </a:rPr>
              <a:t>as</a:t>
            </a:r>
            <a:r>
              <a:rPr lang="en-US" sz="2400" spc="10" dirty="0" smtClean="0">
                <a:solidFill>
                  <a:srgbClr val="7030A0"/>
                </a:solidFill>
                <a:latin typeface="Times New Roman"/>
                <a:cs typeface="Times New Roman"/>
              </a:rPr>
              <a:t> </a:t>
            </a:r>
            <a:r>
              <a:rPr lang="en-US" sz="2400" spc="-40" dirty="0" smtClean="0">
                <a:solidFill>
                  <a:srgbClr val="7030A0"/>
                </a:solidFill>
                <a:latin typeface="Times New Roman"/>
                <a:cs typeface="Times New Roman"/>
              </a:rPr>
              <a:t>well</a:t>
            </a:r>
            <a:r>
              <a:rPr lang="en-US" sz="2400" spc="10" dirty="0" smtClean="0">
                <a:solidFill>
                  <a:srgbClr val="7030A0"/>
                </a:solidFill>
                <a:latin typeface="Times New Roman"/>
                <a:cs typeface="Times New Roman"/>
              </a:rPr>
              <a:t> </a:t>
            </a:r>
            <a:r>
              <a:rPr lang="en-US" sz="2400" spc="-30" dirty="0" smtClean="0">
                <a:solidFill>
                  <a:srgbClr val="7030A0"/>
                </a:solidFill>
                <a:latin typeface="Times New Roman"/>
                <a:cs typeface="Times New Roman"/>
              </a:rPr>
              <a:t>as</a:t>
            </a:r>
            <a:r>
              <a:rPr lang="en-US" sz="2400" dirty="0" smtClean="0">
                <a:solidFill>
                  <a:srgbClr val="7030A0"/>
                </a:solidFill>
                <a:latin typeface="Times New Roman"/>
                <a:cs typeface="Times New Roman"/>
              </a:rPr>
              <a:t> </a:t>
            </a:r>
            <a:r>
              <a:rPr lang="en-US" sz="2400" spc="-40" dirty="0" smtClean="0">
                <a:solidFill>
                  <a:srgbClr val="7030A0"/>
                </a:solidFill>
                <a:latin typeface="Times New Roman"/>
                <a:cs typeface="Times New Roman"/>
              </a:rPr>
              <a:t>razors),</a:t>
            </a:r>
            <a:r>
              <a:rPr lang="en-US" sz="2400" spc="10" dirty="0" smtClean="0">
                <a:solidFill>
                  <a:srgbClr val="7030A0"/>
                </a:solidFill>
                <a:latin typeface="Times New Roman"/>
                <a:cs typeface="Times New Roman"/>
              </a:rPr>
              <a:t> </a:t>
            </a:r>
            <a:r>
              <a:rPr lang="en-US" sz="2400" spc="-45" dirty="0" smtClean="0">
                <a:solidFill>
                  <a:srgbClr val="7030A0"/>
                </a:solidFill>
                <a:latin typeface="Times New Roman"/>
                <a:cs typeface="Times New Roman"/>
              </a:rPr>
              <a:t>needles and </a:t>
            </a:r>
            <a:r>
              <a:rPr lang="en-US" sz="2400" spc="-40" dirty="0" smtClean="0">
                <a:solidFill>
                  <a:srgbClr val="7030A0"/>
                </a:solidFill>
                <a:latin typeface="Times New Roman"/>
                <a:cs typeface="Times New Roman"/>
              </a:rPr>
              <a:t>ho</a:t>
            </a:r>
            <a:r>
              <a:rPr lang="en-US" sz="2400" spc="-50" dirty="0" smtClean="0">
                <a:solidFill>
                  <a:srgbClr val="7030A0"/>
                </a:solidFill>
                <a:latin typeface="Times New Roman"/>
                <a:cs typeface="Times New Roman"/>
              </a:rPr>
              <a:t>o</a:t>
            </a:r>
            <a:r>
              <a:rPr lang="en-US" sz="2400" spc="-40" dirty="0" smtClean="0">
                <a:solidFill>
                  <a:srgbClr val="7030A0"/>
                </a:solidFill>
                <a:latin typeface="Times New Roman"/>
                <a:cs typeface="Times New Roman"/>
              </a:rPr>
              <a:t>k</a:t>
            </a:r>
            <a:r>
              <a:rPr lang="en-US" sz="2400" spc="-35" dirty="0" smtClean="0">
                <a:solidFill>
                  <a:srgbClr val="7030A0"/>
                </a:solidFill>
                <a:latin typeface="Times New Roman"/>
                <a:cs typeface="Times New Roman"/>
              </a:rPr>
              <a:t>s</a:t>
            </a:r>
            <a:r>
              <a:rPr lang="en-US" sz="2400" dirty="0" smtClean="0">
                <a:solidFill>
                  <a:srgbClr val="7030A0"/>
                </a:solidFill>
                <a:latin typeface="Times New Roman"/>
                <a:cs typeface="Times New Roman"/>
              </a:rPr>
              <a:t>.</a:t>
            </a:r>
          </a:p>
          <a:p>
            <a:pPr marL="355591" indent="-342900" algn="just">
              <a:lnSpc>
                <a:spcPct val="150000"/>
              </a:lnSpc>
              <a:buFont typeface="Arial" panose="020B0604020202020204" pitchFamily="34" charset="0"/>
              <a:buChar char="•"/>
            </a:pPr>
            <a:r>
              <a:rPr lang="en-US" sz="2400" spc="-35" dirty="0" smtClean="0">
                <a:solidFill>
                  <a:srgbClr val="00B050"/>
                </a:solidFill>
                <a:latin typeface="Times New Roman"/>
                <a:cs typeface="Times New Roman"/>
              </a:rPr>
              <a:t>And</a:t>
            </a:r>
            <a:r>
              <a:rPr lang="en-US" sz="2400" spc="-4" dirty="0" smtClean="0">
                <a:solidFill>
                  <a:srgbClr val="00B050"/>
                </a:solidFill>
                <a:latin typeface="Times New Roman"/>
                <a:cs typeface="Times New Roman"/>
              </a:rPr>
              <a:t> </a:t>
            </a:r>
            <a:r>
              <a:rPr lang="en-US" sz="2400" spc="-45" dirty="0" smtClean="0">
                <a:solidFill>
                  <a:srgbClr val="00B050"/>
                </a:solidFill>
                <a:latin typeface="Times New Roman"/>
                <a:cs typeface="Times New Roman"/>
              </a:rPr>
              <a:t>vessels</a:t>
            </a:r>
            <a:r>
              <a:rPr lang="en-US" sz="2400" spc="10" dirty="0" smtClean="0">
                <a:solidFill>
                  <a:srgbClr val="00B050"/>
                </a:solidFill>
                <a:latin typeface="Times New Roman"/>
                <a:cs typeface="Times New Roman"/>
              </a:rPr>
              <a:t> </a:t>
            </a:r>
            <a:r>
              <a:rPr lang="en-US" sz="2400" spc="-40" dirty="0" smtClean="0">
                <a:solidFill>
                  <a:srgbClr val="00B050"/>
                </a:solidFill>
                <a:latin typeface="Times New Roman"/>
                <a:cs typeface="Times New Roman"/>
              </a:rPr>
              <a:t>such</a:t>
            </a:r>
            <a:r>
              <a:rPr lang="en-US" sz="2400" spc="10" dirty="0" smtClean="0">
                <a:solidFill>
                  <a:srgbClr val="00B050"/>
                </a:solidFill>
                <a:latin typeface="Times New Roman"/>
                <a:cs typeface="Times New Roman"/>
              </a:rPr>
              <a:t> </a:t>
            </a:r>
            <a:r>
              <a:rPr lang="en-US" sz="2400" spc="-35" dirty="0" smtClean="0">
                <a:solidFill>
                  <a:srgbClr val="00B050"/>
                </a:solidFill>
                <a:latin typeface="Times New Roman"/>
                <a:cs typeface="Times New Roman"/>
              </a:rPr>
              <a:t>as</a:t>
            </a:r>
            <a:r>
              <a:rPr lang="en-US" sz="2400" dirty="0" smtClean="0">
                <a:solidFill>
                  <a:srgbClr val="00B050"/>
                </a:solidFill>
                <a:latin typeface="Times New Roman"/>
                <a:cs typeface="Times New Roman"/>
              </a:rPr>
              <a:t> </a:t>
            </a:r>
            <a:r>
              <a:rPr lang="en-US" sz="2400" spc="-35" dirty="0" smtClean="0">
                <a:solidFill>
                  <a:srgbClr val="00B050"/>
                </a:solidFill>
                <a:latin typeface="Times New Roman"/>
                <a:cs typeface="Times New Roman"/>
              </a:rPr>
              <a:t>jars,</a:t>
            </a:r>
            <a:r>
              <a:rPr lang="en-US" sz="2400" spc="-75" dirty="0" smtClean="0">
                <a:solidFill>
                  <a:srgbClr val="00B050"/>
                </a:solidFill>
                <a:latin typeface="Times New Roman"/>
                <a:cs typeface="Times New Roman"/>
              </a:rPr>
              <a:t> </a:t>
            </a:r>
            <a:r>
              <a:rPr lang="en-US" sz="2400" spc="-35" dirty="0" smtClean="0">
                <a:solidFill>
                  <a:srgbClr val="00B050"/>
                </a:solidFill>
                <a:latin typeface="Times New Roman"/>
                <a:cs typeface="Times New Roman"/>
              </a:rPr>
              <a:t>pots</a:t>
            </a:r>
            <a:r>
              <a:rPr lang="en-US" sz="2400" spc="-60" dirty="0" smtClean="0">
                <a:solidFill>
                  <a:srgbClr val="00B050"/>
                </a:solidFill>
                <a:latin typeface="Times New Roman"/>
                <a:cs typeface="Times New Roman"/>
              </a:rPr>
              <a:t> </a:t>
            </a:r>
            <a:r>
              <a:rPr lang="en-US" sz="2400" spc="-35" dirty="0" smtClean="0">
                <a:solidFill>
                  <a:srgbClr val="00B050"/>
                </a:solidFill>
                <a:latin typeface="Times New Roman"/>
                <a:cs typeface="Times New Roman"/>
              </a:rPr>
              <a:t>and</a:t>
            </a:r>
            <a:r>
              <a:rPr lang="en-US" sz="2400" spc="-60" dirty="0" smtClean="0">
                <a:solidFill>
                  <a:srgbClr val="00B050"/>
                </a:solidFill>
                <a:latin typeface="Times New Roman"/>
                <a:cs typeface="Times New Roman"/>
              </a:rPr>
              <a:t> </a:t>
            </a:r>
            <a:r>
              <a:rPr lang="en-US" sz="2400" spc="-40" dirty="0" smtClean="0">
                <a:solidFill>
                  <a:srgbClr val="00B050"/>
                </a:solidFill>
                <a:latin typeface="Times New Roman"/>
                <a:cs typeface="Times New Roman"/>
              </a:rPr>
              <a:t>pans,</a:t>
            </a:r>
            <a:r>
              <a:rPr lang="en-US" sz="2400" spc="-75" dirty="0" smtClean="0">
                <a:solidFill>
                  <a:srgbClr val="00B050"/>
                </a:solidFill>
                <a:latin typeface="Times New Roman"/>
                <a:cs typeface="Times New Roman"/>
              </a:rPr>
              <a:t> </a:t>
            </a:r>
            <a:r>
              <a:rPr lang="en-US" sz="2400" spc="-45" dirty="0" smtClean="0">
                <a:solidFill>
                  <a:srgbClr val="00B050"/>
                </a:solidFill>
                <a:latin typeface="Times New Roman"/>
                <a:cs typeface="Times New Roman"/>
              </a:rPr>
              <a:t>besides</a:t>
            </a:r>
            <a:r>
              <a:rPr lang="en-US" sz="2400" spc="-75" dirty="0" smtClean="0">
                <a:solidFill>
                  <a:srgbClr val="00B050"/>
                </a:solidFill>
                <a:latin typeface="Times New Roman"/>
                <a:cs typeface="Times New Roman"/>
              </a:rPr>
              <a:t> </a:t>
            </a:r>
            <a:r>
              <a:rPr lang="en-US" sz="2400" spc="-40" dirty="0" smtClean="0">
                <a:solidFill>
                  <a:srgbClr val="00B050"/>
                </a:solidFill>
                <a:latin typeface="Times New Roman"/>
                <a:cs typeface="Times New Roman"/>
              </a:rPr>
              <a:t>objects</a:t>
            </a:r>
            <a:r>
              <a:rPr lang="en-US" sz="2400" spc="-75" dirty="0" smtClean="0">
                <a:solidFill>
                  <a:srgbClr val="00B050"/>
                </a:solidFill>
                <a:latin typeface="Times New Roman"/>
                <a:cs typeface="Times New Roman"/>
              </a:rPr>
              <a:t> </a:t>
            </a:r>
            <a:r>
              <a:rPr lang="en-US" sz="2400" spc="-25" dirty="0" smtClean="0">
                <a:solidFill>
                  <a:srgbClr val="00B050"/>
                </a:solidFill>
                <a:latin typeface="Times New Roman"/>
                <a:cs typeface="Times New Roman"/>
              </a:rPr>
              <a:t>of</a:t>
            </a:r>
            <a:r>
              <a:rPr lang="en-US" sz="2400" spc="-65" dirty="0" smtClean="0">
                <a:solidFill>
                  <a:srgbClr val="00B050"/>
                </a:solidFill>
                <a:latin typeface="Times New Roman"/>
                <a:cs typeface="Times New Roman"/>
              </a:rPr>
              <a:t> </a:t>
            </a:r>
            <a:r>
              <a:rPr lang="en-US" sz="2400" spc="-45" dirty="0" smtClean="0">
                <a:solidFill>
                  <a:srgbClr val="00B050"/>
                </a:solidFill>
                <a:latin typeface="Times New Roman"/>
                <a:cs typeface="Times New Roman"/>
              </a:rPr>
              <a:t>toiletry</a:t>
            </a:r>
            <a:r>
              <a:rPr lang="en-US" sz="2400" spc="-100" dirty="0" smtClean="0">
                <a:solidFill>
                  <a:srgbClr val="00B050"/>
                </a:solidFill>
                <a:latin typeface="Times New Roman"/>
                <a:cs typeface="Times New Roman"/>
              </a:rPr>
              <a:t> </a:t>
            </a:r>
            <a:r>
              <a:rPr lang="en-US" sz="2400" spc="-35" dirty="0" smtClean="0">
                <a:solidFill>
                  <a:srgbClr val="00B050"/>
                </a:solidFill>
                <a:latin typeface="Times New Roman"/>
                <a:cs typeface="Times New Roman"/>
              </a:rPr>
              <a:t>such</a:t>
            </a:r>
            <a:r>
              <a:rPr lang="en-US" sz="2400" spc="-60" dirty="0" smtClean="0">
                <a:solidFill>
                  <a:srgbClr val="00B050"/>
                </a:solidFill>
                <a:latin typeface="Times New Roman"/>
                <a:cs typeface="Times New Roman"/>
              </a:rPr>
              <a:t> </a:t>
            </a:r>
            <a:r>
              <a:rPr lang="en-US" sz="2400" spc="-30" dirty="0" smtClean="0">
                <a:solidFill>
                  <a:srgbClr val="00B050"/>
                </a:solidFill>
                <a:latin typeface="Times New Roman"/>
                <a:cs typeface="Times New Roman"/>
              </a:rPr>
              <a:t>as</a:t>
            </a:r>
            <a:r>
              <a:rPr lang="en-US" sz="2400" spc="-60" dirty="0" smtClean="0">
                <a:solidFill>
                  <a:srgbClr val="00B050"/>
                </a:solidFill>
                <a:latin typeface="Times New Roman"/>
                <a:cs typeface="Times New Roman"/>
              </a:rPr>
              <a:t> </a:t>
            </a:r>
            <a:r>
              <a:rPr lang="en-US" sz="2400" spc="-40" dirty="0" smtClean="0">
                <a:solidFill>
                  <a:srgbClr val="00B050"/>
                </a:solidFill>
                <a:latin typeface="Times New Roman"/>
                <a:cs typeface="Times New Roman"/>
              </a:rPr>
              <a:t>bronze</a:t>
            </a:r>
            <a:r>
              <a:rPr lang="en-US" sz="2400" spc="-65" dirty="0" smtClean="0">
                <a:solidFill>
                  <a:srgbClr val="00B050"/>
                </a:solidFill>
                <a:latin typeface="Times New Roman"/>
                <a:cs typeface="Times New Roman"/>
              </a:rPr>
              <a:t> </a:t>
            </a:r>
            <a:r>
              <a:rPr lang="en-US" sz="2400" spc="-45" dirty="0" smtClean="0">
                <a:solidFill>
                  <a:srgbClr val="00B050"/>
                </a:solidFill>
                <a:latin typeface="Times New Roman"/>
                <a:cs typeface="Times New Roman"/>
              </a:rPr>
              <a:t>mirrors;</a:t>
            </a:r>
            <a:r>
              <a:rPr lang="en-US" sz="2400" spc="-70" dirty="0" smtClean="0">
                <a:solidFill>
                  <a:srgbClr val="00B050"/>
                </a:solidFill>
                <a:latin typeface="Times New Roman"/>
                <a:cs typeface="Times New Roman"/>
              </a:rPr>
              <a:t> </a:t>
            </a:r>
            <a:r>
              <a:rPr lang="en-US" sz="2400" spc="-35" dirty="0" smtClean="0">
                <a:solidFill>
                  <a:srgbClr val="00B050"/>
                </a:solidFill>
                <a:latin typeface="Times New Roman"/>
                <a:cs typeface="Times New Roman"/>
              </a:rPr>
              <a:t>those</a:t>
            </a:r>
            <a:r>
              <a:rPr lang="en-US" sz="2400" spc="-65" dirty="0" smtClean="0">
                <a:solidFill>
                  <a:srgbClr val="00B050"/>
                </a:solidFill>
                <a:latin typeface="Times New Roman"/>
                <a:cs typeface="Times New Roman"/>
              </a:rPr>
              <a:t> </a:t>
            </a:r>
            <a:r>
              <a:rPr lang="en-US" sz="2400" spc="-35" dirty="0" smtClean="0">
                <a:solidFill>
                  <a:srgbClr val="00B050"/>
                </a:solidFill>
                <a:latin typeface="Times New Roman"/>
                <a:cs typeface="Times New Roman"/>
              </a:rPr>
              <a:t>were</a:t>
            </a:r>
            <a:r>
              <a:rPr lang="en-US" sz="2400" spc="-80" dirty="0" smtClean="0">
                <a:solidFill>
                  <a:srgbClr val="00B050"/>
                </a:solidFill>
                <a:latin typeface="Times New Roman"/>
                <a:cs typeface="Times New Roman"/>
              </a:rPr>
              <a:t> </a:t>
            </a:r>
            <a:r>
              <a:rPr lang="en-US" sz="2400" spc="-40" dirty="0" smtClean="0">
                <a:solidFill>
                  <a:srgbClr val="00B050"/>
                </a:solidFill>
                <a:latin typeface="Times New Roman"/>
                <a:cs typeface="Times New Roman"/>
              </a:rPr>
              <a:t>slightly</a:t>
            </a:r>
            <a:r>
              <a:rPr lang="en-US" sz="2400" spc="-100" dirty="0" smtClean="0">
                <a:solidFill>
                  <a:srgbClr val="00B050"/>
                </a:solidFill>
                <a:latin typeface="Times New Roman"/>
                <a:cs typeface="Times New Roman"/>
              </a:rPr>
              <a:t> </a:t>
            </a:r>
            <a:r>
              <a:rPr lang="en-US" sz="2400" spc="-35" dirty="0" smtClean="0">
                <a:solidFill>
                  <a:srgbClr val="00B050"/>
                </a:solidFill>
                <a:latin typeface="Times New Roman"/>
                <a:cs typeface="Times New Roman"/>
              </a:rPr>
              <a:t>oval,</a:t>
            </a:r>
            <a:r>
              <a:rPr lang="en-US" sz="2400" spc="-60" dirty="0" smtClean="0">
                <a:solidFill>
                  <a:srgbClr val="00B050"/>
                </a:solidFill>
                <a:latin typeface="Times New Roman"/>
                <a:cs typeface="Times New Roman"/>
              </a:rPr>
              <a:t> </a:t>
            </a:r>
            <a:r>
              <a:rPr lang="en-US" sz="2400" spc="-40" dirty="0" smtClean="0">
                <a:solidFill>
                  <a:srgbClr val="00B050"/>
                </a:solidFill>
                <a:latin typeface="Times New Roman"/>
                <a:cs typeface="Times New Roman"/>
              </a:rPr>
              <a:t>with</a:t>
            </a:r>
            <a:r>
              <a:rPr lang="en-US" sz="2400" spc="-60" dirty="0" smtClean="0">
                <a:solidFill>
                  <a:srgbClr val="00B050"/>
                </a:solidFill>
                <a:latin typeface="Times New Roman"/>
                <a:cs typeface="Times New Roman"/>
              </a:rPr>
              <a:t> </a:t>
            </a:r>
            <a:r>
              <a:rPr lang="en-US" sz="2400" spc="-40" dirty="0" smtClean="0">
                <a:solidFill>
                  <a:srgbClr val="00B050"/>
                </a:solidFill>
                <a:latin typeface="Times New Roman"/>
                <a:cs typeface="Times New Roman"/>
              </a:rPr>
              <a:t>their</a:t>
            </a:r>
            <a:r>
              <a:rPr lang="en-US" sz="2400" spc="-65" dirty="0" smtClean="0">
                <a:solidFill>
                  <a:srgbClr val="00B050"/>
                </a:solidFill>
                <a:latin typeface="Times New Roman"/>
                <a:cs typeface="Times New Roman"/>
              </a:rPr>
              <a:t> </a:t>
            </a:r>
            <a:r>
              <a:rPr lang="en-US" sz="2400" spc="-40" dirty="0" smtClean="0">
                <a:solidFill>
                  <a:srgbClr val="00B050"/>
                </a:solidFill>
                <a:latin typeface="Times New Roman"/>
                <a:cs typeface="Times New Roman"/>
              </a:rPr>
              <a:t>face</a:t>
            </a:r>
            <a:r>
              <a:rPr lang="en-US" sz="2400" spc="-4" dirty="0" smtClean="0">
                <a:solidFill>
                  <a:srgbClr val="00B050"/>
                </a:solidFill>
                <a:latin typeface="Times New Roman"/>
                <a:cs typeface="Times New Roman"/>
              </a:rPr>
              <a:t> </a:t>
            </a:r>
            <a:r>
              <a:rPr lang="en-US" sz="2400" spc="-40" dirty="0" smtClean="0">
                <a:solidFill>
                  <a:srgbClr val="00B050"/>
                </a:solidFill>
                <a:latin typeface="Times New Roman"/>
                <a:cs typeface="Times New Roman"/>
              </a:rPr>
              <a:t>raised, </a:t>
            </a:r>
            <a:r>
              <a:rPr lang="en-US" sz="2400" spc="-35" dirty="0" smtClean="0">
                <a:solidFill>
                  <a:srgbClr val="00B050"/>
                </a:solidFill>
                <a:latin typeface="Times New Roman"/>
                <a:cs typeface="Times New Roman"/>
              </a:rPr>
              <a:t>and</a:t>
            </a:r>
            <a:r>
              <a:rPr lang="en-US" sz="2400" spc="-50" dirty="0" smtClean="0">
                <a:solidFill>
                  <a:srgbClr val="00B050"/>
                </a:solidFill>
                <a:latin typeface="Times New Roman"/>
                <a:cs typeface="Times New Roman"/>
              </a:rPr>
              <a:t> </a:t>
            </a:r>
            <a:r>
              <a:rPr lang="en-US" sz="2400" spc="-30" dirty="0" smtClean="0">
                <a:solidFill>
                  <a:srgbClr val="00B050"/>
                </a:solidFill>
                <a:latin typeface="Times New Roman"/>
                <a:cs typeface="Times New Roman"/>
              </a:rPr>
              <a:t>one</a:t>
            </a:r>
            <a:r>
              <a:rPr lang="en-US" sz="2400" spc="-55" dirty="0" smtClean="0">
                <a:solidFill>
                  <a:srgbClr val="00B050"/>
                </a:solidFill>
                <a:latin typeface="Times New Roman"/>
                <a:cs typeface="Times New Roman"/>
              </a:rPr>
              <a:t> </a:t>
            </a:r>
            <a:r>
              <a:rPr lang="en-US" sz="2400" spc="-35" dirty="0" smtClean="0">
                <a:solidFill>
                  <a:srgbClr val="00B050"/>
                </a:solidFill>
                <a:latin typeface="Times New Roman"/>
                <a:cs typeface="Times New Roman"/>
              </a:rPr>
              <a:t>side</a:t>
            </a:r>
            <a:r>
              <a:rPr lang="en-US" sz="2400" spc="-55" dirty="0" smtClean="0">
                <a:solidFill>
                  <a:srgbClr val="00B050"/>
                </a:solidFill>
                <a:latin typeface="Times New Roman"/>
                <a:cs typeface="Times New Roman"/>
              </a:rPr>
              <a:t> </a:t>
            </a:r>
            <a:r>
              <a:rPr lang="en-US" sz="2400" spc="-35" dirty="0" smtClean="0">
                <a:solidFill>
                  <a:srgbClr val="00B050"/>
                </a:solidFill>
                <a:latin typeface="Times New Roman"/>
                <a:cs typeface="Times New Roman"/>
              </a:rPr>
              <a:t>was</a:t>
            </a:r>
            <a:r>
              <a:rPr lang="en-US" sz="2400" spc="-50" dirty="0" smtClean="0">
                <a:solidFill>
                  <a:srgbClr val="00B050"/>
                </a:solidFill>
                <a:latin typeface="Times New Roman"/>
                <a:cs typeface="Times New Roman"/>
              </a:rPr>
              <a:t> </a:t>
            </a:r>
            <a:r>
              <a:rPr lang="en-US" sz="2400" spc="-40" dirty="0" smtClean="0">
                <a:solidFill>
                  <a:srgbClr val="00B050"/>
                </a:solidFill>
                <a:latin typeface="Times New Roman"/>
                <a:cs typeface="Times New Roman"/>
              </a:rPr>
              <a:t>highly</a:t>
            </a:r>
            <a:r>
              <a:rPr lang="en-US" sz="2400" spc="-75" dirty="0" smtClean="0">
                <a:solidFill>
                  <a:srgbClr val="00B050"/>
                </a:solidFill>
                <a:latin typeface="Times New Roman"/>
                <a:cs typeface="Times New Roman"/>
              </a:rPr>
              <a:t> </a:t>
            </a:r>
            <a:r>
              <a:rPr lang="en-US" sz="2400" spc="-40" dirty="0" smtClean="0">
                <a:solidFill>
                  <a:srgbClr val="00B050"/>
                </a:solidFill>
                <a:latin typeface="Times New Roman"/>
                <a:cs typeface="Times New Roman"/>
              </a:rPr>
              <a:t>polished</a:t>
            </a:r>
            <a:r>
              <a:rPr lang="en-US" sz="2400" spc="-40" dirty="0" smtClean="0">
                <a:latin typeface="Times New Roman"/>
                <a:cs typeface="Times New Roman"/>
              </a:rPr>
              <a:t>.</a:t>
            </a:r>
            <a:r>
              <a:rPr lang="en-US" sz="2400" spc="-50" dirty="0" smtClean="0">
                <a:latin typeface="Times New Roman"/>
                <a:cs typeface="Times New Roman"/>
              </a:rPr>
              <a:t> </a:t>
            </a:r>
          </a:p>
          <a:p>
            <a:pPr marL="355591" indent="-342900" algn="just">
              <a:lnSpc>
                <a:spcPct val="150000"/>
              </a:lnSpc>
              <a:buFont typeface="Arial" panose="020B0604020202020204" pitchFamily="34" charset="0"/>
              <a:buChar char="•"/>
            </a:pPr>
            <a:r>
              <a:rPr lang="en-US" sz="2400" spc="-35" dirty="0" smtClean="0">
                <a:latin typeface="Times New Roman"/>
                <a:cs typeface="Times New Roman"/>
              </a:rPr>
              <a:t>The</a:t>
            </a:r>
            <a:r>
              <a:rPr lang="en-US" sz="2400" spc="-45" dirty="0" smtClean="0">
                <a:latin typeface="Times New Roman"/>
                <a:cs typeface="Times New Roman"/>
              </a:rPr>
              <a:t> </a:t>
            </a:r>
            <a:r>
              <a:rPr lang="en-US" sz="2400" spc="-45" dirty="0" err="1" smtClean="0">
                <a:latin typeface="Times New Roman"/>
                <a:cs typeface="Times New Roman"/>
              </a:rPr>
              <a:t>Harappan</a:t>
            </a:r>
            <a:r>
              <a:rPr lang="en-US" sz="2400" spc="-40" dirty="0" smtClean="0">
                <a:latin typeface="Times New Roman"/>
                <a:cs typeface="Times New Roman"/>
              </a:rPr>
              <a:t> </a:t>
            </a:r>
            <a:r>
              <a:rPr lang="en-US" sz="2400" spc="-45" dirty="0" smtClean="0">
                <a:latin typeface="Times New Roman"/>
                <a:cs typeface="Times New Roman"/>
              </a:rPr>
              <a:t>craftsmen</a:t>
            </a:r>
            <a:r>
              <a:rPr lang="en-US" sz="2400" spc="-40" dirty="0" smtClean="0">
                <a:latin typeface="Times New Roman"/>
                <a:cs typeface="Times New Roman"/>
              </a:rPr>
              <a:t> also</a:t>
            </a:r>
            <a:r>
              <a:rPr lang="en-US" sz="2400" spc="-50" dirty="0" smtClean="0">
                <a:latin typeface="Times New Roman"/>
                <a:cs typeface="Times New Roman"/>
              </a:rPr>
              <a:t> </a:t>
            </a:r>
            <a:r>
              <a:rPr lang="en-US" sz="2400" spc="-40" dirty="0" smtClean="0">
                <a:latin typeface="Times New Roman"/>
                <a:cs typeface="Times New Roman"/>
              </a:rPr>
              <a:t>invented</a:t>
            </a:r>
            <a:r>
              <a:rPr lang="en-US" sz="2400" spc="-50" dirty="0" smtClean="0">
                <a:latin typeface="Times New Roman"/>
                <a:cs typeface="Times New Roman"/>
              </a:rPr>
              <a:t> </a:t>
            </a:r>
            <a:r>
              <a:rPr lang="en-US" sz="2400" spc="-30" dirty="0" smtClean="0">
                <a:latin typeface="Times New Roman"/>
                <a:cs typeface="Times New Roman"/>
              </a:rPr>
              <a:t>the</a:t>
            </a:r>
            <a:r>
              <a:rPr lang="en-US" sz="2400" spc="-55" dirty="0" smtClean="0">
                <a:latin typeface="Times New Roman"/>
                <a:cs typeface="Times New Roman"/>
              </a:rPr>
              <a:t> </a:t>
            </a:r>
            <a:r>
              <a:rPr lang="en-US" sz="2400" b="1" spc="-35" dirty="0" smtClean="0">
                <a:solidFill>
                  <a:srgbClr val="00B050"/>
                </a:solidFill>
                <a:latin typeface="Times New Roman"/>
                <a:cs typeface="Times New Roman"/>
              </a:rPr>
              <a:t>TRUE</a:t>
            </a:r>
            <a:r>
              <a:rPr lang="en-US" sz="2400" b="1" spc="-65" dirty="0" smtClean="0">
                <a:solidFill>
                  <a:srgbClr val="00B050"/>
                </a:solidFill>
                <a:latin typeface="Times New Roman"/>
                <a:cs typeface="Times New Roman"/>
              </a:rPr>
              <a:t> </a:t>
            </a:r>
            <a:r>
              <a:rPr lang="en-US" sz="2400" b="1" spc="-35" dirty="0" smtClean="0">
                <a:solidFill>
                  <a:srgbClr val="00B050"/>
                </a:solidFill>
                <a:latin typeface="Times New Roman"/>
                <a:cs typeface="Times New Roman"/>
              </a:rPr>
              <a:t>SAW</a:t>
            </a:r>
            <a:r>
              <a:rPr lang="en-US" sz="2400" spc="-35" dirty="0" smtClean="0">
                <a:latin typeface="Times New Roman"/>
                <a:cs typeface="Times New Roman"/>
              </a:rPr>
              <a:t>,</a:t>
            </a:r>
            <a:r>
              <a:rPr lang="en-US" sz="2400" spc="-50" dirty="0" smtClean="0">
                <a:latin typeface="Times New Roman"/>
                <a:cs typeface="Times New Roman"/>
              </a:rPr>
              <a:t> </a:t>
            </a:r>
            <a:r>
              <a:rPr lang="en-US" sz="2400" spc="-35" dirty="0" smtClean="0">
                <a:latin typeface="Times New Roman"/>
                <a:cs typeface="Times New Roman"/>
              </a:rPr>
              <a:t>with</a:t>
            </a:r>
            <a:r>
              <a:rPr lang="en-US" sz="2400" spc="-50" dirty="0" smtClean="0">
                <a:latin typeface="Times New Roman"/>
                <a:cs typeface="Times New Roman"/>
              </a:rPr>
              <a:t> </a:t>
            </a:r>
            <a:r>
              <a:rPr lang="en-US" sz="2400" spc="-40" dirty="0" smtClean="0">
                <a:latin typeface="Times New Roman"/>
                <a:cs typeface="Times New Roman"/>
              </a:rPr>
              <a:t>teeth</a:t>
            </a:r>
            <a:r>
              <a:rPr lang="en-US" sz="2400" spc="-50" dirty="0" smtClean="0">
                <a:latin typeface="Times New Roman"/>
                <a:cs typeface="Times New Roman"/>
              </a:rPr>
              <a:t> </a:t>
            </a:r>
            <a:r>
              <a:rPr lang="en-US" sz="2400" spc="-35" dirty="0" smtClean="0">
                <a:latin typeface="Times New Roman"/>
                <a:cs typeface="Times New Roman"/>
              </a:rPr>
              <a:t>and</a:t>
            </a:r>
            <a:r>
              <a:rPr lang="en-US" sz="2400" dirty="0" smtClean="0">
                <a:latin typeface="Times New Roman"/>
                <a:cs typeface="Times New Roman"/>
              </a:rPr>
              <a:t> </a:t>
            </a:r>
            <a:r>
              <a:rPr lang="en-US" sz="2400" spc="-30" dirty="0" smtClean="0">
                <a:latin typeface="Times New Roman"/>
                <a:cs typeface="Times New Roman"/>
              </a:rPr>
              <a:t>the</a:t>
            </a:r>
            <a:r>
              <a:rPr lang="en-US" sz="2400" spc="50" dirty="0" smtClean="0">
                <a:latin typeface="Times New Roman"/>
                <a:cs typeface="Times New Roman"/>
              </a:rPr>
              <a:t> </a:t>
            </a:r>
            <a:r>
              <a:rPr lang="en-US" sz="2400" spc="-45" dirty="0" smtClean="0">
                <a:latin typeface="Times New Roman"/>
                <a:cs typeface="Times New Roman"/>
              </a:rPr>
              <a:t>adjoining</a:t>
            </a:r>
            <a:r>
              <a:rPr lang="en-US" sz="2400" spc="45" dirty="0" smtClean="0">
                <a:latin typeface="Times New Roman"/>
                <a:cs typeface="Times New Roman"/>
              </a:rPr>
              <a:t> </a:t>
            </a:r>
            <a:r>
              <a:rPr lang="en-US" sz="2400" spc="-40" dirty="0" smtClean="0">
                <a:latin typeface="Times New Roman"/>
                <a:cs typeface="Times New Roman"/>
              </a:rPr>
              <a:t>part</a:t>
            </a:r>
            <a:r>
              <a:rPr lang="en-US" sz="2400" spc="60" dirty="0" smtClean="0">
                <a:latin typeface="Times New Roman"/>
                <a:cs typeface="Times New Roman"/>
              </a:rPr>
              <a:t> </a:t>
            </a:r>
            <a:r>
              <a:rPr lang="en-US" sz="2400" spc="-25" dirty="0" smtClean="0">
                <a:latin typeface="Times New Roman"/>
                <a:cs typeface="Times New Roman"/>
              </a:rPr>
              <a:t>of</a:t>
            </a:r>
            <a:r>
              <a:rPr lang="en-US" sz="2400" spc="40" dirty="0" smtClean="0">
                <a:latin typeface="Times New Roman"/>
                <a:cs typeface="Times New Roman"/>
              </a:rPr>
              <a:t> </a:t>
            </a:r>
            <a:r>
              <a:rPr lang="en-US" sz="2400" spc="-30" dirty="0" smtClean="0">
                <a:latin typeface="Times New Roman"/>
                <a:cs typeface="Times New Roman"/>
              </a:rPr>
              <a:t>the</a:t>
            </a:r>
            <a:r>
              <a:rPr lang="en-US" sz="2400" spc="50" dirty="0" smtClean="0">
                <a:latin typeface="Times New Roman"/>
                <a:cs typeface="Times New Roman"/>
              </a:rPr>
              <a:t> </a:t>
            </a:r>
            <a:r>
              <a:rPr lang="en-US" sz="2400" spc="-40" dirty="0" smtClean="0">
                <a:latin typeface="Times New Roman"/>
                <a:cs typeface="Times New Roman"/>
              </a:rPr>
              <a:t>blade</a:t>
            </a:r>
            <a:r>
              <a:rPr lang="en-US" sz="2400" spc="50" dirty="0" smtClean="0">
                <a:latin typeface="Times New Roman"/>
                <a:cs typeface="Times New Roman"/>
              </a:rPr>
              <a:t> </a:t>
            </a:r>
            <a:r>
              <a:rPr lang="en-US" sz="2400" spc="-35" dirty="0" smtClean="0">
                <a:latin typeface="Times New Roman"/>
                <a:cs typeface="Times New Roman"/>
              </a:rPr>
              <a:t>set</a:t>
            </a:r>
            <a:r>
              <a:rPr lang="en-US" sz="2400" spc="60" dirty="0" smtClean="0">
                <a:latin typeface="Times New Roman"/>
                <a:cs typeface="Times New Roman"/>
              </a:rPr>
              <a:t> </a:t>
            </a:r>
            <a:r>
              <a:rPr lang="en-US" sz="2400" spc="-45" dirty="0" smtClean="0">
                <a:latin typeface="Times New Roman"/>
                <a:cs typeface="Times New Roman"/>
              </a:rPr>
              <a:t>alternatively</a:t>
            </a:r>
            <a:r>
              <a:rPr lang="en-US" sz="2400" spc="20" dirty="0" smtClean="0">
                <a:latin typeface="Times New Roman"/>
                <a:cs typeface="Times New Roman"/>
              </a:rPr>
              <a:t> </a:t>
            </a:r>
            <a:r>
              <a:rPr lang="en-US" sz="2400" spc="-35" dirty="0" smtClean="0">
                <a:latin typeface="Times New Roman"/>
                <a:cs typeface="Times New Roman"/>
              </a:rPr>
              <a:t>from</a:t>
            </a:r>
            <a:r>
              <a:rPr lang="en-US" sz="2400" spc="60" dirty="0" smtClean="0">
                <a:latin typeface="Times New Roman"/>
                <a:cs typeface="Times New Roman"/>
              </a:rPr>
              <a:t> </a:t>
            </a:r>
            <a:r>
              <a:rPr lang="en-US" sz="2400" spc="-35" dirty="0" smtClean="0">
                <a:latin typeface="Times New Roman"/>
                <a:cs typeface="Times New Roman"/>
              </a:rPr>
              <a:t>side</a:t>
            </a:r>
            <a:r>
              <a:rPr lang="en-US" sz="2400" spc="40" dirty="0" smtClean="0">
                <a:latin typeface="Times New Roman"/>
                <a:cs typeface="Times New Roman"/>
              </a:rPr>
              <a:t> </a:t>
            </a:r>
            <a:r>
              <a:rPr lang="en-US" sz="2400" spc="-25" dirty="0" smtClean="0">
                <a:latin typeface="Times New Roman"/>
                <a:cs typeface="Times New Roman"/>
              </a:rPr>
              <a:t>to</a:t>
            </a:r>
            <a:r>
              <a:rPr lang="en-US" sz="2400" spc="55" dirty="0" smtClean="0">
                <a:latin typeface="Times New Roman"/>
                <a:cs typeface="Times New Roman"/>
              </a:rPr>
              <a:t> </a:t>
            </a:r>
            <a:r>
              <a:rPr lang="en-US" sz="2400" spc="-40" dirty="0" smtClean="0">
                <a:latin typeface="Times New Roman"/>
                <a:cs typeface="Times New Roman"/>
              </a:rPr>
              <a:t>side,</a:t>
            </a:r>
            <a:r>
              <a:rPr lang="en-US" sz="2400" spc="55" dirty="0" smtClean="0">
                <a:latin typeface="Times New Roman"/>
                <a:cs typeface="Times New Roman"/>
              </a:rPr>
              <a:t> </a:t>
            </a:r>
            <a:r>
              <a:rPr lang="en-US" sz="2400" spc="-10" dirty="0" smtClean="0">
                <a:latin typeface="Times New Roman"/>
                <a:cs typeface="Times New Roman"/>
              </a:rPr>
              <a:t>a</a:t>
            </a:r>
            <a:r>
              <a:rPr lang="en-US" sz="2400" spc="50" dirty="0" smtClean="0">
                <a:latin typeface="Times New Roman"/>
                <a:cs typeface="Times New Roman"/>
              </a:rPr>
              <a:t> </a:t>
            </a:r>
            <a:r>
              <a:rPr lang="en-US" sz="2400" spc="-40" dirty="0" smtClean="0">
                <a:latin typeface="Times New Roman"/>
                <a:cs typeface="Times New Roman"/>
              </a:rPr>
              <a:t>type</a:t>
            </a:r>
            <a:r>
              <a:rPr lang="en-US" sz="2400" spc="50" dirty="0" smtClean="0">
                <a:latin typeface="Times New Roman"/>
                <a:cs typeface="Times New Roman"/>
              </a:rPr>
              <a:t> </a:t>
            </a:r>
            <a:r>
              <a:rPr lang="en-US" sz="2400" spc="-25" dirty="0" smtClean="0">
                <a:latin typeface="Times New Roman"/>
                <a:cs typeface="Times New Roman"/>
              </a:rPr>
              <a:t>of</a:t>
            </a:r>
            <a:r>
              <a:rPr lang="en-US" sz="2400" spc="55" dirty="0" smtClean="0">
                <a:latin typeface="Times New Roman"/>
                <a:cs typeface="Times New Roman"/>
              </a:rPr>
              <a:t> </a:t>
            </a:r>
            <a:r>
              <a:rPr lang="en-US" sz="2400" spc="-30" dirty="0" smtClean="0">
                <a:latin typeface="Times New Roman"/>
                <a:cs typeface="Times New Roman"/>
              </a:rPr>
              <a:t>saw. </a:t>
            </a:r>
          </a:p>
          <a:p>
            <a:pPr marL="355591" indent="-342900" algn="just">
              <a:lnSpc>
                <a:spcPct val="150000"/>
              </a:lnSpc>
              <a:buFont typeface="Arial" panose="020B0604020202020204" pitchFamily="34" charset="0"/>
              <a:buChar char="•"/>
            </a:pPr>
            <a:r>
              <a:rPr lang="en-US" sz="2400" spc="-45" dirty="0" smtClean="0">
                <a:latin typeface="Times New Roman"/>
                <a:cs typeface="Times New Roman"/>
              </a:rPr>
              <a:t>Besides,</a:t>
            </a:r>
            <a:r>
              <a:rPr lang="en-US" sz="2400" spc="175" dirty="0" smtClean="0">
                <a:latin typeface="Times New Roman"/>
                <a:cs typeface="Times New Roman"/>
              </a:rPr>
              <a:t> </a:t>
            </a:r>
            <a:r>
              <a:rPr lang="en-US" sz="2400" spc="-35" dirty="0" smtClean="0">
                <a:latin typeface="Times New Roman"/>
                <a:cs typeface="Times New Roman"/>
              </a:rPr>
              <a:t>many</a:t>
            </a:r>
            <a:r>
              <a:rPr lang="en-US" sz="2400" spc="150" dirty="0" smtClean="0">
                <a:latin typeface="Times New Roman"/>
                <a:cs typeface="Times New Roman"/>
              </a:rPr>
              <a:t> </a:t>
            </a:r>
            <a:r>
              <a:rPr lang="en-US" sz="2400" spc="-35" dirty="0" smtClean="0">
                <a:latin typeface="Times New Roman"/>
                <a:cs typeface="Times New Roman"/>
              </a:rPr>
              <a:t>bronze</a:t>
            </a:r>
            <a:r>
              <a:rPr lang="en-US" sz="2400" spc="170" dirty="0" smtClean="0">
                <a:latin typeface="Times New Roman"/>
                <a:cs typeface="Times New Roman"/>
              </a:rPr>
              <a:t> </a:t>
            </a:r>
            <a:r>
              <a:rPr lang="en-US" sz="2400" spc="-45" dirty="0" smtClean="0">
                <a:latin typeface="Times New Roman"/>
                <a:cs typeface="Times New Roman"/>
              </a:rPr>
              <a:t>figurines</a:t>
            </a:r>
            <a:r>
              <a:rPr lang="en-US" sz="2400" spc="181" dirty="0" smtClean="0">
                <a:latin typeface="Times New Roman"/>
                <a:cs typeface="Times New Roman"/>
              </a:rPr>
              <a:t> </a:t>
            </a:r>
            <a:r>
              <a:rPr lang="en-US" sz="2400" spc="-25" dirty="0" smtClean="0">
                <a:latin typeface="Times New Roman"/>
                <a:cs typeface="Times New Roman"/>
              </a:rPr>
              <a:t>or</a:t>
            </a:r>
            <a:r>
              <a:rPr lang="en-US" sz="2400" spc="175" dirty="0" smtClean="0">
                <a:latin typeface="Times New Roman"/>
                <a:cs typeface="Times New Roman"/>
              </a:rPr>
              <a:t> </a:t>
            </a:r>
            <a:r>
              <a:rPr lang="en-US" sz="2400" spc="-40" dirty="0" smtClean="0">
                <a:latin typeface="Times New Roman"/>
                <a:cs typeface="Times New Roman"/>
              </a:rPr>
              <a:t>humans</a:t>
            </a:r>
            <a:r>
              <a:rPr lang="en-US" sz="2400" spc="181" dirty="0" smtClean="0">
                <a:latin typeface="Times New Roman"/>
                <a:cs typeface="Times New Roman"/>
              </a:rPr>
              <a:t> </a:t>
            </a:r>
            <a:r>
              <a:rPr lang="en-US" sz="2400" spc="-35" dirty="0" smtClean="0">
                <a:latin typeface="Times New Roman"/>
                <a:cs typeface="Times New Roman"/>
              </a:rPr>
              <a:t>such</a:t>
            </a:r>
            <a:r>
              <a:rPr lang="en-US" sz="2400" spc="175" dirty="0" smtClean="0">
                <a:latin typeface="Times New Roman"/>
                <a:cs typeface="Times New Roman"/>
              </a:rPr>
              <a:t> </a:t>
            </a:r>
            <a:r>
              <a:rPr lang="en-US" sz="2400" spc="-30" dirty="0" smtClean="0">
                <a:latin typeface="Times New Roman"/>
                <a:cs typeface="Times New Roman"/>
              </a:rPr>
              <a:t>as</a:t>
            </a:r>
            <a:r>
              <a:rPr lang="en-US" sz="2400" spc="181" dirty="0" smtClean="0">
                <a:latin typeface="Times New Roman"/>
                <a:cs typeface="Times New Roman"/>
              </a:rPr>
              <a:t> </a:t>
            </a:r>
            <a:r>
              <a:rPr lang="en-US" sz="2400" spc="-35" dirty="0" smtClean="0">
                <a:latin typeface="Times New Roman"/>
                <a:cs typeface="Times New Roman"/>
              </a:rPr>
              <a:t>the</a:t>
            </a:r>
            <a:r>
              <a:rPr lang="en-US" sz="2400" spc="185" dirty="0" smtClean="0">
                <a:latin typeface="Times New Roman"/>
                <a:cs typeface="Times New Roman"/>
              </a:rPr>
              <a:t> </a:t>
            </a:r>
            <a:r>
              <a:rPr lang="en-US" sz="2400" spc="-45" dirty="0" smtClean="0">
                <a:latin typeface="Times New Roman"/>
                <a:cs typeface="Times New Roman"/>
              </a:rPr>
              <a:t>well-</a:t>
            </a:r>
            <a:r>
              <a:rPr lang="en-US" sz="2400" spc="-50" dirty="0" smtClean="0">
                <a:latin typeface="Times New Roman"/>
                <a:cs typeface="Times New Roman"/>
              </a:rPr>
              <a:t>k</a:t>
            </a:r>
            <a:r>
              <a:rPr lang="en-US" sz="2400" spc="-40" dirty="0" smtClean="0">
                <a:latin typeface="Times New Roman"/>
                <a:cs typeface="Times New Roman"/>
              </a:rPr>
              <a:t>now</a:t>
            </a:r>
            <a:r>
              <a:rPr lang="en-US" sz="2400" dirty="0" smtClean="0">
                <a:latin typeface="Times New Roman"/>
                <a:cs typeface="Times New Roman"/>
              </a:rPr>
              <a:t>n</a:t>
            </a:r>
            <a:r>
              <a:rPr lang="en-US" sz="2400" spc="175" dirty="0" smtClean="0">
                <a:latin typeface="Times New Roman"/>
                <a:cs typeface="Times New Roman"/>
              </a:rPr>
              <a:t> </a:t>
            </a:r>
            <a:r>
              <a:rPr lang="en-US" sz="2400" spc="-65" dirty="0" smtClean="0">
                <a:solidFill>
                  <a:srgbClr val="FF0000"/>
                </a:solidFill>
                <a:latin typeface="Times New Roman"/>
                <a:cs typeface="Times New Roman"/>
              </a:rPr>
              <a:t>“Dancing</a:t>
            </a:r>
            <a:r>
              <a:rPr lang="en-US" sz="2400" spc="175" dirty="0" smtClean="0">
                <a:solidFill>
                  <a:srgbClr val="FF0000"/>
                </a:solidFill>
                <a:latin typeface="Times New Roman"/>
                <a:cs typeface="Times New Roman"/>
              </a:rPr>
              <a:t> </a:t>
            </a:r>
            <a:r>
              <a:rPr lang="en-US" sz="2400" spc="-40" dirty="0" smtClean="0">
                <a:solidFill>
                  <a:srgbClr val="FF0000"/>
                </a:solidFill>
                <a:latin typeface="Times New Roman"/>
                <a:cs typeface="Times New Roman"/>
              </a:rPr>
              <a:t>Girl”,</a:t>
            </a:r>
            <a:r>
              <a:rPr lang="en-US" sz="2400" spc="175" dirty="0" smtClean="0">
                <a:solidFill>
                  <a:srgbClr val="FF0000"/>
                </a:solidFill>
                <a:latin typeface="Times New Roman"/>
                <a:cs typeface="Times New Roman"/>
              </a:rPr>
              <a:t> </a:t>
            </a:r>
            <a:r>
              <a:rPr lang="en-US" sz="2400" spc="-30" dirty="0" smtClean="0">
                <a:latin typeface="Times New Roman"/>
                <a:cs typeface="Times New Roman"/>
              </a:rPr>
              <a:t>for</a:t>
            </a:r>
            <a:r>
              <a:rPr lang="en-US" sz="2400" spc="-4" dirty="0" smtClean="0">
                <a:latin typeface="Times New Roman"/>
                <a:cs typeface="Times New Roman"/>
              </a:rPr>
              <a:t> </a:t>
            </a:r>
            <a:r>
              <a:rPr lang="en-US" sz="2400" spc="-40" dirty="0" smtClean="0">
                <a:latin typeface="Times New Roman"/>
                <a:cs typeface="Times New Roman"/>
              </a:rPr>
              <a:t>instance</a:t>
            </a:r>
            <a:r>
              <a:rPr lang="en-US" sz="2400" spc="40" dirty="0" smtClean="0">
                <a:latin typeface="Times New Roman"/>
                <a:cs typeface="Times New Roman"/>
              </a:rPr>
              <a:t> </a:t>
            </a:r>
            <a:r>
              <a:rPr lang="en-US" sz="2400" spc="-35" dirty="0" smtClean="0">
                <a:latin typeface="Times New Roman"/>
                <a:cs typeface="Times New Roman"/>
              </a:rPr>
              <a:t>and</a:t>
            </a:r>
            <a:r>
              <a:rPr lang="en-US" sz="2400" spc="45" dirty="0" smtClean="0">
                <a:latin typeface="Times New Roman"/>
                <a:cs typeface="Times New Roman"/>
              </a:rPr>
              <a:t> </a:t>
            </a:r>
            <a:r>
              <a:rPr lang="en-US" sz="2400" spc="-45" dirty="0" smtClean="0">
                <a:latin typeface="Times New Roman"/>
                <a:cs typeface="Times New Roman"/>
              </a:rPr>
              <a:t>animals</a:t>
            </a:r>
            <a:r>
              <a:rPr lang="en-US" sz="2400" spc="35" dirty="0" smtClean="0">
                <a:latin typeface="Times New Roman"/>
                <a:cs typeface="Times New Roman"/>
              </a:rPr>
              <a:t> </a:t>
            </a:r>
            <a:r>
              <a:rPr lang="en-US" sz="2400" spc="-40" dirty="0" smtClean="0">
                <a:latin typeface="Times New Roman"/>
                <a:cs typeface="Times New Roman"/>
              </a:rPr>
              <a:t>like</a:t>
            </a:r>
            <a:r>
              <a:rPr lang="en-US" sz="2400" spc="40" dirty="0" smtClean="0">
                <a:latin typeface="Times New Roman"/>
                <a:cs typeface="Times New Roman"/>
              </a:rPr>
              <a:t> </a:t>
            </a:r>
            <a:r>
              <a:rPr lang="en-US" sz="2400" spc="-40" dirty="0" smtClean="0">
                <a:latin typeface="Times New Roman"/>
                <a:cs typeface="Times New Roman"/>
              </a:rPr>
              <a:t>rams,</a:t>
            </a:r>
            <a:r>
              <a:rPr lang="en-US" sz="2400" spc="30" dirty="0" smtClean="0">
                <a:latin typeface="Times New Roman"/>
                <a:cs typeface="Times New Roman"/>
              </a:rPr>
              <a:t> </a:t>
            </a:r>
            <a:r>
              <a:rPr lang="en-US" sz="2400" spc="-40" dirty="0" smtClean="0">
                <a:latin typeface="Times New Roman"/>
                <a:cs typeface="Times New Roman"/>
              </a:rPr>
              <a:t>deer,</a:t>
            </a:r>
            <a:r>
              <a:rPr lang="en-US" sz="2400" spc="30" dirty="0" smtClean="0">
                <a:latin typeface="Times New Roman"/>
                <a:cs typeface="Times New Roman"/>
              </a:rPr>
              <a:t> </a:t>
            </a:r>
            <a:r>
              <a:rPr lang="en-US" sz="2400" spc="-40" dirty="0" smtClean="0">
                <a:latin typeface="Times New Roman"/>
                <a:cs typeface="Times New Roman"/>
              </a:rPr>
              <a:t>bulls</a:t>
            </a:r>
            <a:r>
              <a:rPr lang="en-US" sz="2400" spc="35" dirty="0" smtClean="0">
                <a:latin typeface="Times New Roman"/>
                <a:cs typeface="Times New Roman"/>
              </a:rPr>
              <a:t> </a:t>
            </a:r>
            <a:r>
              <a:rPr lang="en-US" sz="2400" spc="-40" dirty="0" smtClean="0">
                <a:latin typeface="Times New Roman"/>
                <a:cs typeface="Times New Roman"/>
              </a:rPr>
              <a:t>etc.</a:t>
            </a:r>
            <a:r>
              <a:rPr lang="en-US" sz="2400" spc="30" dirty="0" smtClean="0">
                <a:latin typeface="Times New Roman"/>
                <a:cs typeface="Times New Roman"/>
              </a:rPr>
              <a:t> </a:t>
            </a:r>
            <a:r>
              <a:rPr lang="en-US" sz="2400" spc="-35" dirty="0" smtClean="0">
                <a:latin typeface="Times New Roman"/>
                <a:cs typeface="Times New Roman"/>
              </a:rPr>
              <a:t>have</a:t>
            </a:r>
            <a:r>
              <a:rPr lang="en-US" sz="2400" spc="30" dirty="0" smtClean="0">
                <a:latin typeface="Times New Roman"/>
                <a:cs typeface="Times New Roman"/>
              </a:rPr>
              <a:t> </a:t>
            </a:r>
            <a:r>
              <a:rPr lang="en-US" sz="2400" spc="-40" dirty="0" smtClean="0">
                <a:latin typeface="Times New Roman"/>
                <a:cs typeface="Times New Roman"/>
              </a:rPr>
              <a:t>been</a:t>
            </a:r>
            <a:r>
              <a:rPr lang="en-US" sz="2400" spc="45" dirty="0" smtClean="0">
                <a:latin typeface="Times New Roman"/>
                <a:cs typeface="Times New Roman"/>
              </a:rPr>
              <a:t> </a:t>
            </a:r>
            <a:r>
              <a:rPr lang="en-US" sz="2400" spc="-45" dirty="0" smtClean="0">
                <a:latin typeface="Times New Roman"/>
                <a:cs typeface="Times New Roman"/>
              </a:rPr>
              <a:t>unearthed</a:t>
            </a:r>
            <a:r>
              <a:rPr lang="en-US" sz="2400" spc="30" dirty="0" smtClean="0">
                <a:latin typeface="Times New Roman"/>
                <a:cs typeface="Times New Roman"/>
              </a:rPr>
              <a:t> </a:t>
            </a:r>
            <a:r>
              <a:rPr lang="en-US" sz="2400" spc="-40" dirty="0" smtClean="0">
                <a:latin typeface="Times New Roman"/>
                <a:cs typeface="Times New Roman"/>
              </a:rPr>
              <a:t>from</a:t>
            </a:r>
            <a:r>
              <a:rPr lang="en-US" sz="2400" spc="45" dirty="0" smtClean="0">
                <a:latin typeface="Times New Roman"/>
                <a:cs typeface="Times New Roman"/>
              </a:rPr>
              <a:t> </a:t>
            </a:r>
            <a:r>
              <a:rPr lang="en-US" sz="2400" spc="-45" dirty="0" err="1" smtClean="0">
                <a:solidFill>
                  <a:srgbClr val="FF0000"/>
                </a:solidFill>
                <a:latin typeface="Times New Roman"/>
                <a:cs typeface="Times New Roman"/>
              </a:rPr>
              <a:t>Harappan</a:t>
            </a:r>
            <a:r>
              <a:rPr lang="en-US" sz="2400" spc="30" dirty="0" smtClean="0">
                <a:solidFill>
                  <a:srgbClr val="FF0000"/>
                </a:solidFill>
                <a:latin typeface="Times New Roman"/>
                <a:cs typeface="Times New Roman"/>
              </a:rPr>
              <a:t> </a:t>
            </a:r>
            <a:r>
              <a:rPr lang="en-US" sz="2400" spc="-40" dirty="0" smtClean="0">
                <a:solidFill>
                  <a:srgbClr val="FF0000"/>
                </a:solidFill>
                <a:latin typeface="Times New Roman"/>
                <a:cs typeface="Times New Roman"/>
              </a:rPr>
              <a:t>sites.</a:t>
            </a:r>
            <a:r>
              <a:rPr lang="en-US" sz="2400" spc="30" dirty="0" smtClean="0">
                <a:solidFill>
                  <a:srgbClr val="FF0000"/>
                </a:solidFill>
                <a:latin typeface="Times New Roman"/>
                <a:cs typeface="Times New Roman"/>
              </a:rPr>
              <a:t> </a:t>
            </a:r>
          </a:p>
        </p:txBody>
      </p:sp>
    </p:spTree>
    <p:extLst>
      <p:ext uri="{BB962C8B-B14F-4D97-AF65-F5344CB8AC3E}">
        <p14:creationId xmlns:p14="http://schemas.microsoft.com/office/powerpoint/2010/main" val="361922280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1171575" y="685800"/>
            <a:ext cx="8077200" cy="4411785"/>
          </a:xfrm>
          <a:prstGeom prst="rect">
            <a:avLst/>
          </a:prstGeom>
        </p:spPr>
        <p:txBody>
          <a:bodyPr wrap="square">
            <a:spAutoFit/>
          </a:bodyPr>
          <a:lstStyle/>
          <a:p>
            <a:pPr marL="12691" algn="just">
              <a:lnSpc>
                <a:spcPct val="200000"/>
              </a:lnSpc>
            </a:pPr>
            <a:r>
              <a:rPr lang="en-US" sz="2400" spc="-40" dirty="0" smtClean="0">
                <a:latin typeface="Times New Roman"/>
                <a:cs typeface="Times New Roman"/>
              </a:rPr>
              <a:t>Those</a:t>
            </a:r>
            <a:r>
              <a:rPr lang="en-US" sz="2400" spc="40" dirty="0" smtClean="0">
                <a:latin typeface="Times New Roman"/>
                <a:cs typeface="Times New Roman"/>
              </a:rPr>
              <a:t> </a:t>
            </a:r>
            <a:r>
              <a:rPr lang="en-US" sz="2400" spc="-45" dirty="0" smtClean="0">
                <a:solidFill>
                  <a:srgbClr val="C00000"/>
                </a:solidFill>
                <a:latin typeface="Times New Roman"/>
                <a:cs typeface="Times New Roman"/>
              </a:rPr>
              <a:t>figurines</a:t>
            </a:r>
            <a:r>
              <a:rPr lang="en-US" sz="2400" dirty="0" smtClean="0">
                <a:solidFill>
                  <a:srgbClr val="C00000"/>
                </a:solidFill>
                <a:latin typeface="Times New Roman"/>
                <a:cs typeface="Times New Roman"/>
              </a:rPr>
              <a:t> </a:t>
            </a:r>
            <a:r>
              <a:rPr lang="en-US" sz="2400" spc="-35" dirty="0" smtClean="0">
                <a:solidFill>
                  <a:srgbClr val="C00000"/>
                </a:solidFill>
                <a:latin typeface="Times New Roman"/>
                <a:cs typeface="Times New Roman"/>
              </a:rPr>
              <a:t>were</a:t>
            </a:r>
            <a:r>
              <a:rPr lang="en-US" sz="2400" spc="14" dirty="0" smtClean="0">
                <a:solidFill>
                  <a:srgbClr val="C00000"/>
                </a:solidFill>
                <a:latin typeface="Times New Roman"/>
                <a:cs typeface="Times New Roman"/>
              </a:rPr>
              <a:t> </a:t>
            </a:r>
            <a:r>
              <a:rPr lang="en-US" sz="2400" spc="-40" dirty="0" smtClean="0">
                <a:solidFill>
                  <a:srgbClr val="C00000"/>
                </a:solidFill>
                <a:latin typeface="Times New Roman"/>
                <a:cs typeface="Times New Roman"/>
              </a:rPr>
              <a:t>cast</a:t>
            </a:r>
            <a:r>
              <a:rPr lang="en-US" sz="2400" spc="25" dirty="0" smtClean="0">
                <a:solidFill>
                  <a:srgbClr val="C00000"/>
                </a:solidFill>
                <a:latin typeface="Times New Roman"/>
                <a:cs typeface="Times New Roman"/>
              </a:rPr>
              <a:t> </a:t>
            </a:r>
            <a:r>
              <a:rPr lang="en-US" sz="2400" spc="-25" dirty="0" smtClean="0">
                <a:solidFill>
                  <a:srgbClr val="C00000"/>
                </a:solidFill>
                <a:latin typeface="Times New Roman"/>
                <a:cs typeface="Times New Roman"/>
              </a:rPr>
              <a:t>b</a:t>
            </a:r>
            <a:r>
              <a:rPr lang="en-US" sz="2400" dirty="0" smtClean="0">
                <a:solidFill>
                  <a:srgbClr val="C00000"/>
                </a:solidFill>
                <a:latin typeface="Times New Roman"/>
                <a:cs typeface="Times New Roman"/>
              </a:rPr>
              <a:t>y</a:t>
            </a:r>
            <a:r>
              <a:rPr lang="en-US" sz="2400" spc="-14" dirty="0" smtClean="0">
                <a:solidFill>
                  <a:srgbClr val="C00000"/>
                </a:solidFill>
                <a:latin typeface="Times New Roman"/>
                <a:cs typeface="Times New Roman"/>
              </a:rPr>
              <a:t> </a:t>
            </a:r>
            <a:r>
              <a:rPr lang="en-US" sz="2400" spc="-30" dirty="0" smtClean="0">
                <a:solidFill>
                  <a:srgbClr val="C00000"/>
                </a:solidFill>
                <a:latin typeface="Times New Roman"/>
                <a:cs typeface="Times New Roman"/>
              </a:rPr>
              <a:t>the</a:t>
            </a:r>
            <a:r>
              <a:rPr lang="en-US" sz="2400" spc="14" dirty="0" smtClean="0">
                <a:solidFill>
                  <a:srgbClr val="C00000"/>
                </a:solidFill>
                <a:latin typeface="Times New Roman"/>
                <a:cs typeface="Times New Roman"/>
              </a:rPr>
              <a:t> </a:t>
            </a:r>
            <a:r>
              <a:rPr lang="en-US" sz="2400" spc="-45" dirty="0" smtClean="0">
                <a:solidFill>
                  <a:srgbClr val="C00000"/>
                </a:solidFill>
                <a:latin typeface="Times New Roman"/>
                <a:cs typeface="Times New Roman"/>
              </a:rPr>
              <a:t>lost-</a:t>
            </a:r>
            <a:r>
              <a:rPr lang="en-US" sz="2400" spc="-35" dirty="0" smtClean="0">
                <a:solidFill>
                  <a:srgbClr val="C00000"/>
                </a:solidFill>
                <a:latin typeface="Times New Roman"/>
                <a:cs typeface="Times New Roman"/>
              </a:rPr>
              <a:t>wax</a:t>
            </a:r>
            <a:r>
              <a:rPr lang="en-US" sz="2400" spc="20" dirty="0" smtClean="0">
                <a:solidFill>
                  <a:srgbClr val="C00000"/>
                </a:solidFill>
                <a:latin typeface="Times New Roman"/>
                <a:cs typeface="Times New Roman"/>
              </a:rPr>
              <a:t> </a:t>
            </a:r>
            <a:r>
              <a:rPr lang="en-US" sz="2400" spc="-40" dirty="0" smtClean="0">
                <a:latin typeface="Times New Roman"/>
                <a:cs typeface="Times New Roman"/>
              </a:rPr>
              <a:t>process:</a:t>
            </a:r>
          </a:p>
          <a:p>
            <a:pPr marL="355591" indent="-342900" algn="just">
              <a:lnSpc>
                <a:spcPct val="200000"/>
              </a:lnSpc>
              <a:buFont typeface="Arial" panose="020B0604020202020204" pitchFamily="34" charset="0"/>
              <a:buChar char="•"/>
            </a:pPr>
            <a:r>
              <a:rPr lang="en-US" sz="2400" spc="25" dirty="0" smtClean="0">
                <a:latin typeface="Times New Roman"/>
                <a:cs typeface="Times New Roman"/>
              </a:rPr>
              <a:t> </a:t>
            </a:r>
            <a:r>
              <a:rPr lang="en-US" sz="2400" spc="-35" dirty="0" smtClean="0">
                <a:latin typeface="Times New Roman"/>
                <a:cs typeface="Times New Roman"/>
              </a:rPr>
              <a:t>the</a:t>
            </a:r>
            <a:r>
              <a:rPr lang="en-US" sz="2400" spc="14" dirty="0" smtClean="0">
                <a:latin typeface="Times New Roman"/>
                <a:cs typeface="Times New Roman"/>
              </a:rPr>
              <a:t> </a:t>
            </a:r>
            <a:r>
              <a:rPr lang="en-US" sz="2400" spc="-45" dirty="0" smtClean="0">
                <a:latin typeface="Times New Roman"/>
                <a:cs typeface="Times New Roman"/>
              </a:rPr>
              <a:t>initial</a:t>
            </a:r>
            <a:r>
              <a:rPr lang="en-US" sz="2400" spc="25" dirty="0" smtClean="0">
                <a:latin typeface="Times New Roman"/>
                <a:cs typeface="Times New Roman"/>
              </a:rPr>
              <a:t> </a:t>
            </a:r>
            <a:r>
              <a:rPr lang="en-US" sz="2400" spc="-40" dirty="0" smtClean="0">
                <a:latin typeface="Times New Roman"/>
                <a:cs typeface="Times New Roman"/>
              </a:rPr>
              <a:t>model</a:t>
            </a:r>
            <a:r>
              <a:rPr lang="en-US" sz="2400" spc="10" dirty="0" smtClean="0">
                <a:latin typeface="Times New Roman"/>
                <a:cs typeface="Times New Roman"/>
              </a:rPr>
              <a:t> </a:t>
            </a:r>
            <a:r>
              <a:rPr lang="en-US" sz="2400" spc="-35" dirty="0" smtClean="0">
                <a:latin typeface="Times New Roman"/>
                <a:cs typeface="Times New Roman"/>
              </a:rPr>
              <a:t>was</a:t>
            </a:r>
            <a:r>
              <a:rPr lang="en-US" sz="2400" spc="20" dirty="0" smtClean="0">
                <a:latin typeface="Times New Roman"/>
                <a:cs typeface="Times New Roman"/>
              </a:rPr>
              <a:t> </a:t>
            </a:r>
            <a:r>
              <a:rPr lang="en-US" sz="2400" spc="-35" dirty="0" smtClean="0">
                <a:latin typeface="Times New Roman"/>
                <a:cs typeface="Times New Roman"/>
              </a:rPr>
              <a:t>made</a:t>
            </a:r>
            <a:r>
              <a:rPr lang="en-US" sz="2400" spc="14" dirty="0" smtClean="0">
                <a:latin typeface="Times New Roman"/>
                <a:cs typeface="Times New Roman"/>
              </a:rPr>
              <a:t> </a:t>
            </a:r>
            <a:r>
              <a:rPr lang="en-US" sz="2400" spc="-25" dirty="0" smtClean="0">
                <a:latin typeface="Times New Roman"/>
                <a:cs typeface="Times New Roman"/>
              </a:rPr>
              <a:t>of</a:t>
            </a:r>
            <a:r>
              <a:rPr lang="en-US" sz="2400" spc="14" dirty="0" smtClean="0">
                <a:latin typeface="Times New Roman"/>
                <a:cs typeface="Times New Roman"/>
              </a:rPr>
              <a:t> </a:t>
            </a:r>
            <a:r>
              <a:rPr lang="en-US" sz="2400" spc="-40" dirty="0" smtClean="0">
                <a:latin typeface="Times New Roman"/>
                <a:cs typeface="Times New Roman"/>
              </a:rPr>
              <a:t>wax,</a:t>
            </a:r>
            <a:r>
              <a:rPr lang="en-US" sz="2400" spc="20" dirty="0" smtClean="0">
                <a:latin typeface="Times New Roman"/>
                <a:cs typeface="Times New Roman"/>
              </a:rPr>
              <a:t> </a:t>
            </a:r>
          </a:p>
          <a:p>
            <a:pPr marL="355591" indent="-342900" algn="just">
              <a:lnSpc>
                <a:spcPct val="200000"/>
              </a:lnSpc>
              <a:buFont typeface="Arial" panose="020B0604020202020204" pitchFamily="34" charset="0"/>
              <a:buChar char="•"/>
            </a:pPr>
            <a:r>
              <a:rPr lang="en-US" sz="2400" spc="-40" dirty="0" smtClean="0">
                <a:latin typeface="Times New Roman"/>
                <a:cs typeface="Times New Roman"/>
              </a:rPr>
              <a:t>then</a:t>
            </a:r>
            <a:r>
              <a:rPr lang="en-US" sz="2400" spc="20" dirty="0" smtClean="0">
                <a:latin typeface="Times New Roman"/>
                <a:cs typeface="Times New Roman"/>
              </a:rPr>
              <a:t> </a:t>
            </a:r>
            <a:r>
              <a:rPr lang="en-US" sz="2400" spc="-40" dirty="0" smtClean="0">
                <a:latin typeface="Times New Roman"/>
                <a:cs typeface="Times New Roman"/>
              </a:rPr>
              <a:t>thickly</a:t>
            </a:r>
            <a:r>
              <a:rPr lang="en-US" sz="2400" spc="-14" dirty="0" smtClean="0">
                <a:latin typeface="Times New Roman"/>
                <a:cs typeface="Times New Roman"/>
              </a:rPr>
              <a:t> </a:t>
            </a:r>
            <a:r>
              <a:rPr lang="en-US" sz="2400" spc="-40" dirty="0" smtClean="0">
                <a:latin typeface="Times New Roman"/>
                <a:cs typeface="Times New Roman"/>
              </a:rPr>
              <a:t>coated</a:t>
            </a:r>
            <a:r>
              <a:rPr lang="en-US" sz="2400" spc="20" dirty="0" smtClean="0">
                <a:latin typeface="Times New Roman"/>
                <a:cs typeface="Times New Roman"/>
              </a:rPr>
              <a:t> </a:t>
            </a:r>
            <a:r>
              <a:rPr lang="en-US" sz="2400" spc="-35" dirty="0" smtClean="0">
                <a:latin typeface="Times New Roman"/>
                <a:cs typeface="Times New Roman"/>
              </a:rPr>
              <a:t>with</a:t>
            </a:r>
            <a:r>
              <a:rPr lang="en-US" sz="2400" spc="20" dirty="0" smtClean="0">
                <a:latin typeface="Times New Roman"/>
                <a:cs typeface="Times New Roman"/>
              </a:rPr>
              <a:t> </a:t>
            </a:r>
            <a:r>
              <a:rPr lang="en-US" sz="2400" spc="-45" dirty="0" smtClean="0">
                <a:latin typeface="Times New Roman"/>
                <a:cs typeface="Times New Roman"/>
              </a:rPr>
              <a:t>clay;</a:t>
            </a:r>
            <a:r>
              <a:rPr lang="en-US" sz="2400" spc="25" dirty="0" smtClean="0">
                <a:latin typeface="Times New Roman"/>
                <a:cs typeface="Times New Roman"/>
              </a:rPr>
              <a:t> </a:t>
            </a:r>
          </a:p>
          <a:p>
            <a:pPr marL="355591" indent="-342900" algn="just">
              <a:lnSpc>
                <a:spcPct val="200000"/>
              </a:lnSpc>
              <a:buFont typeface="Arial" panose="020B0604020202020204" pitchFamily="34" charset="0"/>
              <a:buChar char="•"/>
            </a:pPr>
            <a:r>
              <a:rPr lang="en-US" sz="2400" spc="-35" dirty="0" smtClean="0">
                <a:latin typeface="Times New Roman"/>
                <a:cs typeface="Times New Roman"/>
              </a:rPr>
              <a:t>once</a:t>
            </a:r>
            <a:r>
              <a:rPr lang="en-US" sz="2400" spc="-4" dirty="0" smtClean="0">
                <a:latin typeface="Times New Roman"/>
                <a:cs typeface="Times New Roman"/>
              </a:rPr>
              <a:t> </a:t>
            </a:r>
            <a:r>
              <a:rPr lang="en-US" sz="2400" spc="-40" dirty="0" smtClean="0">
                <a:latin typeface="Times New Roman"/>
                <a:cs typeface="Times New Roman"/>
              </a:rPr>
              <a:t>fired</a:t>
            </a:r>
            <a:r>
              <a:rPr lang="en-US" sz="2400" spc="45" dirty="0" smtClean="0">
                <a:latin typeface="Times New Roman"/>
                <a:cs typeface="Times New Roman"/>
              </a:rPr>
              <a:t> </a:t>
            </a:r>
            <a:r>
              <a:rPr lang="en-US" sz="2400" spc="-40" dirty="0" smtClean="0">
                <a:latin typeface="Times New Roman"/>
                <a:cs typeface="Times New Roman"/>
              </a:rPr>
              <a:t>which</a:t>
            </a:r>
            <a:r>
              <a:rPr lang="en-US" sz="2400" spc="45" dirty="0" smtClean="0">
                <a:latin typeface="Times New Roman"/>
                <a:cs typeface="Times New Roman"/>
              </a:rPr>
              <a:t> </a:t>
            </a:r>
            <a:r>
              <a:rPr lang="en-US" sz="2400" spc="-40" dirty="0" smtClean="0">
                <a:latin typeface="Times New Roman"/>
                <a:cs typeface="Times New Roman"/>
              </a:rPr>
              <a:t>caused</a:t>
            </a:r>
            <a:r>
              <a:rPr lang="en-US" sz="2400" spc="45" dirty="0" smtClean="0">
                <a:latin typeface="Times New Roman"/>
                <a:cs typeface="Times New Roman"/>
              </a:rPr>
              <a:t> </a:t>
            </a:r>
            <a:r>
              <a:rPr lang="en-US" sz="2400" spc="-30" dirty="0" smtClean="0">
                <a:latin typeface="Times New Roman"/>
                <a:cs typeface="Times New Roman"/>
              </a:rPr>
              <a:t>the</a:t>
            </a:r>
            <a:r>
              <a:rPr lang="en-US" sz="2400" spc="40" dirty="0" smtClean="0">
                <a:latin typeface="Times New Roman"/>
                <a:cs typeface="Times New Roman"/>
              </a:rPr>
              <a:t> </a:t>
            </a:r>
            <a:r>
              <a:rPr lang="en-US" sz="2400" spc="-35" dirty="0" smtClean="0">
                <a:latin typeface="Times New Roman"/>
                <a:cs typeface="Times New Roman"/>
              </a:rPr>
              <a:t>wax</a:t>
            </a:r>
            <a:r>
              <a:rPr lang="en-US" sz="2400" spc="45" dirty="0" smtClean="0">
                <a:latin typeface="Times New Roman"/>
                <a:cs typeface="Times New Roman"/>
              </a:rPr>
              <a:t> </a:t>
            </a:r>
            <a:r>
              <a:rPr lang="en-US" sz="2400" spc="-25" dirty="0" smtClean="0">
                <a:latin typeface="Times New Roman"/>
                <a:cs typeface="Times New Roman"/>
              </a:rPr>
              <a:t>to</a:t>
            </a:r>
            <a:r>
              <a:rPr lang="en-US" sz="2400" spc="45" dirty="0" smtClean="0">
                <a:latin typeface="Times New Roman"/>
                <a:cs typeface="Times New Roman"/>
              </a:rPr>
              <a:t> </a:t>
            </a:r>
            <a:r>
              <a:rPr lang="en-US" sz="2400" spc="-40" dirty="0" smtClean="0">
                <a:latin typeface="Times New Roman"/>
                <a:cs typeface="Times New Roman"/>
              </a:rPr>
              <a:t>melt</a:t>
            </a:r>
            <a:r>
              <a:rPr lang="en-US" sz="2400" spc="45" dirty="0" smtClean="0">
                <a:latin typeface="Times New Roman"/>
                <a:cs typeface="Times New Roman"/>
              </a:rPr>
              <a:t> </a:t>
            </a:r>
            <a:r>
              <a:rPr lang="en-US" sz="2400" spc="-35" dirty="0" smtClean="0">
                <a:latin typeface="Times New Roman"/>
                <a:cs typeface="Times New Roman"/>
              </a:rPr>
              <a:t>away</a:t>
            </a:r>
            <a:r>
              <a:rPr lang="en-US" sz="2400" spc="20" dirty="0" smtClean="0">
                <a:latin typeface="Times New Roman"/>
                <a:cs typeface="Times New Roman"/>
              </a:rPr>
              <a:t> </a:t>
            </a:r>
            <a:r>
              <a:rPr lang="en-US" sz="2400" spc="-25" dirty="0" smtClean="0">
                <a:latin typeface="Times New Roman"/>
                <a:cs typeface="Times New Roman"/>
              </a:rPr>
              <a:t>or</a:t>
            </a:r>
            <a:r>
              <a:rPr lang="en-US" sz="2400" spc="40" dirty="0" smtClean="0">
                <a:latin typeface="Times New Roman"/>
                <a:cs typeface="Times New Roman"/>
              </a:rPr>
              <a:t> </a:t>
            </a:r>
            <a:r>
              <a:rPr lang="en-US" sz="2400" spc="-25" dirty="0" smtClean="0">
                <a:latin typeface="Times New Roman"/>
                <a:cs typeface="Times New Roman"/>
              </a:rPr>
              <a:t>be</a:t>
            </a:r>
            <a:r>
              <a:rPr lang="en-US" sz="2400" spc="50" dirty="0" smtClean="0">
                <a:latin typeface="Times New Roman"/>
                <a:cs typeface="Times New Roman"/>
              </a:rPr>
              <a:t> </a:t>
            </a:r>
            <a:r>
              <a:rPr lang="en-US" sz="2400" spc="-70" dirty="0" smtClean="0">
                <a:latin typeface="Times New Roman"/>
                <a:cs typeface="Times New Roman"/>
              </a:rPr>
              <a:t>‘lost’,</a:t>
            </a:r>
            <a:r>
              <a:rPr lang="en-US" sz="2400" spc="45" dirty="0" smtClean="0">
                <a:latin typeface="Times New Roman"/>
                <a:cs typeface="Times New Roman"/>
              </a:rPr>
              <a:t> </a:t>
            </a:r>
          </a:p>
          <a:p>
            <a:pPr marL="355591" indent="-342900" algn="just">
              <a:lnSpc>
                <a:spcPct val="200000"/>
              </a:lnSpc>
              <a:buFont typeface="Arial" panose="020B0604020202020204" pitchFamily="34" charset="0"/>
              <a:buChar char="•"/>
            </a:pPr>
            <a:r>
              <a:rPr lang="en-US" sz="2400" spc="-30" dirty="0" smtClean="0">
                <a:latin typeface="Times New Roman"/>
                <a:cs typeface="Times New Roman"/>
              </a:rPr>
              <a:t>the</a:t>
            </a:r>
            <a:r>
              <a:rPr lang="en-US" sz="2400" spc="40" dirty="0" smtClean="0">
                <a:latin typeface="Times New Roman"/>
                <a:cs typeface="Times New Roman"/>
              </a:rPr>
              <a:t> </a:t>
            </a:r>
            <a:r>
              <a:rPr lang="en-US" sz="2400" spc="-30" dirty="0" smtClean="0">
                <a:latin typeface="Times New Roman"/>
                <a:cs typeface="Times New Roman"/>
              </a:rPr>
              <a:t>clay</a:t>
            </a:r>
            <a:r>
              <a:rPr lang="en-US" sz="2400" spc="20" dirty="0" smtClean="0">
                <a:latin typeface="Times New Roman"/>
                <a:cs typeface="Times New Roman"/>
              </a:rPr>
              <a:t> </a:t>
            </a:r>
            <a:r>
              <a:rPr lang="en-US" sz="2400" spc="-40" dirty="0" smtClean="0">
                <a:latin typeface="Times New Roman"/>
                <a:cs typeface="Times New Roman"/>
              </a:rPr>
              <a:t>hardened</a:t>
            </a:r>
            <a:r>
              <a:rPr lang="en-US" sz="2400" spc="30" dirty="0" smtClean="0">
                <a:latin typeface="Times New Roman"/>
                <a:cs typeface="Times New Roman"/>
              </a:rPr>
              <a:t> </a:t>
            </a:r>
            <a:r>
              <a:rPr lang="en-US" sz="2400" spc="-35" dirty="0" smtClean="0">
                <a:latin typeface="Times New Roman"/>
                <a:cs typeface="Times New Roman"/>
              </a:rPr>
              <a:t>into</a:t>
            </a:r>
            <a:r>
              <a:rPr lang="en-US" sz="2400" spc="45" dirty="0" smtClean="0">
                <a:latin typeface="Times New Roman"/>
                <a:cs typeface="Times New Roman"/>
              </a:rPr>
              <a:t> </a:t>
            </a:r>
            <a:r>
              <a:rPr lang="en-US" sz="2400" spc="-10" dirty="0" smtClean="0">
                <a:latin typeface="Times New Roman"/>
                <a:cs typeface="Times New Roman"/>
              </a:rPr>
              <a:t>a</a:t>
            </a:r>
            <a:r>
              <a:rPr lang="en-US" sz="2400" spc="40" dirty="0" smtClean="0">
                <a:latin typeface="Times New Roman"/>
                <a:cs typeface="Times New Roman"/>
              </a:rPr>
              <a:t> </a:t>
            </a:r>
            <a:r>
              <a:rPr lang="en-US" sz="2400" spc="-40" dirty="0" err="1" smtClean="0">
                <a:latin typeface="Times New Roman"/>
                <a:cs typeface="Times New Roman"/>
              </a:rPr>
              <a:t>mould</a:t>
            </a:r>
            <a:r>
              <a:rPr lang="en-US" sz="2400" spc="-40" dirty="0" smtClean="0">
                <a:latin typeface="Times New Roman"/>
                <a:cs typeface="Times New Roman"/>
              </a:rPr>
              <a:t>,</a:t>
            </a:r>
            <a:r>
              <a:rPr lang="en-US" sz="2400" spc="45" dirty="0" smtClean="0">
                <a:latin typeface="Times New Roman"/>
                <a:cs typeface="Times New Roman"/>
              </a:rPr>
              <a:t> </a:t>
            </a:r>
          </a:p>
          <a:p>
            <a:pPr marL="355591" indent="-342900" algn="just">
              <a:lnSpc>
                <a:spcPct val="200000"/>
              </a:lnSpc>
              <a:buFont typeface="Arial" panose="020B0604020202020204" pitchFamily="34" charset="0"/>
              <a:buChar char="•"/>
            </a:pPr>
            <a:r>
              <a:rPr lang="en-US" sz="2400" spc="-40" dirty="0" smtClean="0">
                <a:latin typeface="Times New Roman"/>
                <a:cs typeface="Times New Roman"/>
              </a:rPr>
              <a:t>into</a:t>
            </a:r>
            <a:r>
              <a:rPr lang="en-US" sz="2400" spc="45" dirty="0" smtClean="0">
                <a:latin typeface="Times New Roman"/>
                <a:cs typeface="Times New Roman"/>
              </a:rPr>
              <a:t> </a:t>
            </a:r>
            <a:r>
              <a:rPr lang="en-US" sz="2400" spc="-40" dirty="0" smtClean="0">
                <a:latin typeface="Times New Roman"/>
                <a:cs typeface="Times New Roman"/>
              </a:rPr>
              <a:t>which</a:t>
            </a:r>
            <a:r>
              <a:rPr lang="en-US" sz="2400" spc="45" dirty="0" smtClean="0">
                <a:latin typeface="Times New Roman"/>
                <a:cs typeface="Times New Roman"/>
              </a:rPr>
              <a:t> </a:t>
            </a:r>
            <a:r>
              <a:rPr lang="en-US" sz="2400" spc="-40" dirty="0" smtClean="0">
                <a:latin typeface="Times New Roman"/>
                <a:cs typeface="Times New Roman"/>
              </a:rPr>
              <a:t>molten</a:t>
            </a:r>
            <a:r>
              <a:rPr lang="en-US" sz="2400" dirty="0" smtClean="0">
                <a:latin typeface="Times New Roman"/>
                <a:cs typeface="Times New Roman"/>
              </a:rPr>
              <a:t> </a:t>
            </a:r>
            <a:r>
              <a:rPr lang="en-US" sz="2400" spc="-40" dirty="0" smtClean="0">
                <a:latin typeface="Times New Roman"/>
                <a:cs typeface="Times New Roman"/>
              </a:rPr>
              <a:t>bronze</a:t>
            </a:r>
            <a:r>
              <a:rPr lang="en-US" sz="2400" spc="-65" dirty="0" smtClean="0">
                <a:latin typeface="Times New Roman"/>
                <a:cs typeface="Times New Roman"/>
              </a:rPr>
              <a:t> </a:t>
            </a:r>
            <a:r>
              <a:rPr lang="en-US" sz="2400" spc="-35" dirty="0" smtClean="0">
                <a:latin typeface="Times New Roman"/>
                <a:cs typeface="Times New Roman"/>
              </a:rPr>
              <a:t>was</a:t>
            </a:r>
            <a:r>
              <a:rPr lang="en-US" sz="2400" spc="-60" dirty="0" smtClean="0">
                <a:latin typeface="Times New Roman"/>
                <a:cs typeface="Times New Roman"/>
              </a:rPr>
              <a:t> </a:t>
            </a:r>
            <a:r>
              <a:rPr lang="en-US" sz="2400" spc="-40" dirty="0" smtClean="0">
                <a:latin typeface="Times New Roman"/>
                <a:cs typeface="Times New Roman"/>
              </a:rPr>
              <a:t>later</a:t>
            </a:r>
            <a:r>
              <a:rPr lang="en-US" sz="2400" spc="-65" dirty="0" smtClean="0">
                <a:latin typeface="Times New Roman"/>
                <a:cs typeface="Times New Roman"/>
              </a:rPr>
              <a:t> </a:t>
            </a:r>
            <a:r>
              <a:rPr lang="en-US" sz="2400" spc="-40" dirty="0" smtClean="0">
                <a:latin typeface="Times New Roman"/>
                <a:cs typeface="Times New Roman"/>
              </a:rPr>
              <a:t>poured.</a:t>
            </a:r>
            <a:r>
              <a:rPr lang="en-US" sz="2400" spc="-60" dirty="0" smtClean="0">
                <a:latin typeface="Times New Roman"/>
                <a:cs typeface="Times New Roman"/>
              </a:rPr>
              <a:t>    </a:t>
            </a:r>
          </a:p>
        </p:txBody>
      </p:sp>
    </p:spTree>
    <p:extLst>
      <p:ext uri="{BB962C8B-B14F-4D97-AF65-F5344CB8AC3E}">
        <p14:creationId xmlns:p14="http://schemas.microsoft.com/office/powerpoint/2010/main" val="305732627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753865" y="700987"/>
            <a:ext cx="8550672" cy="289613"/>
          </a:xfrm>
        </p:spPr>
        <p:txBody>
          <a:bodyPr>
            <a:normAutofit fontScale="90000"/>
          </a:bodyPr>
          <a:lstStyle/>
          <a:p>
            <a:r>
              <a:rPr lang="en-US" dirty="0" smtClean="0"/>
              <a:t>         </a:t>
            </a:r>
            <a:endParaRPr lang="en-US" dirty="0"/>
          </a:p>
        </p:txBody>
      </p:sp>
      <p:sp>
        <p:nvSpPr>
          <p:cNvPr id="3" name="Content Placeholder 2"/>
          <p:cNvSpPr>
            <a:spLocks noGrp="1"/>
          </p:cNvSpPr>
          <p:nvPr>
            <p:ph sz="quarter" idx="13"/>
          </p:nvPr>
        </p:nvSpPr>
        <p:spPr>
          <a:xfrm>
            <a:off x="753863" y="1371600"/>
            <a:ext cx="8550157" cy="5191761"/>
          </a:xfrm>
        </p:spPr>
        <p:txBody>
          <a:bodyPr/>
          <a:lstStyle/>
          <a:p>
            <a:pPr marR="6983" algn="just">
              <a:lnSpc>
                <a:spcPct val="200000"/>
              </a:lnSpc>
              <a:spcBef>
                <a:spcPts val="195"/>
              </a:spcBef>
            </a:pPr>
            <a:r>
              <a:rPr lang="en-US" sz="2400" cap="none" spc="-45" dirty="0" err="1" smtClean="0">
                <a:latin typeface="Times New Roman"/>
                <a:cs typeface="Times New Roman"/>
              </a:rPr>
              <a:t>Harappans</a:t>
            </a:r>
            <a:r>
              <a:rPr lang="en-US" sz="2400" cap="none" spc="-75" dirty="0" smtClean="0">
                <a:latin typeface="Times New Roman"/>
                <a:cs typeface="Times New Roman"/>
              </a:rPr>
              <a:t> </a:t>
            </a:r>
            <a:r>
              <a:rPr lang="en-US" sz="2400" cap="none" spc="-40" dirty="0" smtClean="0">
                <a:latin typeface="Times New Roman"/>
                <a:cs typeface="Times New Roman"/>
              </a:rPr>
              <a:t>also</a:t>
            </a:r>
            <a:r>
              <a:rPr lang="en-US" sz="2400" cap="none" spc="-60" dirty="0" smtClean="0">
                <a:latin typeface="Times New Roman"/>
                <a:cs typeface="Times New Roman"/>
              </a:rPr>
              <a:t> </a:t>
            </a:r>
            <a:r>
              <a:rPr lang="en-US" sz="2400" cap="none" spc="-35" dirty="0" smtClean="0">
                <a:latin typeface="Times New Roman"/>
                <a:cs typeface="Times New Roman"/>
              </a:rPr>
              <a:t>used</a:t>
            </a:r>
            <a:r>
              <a:rPr lang="en-US" sz="2400" cap="none" spc="-60" dirty="0" smtClean="0">
                <a:latin typeface="Times New Roman"/>
                <a:cs typeface="Times New Roman"/>
              </a:rPr>
              <a:t> </a:t>
            </a:r>
            <a:r>
              <a:rPr lang="en-US" sz="2400" cap="none" spc="-40" dirty="0" smtClean="0">
                <a:solidFill>
                  <a:srgbClr val="C00000"/>
                </a:solidFill>
                <a:latin typeface="Times New Roman"/>
                <a:cs typeface="Times New Roman"/>
              </a:rPr>
              <a:t>gold</a:t>
            </a:r>
            <a:r>
              <a:rPr lang="en-US" sz="2400" cap="none" spc="-60" dirty="0" smtClean="0">
                <a:solidFill>
                  <a:srgbClr val="C00000"/>
                </a:solidFill>
                <a:latin typeface="Times New Roman"/>
                <a:cs typeface="Times New Roman"/>
              </a:rPr>
              <a:t> </a:t>
            </a:r>
            <a:r>
              <a:rPr lang="en-US" sz="2400" cap="none" spc="-35" dirty="0" smtClean="0">
                <a:solidFill>
                  <a:srgbClr val="C00000"/>
                </a:solidFill>
                <a:latin typeface="Times New Roman"/>
                <a:cs typeface="Times New Roman"/>
              </a:rPr>
              <a:t>and</a:t>
            </a:r>
            <a:r>
              <a:rPr lang="en-US" sz="2400" cap="none" spc="-60" dirty="0" smtClean="0">
                <a:solidFill>
                  <a:srgbClr val="C00000"/>
                </a:solidFill>
                <a:latin typeface="Times New Roman"/>
                <a:cs typeface="Times New Roman"/>
              </a:rPr>
              <a:t> </a:t>
            </a:r>
            <a:r>
              <a:rPr lang="en-US" sz="2400" cap="none" spc="-40" dirty="0" smtClean="0">
                <a:solidFill>
                  <a:srgbClr val="C00000"/>
                </a:solidFill>
                <a:latin typeface="Times New Roman"/>
                <a:cs typeface="Times New Roman"/>
              </a:rPr>
              <a:t>silver</a:t>
            </a:r>
            <a:r>
              <a:rPr lang="en-US" sz="2400" cap="none" spc="-80" dirty="0" smtClean="0">
                <a:solidFill>
                  <a:srgbClr val="C00000"/>
                </a:solidFill>
                <a:latin typeface="Times New Roman"/>
                <a:cs typeface="Times New Roman"/>
              </a:rPr>
              <a:t> </a:t>
            </a:r>
            <a:r>
              <a:rPr lang="en-US" sz="2400" cap="none" spc="-25" dirty="0" smtClean="0">
                <a:latin typeface="Times New Roman"/>
                <a:cs typeface="Times New Roman"/>
              </a:rPr>
              <a:t>to</a:t>
            </a:r>
            <a:r>
              <a:rPr lang="en-US" sz="2400" cap="none" spc="-75" dirty="0" smtClean="0">
                <a:latin typeface="Times New Roman"/>
                <a:cs typeface="Times New Roman"/>
              </a:rPr>
              <a:t> </a:t>
            </a:r>
            <a:r>
              <a:rPr lang="en-US" sz="2400" cap="none" spc="-40" dirty="0" smtClean="0">
                <a:latin typeface="Times New Roman"/>
                <a:cs typeface="Times New Roman"/>
              </a:rPr>
              <a:t>produce</a:t>
            </a:r>
            <a:r>
              <a:rPr lang="en-US" sz="2400" cap="none" spc="-65" dirty="0" smtClean="0">
                <a:latin typeface="Times New Roman"/>
                <a:cs typeface="Times New Roman"/>
              </a:rPr>
              <a:t> </a:t>
            </a:r>
            <a:r>
              <a:rPr lang="en-US" sz="2400" cap="none" spc="-10" dirty="0" smtClean="0">
                <a:latin typeface="Times New Roman"/>
                <a:cs typeface="Times New Roman"/>
              </a:rPr>
              <a:t>a</a:t>
            </a:r>
            <a:r>
              <a:rPr lang="en-US" sz="2400" cap="none" spc="-80" dirty="0" smtClean="0">
                <a:latin typeface="Times New Roman"/>
                <a:cs typeface="Times New Roman"/>
              </a:rPr>
              <a:t> </a:t>
            </a:r>
            <a:r>
              <a:rPr lang="en-US" sz="2400" cap="none" spc="-35" dirty="0" smtClean="0">
                <a:latin typeface="Times New Roman"/>
                <a:cs typeface="Times New Roman"/>
              </a:rPr>
              <a:t>wide</a:t>
            </a:r>
            <a:r>
              <a:rPr lang="en-US" sz="2400" cap="none" spc="-90" dirty="0" smtClean="0">
                <a:latin typeface="Times New Roman"/>
                <a:cs typeface="Times New Roman"/>
              </a:rPr>
              <a:t> </a:t>
            </a:r>
            <a:r>
              <a:rPr lang="en-US" sz="2400" cap="none" spc="-40" dirty="0" smtClean="0">
                <a:latin typeface="Times New Roman"/>
                <a:cs typeface="Times New Roman"/>
              </a:rPr>
              <a:t>variety</a:t>
            </a:r>
            <a:r>
              <a:rPr lang="en-US" sz="2400" cap="none" spc="-100" dirty="0" smtClean="0">
                <a:latin typeface="Times New Roman"/>
                <a:cs typeface="Times New Roman"/>
              </a:rPr>
              <a:t> </a:t>
            </a:r>
            <a:r>
              <a:rPr lang="en-US" sz="2400" cap="none" spc="-25" dirty="0" smtClean="0">
                <a:latin typeface="Times New Roman"/>
                <a:cs typeface="Times New Roman"/>
              </a:rPr>
              <a:t>of</a:t>
            </a:r>
            <a:r>
              <a:rPr lang="en-US" sz="2400" cap="none" spc="-65" dirty="0" smtClean="0">
                <a:latin typeface="Times New Roman"/>
                <a:cs typeface="Times New Roman"/>
              </a:rPr>
              <a:t> </a:t>
            </a:r>
            <a:r>
              <a:rPr lang="en-US" sz="2400" cap="none" spc="-45" dirty="0" smtClean="0">
                <a:latin typeface="Times New Roman"/>
                <a:cs typeface="Times New Roman"/>
              </a:rPr>
              <a:t>ornaments</a:t>
            </a:r>
            <a:r>
              <a:rPr lang="en-US" sz="2400" cap="none" spc="-75" dirty="0" smtClean="0">
                <a:latin typeface="Times New Roman"/>
                <a:cs typeface="Times New Roman"/>
              </a:rPr>
              <a:t> </a:t>
            </a:r>
            <a:r>
              <a:rPr lang="en-US" sz="2400" cap="none" spc="-35" dirty="0" smtClean="0">
                <a:latin typeface="Times New Roman"/>
                <a:cs typeface="Times New Roman"/>
              </a:rPr>
              <a:t>such</a:t>
            </a:r>
            <a:r>
              <a:rPr lang="en-US" sz="2400" cap="none" spc="-60" dirty="0" smtClean="0">
                <a:latin typeface="Times New Roman"/>
                <a:cs typeface="Times New Roman"/>
              </a:rPr>
              <a:t> </a:t>
            </a:r>
            <a:r>
              <a:rPr lang="en-US" sz="2400" cap="none" spc="-35" dirty="0" smtClean="0">
                <a:latin typeface="Times New Roman"/>
                <a:cs typeface="Times New Roman"/>
              </a:rPr>
              <a:t>as</a:t>
            </a:r>
            <a:r>
              <a:rPr lang="en-US" sz="2400" cap="none" dirty="0" smtClean="0">
                <a:latin typeface="Times New Roman"/>
                <a:cs typeface="Times New Roman"/>
              </a:rPr>
              <a:t> </a:t>
            </a:r>
            <a:r>
              <a:rPr lang="en-US" sz="2400" cap="none" spc="-40" dirty="0" smtClean="0">
                <a:solidFill>
                  <a:srgbClr val="C00000"/>
                </a:solidFill>
                <a:latin typeface="Times New Roman"/>
                <a:cs typeface="Times New Roman"/>
              </a:rPr>
              <a:t>pendants,</a:t>
            </a:r>
            <a:r>
              <a:rPr lang="en-US" sz="2400" cap="none" spc="-14" dirty="0" smtClean="0">
                <a:solidFill>
                  <a:srgbClr val="C00000"/>
                </a:solidFill>
                <a:latin typeface="Times New Roman"/>
                <a:cs typeface="Times New Roman"/>
              </a:rPr>
              <a:t> </a:t>
            </a:r>
            <a:r>
              <a:rPr lang="en-US" sz="2400" cap="none" spc="-45" dirty="0" smtClean="0">
                <a:solidFill>
                  <a:srgbClr val="C00000"/>
                </a:solidFill>
                <a:latin typeface="Times New Roman"/>
                <a:cs typeface="Times New Roman"/>
              </a:rPr>
              <a:t>bangles,</a:t>
            </a:r>
            <a:r>
              <a:rPr lang="en-US" sz="2400" cap="none" spc="-4" dirty="0" smtClean="0">
                <a:solidFill>
                  <a:srgbClr val="C00000"/>
                </a:solidFill>
                <a:latin typeface="Times New Roman"/>
                <a:cs typeface="Times New Roman"/>
              </a:rPr>
              <a:t> </a:t>
            </a:r>
            <a:r>
              <a:rPr lang="en-US" sz="2400" cap="none" spc="-40" dirty="0" smtClean="0">
                <a:solidFill>
                  <a:srgbClr val="C00000"/>
                </a:solidFill>
                <a:latin typeface="Times New Roman"/>
                <a:cs typeface="Times New Roman"/>
              </a:rPr>
              <a:t>beads,</a:t>
            </a:r>
            <a:r>
              <a:rPr lang="en-US" sz="2400" cap="none" spc="-4" dirty="0" smtClean="0">
                <a:solidFill>
                  <a:srgbClr val="C00000"/>
                </a:solidFill>
                <a:latin typeface="Times New Roman"/>
                <a:cs typeface="Times New Roman"/>
              </a:rPr>
              <a:t> </a:t>
            </a:r>
            <a:r>
              <a:rPr lang="en-US" sz="2400" cap="none" spc="-40" dirty="0" smtClean="0">
                <a:solidFill>
                  <a:srgbClr val="C00000"/>
                </a:solidFill>
                <a:latin typeface="Times New Roman"/>
                <a:cs typeface="Times New Roman"/>
              </a:rPr>
              <a:t>rings</a:t>
            </a:r>
            <a:r>
              <a:rPr lang="en-US" sz="2400" cap="none" dirty="0" smtClean="0">
                <a:solidFill>
                  <a:srgbClr val="C00000"/>
                </a:solidFill>
                <a:latin typeface="Times New Roman"/>
                <a:cs typeface="Times New Roman"/>
              </a:rPr>
              <a:t> </a:t>
            </a:r>
            <a:r>
              <a:rPr lang="en-US" sz="2400" cap="none" spc="-25" dirty="0" smtClean="0">
                <a:solidFill>
                  <a:srgbClr val="C00000"/>
                </a:solidFill>
                <a:latin typeface="Times New Roman"/>
                <a:cs typeface="Times New Roman"/>
              </a:rPr>
              <a:t>or</a:t>
            </a:r>
            <a:r>
              <a:rPr lang="en-US" sz="2400" cap="none" spc="-20" dirty="0" smtClean="0">
                <a:solidFill>
                  <a:srgbClr val="C00000"/>
                </a:solidFill>
                <a:latin typeface="Times New Roman"/>
                <a:cs typeface="Times New Roman"/>
              </a:rPr>
              <a:t> </a:t>
            </a:r>
            <a:r>
              <a:rPr lang="en-US" sz="2400" cap="none" spc="-45" dirty="0" smtClean="0">
                <a:solidFill>
                  <a:srgbClr val="C00000"/>
                </a:solidFill>
                <a:latin typeface="Times New Roman"/>
                <a:cs typeface="Times New Roman"/>
              </a:rPr>
              <a:t>necklace</a:t>
            </a:r>
            <a:r>
              <a:rPr lang="en-US" sz="2400" cap="none" spc="-20" dirty="0" smtClean="0">
                <a:latin typeface="Times New Roman"/>
                <a:cs typeface="Times New Roman"/>
              </a:rPr>
              <a:t> </a:t>
            </a:r>
            <a:r>
              <a:rPr lang="en-US" sz="2400" cap="none" spc="-40" dirty="0" smtClean="0">
                <a:latin typeface="Times New Roman"/>
                <a:cs typeface="Times New Roman"/>
              </a:rPr>
              <a:t>parts,</a:t>
            </a:r>
            <a:r>
              <a:rPr lang="en-US" sz="2400" cap="none" spc="-4" dirty="0" smtClean="0">
                <a:latin typeface="Times New Roman"/>
                <a:cs typeface="Times New Roman"/>
              </a:rPr>
              <a:t> </a:t>
            </a:r>
            <a:r>
              <a:rPr lang="en-US" sz="2400" cap="none" spc="-45" dirty="0" smtClean="0">
                <a:latin typeface="Times New Roman"/>
                <a:cs typeface="Times New Roman"/>
              </a:rPr>
              <a:t>which</a:t>
            </a:r>
            <a:r>
              <a:rPr lang="en-US" sz="2400" cap="none" spc="-4" dirty="0" smtClean="0">
                <a:latin typeface="Times New Roman"/>
                <a:cs typeface="Times New Roman"/>
              </a:rPr>
              <a:t> </a:t>
            </a:r>
            <a:r>
              <a:rPr lang="en-US" sz="2400" cap="none" spc="-35" dirty="0" smtClean="0">
                <a:latin typeface="Times New Roman"/>
                <a:cs typeface="Times New Roman"/>
              </a:rPr>
              <a:t>were</a:t>
            </a:r>
            <a:r>
              <a:rPr lang="en-US" sz="2400" cap="none" spc="-10" dirty="0" smtClean="0">
                <a:latin typeface="Times New Roman"/>
                <a:cs typeface="Times New Roman"/>
              </a:rPr>
              <a:t> </a:t>
            </a:r>
            <a:r>
              <a:rPr lang="en-US" sz="2400" cap="none" spc="-40" dirty="0" smtClean="0">
                <a:latin typeface="Times New Roman"/>
                <a:cs typeface="Times New Roman"/>
              </a:rPr>
              <a:t>usually </a:t>
            </a:r>
            <a:r>
              <a:rPr lang="en-US" sz="2400" cap="none" spc="-35" dirty="0" smtClean="0">
                <a:latin typeface="Times New Roman"/>
                <a:cs typeface="Times New Roman"/>
              </a:rPr>
              <a:t>found</a:t>
            </a:r>
            <a:r>
              <a:rPr lang="en-US" sz="2400" cap="none" spc="-4" dirty="0" smtClean="0">
                <a:latin typeface="Times New Roman"/>
                <a:cs typeface="Times New Roman"/>
              </a:rPr>
              <a:t> </a:t>
            </a:r>
            <a:r>
              <a:rPr lang="en-US" sz="2400" cap="none" spc="-40" dirty="0" smtClean="0">
                <a:latin typeface="Times New Roman"/>
                <a:cs typeface="Times New Roman"/>
              </a:rPr>
              <a:t>hidden</a:t>
            </a:r>
            <a:r>
              <a:rPr lang="en-US" sz="2400" cap="none" spc="-4" dirty="0" smtClean="0">
                <a:latin typeface="Times New Roman"/>
                <a:cs typeface="Times New Roman"/>
              </a:rPr>
              <a:t> </a:t>
            </a:r>
            <a:r>
              <a:rPr lang="en-US" sz="2400" cap="none" spc="-35" dirty="0" smtClean="0">
                <a:latin typeface="Times New Roman"/>
                <a:cs typeface="Times New Roman"/>
              </a:rPr>
              <a:t>away</a:t>
            </a:r>
            <a:r>
              <a:rPr lang="en-US" sz="2400" cap="none" spc="-40" dirty="0" smtClean="0">
                <a:latin typeface="Times New Roman"/>
                <a:cs typeface="Times New Roman"/>
              </a:rPr>
              <a:t> </a:t>
            </a:r>
            <a:r>
              <a:rPr lang="en-US" sz="2400" cap="none" spc="-25" dirty="0" smtClean="0">
                <a:latin typeface="Times New Roman"/>
                <a:cs typeface="Times New Roman"/>
              </a:rPr>
              <a:t>in</a:t>
            </a:r>
            <a:r>
              <a:rPr lang="en-US" sz="2400" cap="none" spc="-4" dirty="0" smtClean="0">
                <a:latin typeface="Times New Roman"/>
                <a:cs typeface="Times New Roman"/>
              </a:rPr>
              <a:t> </a:t>
            </a:r>
            <a:r>
              <a:rPr lang="en-US" sz="2400" cap="none" spc="-40" dirty="0" smtClean="0">
                <a:latin typeface="Times New Roman"/>
                <a:cs typeface="Times New Roman"/>
              </a:rPr>
              <a:t>hoards</a:t>
            </a:r>
            <a:r>
              <a:rPr lang="en-US" sz="2400" cap="none" dirty="0" smtClean="0">
                <a:latin typeface="Times New Roman"/>
                <a:cs typeface="Times New Roman"/>
              </a:rPr>
              <a:t> </a:t>
            </a:r>
            <a:r>
              <a:rPr lang="en-US" sz="2400" cap="none" spc="-40" dirty="0" smtClean="0">
                <a:latin typeface="Times New Roman"/>
                <a:cs typeface="Times New Roman"/>
              </a:rPr>
              <a:t>such</a:t>
            </a:r>
            <a:r>
              <a:rPr lang="en-US" sz="2400" cap="none" spc="-4" dirty="0" smtClean="0">
                <a:latin typeface="Times New Roman"/>
                <a:cs typeface="Times New Roman"/>
              </a:rPr>
              <a:t> </a:t>
            </a:r>
            <a:r>
              <a:rPr lang="en-US" sz="2400" cap="none" spc="-35" dirty="0" smtClean="0">
                <a:latin typeface="Times New Roman"/>
                <a:cs typeface="Times New Roman"/>
              </a:rPr>
              <a:t>as </a:t>
            </a:r>
            <a:r>
              <a:rPr lang="en-US" sz="2400" cap="none" spc="-50" dirty="0" smtClean="0">
                <a:latin typeface="Times New Roman"/>
                <a:cs typeface="Times New Roman"/>
              </a:rPr>
              <a:t>ceramic</a:t>
            </a:r>
            <a:r>
              <a:rPr lang="en-US" sz="2400" cap="none" spc="-14" dirty="0" smtClean="0">
                <a:latin typeface="Times New Roman"/>
                <a:cs typeface="Times New Roman"/>
              </a:rPr>
              <a:t> </a:t>
            </a:r>
            <a:r>
              <a:rPr lang="en-US" sz="2400" cap="none" spc="-50" dirty="0" smtClean="0">
                <a:latin typeface="Times New Roman"/>
                <a:cs typeface="Times New Roman"/>
              </a:rPr>
              <a:t>or</a:t>
            </a:r>
            <a:r>
              <a:rPr lang="en-US" sz="2400" cap="none" dirty="0" smtClean="0">
                <a:latin typeface="Times New Roman"/>
                <a:cs typeface="Times New Roman"/>
              </a:rPr>
              <a:t> </a:t>
            </a:r>
            <a:r>
              <a:rPr lang="en-US" sz="2400" cap="none" spc="-55" dirty="0" smtClean="0">
                <a:latin typeface="Times New Roman"/>
                <a:cs typeface="Times New Roman"/>
              </a:rPr>
              <a:t>bronze</a:t>
            </a:r>
            <a:r>
              <a:rPr lang="en-US" sz="2400" cap="none" spc="-4" dirty="0" smtClean="0">
                <a:latin typeface="Times New Roman"/>
                <a:cs typeface="Times New Roman"/>
              </a:rPr>
              <a:t> </a:t>
            </a:r>
            <a:r>
              <a:rPr lang="en-US" sz="2400" cap="none" spc="-55" dirty="0" smtClean="0">
                <a:latin typeface="Times New Roman"/>
                <a:cs typeface="Times New Roman"/>
              </a:rPr>
              <a:t>pots.</a:t>
            </a:r>
            <a:r>
              <a:rPr lang="en-US" sz="2400" cap="none" dirty="0" smtClean="0">
                <a:latin typeface="Times New Roman"/>
                <a:cs typeface="Times New Roman"/>
              </a:rPr>
              <a:t> </a:t>
            </a:r>
          </a:p>
          <a:p>
            <a:pPr marL="12691" marR="6983" algn="just">
              <a:lnSpc>
                <a:spcPct val="200000"/>
              </a:lnSpc>
              <a:spcBef>
                <a:spcPts val="195"/>
              </a:spcBef>
            </a:pPr>
            <a:r>
              <a:rPr lang="en-US" sz="2400" cap="none" spc="-60" dirty="0" smtClean="0">
                <a:latin typeface="Times New Roman"/>
                <a:cs typeface="Times New Roman"/>
              </a:rPr>
              <a:t>While</a:t>
            </a:r>
            <a:r>
              <a:rPr lang="en-US" sz="2400" cap="none" spc="-4" dirty="0" smtClean="0">
                <a:latin typeface="Times New Roman"/>
                <a:cs typeface="Times New Roman"/>
              </a:rPr>
              <a:t> </a:t>
            </a:r>
            <a:r>
              <a:rPr lang="en-US" sz="2400" cap="none" spc="-50" dirty="0" smtClean="0">
                <a:latin typeface="Times New Roman"/>
                <a:cs typeface="Times New Roman"/>
              </a:rPr>
              <a:t>gold</a:t>
            </a:r>
            <a:r>
              <a:rPr lang="en-US" sz="2400" cap="none" spc="4" dirty="0" smtClean="0">
                <a:latin typeface="Times New Roman"/>
                <a:cs typeface="Times New Roman"/>
              </a:rPr>
              <a:t> </a:t>
            </a:r>
            <a:r>
              <a:rPr lang="en-US" sz="2400" cap="none" spc="-60" dirty="0" smtClean="0">
                <a:latin typeface="Times New Roman"/>
                <a:cs typeface="Times New Roman"/>
              </a:rPr>
              <a:t>was</a:t>
            </a:r>
            <a:r>
              <a:rPr lang="en-US" sz="2400" cap="none" dirty="0" smtClean="0">
                <a:latin typeface="Times New Roman"/>
                <a:cs typeface="Times New Roman"/>
              </a:rPr>
              <a:t> </a:t>
            </a:r>
            <a:r>
              <a:rPr lang="en-US" sz="2400" cap="none" spc="-50" dirty="0" smtClean="0">
                <a:latin typeface="Times New Roman"/>
                <a:cs typeface="Times New Roman"/>
              </a:rPr>
              <a:t>probably</a:t>
            </a:r>
            <a:r>
              <a:rPr lang="en-US" sz="2400" cap="none" spc="-25" dirty="0" smtClean="0">
                <a:latin typeface="Times New Roman"/>
                <a:cs typeface="Times New Roman"/>
              </a:rPr>
              <a:t> </a:t>
            </a:r>
            <a:r>
              <a:rPr lang="en-US" sz="2400" cap="none" spc="-50" dirty="0" smtClean="0">
                <a:solidFill>
                  <a:srgbClr val="C00000"/>
                </a:solidFill>
                <a:latin typeface="Times New Roman"/>
                <a:cs typeface="Times New Roman"/>
              </a:rPr>
              <a:t>panned</a:t>
            </a:r>
            <a:r>
              <a:rPr lang="en-US" sz="2400" cap="none" spc="25" dirty="0" smtClean="0">
                <a:solidFill>
                  <a:srgbClr val="C00000"/>
                </a:solidFill>
                <a:latin typeface="Times New Roman"/>
                <a:cs typeface="Times New Roman"/>
              </a:rPr>
              <a:t> </a:t>
            </a:r>
            <a:r>
              <a:rPr lang="en-US" sz="2400" cap="none" spc="-55" dirty="0" smtClean="0">
                <a:solidFill>
                  <a:srgbClr val="C00000"/>
                </a:solidFill>
                <a:latin typeface="Times New Roman"/>
                <a:cs typeface="Times New Roman"/>
              </a:rPr>
              <a:t>from</a:t>
            </a:r>
            <a:r>
              <a:rPr lang="en-US" sz="2400" cap="none" spc="4" dirty="0" smtClean="0">
                <a:solidFill>
                  <a:srgbClr val="C00000"/>
                </a:solidFill>
                <a:latin typeface="Times New Roman"/>
                <a:cs typeface="Times New Roman"/>
              </a:rPr>
              <a:t> </a:t>
            </a:r>
            <a:r>
              <a:rPr lang="en-US" sz="2400" cap="none" spc="-55" dirty="0" smtClean="0">
                <a:solidFill>
                  <a:srgbClr val="C00000"/>
                </a:solidFill>
                <a:latin typeface="Times New Roman"/>
                <a:cs typeface="Times New Roman"/>
              </a:rPr>
              <a:t>the</a:t>
            </a:r>
            <a:r>
              <a:rPr lang="en-US" sz="2400" cap="none" dirty="0" smtClean="0">
                <a:solidFill>
                  <a:srgbClr val="C00000"/>
                </a:solidFill>
                <a:latin typeface="Times New Roman"/>
                <a:cs typeface="Times New Roman"/>
              </a:rPr>
              <a:t> </a:t>
            </a:r>
            <a:r>
              <a:rPr lang="en-US" sz="2400" cap="none" spc="-50" dirty="0" err="1" smtClean="0">
                <a:solidFill>
                  <a:srgbClr val="C00000"/>
                </a:solidFill>
                <a:latin typeface="Times New Roman"/>
                <a:cs typeface="Times New Roman"/>
              </a:rPr>
              <a:t>indus</a:t>
            </a:r>
            <a:r>
              <a:rPr lang="en-US" sz="2400" cap="none" spc="20" dirty="0" smtClean="0">
                <a:solidFill>
                  <a:srgbClr val="C00000"/>
                </a:solidFill>
                <a:latin typeface="Times New Roman"/>
                <a:cs typeface="Times New Roman"/>
              </a:rPr>
              <a:t> </a:t>
            </a:r>
            <a:r>
              <a:rPr lang="en-US" sz="2400" cap="none" spc="-55" dirty="0" smtClean="0">
                <a:solidFill>
                  <a:srgbClr val="C00000"/>
                </a:solidFill>
                <a:latin typeface="Times New Roman"/>
                <a:cs typeface="Times New Roman"/>
              </a:rPr>
              <a:t>waters</a:t>
            </a:r>
            <a:r>
              <a:rPr lang="en-US" sz="2400" cap="none" spc="-55" dirty="0" smtClean="0">
                <a:latin typeface="Times New Roman"/>
                <a:cs typeface="Times New Roman"/>
              </a:rPr>
              <a:t>,</a:t>
            </a:r>
            <a:r>
              <a:rPr lang="en-US" sz="2400" cap="none" spc="4" dirty="0" smtClean="0">
                <a:latin typeface="Times New Roman"/>
                <a:cs typeface="Times New Roman"/>
              </a:rPr>
              <a:t> </a:t>
            </a:r>
          </a:p>
          <a:p>
            <a:pPr marL="12691" marR="6983" algn="just">
              <a:lnSpc>
                <a:spcPct val="200000"/>
              </a:lnSpc>
              <a:spcBef>
                <a:spcPts val="195"/>
              </a:spcBef>
            </a:pPr>
            <a:r>
              <a:rPr lang="en-US" sz="2400" cap="none" spc="-50" dirty="0" smtClean="0">
                <a:latin typeface="Times New Roman"/>
                <a:cs typeface="Times New Roman"/>
              </a:rPr>
              <a:t>Silver</a:t>
            </a:r>
            <a:r>
              <a:rPr lang="en-US" sz="2400" cap="none" spc="-4" dirty="0" smtClean="0">
                <a:latin typeface="Times New Roman"/>
                <a:cs typeface="Times New Roman"/>
              </a:rPr>
              <a:t> </a:t>
            </a:r>
            <a:r>
              <a:rPr lang="en-US" sz="2400" cap="none" spc="-50" dirty="0" smtClean="0">
                <a:latin typeface="Times New Roman"/>
                <a:cs typeface="Times New Roman"/>
              </a:rPr>
              <a:t>was</a:t>
            </a:r>
            <a:r>
              <a:rPr lang="en-US" sz="2400" cap="none" dirty="0" smtClean="0">
                <a:latin typeface="Times New Roman"/>
                <a:cs typeface="Times New Roman"/>
              </a:rPr>
              <a:t> </a:t>
            </a:r>
            <a:r>
              <a:rPr lang="en-US" sz="2400" cap="none" spc="-50" dirty="0" smtClean="0">
                <a:latin typeface="Times New Roman"/>
                <a:cs typeface="Times New Roman"/>
              </a:rPr>
              <a:t>perhaps</a:t>
            </a:r>
            <a:r>
              <a:rPr lang="en-US" sz="2400" cap="none" spc="4" dirty="0" smtClean="0">
                <a:latin typeface="Times New Roman"/>
                <a:cs typeface="Times New Roman"/>
              </a:rPr>
              <a:t> </a:t>
            </a:r>
            <a:r>
              <a:rPr lang="en-US" sz="2400" cap="none" spc="-10" dirty="0" smtClean="0">
                <a:latin typeface="Times New Roman"/>
                <a:cs typeface="Times New Roman"/>
              </a:rPr>
              <a:t>extracted </a:t>
            </a:r>
            <a:r>
              <a:rPr lang="en-US" sz="2400" cap="none" spc="-40" dirty="0" smtClean="0">
                <a:latin typeface="Times New Roman"/>
                <a:cs typeface="Times New Roman"/>
              </a:rPr>
              <a:t>from</a:t>
            </a:r>
            <a:r>
              <a:rPr lang="en-US" sz="2400" cap="none" spc="-35" dirty="0" smtClean="0">
                <a:latin typeface="Times New Roman"/>
                <a:cs typeface="Times New Roman"/>
              </a:rPr>
              <a:t> </a:t>
            </a:r>
            <a:r>
              <a:rPr lang="en-US" sz="2400" cap="none" spc="-50" dirty="0" smtClean="0">
                <a:solidFill>
                  <a:srgbClr val="C00000"/>
                </a:solidFill>
                <a:latin typeface="Times New Roman"/>
                <a:cs typeface="Times New Roman"/>
              </a:rPr>
              <a:t>galena,</a:t>
            </a:r>
            <a:r>
              <a:rPr lang="en-US" sz="2400" cap="none" spc="-40" dirty="0" smtClean="0">
                <a:solidFill>
                  <a:srgbClr val="C00000"/>
                </a:solidFill>
                <a:latin typeface="Times New Roman"/>
                <a:cs typeface="Times New Roman"/>
              </a:rPr>
              <a:t> </a:t>
            </a:r>
            <a:r>
              <a:rPr lang="en-US" sz="2400" cap="none" spc="-30" dirty="0" smtClean="0">
                <a:solidFill>
                  <a:srgbClr val="C00000"/>
                </a:solidFill>
                <a:latin typeface="Times New Roman"/>
                <a:cs typeface="Times New Roman"/>
              </a:rPr>
              <a:t>or</a:t>
            </a:r>
            <a:r>
              <a:rPr lang="en-US" sz="2400" cap="none" spc="-60" dirty="0" smtClean="0">
                <a:solidFill>
                  <a:srgbClr val="C00000"/>
                </a:solidFill>
                <a:latin typeface="Times New Roman"/>
                <a:cs typeface="Times New Roman"/>
              </a:rPr>
              <a:t> </a:t>
            </a:r>
            <a:r>
              <a:rPr lang="en-US" sz="2400" cap="none" spc="-45" dirty="0" smtClean="0">
                <a:solidFill>
                  <a:srgbClr val="C00000"/>
                </a:solidFill>
                <a:latin typeface="Times New Roman"/>
                <a:cs typeface="Times New Roman"/>
              </a:rPr>
              <a:t>native</a:t>
            </a:r>
            <a:r>
              <a:rPr lang="en-US" sz="2400" cap="none" spc="-55" dirty="0" smtClean="0">
                <a:solidFill>
                  <a:srgbClr val="C00000"/>
                </a:solidFill>
                <a:latin typeface="Times New Roman"/>
                <a:cs typeface="Times New Roman"/>
              </a:rPr>
              <a:t> </a:t>
            </a:r>
            <a:r>
              <a:rPr lang="en-US" sz="2400" cap="none" spc="-45" dirty="0" smtClean="0">
                <a:solidFill>
                  <a:srgbClr val="C00000"/>
                </a:solidFill>
                <a:latin typeface="Times New Roman"/>
                <a:cs typeface="Times New Roman"/>
              </a:rPr>
              <a:t>lead</a:t>
            </a:r>
            <a:r>
              <a:rPr lang="en-US" sz="2400" cap="none" spc="-70" dirty="0" smtClean="0">
                <a:solidFill>
                  <a:srgbClr val="C00000"/>
                </a:solidFill>
                <a:latin typeface="Times New Roman"/>
                <a:cs typeface="Times New Roman"/>
              </a:rPr>
              <a:t> </a:t>
            </a:r>
            <a:r>
              <a:rPr lang="en-US" sz="2400" cap="none" spc="-10" dirty="0" err="1" smtClean="0">
                <a:solidFill>
                  <a:srgbClr val="C00000"/>
                </a:solidFill>
                <a:latin typeface="Times New Roman"/>
                <a:cs typeface="Times New Roman"/>
              </a:rPr>
              <a:t>sulphide</a:t>
            </a:r>
            <a:r>
              <a:rPr lang="en-US" sz="2400" cap="none" spc="-10" dirty="0" smtClean="0">
                <a:latin typeface="Times New Roman"/>
                <a:cs typeface="Times New Roman"/>
              </a:rPr>
              <a:t>.</a:t>
            </a:r>
            <a:endParaRPr lang="en-US" sz="2400" cap="none" dirty="0" smtClean="0">
              <a:latin typeface="Times New Roman"/>
              <a:cs typeface="Times New Roman"/>
            </a:endParaRPr>
          </a:p>
          <a:p>
            <a:pPr marL="0" indent="0">
              <a:buNone/>
            </a:pPr>
            <a:endParaRPr lang="en-US" cap="none" dirty="0"/>
          </a:p>
        </p:txBody>
      </p:sp>
    </p:spTree>
    <p:extLst>
      <p:ext uri="{BB962C8B-B14F-4D97-AF65-F5344CB8AC3E}">
        <p14:creationId xmlns:p14="http://schemas.microsoft.com/office/powerpoint/2010/main" val="321137348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020398" y="381000"/>
            <a:ext cx="7971939" cy="7014081"/>
          </a:xfrm>
          <a:prstGeom prst="rect">
            <a:avLst/>
          </a:prstGeom>
        </p:spPr>
        <p:txBody>
          <a:bodyPr vert="horz" wrap="square" lIns="0" tIns="24747" rIns="0" bIns="0" rtlCol="0">
            <a:spAutoFit/>
          </a:bodyPr>
          <a:lstStyle/>
          <a:p>
            <a:pPr marL="12691" algn="ctr">
              <a:lnSpc>
                <a:spcPct val="150000"/>
              </a:lnSpc>
            </a:pPr>
            <a:r>
              <a:rPr lang="en-IN" sz="2800" b="1" u="sng" spc="-40" dirty="0" smtClean="0">
                <a:solidFill>
                  <a:srgbClr val="002060"/>
                </a:solidFill>
                <a:latin typeface="Times New Roman"/>
                <a:cs typeface="Times New Roman"/>
              </a:rPr>
              <a:t>2.</a:t>
            </a:r>
            <a:r>
              <a:rPr lang="en-IN" sz="2800" b="1" u="sng" spc="4" dirty="0" smtClean="0">
                <a:solidFill>
                  <a:srgbClr val="002060"/>
                </a:solidFill>
                <a:latin typeface="Times New Roman"/>
                <a:cs typeface="Times New Roman"/>
              </a:rPr>
              <a:t> </a:t>
            </a:r>
            <a:r>
              <a:rPr lang="en-IN" sz="2800" b="1" u="sng" spc="-45" dirty="0" smtClean="0">
                <a:solidFill>
                  <a:srgbClr val="002060"/>
                </a:solidFill>
                <a:latin typeface="Times New Roman"/>
                <a:cs typeface="Times New Roman"/>
              </a:rPr>
              <a:t>BEYOND</a:t>
            </a:r>
            <a:r>
              <a:rPr lang="en-IN" sz="2800" b="1" u="sng" spc="-40" dirty="0" smtClean="0">
                <a:solidFill>
                  <a:srgbClr val="002060"/>
                </a:solidFill>
                <a:latin typeface="Times New Roman"/>
                <a:cs typeface="Times New Roman"/>
              </a:rPr>
              <a:t> THE</a:t>
            </a:r>
            <a:r>
              <a:rPr lang="en-IN" sz="2800" b="1" u="sng" spc="-60" dirty="0" smtClean="0">
                <a:solidFill>
                  <a:srgbClr val="002060"/>
                </a:solidFill>
                <a:latin typeface="Times New Roman"/>
                <a:cs typeface="Times New Roman"/>
              </a:rPr>
              <a:t> </a:t>
            </a:r>
            <a:r>
              <a:rPr lang="en-IN" sz="2800" b="1" u="sng" spc="-10" dirty="0" smtClean="0">
                <a:solidFill>
                  <a:srgbClr val="002060"/>
                </a:solidFill>
                <a:latin typeface="Times New Roman"/>
                <a:cs typeface="Times New Roman"/>
              </a:rPr>
              <a:t>HARAPPANS:</a:t>
            </a:r>
            <a:endParaRPr lang="en-IN" sz="2800" b="1" u="sng" dirty="0" smtClean="0">
              <a:solidFill>
                <a:srgbClr val="002060"/>
              </a:solidFill>
              <a:latin typeface="Times New Roman"/>
              <a:cs typeface="Times New Roman"/>
            </a:endParaRPr>
          </a:p>
          <a:p>
            <a:pPr marL="12691" marR="5080" indent="456244" algn="just">
              <a:spcBef>
                <a:spcPts val="55"/>
              </a:spcBef>
            </a:pPr>
            <a:endParaRPr lang="en-US" sz="2400" spc="-30" dirty="0" smtClean="0">
              <a:latin typeface="Times New Roman"/>
              <a:cs typeface="Times New Roman"/>
            </a:endParaRPr>
          </a:p>
          <a:p>
            <a:pPr marL="355591" marR="5080" indent="-342900" algn="just">
              <a:lnSpc>
                <a:spcPct val="150000"/>
              </a:lnSpc>
              <a:spcBef>
                <a:spcPts val="55"/>
              </a:spcBef>
              <a:buFont typeface="Arial" panose="020B0604020202020204" pitchFamily="34" charset="0"/>
              <a:buChar char="•"/>
            </a:pPr>
            <a:r>
              <a:rPr sz="2400" spc="-30" dirty="0" smtClean="0">
                <a:latin typeface="Times New Roman"/>
                <a:cs typeface="Times New Roman"/>
              </a:rPr>
              <a:t>In</a:t>
            </a:r>
            <a:r>
              <a:rPr sz="2400" spc="-40" dirty="0" smtClean="0">
                <a:latin typeface="Times New Roman"/>
                <a:cs typeface="Times New Roman"/>
              </a:rPr>
              <a:t> </a:t>
            </a:r>
            <a:r>
              <a:rPr sz="2400" spc="-40" dirty="0">
                <a:latin typeface="Times New Roman"/>
                <a:cs typeface="Times New Roman"/>
              </a:rPr>
              <a:t>the</a:t>
            </a:r>
            <a:r>
              <a:rPr sz="2400" spc="-20" dirty="0">
                <a:latin typeface="Times New Roman"/>
                <a:cs typeface="Times New Roman"/>
              </a:rPr>
              <a:t> </a:t>
            </a:r>
            <a:r>
              <a:rPr sz="2400" spc="-50" dirty="0">
                <a:latin typeface="Times New Roman"/>
                <a:cs typeface="Times New Roman"/>
              </a:rPr>
              <a:t>later</a:t>
            </a:r>
            <a:r>
              <a:rPr sz="2400" spc="-25" dirty="0">
                <a:latin typeface="Times New Roman"/>
                <a:cs typeface="Times New Roman"/>
              </a:rPr>
              <a:t> </a:t>
            </a:r>
            <a:r>
              <a:rPr sz="2400" spc="-50" dirty="0">
                <a:latin typeface="Times New Roman"/>
                <a:cs typeface="Times New Roman"/>
              </a:rPr>
              <a:t>phase</a:t>
            </a:r>
            <a:r>
              <a:rPr sz="2400" spc="-20" dirty="0">
                <a:latin typeface="Times New Roman"/>
                <a:cs typeface="Times New Roman"/>
              </a:rPr>
              <a:t> </a:t>
            </a:r>
            <a:r>
              <a:rPr sz="2400" spc="-10" dirty="0">
                <a:latin typeface="Times New Roman"/>
                <a:cs typeface="Times New Roman"/>
              </a:rPr>
              <a:t>of</a:t>
            </a:r>
            <a:r>
              <a:rPr sz="2400" spc="-4" dirty="0">
                <a:latin typeface="Times New Roman"/>
                <a:cs typeface="Times New Roman"/>
              </a:rPr>
              <a:t> </a:t>
            </a:r>
            <a:r>
              <a:rPr sz="2400" spc="-45" dirty="0">
                <a:latin typeface="Times New Roman"/>
                <a:cs typeface="Times New Roman"/>
              </a:rPr>
              <a:t>Harappan</a:t>
            </a:r>
            <a:r>
              <a:rPr sz="2400" spc="-4" dirty="0">
                <a:latin typeface="Times New Roman"/>
                <a:cs typeface="Times New Roman"/>
              </a:rPr>
              <a:t> </a:t>
            </a:r>
            <a:r>
              <a:rPr sz="2400" spc="-45" dirty="0">
                <a:latin typeface="Times New Roman"/>
                <a:cs typeface="Times New Roman"/>
              </a:rPr>
              <a:t>culture,</a:t>
            </a:r>
            <a:r>
              <a:rPr sz="2400" spc="-14" dirty="0">
                <a:latin typeface="Times New Roman"/>
                <a:cs typeface="Times New Roman"/>
              </a:rPr>
              <a:t> </a:t>
            </a:r>
            <a:r>
              <a:rPr sz="2400" dirty="0">
                <a:latin typeface="Times New Roman"/>
                <a:cs typeface="Times New Roman"/>
              </a:rPr>
              <a:t>a</a:t>
            </a:r>
            <a:r>
              <a:rPr sz="2400" spc="-10" dirty="0">
                <a:latin typeface="Times New Roman"/>
                <a:cs typeface="Times New Roman"/>
              </a:rPr>
              <a:t> </a:t>
            </a:r>
            <a:r>
              <a:rPr lang="en-US" sz="2400" spc="-85" dirty="0">
                <a:solidFill>
                  <a:srgbClr val="FF9900"/>
                </a:solidFill>
                <a:latin typeface="Times New Roman"/>
                <a:cs typeface="Times New Roman"/>
              </a:rPr>
              <a:t>'</a:t>
            </a:r>
            <a:r>
              <a:rPr sz="2400" spc="-85" dirty="0">
                <a:solidFill>
                  <a:srgbClr val="FF9900"/>
                </a:solidFill>
                <a:latin typeface="Times New Roman"/>
                <a:cs typeface="Times New Roman"/>
              </a:rPr>
              <a:t>Copper</a:t>
            </a:r>
            <a:r>
              <a:rPr sz="2400" spc="10" dirty="0">
                <a:solidFill>
                  <a:srgbClr val="FF9900"/>
                </a:solidFill>
                <a:latin typeface="Times New Roman"/>
                <a:cs typeface="Times New Roman"/>
              </a:rPr>
              <a:t> </a:t>
            </a:r>
            <a:r>
              <a:rPr sz="2400" spc="-40" dirty="0">
                <a:solidFill>
                  <a:srgbClr val="FF9900"/>
                </a:solidFill>
                <a:latin typeface="Times New Roman"/>
                <a:cs typeface="Times New Roman"/>
              </a:rPr>
              <a:t>Hoard</a:t>
            </a:r>
            <a:r>
              <a:rPr lang="en-US" sz="2400" spc="-40" dirty="0">
                <a:solidFill>
                  <a:srgbClr val="FF9900"/>
                </a:solidFill>
                <a:latin typeface="Times New Roman"/>
                <a:cs typeface="Times New Roman"/>
              </a:rPr>
              <a:t>'</a:t>
            </a:r>
            <a:r>
              <a:rPr sz="2400" spc="-4" dirty="0">
                <a:solidFill>
                  <a:srgbClr val="FF9900"/>
                </a:solidFill>
                <a:latin typeface="Times New Roman"/>
                <a:cs typeface="Times New Roman"/>
              </a:rPr>
              <a:t> </a:t>
            </a:r>
            <a:r>
              <a:rPr sz="2400" spc="-45" dirty="0">
                <a:latin typeface="Times New Roman"/>
                <a:cs typeface="Times New Roman"/>
              </a:rPr>
              <a:t>culture</a:t>
            </a:r>
            <a:r>
              <a:rPr sz="2400" spc="-25" dirty="0">
                <a:latin typeface="Times New Roman"/>
                <a:cs typeface="Times New Roman"/>
              </a:rPr>
              <a:t> </a:t>
            </a:r>
            <a:r>
              <a:rPr sz="2400" spc="-30" dirty="0">
                <a:latin typeface="Times New Roman"/>
                <a:cs typeface="Times New Roman"/>
              </a:rPr>
              <a:t>of</a:t>
            </a:r>
            <a:r>
              <a:rPr sz="2400" spc="-20" dirty="0">
                <a:latin typeface="Times New Roman"/>
                <a:cs typeface="Times New Roman"/>
              </a:rPr>
              <a:t> </a:t>
            </a:r>
            <a:r>
              <a:rPr sz="2400" spc="-50" dirty="0">
                <a:latin typeface="Times New Roman"/>
                <a:cs typeface="Times New Roman"/>
              </a:rPr>
              <a:t>still</a:t>
            </a:r>
            <a:r>
              <a:rPr sz="2400" spc="-20" dirty="0">
                <a:latin typeface="Times New Roman"/>
                <a:cs typeface="Times New Roman"/>
              </a:rPr>
              <a:t> </a:t>
            </a:r>
            <a:r>
              <a:rPr sz="2400" spc="-45" dirty="0">
                <a:latin typeface="Times New Roman"/>
                <a:cs typeface="Times New Roman"/>
              </a:rPr>
              <a:t>unclear</a:t>
            </a:r>
            <a:r>
              <a:rPr sz="2400" spc="-20" dirty="0">
                <a:latin typeface="Times New Roman"/>
                <a:cs typeface="Times New Roman"/>
              </a:rPr>
              <a:t> </a:t>
            </a:r>
            <a:r>
              <a:rPr sz="2400" spc="-45" dirty="0">
                <a:latin typeface="Times New Roman"/>
                <a:cs typeface="Times New Roman"/>
              </a:rPr>
              <a:t>authorship</a:t>
            </a:r>
            <a:r>
              <a:rPr sz="2400" spc="-14" dirty="0">
                <a:latin typeface="Times New Roman"/>
                <a:cs typeface="Times New Roman"/>
              </a:rPr>
              <a:t> </a:t>
            </a:r>
            <a:r>
              <a:rPr sz="2400" spc="-10" dirty="0">
                <a:latin typeface="Times New Roman"/>
                <a:cs typeface="Times New Roman"/>
              </a:rPr>
              <a:t>produced massive</a:t>
            </a:r>
            <a:r>
              <a:rPr sz="2400" spc="4" dirty="0">
                <a:latin typeface="Times New Roman"/>
                <a:cs typeface="Times New Roman"/>
              </a:rPr>
              <a:t> </a:t>
            </a:r>
            <a:r>
              <a:rPr sz="2400" spc="-30" dirty="0">
                <a:latin typeface="Times New Roman"/>
                <a:cs typeface="Times New Roman"/>
              </a:rPr>
              <a:t>quantities</a:t>
            </a:r>
            <a:r>
              <a:rPr sz="2400" spc="14" dirty="0">
                <a:latin typeface="Times New Roman"/>
                <a:cs typeface="Times New Roman"/>
              </a:rPr>
              <a:t> </a:t>
            </a:r>
            <a:r>
              <a:rPr sz="2400" dirty="0">
                <a:latin typeface="Times New Roman"/>
                <a:cs typeface="Times New Roman"/>
              </a:rPr>
              <a:t>of</a:t>
            </a:r>
            <a:r>
              <a:rPr sz="2400" spc="10" dirty="0">
                <a:latin typeface="Times New Roman"/>
                <a:cs typeface="Times New Roman"/>
              </a:rPr>
              <a:t> </a:t>
            </a:r>
            <a:r>
              <a:rPr sz="2400" spc="-10" dirty="0">
                <a:latin typeface="Times New Roman"/>
                <a:cs typeface="Times New Roman"/>
              </a:rPr>
              <a:t>copper</a:t>
            </a:r>
            <a:r>
              <a:rPr sz="2400" spc="10" dirty="0">
                <a:latin typeface="Times New Roman"/>
                <a:cs typeface="Times New Roman"/>
              </a:rPr>
              <a:t> </a:t>
            </a:r>
            <a:r>
              <a:rPr sz="2400" dirty="0">
                <a:latin typeface="Times New Roman"/>
                <a:cs typeface="Times New Roman"/>
              </a:rPr>
              <a:t>tools</a:t>
            </a:r>
            <a:r>
              <a:rPr sz="2400" spc="14" dirty="0">
                <a:latin typeface="Times New Roman"/>
                <a:cs typeface="Times New Roman"/>
              </a:rPr>
              <a:t> </a:t>
            </a:r>
            <a:r>
              <a:rPr sz="2400" dirty="0">
                <a:latin typeface="Times New Roman"/>
                <a:cs typeface="Times New Roman"/>
              </a:rPr>
              <a:t>are</a:t>
            </a:r>
            <a:r>
              <a:rPr sz="2400" spc="-4" dirty="0">
                <a:latin typeface="Times New Roman"/>
                <a:cs typeface="Times New Roman"/>
              </a:rPr>
              <a:t> </a:t>
            </a:r>
            <a:r>
              <a:rPr sz="2400" spc="-20" dirty="0">
                <a:solidFill>
                  <a:srgbClr val="FF9900"/>
                </a:solidFill>
                <a:latin typeface="Times New Roman"/>
                <a:cs typeface="Times New Roman"/>
              </a:rPr>
              <a:t>underway</a:t>
            </a:r>
            <a:r>
              <a:rPr sz="2400" spc="-14" dirty="0">
                <a:solidFill>
                  <a:srgbClr val="FF9900"/>
                </a:solidFill>
                <a:latin typeface="Times New Roman"/>
                <a:cs typeface="Times New Roman"/>
              </a:rPr>
              <a:t> </a:t>
            </a:r>
            <a:r>
              <a:rPr sz="2400" spc="-10" dirty="0">
                <a:solidFill>
                  <a:srgbClr val="FF9900"/>
                </a:solidFill>
                <a:latin typeface="Times New Roman"/>
                <a:cs typeface="Times New Roman"/>
              </a:rPr>
              <a:t>central</a:t>
            </a:r>
            <a:r>
              <a:rPr sz="2400" spc="14" dirty="0">
                <a:solidFill>
                  <a:srgbClr val="FF9900"/>
                </a:solidFill>
                <a:latin typeface="Times New Roman"/>
                <a:cs typeface="Times New Roman"/>
              </a:rPr>
              <a:t> </a:t>
            </a:r>
            <a:r>
              <a:rPr sz="2400" dirty="0">
                <a:solidFill>
                  <a:srgbClr val="FF9900"/>
                </a:solidFill>
                <a:latin typeface="Times New Roman"/>
                <a:cs typeface="Times New Roman"/>
              </a:rPr>
              <a:t>and</a:t>
            </a:r>
            <a:r>
              <a:rPr sz="2400" spc="10" dirty="0">
                <a:solidFill>
                  <a:srgbClr val="FF9900"/>
                </a:solidFill>
                <a:latin typeface="Times New Roman"/>
                <a:cs typeface="Times New Roman"/>
              </a:rPr>
              <a:t> </a:t>
            </a:r>
            <a:r>
              <a:rPr sz="2400" spc="-20" dirty="0">
                <a:solidFill>
                  <a:srgbClr val="FF9900"/>
                </a:solidFill>
                <a:latin typeface="Times New Roman"/>
                <a:cs typeface="Times New Roman"/>
              </a:rPr>
              <a:t>northern</a:t>
            </a:r>
            <a:r>
              <a:rPr sz="2400" spc="10" dirty="0">
                <a:solidFill>
                  <a:srgbClr val="FF9900"/>
                </a:solidFill>
                <a:latin typeface="Times New Roman"/>
                <a:cs typeface="Times New Roman"/>
              </a:rPr>
              <a:t> </a:t>
            </a:r>
            <a:r>
              <a:rPr sz="2400" spc="-10" dirty="0">
                <a:solidFill>
                  <a:srgbClr val="FF9900"/>
                </a:solidFill>
                <a:latin typeface="Times New Roman"/>
                <a:cs typeface="Times New Roman"/>
              </a:rPr>
              <a:t>India</a:t>
            </a:r>
            <a:r>
              <a:rPr sz="2400" spc="-10" dirty="0">
                <a:latin typeface="Times New Roman"/>
                <a:cs typeface="Times New Roman"/>
              </a:rPr>
              <a:t>.</a:t>
            </a:r>
            <a:r>
              <a:rPr sz="2400" spc="10" dirty="0">
                <a:latin typeface="Times New Roman"/>
                <a:cs typeface="Times New Roman"/>
              </a:rPr>
              <a:t> </a:t>
            </a:r>
            <a:endParaRPr lang="en-US" sz="2400" spc="10" dirty="0">
              <a:latin typeface="Times New Roman"/>
              <a:cs typeface="Times New Roman"/>
            </a:endParaRPr>
          </a:p>
          <a:p>
            <a:pPr marL="355591" marR="5080" indent="-342900" algn="just">
              <a:lnSpc>
                <a:spcPct val="150000"/>
              </a:lnSpc>
              <a:spcBef>
                <a:spcPts val="55"/>
              </a:spcBef>
              <a:buFont typeface="Arial" panose="020B0604020202020204" pitchFamily="34" charset="0"/>
              <a:buChar char="•"/>
            </a:pPr>
            <a:r>
              <a:rPr sz="2400" spc="-10" dirty="0">
                <a:latin typeface="Times New Roman"/>
                <a:cs typeface="Times New Roman"/>
              </a:rPr>
              <a:t>Later,</a:t>
            </a:r>
            <a:r>
              <a:rPr sz="2400" spc="10" dirty="0">
                <a:latin typeface="Times New Roman"/>
                <a:cs typeface="Times New Roman"/>
              </a:rPr>
              <a:t> </a:t>
            </a:r>
            <a:r>
              <a:rPr sz="2400" dirty="0">
                <a:latin typeface="Times New Roman"/>
                <a:cs typeface="Times New Roman"/>
              </a:rPr>
              <a:t>in</a:t>
            </a:r>
            <a:r>
              <a:rPr sz="2400" spc="10" dirty="0">
                <a:latin typeface="Times New Roman"/>
                <a:cs typeface="Times New Roman"/>
              </a:rPr>
              <a:t> </a:t>
            </a:r>
            <a:r>
              <a:rPr sz="2400" dirty="0">
                <a:latin typeface="Times New Roman"/>
                <a:cs typeface="Times New Roman"/>
              </a:rPr>
              <a:t>the</a:t>
            </a:r>
            <a:r>
              <a:rPr sz="2400" spc="10" dirty="0">
                <a:latin typeface="Times New Roman"/>
                <a:cs typeface="Times New Roman"/>
              </a:rPr>
              <a:t> </a:t>
            </a:r>
            <a:r>
              <a:rPr sz="2400" spc="-25" dirty="0">
                <a:solidFill>
                  <a:srgbClr val="00B050"/>
                </a:solidFill>
                <a:latin typeface="Times New Roman"/>
                <a:cs typeface="Times New Roman"/>
              </a:rPr>
              <a:t>classical</a:t>
            </a:r>
            <a:r>
              <a:rPr sz="2400" spc="10" dirty="0">
                <a:solidFill>
                  <a:srgbClr val="00B050"/>
                </a:solidFill>
                <a:latin typeface="Times New Roman"/>
                <a:cs typeface="Times New Roman"/>
              </a:rPr>
              <a:t> </a:t>
            </a:r>
            <a:r>
              <a:rPr sz="2400" spc="-20" dirty="0">
                <a:solidFill>
                  <a:srgbClr val="00B050"/>
                </a:solidFill>
                <a:latin typeface="Times New Roman"/>
                <a:cs typeface="Times New Roman"/>
              </a:rPr>
              <a:t>age</a:t>
            </a:r>
            <a:r>
              <a:rPr sz="2400" spc="-20" dirty="0">
                <a:latin typeface="Times New Roman"/>
                <a:cs typeface="Times New Roman"/>
              </a:rPr>
              <a:t>, </a:t>
            </a:r>
            <a:r>
              <a:rPr sz="2400" spc="-50" dirty="0">
                <a:latin typeface="Times New Roman"/>
                <a:cs typeface="Times New Roman"/>
              </a:rPr>
              <a:t>copper-</a:t>
            </a:r>
            <a:r>
              <a:rPr sz="2400" spc="-40" dirty="0">
                <a:latin typeface="Times New Roman"/>
                <a:cs typeface="Times New Roman"/>
              </a:rPr>
              <a:t>bronze</a:t>
            </a:r>
            <a:r>
              <a:rPr sz="2400" spc="-30" dirty="0">
                <a:latin typeface="Times New Roman"/>
                <a:cs typeface="Times New Roman"/>
              </a:rPr>
              <a:t> </a:t>
            </a:r>
            <a:r>
              <a:rPr sz="2400" spc="-40" dirty="0">
                <a:latin typeface="Times New Roman"/>
                <a:cs typeface="Times New Roman"/>
              </a:rPr>
              <a:t>smiths</a:t>
            </a:r>
            <a:r>
              <a:rPr sz="2400" spc="-30" dirty="0">
                <a:latin typeface="Times New Roman"/>
                <a:cs typeface="Times New Roman"/>
              </a:rPr>
              <a:t> </a:t>
            </a:r>
            <a:r>
              <a:rPr sz="2400" spc="-40" dirty="0">
                <a:latin typeface="Times New Roman"/>
                <a:cs typeface="Times New Roman"/>
              </a:rPr>
              <a:t>supplied</a:t>
            </a:r>
            <a:r>
              <a:rPr sz="2400" spc="-25" dirty="0">
                <a:latin typeface="Times New Roman"/>
                <a:cs typeface="Times New Roman"/>
              </a:rPr>
              <a:t> </a:t>
            </a:r>
            <a:r>
              <a:rPr sz="2400" spc="-45" dirty="0">
                <a:latin typeface="Times New Roman"/>
                <a:cs typeface="Times New Roman"/>
              </a:rPr>
              <a:t>countless</a:t>
            </a:r>
            <a:r>
              <a:rPr sz="2400" spc="-20" dirty="0">
                <a:latin typeface="Times New Roman"/>
                <a:cs typeface="Times New Roman"/>
              </a:rPr>
              <a:t> </a:t>
            </a:r>
            <a:r>
              <a:rPr sz="2400" spc="-40" dirty="0">
                <a:latin typeface="Times New Roman"/>
                <a:cs typeface="Times New Roman"/>
              </a:rPr>
              <a:t>pieces</a:t>
            </a:r>
            <a:r>
              <a:rPr sz="2400" spc="-20" dirty="0">
                <a:latin typeface="Times New Roman"/>
                <a:cs typeface="Times New Roman"/>
              </a:rPr>
              <a:t> </a:t>
            </a:r>
            <a:r>
              <a:rPr sz="2400" dirty="0">
                <a:latin typeface="Times New Roman"/>
                <a:cs typeface="Times New Roman"/>
              </a:rPr>
              <a:t>of</a:t>
            </a:r>
            <a:r>
              <a:rPr sz="2400" spc="-25" dirty="0">
                <a:latin typeface="Times New Roman"/>
                <a:cs typeface="Times New Roman"/>
              </a:rPr>
              <a:t> </a:t>
            </a:r>
            <a:r>
              <a:rPr sz="2400" spc="-45" dirty="0">
                <a:latin typeface="Times New Roman"/>
                <a:cs typeface="Times New Roman"/>
              </a:rPr>
              <a:t>art.</a:t>
            </a:r>
            <a:r>
              <a:rPr sz="2400" spc="-30" dirty="0">
                <a:latin typeface="Times New Roman"/>
                <a:cs typeface="Times New Roman"/>
              </a:rPr>
              <a:t> </a:t>
            </a:r>
            <a:endParaRPr lang="en-US" sz="2400" spc="-30" dirty="0" smtClean="0">
              <a:latin typeface="Times New Roman"/>
              <a:cs typeface="Times New Roman"/>
            </a:endParaRPr>
          </a:p>
          <a:p>
            <a:pPr marL="355591" marR="5080" indent="-342900" algn="just">
              <a:lnSpc>
                <a:spcPct val="150000"/>
              </a:lnSpc>
              <a:spcBef>
                <a:spcPts val="55"/>
              </a:spcBef>
              <a:buFont typeface="Arial" panose="020B0604020202020204" pitchFamily="34" charset="0"/>
              <a:buChar char="•"/>
            </a:pPr>
            <a:r>
              <a:rPr sz="2400" spc="-45" dirty="0" smtClean="0">
                <a:latin typeface="Times New Roman"/>
                <a:cs typeface="Times New Roman"/>
              </a:rPr>
              <a:t>Let</a:t>
            </a:r>
            <a:r>
              <a:rPr sz="2400" spc="-20" dirty="0" smtClean="0">
                <a:latin typeface="Times New Roman"/>
                <a:cs typeface="Times New Roman"/>
              </a:rPr>
              <a:t> </a:t>
            </a:r>
            <a:r>
              <a:rPr sz="2400" dirty="0">
                <a:latin typeface="Times New Roman"/>
                <a:cs typeface="Times New Roman"/>
              </a:rPr>
              <a:t>us</a:t>
            </a:r>
            <a:r>
              <a:rPr sz="2400" spc="-20" dirty="0">
                <a:latin typeface="Times New Roman"/>
                <a:cs typeface="Times New Roman"/>
              </a:rPr>
              <a:t> </a:t>
            </a:r>
            <a:r>
              <a:rPr sz="2400" spc="-40" dirty="0">
                <a:latin typeface="Times New Roman"/>
                <a:cs typeface="Times New Roman"/>
              </a:rPr>
              <a:t>mention</a:t>
            </a:r>
            <a:r>
              <a:rPr sz="2400" spc="-25" dirty="0">
                <a:latin typeface="Times New Roman"/>
                <a:cs typeface="Times New Roman"/>
              </a:rPr>
              <a:t> </a:t>
            </a:r>
            <a:r>
              <a:rPr sz="2400" spc="-30" dirty="0">
                <a:latin typeface="Times New Roman"/>
                <a:cs typeface="Times New Roman"/>
              </a:rPr>
              <a:t>the</a:t>
            </a:r>
            <a:r>
              <a:rPr sz="2400" spc="-25" dirty="0">
                <a:latin typeface="Times New Roman"/>
                <a:cs typeface="Times New Roman"/>
              </a:rPr>
              <a:t> </a:t>
            </a:r>
            <a:r>
              <a:rPr sz="2400" spc="-35" dirty="0">
                <a:solidFill>
                  <a:srgbClr val="FF9900"/>
                </a:solidFill>
                <a:latin typeface="Times New Roman"/>
                <a:cs typeface="Times New Roman"/>
              </a:rPr>
              <a:t>huge</a:t>
            </a:r>
            <a:r>
              <a:rPr sz="2400" spc="-25" dirty="0">
                <a:solidFill>
                  <a:srgbClr val="FF9900"/>
                </a:solidFill>
                <a:latin typeface="Times New Roman"/>
                <a:cs typeface="Times New Roman"/>
              </a:rPr>
              <a:t> </a:t>
            </a:r>
            <a:r>
              <a:rPr sz="2400" spc="-35" dirty="0">
                <a:solidFill>
                  <a:srgbClr val="FF9900"/>
                </a:solidFill>
                <a:latin typeface="Times New Roman"/>
                <a:cs typeface="Times New Roman"/>
              </a:rPr>
              <a:t>bronze</a:t>
            </a:r>
            <a:r>
              <a:rPr sz="2400" spc="-30" dirty="0">
                <a:solidFill>
                  <a:srgbClr val="FF9900"/>
                </a:solidFill>
                <a:latin typeface="Times New Roman"/>
                <a:cs typeface="Times New Roman"/>
              </a:rPr>
              <a:t> </a:t>
            </a:r>
            <a:r>
              <a:rPr sz="2400" spc="-45" dirty="0">
                <a:solidFill>
                  <a:srgbClr val="FF9900"/>
                </a:solidFill>
                <a:latin typeface="Times New Roman"/>
                <a:cs typeface="Times New Roman"/>
              </a:rPr>
              <a:t>statue</a:t>
            </a:r>
            <a:r>
              <a:rPr sz="2400" spc="-25" dirty="0">
                <a:solidFill>
                  <a:srgbClr val="FF9900"/>
                </a:solidFill>
                <a:latin typeface="Times New Roman"/>
                <a:cs typeface="Times New Roman"/>
              </a:rPr>
              <a:t> </a:t>
            </a:r>
            <a:r>
              <a:rPr sz="2400" spc="-10" dirty="0">
                <a:solidFill>
                  <a:srgbClr val="FF9900"/>
                </a:solidFill>
                <a:latin typeface="Times New Roman"/>
                <a:cs typeface="Times New Roman"/>
              </a:rPr>
              <a:t>of</a:t>
            </a:r>
            <a:r>
              <a:rPr sz="2400" spc="-35" dirty="0">
                <a:solidFill>
                  <a:srgbClr val="FF9900"/>
                </a:solidFill>
                <a:latin typeface="Times New Roman"/>
                <a:cs typeface="Times New Roman"/>
              </a:rPr>
              <a:t> </a:t>
            </a:r>
            <a:r>
              <a:rPr sz="2400" spc="-30" dirty="0">
                <a:solidFill>
                  <a:srgbClr val="FF9900"/>
                </a:solidFill>
                <a:latin typeface="Times New Roman"/>
                <a:cs typeface="Times New Roman"/>
              </a:rPr>
              <a:t>the</a:t>
            </a:r>
            <a:r>
              <a:rPr sz="2400" spc="-25" dirty="0">
                <a:solidFill>
                  <a:srgbClr val="FF9900"/>
                </a:solidFill>
                <a:latin typeface="Times New Roman"/>
                <a:cs typeface="Times New Roman"/>
              </a:rPr>
              <a:t> </a:t>
            </a:r>
            <a:r>
              <a:rPr sz="2400" spc="-10" dirty="0">
                <a:solidFill>
                  <a:srgbClr val="FF9900"/>
                </a:solidFill>
                <a:latin typeface="Times New Roman"/>
                <a:cs typeface="Times New Roman"/>
              </a:rPr>
              <a:t>Buddha</a:t>
            </a:r>
            <a:r>
              <a:rPr sz="2400" spc="-10" dirty="0">
                <a:latin typeface="Times New Roman"/>
                <a:cs typeface="Times New Roman"/>
              </a:rPr>
              <a:t> </a:t>
            </a:r>
            <a:r>
              <a:rPr sz="2400" spc="-50" dirty="0">
                <a:latin typeface="Times New Roman"/>
                <a:cs typeface="Times New Roman"/>
              </a:rPr>
              <a:t>made</a:t>
            </a:r>
            <a:r>
              <a:rPr sz="2400" spc="-25" dirty="0">
                <a:latin typeface="Times New Roman"/>
                <a:cs typeface="Times New Roman"/>
              </a:rPr>
              <a:t> </a:t>
            </a:r>
            <a:r>
              <a:rPr sz="2400" spc="-45" dirty="0">
                <a:latin typeface="Times New Roman"/>
                <a:cs typeface="Times New Roman"/>
              </a:rPr>
              <a:t>between</a:t>
            </a:r>
            <a:r>
              <a:rPr sz="2400" spc="-30" dirty="0">
                <a:latin typeface="Times New Roman"/>
                <a:cs typeface="Times New Roman"/>
              </a:rPr>
              <a:t> </a:t>
            </a:r>
            <a:r>
              <a:rPr sz="2400" spc="-40" dirty="0">
                <a:latin typeface="Times New Roman"/>
                <a:cs typeface="Times New Roman"/>
              </a:rPr>
              <a:t>500</a:t>
            </a:r>
            <a:r>
              <a:rPr sz="2400" spc="-35" dirty="0">
                <a:latin typeface="Times New Roman"/>
                <a:cs typeface="Times New Roman"/>
              </a:rPr>
              <a:t> </a:t>
            </a:r>
            <a:r>
              <a:rPr sz="2400" spc="-45" dirty="0">
                <a:latin typeface="Times New Roman"/>
                <a:cs typeface="Times New Roman"/>
              </a:rPr>
              <a:t>and</a:t>
            </a:r>
            <a:r>
              <a:rPr sz="2400" spc="-30" dirty="0">
                <a:latin typeface="Times New Roman"/>
                <a:cs typeface="Times New Roman"/>
              </a:rPr>
              <a:t> </a:t>
            </a:r>
            <a:r>
              <a:rPr sz="2400" spc="-45" dirty="0">
                <a:latin typeface="Times New Roman"/>
                <a:cs typeface="Times New Roman"/>
              </a:rPr>
              <a:t>700</a:t>
            </a:r>
            <a:r>
              <a:rPr sz="2400" spc="-30" dirty="0">
                <a:latin typeface="Times New Roman"/>
                <a:cs typeface="Times New Roman"/>
              </a:rPr>
              <a:t> </a:t>
            </a:r>
            <a:r>
              <a:rPr sz="2400" spc="-35" dirty="0">
                <a:latin typeface="Times New Roman"/>
                <a:cs typeface="Times New Roman"/>
              </a:rPr>
              <a:t>CE</a:t>
            </a:r>
            <a:r>
              <a:rPr sz="2400" spc="-40" dirty="0">
                <a:latin typeface="Times New Roman"/>
                <a:cs typeface="Times New Roman"/>
              </a:rPr>
              <a:t> </a:t>
            </a:r>
            <a:r>
              <a:rPr sz="2400" spc="-30" dirty="0">
                <a:latin typeface="Times New Roman"/>
                <a:cs typeface="Times New Roman"/>
              </a:rPr>
              <a:t>in</a:t>
            </a:r>
            <a:r>
              <a:rPr sz="2400" spc="-45" dirty="0">
                <a:latin typeface="Times New Roman"/>
                <a:cs typeface="Times New Roman"/>
              </a:rPr>
              <a:t> </a:t>
            </a:r>
            <a:r>
              <a:rPr sz="2400" spc="-45" dirty="0">
                <a:solidFill>
                  <a:srgbClr val="FF9900"/>
                </a:solidFill>
                <a:latin typeface="Times New Roman"/>
                <a:cs typeface="Times New Roman"/>
              </a:rPr>
              <a:t>Sultanganj</a:t>
            </a:r>
            <a:r>
              <a:rPr sz="2400" spc="-30" dirty="0">
                <a:solidFill>
                  <a:srgbClr val="FF9900"/>
                </a:solidFill>
                <a:latin typeface="Times New Roman"/>
                <a:cs typeface="Times New Roman"/>
              </a:rPr>
              <a:t> </a:t>
            </a:r>
            <a:r>
              <a:rPr sz="2400" spc="-35" dirty="0">
                <a:solidFill>
                  <a:srgbClr val="FF9900"/>
                </a:solidFill>
                <a:latin typeface="Times New Roman"/>
                <a:cs typeface="Times New Roman"/>
              </a:rPr>
              <a:t>in</a:t>
            </a:r>
            <a:r>
              <a:rPr sz="2400" spc="-40" dirty="0">
                <a:solidFill>
                  <a:srgbClr val="FF9900"/>
                </a:solidFill>
                <a:latin typeface="Times New Roman"/>
                <a:cs typeface="Times New Roman"/>
              </a:rPr>
              <a:t> </a:t>
            </a:r>
            <a:r>
              <a:rPr sz="2400" dirty="0">
                <a:solidFill>
                  <a:srgbClr val="FF9900"/>
                </a:solidFill>
                <a:latin typeface="Times New Roman"/>
                <a:cs typeface="Times New Roman"/>
              </a:rPr>
              <a:t>Bihar</a:t>
            </a:r>
            <a:r>
              <a:rPr sz="2400" dirty="0">
                <a:latin typeface="Times New Roman"/>
                <a:cs typeface="Times New Roman"/>
              </a:rPr>
              <a:t>,</a:t>
            </a:r>
            <a:r>
              <a:rPr sz="2400" spc="140" dirty="0">
                <a:latin typeface="Times New Roman"/>
                <a:cs typeface="Times New Roman"/>
              </a:rPr>
              <a:t> </a:t>
            </a:r>
            <a:r>
              <a:rPr sz="2400" spc="-45" dirty="0">
                <a:latin typeface="Times New Roman"/>
                <a:cs typeface="Times New Roman"/>
              </a:rPr>
              <a:t>measuring</a:t>
            </a:r>
            <a:r>
              <a:rPr sz="2400" spc="-30" dirty="0">
                <a:latin typeface="Times New Roman"/>
                <a:cs typeface="Times New Roman"/>
              </a:rPr>
              <a:t> </a:t>
            </a:r>
            <a:r>
              <a:rPr sz="2400" spc="-40" dirty="0">
                <a:latin typeface="Times New Roman"/>
                <a:cs typeface="Times New Roman"/>
              </a:rPr>
              <a:t>2.3</a:t>
            </a:r>
            <a:r>
              <a:rPr sz="2400" spc="-35" dirty="0">
                <a:latin typeface="Times New Roman"/>
                <a:cs typeface="Times New Roman"/>
              </a:rPr>
              <a:t> </a:t>
            </a:r>
            <a:r>
              <a:rPr sz="2400" dirty="0">
                <a:latin typeface="Times New Roman"/>
                <a:cs typeface="Times New Roman"/>
              </a:rPr>
              <a:t>m</a:t>
            </a:r>
            <a:r>
              <a:rPr sz="2400" spc="-45" dirty="0">
                <a:latin typeface="Times New Roman"/>
                <a:cs typeface="Times New Roman"/>
              </a:rPr>
              <a:t> </a:t>
            </a:r>
            <a:r>
              <a:rPr sz="2400" spc="-40" dirty="0">
                <a:latin typeface="Times New Roman"/>
                <a:cs typeface="Times New Roman"/>
              </a:rPr>
              <a:t>high,</a:t>
            </a:r>
            <a:r>
              <a:rPr sz="2400" spc="-35" dirty="0">
                <a:latin typeface="Times New Roman"/>
                <a:cs typeface="Times New Roman"/>
              </a:rPr>
              <a:t> </a:t>
            </a:r>
            <a:r>
              <a:rPr sz="2400" dirty="0">
                <a:latin typeface="Times New Roman"/>
                <a:cs typeface="Times New Roman"/>
              </a:rPr>
              <a:t>1</a:t>
            </a:r>
            <a:r>
              <a:rPr sz="2400" spc="-45" dirty="0">
                <a:latin typeface="Times New Roman"/>
                <a:cs typeface="Times New Roman"/>
              </a:rPr>
              <a:t> </a:t>
            </a:r>
            <a:r>
              <a:rPr sz="2400" dirty="0">
                <a:latin typeface="Times New Roman"/>
                <a:cs typeface="Times New Roman"/>
              </a:rPr>
              <a:t>m</a:t>
            </a:r>
            <a:r>
              <a:rPr sz="2400" spc="-35" dirty="0">
                <a:latin typeface="Times New Roman"/>
                <a:cs typeface="Times New Roman"/>
              </a:rPr>
              <a:t> </a:t>
            </a:r>
            <a:r>
              <a:rPr sz="2400" spc="-50" dirty="0">
                <a:latin typeface="Times New Roman"/>
                <a:cs typeface="Times New Roman"/>
              </a:rPr>
              <a:t>wide,</a:t>
            </a:r>
            <a:r>
              <a:rPr sz="2400" spc="-25" dirty="0">
                <a:latin typeface="Times New Roman"/>
                <a:cs typeface="Times New Roman"/>
              </a:rPr>
              <a:t> </a:t>
            </a:r>
            <a:r>
              <a:rPr sz="2400" spc="-45" dirty="0">
                <a:latin typeface="Times New Roman"/>
                <a:cs typeface="Times New Roman"/>
              </a:rPr>
              <a:t>and</a:t>
            </a:r>
            <a:r>
              <a:rPr sz="2400" spc="-30" dirty="0">
                <a:latin typeface="Times New Roman"/>
                <a:cs typeface="Times New Roman"/>
              </a:rPr>
              <a:t> </a:t>
            </a:r>
            <a:r>
              <a:rPr sz="2400" spc="-45" dirty="0">
                <a:latin typeface="Times New Roman"/>
                <a:cs typeface="Times New Roman"/>
              </a:rPr>
              <a:t>weighing</a:t>
            </a:r>
            <a:r>
              <a:rPr sz="2400" spc="-30" dirty="0">
                <a:latin typeface="Times New Roman"/>
                <a:cs typeface="Times New Roman"/>
              </a:rPr>
              <a:t> </a:t>
            </a:r>
            <a:r>
              <a:rPr sz="2400" spc="-20" dirty="0">
                <a:latin typeface="Times New Roman"/>
                <a:cs typeface="Times New Roman"/>
              </a:rPr>
              <a:t>over </a:t>
            </a:r>
            <a:r>
              <a:rPr sz="2400" spc="-35" dirty="0">
                <a:latin typeface="Times New Roman"/>
                <a:cs typeface="Times New Roman"/>
              </a:rPr>
              <a:t>500</a:t>
            </a:r>
            <a:r>
              <a:rPr sz="2400" spc="-30" dirty="0">
                <a:latin typeface="Times New Roman"/>
                <a:cs typeface="Times New Roman"/>
              </a:rPr>
              <a:t> </a:t>
            </a:r>
            <a:r>
              <a:rPr sz="2400" spc="-40" dirty="0">
                <a:latin typeface="Times New Roman"/>
                <a:cs typeface="Times New Roman"/>
              </a:rPr>
              <a:t>kg,</a:t>
            </a:r>
            <a:r>
              <a:rPr sz="2400" dirty="0">
                <a:latin typeface="Times New Roman"/>
                <a:cs typeface="Times New Roman"/>
              </a:rPr>
              <a:t> </a:t>
            </a:r>
            <a:r>
              <a:rPr sz="2400" spc="-45" dirty="0">
                <a:latin typeface="Times New Roman"/>
                <a:cs typeface="Times New Roman"/>
              </a:rPr>
              <a:t>it</a:t>
            </a:r>
            <a:r>
              <a:rPr sz="2400" dirty="0">
                <a:latin typeface="Times New Roman"/>
                <a:cs typeface="Times New Roman"/>
              </a:rPr>
              <a:t> </a:t>
            </a:r>
            <a:r>
              <a:rPr sz="2400" spc="-45" dirty="0">
                <a:latin typeface="Times New Roman"/>
                <a:cs typeface="Times New Roman"/>
              </a:rPr>
              <a:t>was</a:t>
            </a:r>
            <a:r>
              <a:rPr sz="2400" spc="-14" dirty="0">
                <a:latin typeface="Times New Roman"/>
                <a:cs typeface="Times New Roman"/>
              </a:rPr>
              <a:t> </a:t>
            </a:r>
            <a:r>
              <a:rPr sz="2400" spc="-50" dirty="0">
                <a:latin typeface="Times New Roman"/>
                <a:cs typeface="Times New Roman"/>
              </a:rPr>
              <a:t>made</a:t>
            </a:r>
            <a:r>
              <a:rPr sz="2400" spc="-10" dirty="0">
                <a:latin typeface="Times New Roman"/>
                <a:cs typeface="Times New Roman"/>
              </a:rPr>
              <a:t> </a:t>
            </a:r>
            <a:r>
              <a:rPr sz="2400" spc="-55" dirty="0">
                <a:latin typeface="Times New Roman"/>
                <a:cs typeface="Times New Roman"/>
              </a:rPr>
              <a:t>by</a:t>
            </a:r>
            <a:r>
              <a:rPr sz="2400" spc="-20" dirty="0">
                <a:latin typeface="Times New Roman"/>
                <a:cs typeface="Times New Roman"/>
              </a:rPr>
              <a:t> </a:t>
            </a:r>
            <a:r>
              <a:rPr sz="2400" spc="-35" dirty="0">
                <a:latin typeface="Times New Roman"/>
                <a:cs typeface="Times New Roman"/>
              </a:rPr>
              <a:t>the</a:t>
            </a:r>
            <a:r>
              <a:rPr sz="2400" spc="4" dirty="0">
                <a:latin typeface="Times New Roman"/>
                <a:cs typeface="Times New Roman"/>
              </a:rPr>
              <a:t> </a:t>
            </a:r>
            <a:r>
              <a:rPr sz="2400" spc="-45" dirty="0">
                <a:latin typeface="Times New Roman"/>
                <a:cs typeface="Times New Roman"/>
              </a:rPr>
              <a:t>same</a:t>
            </a:r>
            <a:r>
              <a:rPr sz="2400" spc="-4" dirty="0">
                <a:latin typeface="Times New Roman"/>
                <a:cs typeface="Times New Roman"/>
              </a:rPr>
              <a:t> </a:t>
            </a:r>
            <a:r>
              <a:rPr sz="2400" spc="-55" dirty="0">
                <a:solidFill>
                  <a:srgbClr val="0070C0"/>
                </a:solidFill>
                <a:latin typeface="Times New Roman"/>
                <a:cs typeface="Times New Roman"/>
              </a:rPr>
              <a:t>lost-</a:t>
            </a:r>
            <a:r>
              <a:rPr sz="2400" spc="-40" dirty="0">
                <a:solidFill>
                  <a:srgbClr val="0070C0"/>
                </a:solidFill>
                <a:latin typeface="Times New Roman"/>
                <a:cs typeface="Times New Roman"/>
              </a:rPr>
              <a:t>wax</a:t>
            </a:r>
            <a:r>
              <a:rPr sz="2400" spc="10" dirty="0">
                <a:solidFill>
                  <a:srgbClr val="0070C0"/>
                </a:solidFill>
                <a:latin typeface="Times New Roman"/>
                <a:cs typeface="Times New Roman"/>
              </a:rPr>
              <a:t> </a:t>
            </a:r>
            <a:r>
              <a:rPr sz="2400" spc="-50" dirty="0">
                <a:solidFill>
                  <a:srgbClr val="0070C0"/>
                </a:solidFill>
                <a:latin typeface="Times New Roman"/>
                <a:cs typeface="Times New Roman"/>
              </a:rPr>
              <a:t>technique</a:t>
            </a:r>
            <a:r>
              <a:rPr sz="2400" spc="-20" dirty="0">
                <a:solidFill>
                  <a:srgbClr val="0070C0"/>
                </a:solidFill>
                <a:latin typeface="Times New Roman"/>
                <a:cs typeface="Times New Roman"/>
              </a:rPr>
              <a:t> </a:t>
            </a:r>
            <a:r>
              <a:rPr sz="2400" spc="-50" dirty="0">
                <a:latin typeface="Times New Roman"/>
                <a:cs typeface="Times New Roman"/>
              </a:rPr>
              <a:t>that</a:t>
            </a:r>
            <a:r>
              <a:rPr sz="2400" spc="-4" dirty="0">
                <a:latin typeface="Times New Roman"/>
                <a:cs typeface="Times New Roman"/>
              </a:rPr>
              <a:t> </a:t>
            </a:r>
            <a:r>
              <a:rPr sz="2400" spc="-45" dirty="0">
                <a:latin typeface="Times New Roman"/>
                <a:cs typeface="Times New Roman"/>
              </a:rPr>
              <a:t>Harappans</a:t>
            </a:r>
            <a:r>
              <a:rPr sz="2400" dirty="0">
                <a:latin typeface="Times New Roman"/>
                <a:cs typeface="Times New Roman"/>
              </a:rPr>
              <a:t> </a:t>
            </a:r>
            <a:r>
              <a:rPr sz="2400" spc="-50" dirty="0">
                <a:latin typeface="Times New Roman"/>
                <a:cs typeface="Times New Roman"/>
              </a:rPr>
              <a:t>used</a:t>
            </a:r>
            <a:r>
              <a:rPr sz="2400" spc="-14" dirty="0">
                <a:latin typeface="Times New Roman"/>
                <a:cs typeface="Times New Roman"/>
              </a:rPr>
              <a:t> </a:t>
            </a:r>
            <a:r>
              <a:rPr sz="2400" spc="-50" dirty="0">
                <a:latin typeface="Times New Roman"/>
                <a:cs typeface="Times New Roman"/>
              </a:rPr>
              <a:t>three</a:t>
            </a:r>
            <a:r>
              <a:rPr sz="2400" spc="-20" dirty="0">
                <a:latin typeface="Times New Roman"/>
                <a:cs typeface="Times New Roman"/>
              </a:rPr>
              <a:t> </a:t>
            </a:r>
            <a:r>
              <a:rPr sz="2400" spc="-50" dirty="0">
                <a:latin typeface="Times New Roman"/>
                <a:cs typeface="Times New Roman"/>
              </a:rPr>
              <a:t>millenniums</a:t>
            </a:r>
            <a:r>
              <a:rPr sz="2400" dirty="0">
                <a:latin typeface="Times New Roman"/>
                <a:cs typeface="Times New Roman"/>
              </a:rPr>
              <a:t> </a:t>
            </a:r>
            <a:r>
              <a:rPr sz="2400" spc="-50" dirty="0">
                <a:latin typeface="Times New Roman"/>
                <a:cs typeface="Times New Roman"/>
              </a:rPr>
              <a:t>earlier.</a:t>
            </a:r>
            <a:endParaRPr lang="en-US" sz="2400" spc="-50" dirty="0">
              <a:latin typeface="Times New Roman"/>
              <a:cs typeface="Times New Roman"/>
            </a:endParaRPr>
          </a:p>
          <a:p>
            <a:pPr marL="12691" marR="5080" indent="456244" algn="just">
              <a:spcBef>
                <a:spcPts val="55"/>
              </a:spcBef>
            </a:pPr>
            <a:r>
              <a:rPr sz="2400" spc="-14" dirty="0" smtClean="0">
                <a:latin typeface="Times New Roman"/>
                <a:cs typeface="Times New Roman"/>
              </a:rPr>
              <a:t> </a:t>
            </a:r>
            <a:endParaRPr lang="en-US" sz="2400" spc="-10" dirty="0">
              <a:latin typeface="Times New Roman"/>
              <a:cs typeface="Times New Roman"/>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flipV="1">
            <a:off x="838200" y="76200"/>
            <a:ext cx="8550672" cy="152400"/>
          </a:xfrm>
        </p:spPr>
        <p:txBody>
          <a:bodyPr>
            <a:normAutofit fontScale="90000"/>
          </a:bodyPr>
          <a:lstStyle/>
          <a:p>
            <a:r>
              <a:rPr lang="en-US" dirty="0" smtClean="0"/>
              <a:t>             </a:t>
            </a:r>
            <a:endParaRPr lang="en-US" dirty="0"/>
          </a:p>
        </p:txBody>
      </p:sp>
      <p:sp>
        <p:nvSpPr>
          <p:cNvPr id="3" name="Content Placeholder 2"/>
          <p:cNvSpPr>
            <a:spLocks noGrp="1"/>
          </p:cNvSpPr>
          <p:nvPr>
            <p:ph sz="quarter" idx="13"/>
          </p:nvPr>
        </p:nvSpPr>
        <p:spPr>
          <a:xfrm>
            <a:off x="753863" y="1371600"/>
            <a:ext cx="8550157" cy="5191761"/>
          </a:xfrm>
        </p:spPr>
        <p:txBody>
          <a:bodyPr>
            <a:normAutofit/>
          </a:bodyPr>
          <a:lstStyle/>
          <a:p>
            <a:pPr marL="355591" marR="5080" indent="-342900" algn="just">
              <a:lnSpc>
                <a:spcPct val="150000"/>
              </a:lnSpc>
              <a:spcBef>
                <a:spcPts val="55"/>
              </a:spcBef>
            </a:pPr>
            <a:r>
              <a:rPr lang="en-US" sz="2400" cap="none" spc="-10" dirty="0" smtClean="0">
                <a:latin typeface="Times New Roman"/>
                <a:cs typeface="Times New Roman"/>
              </a:rPr>
              <a:t>So</a:t>
            </a:r>
            <a:r>
              <a:rPr lang="en-US" sz="2400" cap="none" dirty="0" smtClean="0">
                <a:latin typeface="Times New Roman"/>
                <a:cs typeface="Times New Roman"/>
              </a:rPr>
              <a:t> </a:t>
            </a:r>
            <a:r>
              <a:rPr lang="en-US" sz="2400" cap="none" spc="-20" dirty="0" smtClean="0">
                <a:latin typeface="Times New Roman"/>
                <a:cs typeface="Times New Roman"/>
              </a:rPr>
              <a:t>were </a:t>
            </a:r>
            <a:r>
              <a:rPr lang="en-US" sz="2400" cap="none" spc="-35" dirty="0" smtClean="0">
                <a:latin typeface="Times New Roman"/>
                <a:cs typeface="Times New Roman"/>
              </a:rPr>
              <a:t>thousands</a:t>
            </a:r>
            <a:r>
              <a:rPr lang="en-US" sz="2400" cap="none" spc="-25" dirty="0" smtClean="0">
                <a:latin typeface="Times New Roman"/>
                <a:cs typeface="Times New Roman"/>
              </a:rPr>
              <a:t> </a:t>
            </a:r>
            <a:r>
              <a:rPr lang="en-US" sz="2400" cap="none" dirty="0" smtClean="0">
                <a:latin typeface="Times New Roman"/>
                <a:cs typeface="Times New Roman"/>
              </a:rPr>
              <a:t>of</a:t>
            </a:r>
            <a:r>
              <a:rPr lang="en-US" sz="2400" cap="none" spc="-40" dirty="0" smtClean="0">
                <a:latin typeface="Times New Roman"/>
                <a:cs typeface="Times New Roman"/>
              </a:rPr>
              <a:t> </a:t>
            </a:r>
            <a:r>
              <a:rPr lang="en-US" sz="2400" cap="none" spc="-30" dirty="0" smtClean="0">
                <a:latin typeface="Times New Roman"/>
                <a:cs typeface="Times New Roman"/>
              </a:rPr>
              <a:t>statues</a:t>
            </a:r>
            <a:r>
              <a:rPr lang="en-US" sz="2400" cap="none" spc="-35" dirty="0" smtClean="0">
                <a:latin typeface="Times New Roman"/>
                <a:cs typeface="Times New Roman"/>
              </a:rPr>
              <a:t> </a:t>
            </a:r>
            <a:r>
              <a:rPr lang="en-US" sz="2400" cap="none" spc="-20" dirty="0" smtClean="0">
                <a:latin typeface="Times New Roman"/>
                <a:cs typeface="Times New Roman"/>
              </a:rPr>
              <a:t>made</a:t>
            </a:r>
            <a:r>
              <a:rPr lang="en-US" sz="2400" cap="none" spc="-40" dirty="0" smtClean="0">
                <a:latin typeface="Times New Roman"/>
                <a:cs typeface="Times New Roman"/>
              </a:rPr>
              <a:t> </a:t>
            </a:r>
            <a:r>
              <a:rPr lang="en-US" sz="2400" cap="none" spc="-25" dirty="0" smtClean="0">
                <a:latin typeface="Times New Roman"/>
                <a:cs typeface="Times New Roman"/>
              </a:rPr>
              <a:t>later </a:t>
            </a:r>
            <a:r>
              <a:rPr lang="en-US" sz="2400" cap="none" dirty="0" smtClean="0">
                <a:latin typeface="Times New Roman"/>
                <a:cs typeface="Times New Roman"/>
              </a:rPr>
              <a:t>in</a:t>
            </a:r>
            <a:r>
              <a:rPr lang="en-US" sz="2400" cap="none" spc="-25" dirty="0" smtClean="0">
                <a:latin typeface="Times New Roman"/>
                <a:cs typeface="Times New Roman"/>
              </a:rPr>
              <a:t> Tamil Nadu,</a:t>
            </a:r>
            <a:r>
              <a:rPr lang="en-US" sz="2400" cap="none" spc="-35" dirty="0" smtClean="0">
                <a:latin typeface="Times New Roman"/>
                <a:cs typeface="Times New Roman"/>
              </a:rPr>
              <a:t> </a:t>
            </a:r>
            <a:r>
              <a:rPr lang="en-US" sz="2400" cap="none" spc="-20" dirty="0" smtClean="0">
                <a:latin typeface="Times New Roman"/>
                <a:cs typeface="Times New Roman"/>
              </a:rPr>
              <a:t>such</a:t>
            </a:r>
            <a:r>
              <a:rPr lang="en-US" sz="2400" cap="none" spc="-35" dirty="0" smtClean="0">
                <a:latin typeface="Times New Roman"/>
                <a:cs typeface="Times New Roman"/>
              </a:rPr>
              <a:t> </a:t>
            </a:r>
            <a:r>
              <a:rPr lang="en-US" sz="2400" cap="none" dirty="0" smtClean="0">
                <a:latin typeface="Times New Roman"/>
                <a:cs typeface="Times New Roman"/>
              </a:rPr>
              <a:t>as</a:t>
            </a:r>
            <a:r>
              <a:rPr lang="en-US" sz="2400" cap="none" spc="-20" dirty="0" smtClean="0">
                <a:latin typeface="Times New Roman"/>
                <a:cs typeface="Times New Roman"/>
              </a:rPr>
              <a:t> </a:t>
            </a:r>
            <a:r>
              <a:rPr lang="en-US" sz="2400" cap="none" dirty="0" smtClean="0">
                <a:latin typeface="Times New Roman"/>
                <a:cs typeface="Times New Roman"/>
              </a:rPr>
              <a:t>the</a:t>
            </a:r>
            <a:r>
              <a:rPr lang="en-US" sz="2400" cap="none" spc="-30" dirty="0" smtClean="0">
                <a:latin typeface="Times New Roman"/>
                <a:cs typeface="Times New Roman"/>
              </a:rPr>
              <a:t> </a:t>
            </a:r>
            <a:r>
              <a:rPr lang="en-US" sz="2400" cap="none" spc="-40" dirty="0" smtClean="0">
                <a:latin typeface="Times New Roman"/>
                <a:cs typeface="Times New Roman"/>
              </a:rPr>
              <a:t>beautiful</a:t>
            </a:r>
            <a:r>
              <a:rPr lang="en-US" sz="2400" cap="none" spc="-20" dirty="0" smtClean="0">
                <a:latin typeface="Times New Roman"/>
                <a:cs typeface="Times New Roman"/>
              </a:rPr>
              <a:t> </a:t>
            </a:r>
            <a:r>
              <a:rPr lang="en-US" sz="2400" cap="none" spc="-35" dirty="0" smtClean="0">
                <a:solidFill>
                  <a:srgbClr val="0070C0"/>
                </a:solidFill>
                <a:latin typeface="Times New Roman"/>
                <a:cs typeface="Times New Roman"/>
              </a:rPr>
              <a:t>Nataraja</a:t>
            </a:r>
            <a:r>
              <a:rPr lang="en-US" sz="2400" cap="none" spc="-40" dirty="0" smtClean="0">
                <a:solidFill>
                  <a:srgbClr val="0070C0"/>
                </a:solidFill>
                <a:latin typeface="Times New Roman"/>
                <a:cs typeface="Times New Roman"/>
              </a:rPr>
              <a:t> </a:t>
            </a:r>
            <a:r>
              <a:rPr lang="en-US" sz="2400" cap="none" spc="-30" dirty="0" smtClean="0">
                <a:solidFill>
                  <a:srgbClr val="0070C0"/>
                </a:solidFill>
                <a:latin typeface="Times New Roman"/>
                <a:cs typeface="Times New Roman"/>
              </a:rPr>
              <a:t>statues</a:t>
            </a:r>
            <a:r>
              <a:rPr lang="en-US" sz="2400" cap="none" spc="-25" dirty="0" smtClean="0">
                <a:solidFill>
                  <a:srgbClr val="0070C0"/>
                </a:solidFill>
                <a:latin typeface="Times New Roman"/>
                <a:cs typeface="Times New Roman"/>
              </a:rPr>
              <a:t> </a:t>
            </a:r>
            <a:r>
              <a:rPr lang="en-US" sz="2400" cap="none" dirty="0" smtClean="0">
                <a:solidFill>
                  <a:srgbClr val="0070C0"/>
                </a:solidFill>
                <a:latin typeface="Times New Roman"/>
                <a:cs typeface="Times New Roman"/>
              </a:rPr>
              <a:t>of</a:t>
            </a:r>
            <a:r>
              <a:rPr lang="en-US" sz="2400" cap="none" spc="-35" dirty="0" smtClean="0">
                <a:solidFill>
                  <a:srgbClr val="0070C0"/>
                </a:solidFill>
                <a:latin typeface="Times New Roman"/>
                <a:cs typeface="Times New Roman"/>
              </a:rPr>
              <a:t> </a:t>
            </a:r>
            <a:r>
              <a:rPr lang="en-US" sz="2400" cap="none" dirty="0" smtClean="0">
                <a:solidFill>
                  <a:srgbClr val="0070C0"/>
                </a:solidFill>
                <a:latin typeface="Times New Roman"/>
                <a:cs typeface="Times New Roman"/>
              </a:rPr>
              <a:t>the</a:t>
            </a:r>
            <a:r>
              <a:rPr lang="en-US" sz="2400" cap="none" spc="-40" dirty="0" smtClean="0">
                <a:solidFill>
                  <a:srgbClr val="0070C0"/>
                </a:solidFill>
                <a:latin typeface="Times New Roman"/>
                <a:cs typeface="Times New Roman"/>
              </a:rPr>
              <a:t> </a:t>
            </a:r>
            <a:r>
              <a:rPr lang="en-US" sz="2400" cap="none" spc="-20" dirty="0" err="1" smtClean="0">
                <a:solidFill>
                  <a:srgbClr val="0070C0"/>
                </a:solidFill>
                <a:latin typeface="Times New Roman"/>
                <a:cs typeface="Times New Roman"/>
              </a:rPr>
              <a:t>Chola</a:t>
            </a:r>
            <a:r>
              <a:rPr lang="en-US" sz="2400" cap="none" spc="-30" dirty="0" smtClean="0">
                <a:solidFill>
                  <a:srgbClr val="0070C0"/>
                </a:solidFill>
                <a:latin typeface="Times New Roman"/>
                <a:cs typeface="Times New Roman"/>
              </a:rPr>
              <a:t> </a:t>
            </a:r>
            <a:r>
              <a:rPr lang="en-US" sz="2400" cap="none" spc="-10" dirty="0" smtClean="0">
                <a:solidFill>
                  <a:srgbClr val="0070C0"/>
                </a:solidFill>
                <a:latin typeface="Times New Roman"/>
                <a:cs typeface="Times New Roman"/>
              </a:rPr>
              <a:t>period</a:t>
            </a:r>
            <a:r>
              <a:rPr lang="en-US" sz="2400" cap="none" spc="-10" dirty="0" smtClean="0">
                <a:latin typeface="Times New Roman"/>
                <a:cs typeface="Times New Roman"/>
              </a:rPr>
              <a:t>, </a:t>
            </a:r>
            <a:r>
              <a:rPr lang="en-US" sz="2400" cap="none" dirty="0" smtClean="0">
                <a:latin typeface="Times New Roman"/>
                <a:cs typeface="Times New Roman"/>
              </a:rPr>
              <a:t>among other </a:t>
            </a:r>
            <a:r>
              <a:rPr lang="en-US" sz="2400" cap="none" spc="-10" dirty="0" smtClean="0">
                <a:latin typeface="Times New Roman"/>
                <a:cs typeface="Times New Roman"/>
              </a:rPr>
              <a:t>famous</a:t>
            </a:r>
            <a:r>
              <a:rPr lang="en-US" sz="2400" cap="none" dirty="0" smtClean="0">
                <a:latin typeface="Times New Roman"/>
                <a:cs typeface="Times New Roman"/>
              </a:rPr>
              <a:t> </a:t>
            </a:r>
            <a:r>
              <a:rPr lang="en-US" sz="2400" cap="none" spc="-20" dirty="0" smtClean="0">
                <a:latin typeface="Times New Roman"/>
                <a:cs typeface="Times New Roman"/>
              </a:rPr>
              <a:t>bronzes.</a:t>
            </a:r>
            <a:r>
              <a:rPr lang="en-US" sz="2400" cap="none" spc="10" dirty="0" smtClean="0">
                <a:latin typeface="Times New Roman"/>
                <a:cs typeface="Times New Roman"/>
              </a:rPr>
              <a:t> </a:t>
            </a:r>
          </a:p>
          <a:p>
            <a:pPr marL="355591" marR="5080" indent="-342900" algn="just">
              <a:lnSpc>
                <a:spcPct val="150000"/>
              </a:lnSpc>
              <a:spcBef>
                <a:spcPts val="55"/>
              </a:spcBef>
            </a:pPr>
            <a:r>
              <a:rPr lang="en-US" sz="2400" cap="none" dirty="0" smtClean="0">
                <a:latin typeface="Times New Roman"/>
                <a:cs typeface="Times New Roman"/>
              </a:rPr>
              <a:t>Of </a:t>
            </a:r>
            <a:r>
              <a:rPr lang="en-US" sz="2400" cap="none" spc="-20" dirty="0" smtClean="0">
                <a:latin typeface="Times New Roman"/>
                <a:cs typeface="Times New Roman"/>
              </a:rPr>
              <a:t>course,</a:t>
            </a:r>
            <a:r>
              <a:rPr lang="en-US" sz="2400" cap="none" spc="4" dirty="0" smtClean="0">
                <a:latin typeface="Times New Roman"/>
                <a:cs typeface="Times New Roman"/>
              </a:rPr>
              <a:t> </a:t>
            </a:r>
            <a:r>
              <a:rPr lang="en-US" sz="2400" cap="none" dirty="0" smtClean="0">
                <a:latin typeface="Times New Roman"/>
                <a:cs typeface="Times New Roman"/>
              </a:rPr>
              <a:t>all kinds</a:t>
            </a:r>
            <a:r>
              <a:rPr lang="en-US" sz="2400" cap="none" spc="-4" dirty="0" smtClean="0">
                <a:latin typeface="Times New Roman"/>
                <a:cs typeface="Times New Roman"/>
              </a:rPr>
              <a:t> </a:t>
            </a:r>
            <a:r>
              <a:rPr lang="en-US" sz="2400" cap="none" dirty="0" smtClean="0">
                <a:latin typeface="Times New Roman"/>
                <a:cs typeface="Times New Roman"/>
              </a:rPr>
              <a:t>of</a:t>
            </a:r>
            <a:r>
              <a:rPr lang="en-US" sz="2400" cap="none" spc="10" dirty="0" smtClean="0">
                <a:latin typeface="Times New Roman"/>
                <a:cs typeface="Times New Roman"/>
              </a:rPr>
              <a:t> </a:t>
            </a:r>
            <a:r>
              <a:rPr lang="en-US" sz="2400" cap="none" spc="-10" dirty="0" smtClean="0">
                <a:latin typeface="Times New Roman"/>
                <a:cs typeface="Times New Roman"/>
              </a:rPr>
              <a:t>bronze</a:t>
            </a:r>
            <a:r>
              <a:rPr lang="en-US" sz="2400" cap="none" dirty="0" smtClean="0">
                <a:latin typeface="Times New Roman"/>
                <a:cs typeface="Times New Roman"/>
              </a:rPr>
              <a:t> </a:t>
            </a:r>
            <a:r>
              <a:rPr lang="en-US" sz="2400" cap="none" spc="-20" dirty="0" smtClean="0">
                <a:latin typeface="Times New Roman"/>
                <a:cs typeface="Times New Roman"/>
              </a:rPr>
              <a:t>objects</a:t>
            </a:r>
            <a:r>
              <a:rPr lang="en-US" sz="2400" cap="none" dirty="0" smtClean="0">
                <a:latin typeface="Times New Roman"/>
                <a:cs typeface="Times New Roman"/>
              </a:rPr>
              <a:t> of daily</a:t>
            </a:r>
            <a:r>
              <a:rPr lang="en-US" sz="2400" cap="none" spc="-10" dirty="0" smtClean="0">
                <a:latin typeface="Times New Roman"/>
                <a:cs typeface="Times New Roman"/>
              </a:rPr>
              <a:t> </a:t>
            </a:r>
            <a:r>
              <a:rPr lang="en-US" sz="2400" cap="none" dirty="0" smtClean="0">
                <a:latin typeface="Times New Roman"/>
                <a:cs typeface="Times New Roman"/>
              </a:rPr>
              <a:t>use have </a:t>
            </a:r>
            <a:r>
              <a:rPr lang="en-US" sz="2400" cap="none" spc="-25" dirty="0" smtClean="0">
                <a:latin typeface="Times New Roman"/>
                <a:cs typeface="Times New Roman"/>
              </a:rPr>
              <a:t>continued</a:t>
            </a:r>
            <a:r>
              <a:rPr lang="en-US" sz="2400" cap="none" spc="4" dirty="0" smtClean="0">
                <a:latin typeface="Times New Roman"/>
                <a:cs typeface="Times New Roman"/>
              </a:rPr>
              <a:t> </a:t>
            </a:r>
            <a:r>
              <a:rPr lang="en-US" sz="2400" cap="none" dirty="0" smtClean="0">
                <a:latin typeface="Times New Roman"/>
                <a:cs typeface="Times New Roman"/>
              </a:rPr>
              <a:t>to </a:t>
            </a:r>
            <a:r>
              <a:rPr lang="en-US" sz="2400" cap="none" spc="-25" dirty="0" smtClean="0">
                <a:latin typeface="Times New Roman"/>
                <a:cs typeface="Times New Roman"/>
              </a:rPr>
              <a:t>be </a:t>
            </a:r>
            <a:r>
              <a:rPr lang="en-US" sz="2400" cap="none" spc="-35" dirty="0" smtClean="0">
                <a:latin typeface="Times New Roman"/>
                <a:cs typeface="Times New Roman"/>
              </a:rPr>
              <a:t>produced; </a:t>
            </a:r>
            <a:r>
              <a:rPr lang="en-US" sz="2400" cap="none" dirty="0" smtClean="0">
                <a:latin typeface="Times New Roman"/>
                <a:cs typeface="Times New Roman"/>
              </a:rPr>
              <a:t>for</a:t>
            </a:r>
            <a:r>
              <a:rPr lang="en-US" sz="2400" cap="none" spc="-30" dirty="0" smtClean="0">
                <a:latin typeface="Times New Roman"/>
                <a:cs typeface="Times New Roman"/>
              </a:rPr>
              <a:t> </a:t>
            </a:r>
            <a:r>
              <a:rPr lang="en-US" sz="2400" cap="none" spc="-35" dirty="0" smtClean="0">
                <a:latin typeface="Times New Roman"/>
                <a:cs typeface="Times New Roman"/>
              </a:rPr>
              <a:t>instance,</a:t>
            </a:r>
            <a:r>
              <a:rPr lang="en-US" sz="2400" cap="none" spc="-20" dirty="0" smtClean="0">
                <a:latin typeface="Times New Roman"/>
                <a:cs typeface="Times New Roman"/>
              </a:rPr>
              <a:t> </a:t>
            </a:r>
            <a:r>
              <a:rPr lang="en-US" sz="2400" cap="none" spc="-30" dirty="0" smtClean="0">
                <a:solidFill>
                  <a:srgbClr val="0070C0"/>
                </a:solidFill>
                <a:latin typeface="Times New Roman"/>
                <a:cs typeface="Times New Roman"/>
              </a:rPr>
              <a:t>highly</a:t>
            </a:r>
            <a:r>
              <a:rPr lang="en-US" sz="2400" cap="none" spc="-45" dirty="0" smtClean="0">
                <a:solidFill>
                  <a:srgbClr val="0070C0"/>
                </a:solidFill>
                <a:latin typeface="Times New Roman"/>
                <a:cs typeface="Times New Roman"/>
              </a:rPr>
              <a:t> </a:t>
            </a:r>
            <a:r>
              <a:rPr lang="en-US" sz="2400" cap="none" spc="-30" dirty="0" smtClean="0">
                <a:solidFill>
                  <a:srgbClr val="0070C0"/>
                </a:solidFill>
                <a:latin typeface="Times New Roman"/>
                <a:cs typeface="Times New Roman"/>
              </a:rPr>
              <a:t>polished</a:t>
            </a:r>
            <a:r>
              <a:rPr lang="en-US" sz="2400" cap="none" spc="-35" dirty="0" smtClean="0">
                <a:solidFill>
                  <a:srgbClr val="0070C0"/>
                </a:solidFill>
                <a:latin typeface="Times New Roman"/>
                <a:cs typeface="Times New Roman"/>
              </a:rPr>
              <a:t> </a:t>
            </a:r>
            <a:r>
              <a:rPr lang="en-US" sz="2400" cap="none" spc="-30" dirty="0" smtClean="0">
                <a:solidFill>
                  <a:srgbClr val="0070C0"/>
                </a:solidFill>
                <a:latin typeface="Times New Roman"/>
                <a:cs typeface="Times New Roman"/>
              </a:rPr>
              <a:t>bronze mirrors</a:t>
            </a:r>
            <a:r>
              <a:rPr lang="en-US" sz="2400" cap="none" spc="-20" dirty="0" smtClean="0">
                <a:solidFill>
                  <a:srgbClr val="0070C0"/>
                </a:solidFill>
                <a:latin typeface="Times New Roman"/>
                <a:cs typeface="Times New Roman"/>
              </a:rPr>
              <a:t> </a:t>
            </a:r>
            <a:r>
              <a:rPr lang="en-US" sz="2400" cap="none" dirty="0" smtClean="0">
                <a:solidFill>
                  <a:srgbClr val="0070C0"/>
                </a:solidFill>
                <a:latin typeface="Times New Roman"/>
                <a:cs typeface="Times New Roman"/>
              </a:rPr>
              <a:t>are</a:t>
            </a:r>
            <a:r>
              <a:rPr lang="en-US" sz="2400" cap="none" spc="-25" dirty="0" smtClean="0">
                <a:solidFill>
                  <a:srgbClr val="0070C0"/>
                </a:solidFill>
                <a:latin typeface="Times New Roman"/>
                <a:cs typeface="Times New Roman"/>
              </a:rPr>
              <a:t> </a:t>
            </a:r>
            <a:r>
              <a:rPr lang="en-US" sz="2400" cap="none" spc="-30" dirty="0" smtClean="0">
                <a:solidFill>
                  <a:srgbClr val="0070C0"/>
                </a:solidFill>
                <a:latin typeface="Times New Roman"/>
                <a:cs typeface="Times New Roman"/>
              </a:rPr>
              <a:t>still </a:t>
            </a:r>
            <a:r>
              <a:rPr lang="en-US" sz="2400" cap="none" spc="-20" dirty="0" smtClean="0">
                <a:solidFill>
                  <a:srgbClr val="0070C0"/>
                </a:solidFill>
                <a:latin typeface="Times New Roman"/>
                <a:cs typeface="Times New Roman"/>
              </a:rPr>
              <a:t>made</a:t>
            </a:r>
            <a:r>
              <a:rPr lang="en-US" sz="2400" cap="none" spc="-30" dirty="0" smtClean="0">
                <a:solidFill>
                  <a:srgbClr val="0070C0"/>
                </a:solidFill>
                <a:latin typeface="Times New Roman"/>
                <a:cs typeface="Times New Roman"/>
              </a:rPr>
              <a:t> </a:t>
            </a:r>
            <a:r>
              <a:rPr lang="en-US" sz="2400" cap="none" dirty="0" smtClean="0">
                <a:solidFill>
                  <a:srgbClr val="0070C0"/>
                </a:solidFill>
                <a:latin typeface="Times New Roman"/>
                <a:cs typeface="Times New Roman"/>
              </a:rPr>
              <a:t>in</a:t>
            </a:r>
            <a:r>
              <a:rPr lang="en-US" sz="2400" cap="none" spc="-25" dirty="0" smtClean="0">
                <a:solidFill>
                  <a:srgbClr val="0070C0"/>
                </a:solidFill>
                <a:latin typeface="Times New Roman"/>
                <a:cs typeface="Times New Roman"/>
              </a:rPr>
              <a:t> </a:t>
            </a:r>
            <a:r>
              <a:rPr lang="en-US" sz="2400" cap="none" spc="-30" dirty="0" smtClean="0">
                <a:solidFill>
                  <a:srgbClr val="0070C0"/>
                </a:solidFill>
                <a:latin typeface="Times New Roman"/>
                <a:cs typeface="Times New Roman"/>
              </a:rPr>
              <a:t>Kerala today</a:t>
            </a:r>
            <a:r>
              <a:rPr lang="en-US" sz="2400" cap="none" spc="-30" dirty="0" smtClean="0">
                <a:latin typeface="Times New Roman"/>
                <a:cs typeface="Times New Roman"/>
              </a:rPr>
              <a:t>,</a:t>
            </a:r>
            <a:r>
              <a:rPr lang="en-US" sz="2400" cap="none" spc="-20" dirty="0" smtClean="0">
                <a:latin typeface="Times New Roman"/>
                <a:cs typeface="Times New Roman"/>
              </a:rPr>
              <a:t> </a:t>
            </a:r>
            <a:r>
              <a:rPr lang="en-US" sz="2400" cap="none" spc="-10" dirty="0" smtClean="0">
                <a:latin typeface="Times New Roman"/>
                <a:cs typeface="Times New Roman"/>
              </a:rPr>
              <a:t>just</a:t>
            </a:r>
            <a:r>
              <a:rPr lang="en-US" sz="2400" cap="none" spc="-30" dirty="0" smtClean="0">
                <a:latin typeface="Times New Roman"/>
                <a:cs typeface="Times New Roman"/>
              </a:rPr>
              <a:t> </a:t>
            </a:r>
            <a:r>
              <a:rPr lang="en-US" sz="2400" cap="none" dirty="0" smtClean="0">
                <a:latin typeface="Times New Roman"/>
                <a:cs typeface="Times New Roman"/>
              </a:rPr>
              <a:t>as</a:t>
            </a:r>
            <a:r>
              <a:rPr lang="en-US" sz="2400" cap="none" spc="-25" dirty="0" smtClean="0">
                <a:latin typeface="Times New Roman"/>
                <a:cs typeface="Times New Roman"/>
              </a:rPr>
              <a:t> </a:t>
            </a:r>
            <a:r>
              <a:rPr lang="en-US" sz="2400" cap="none" spc="-20" dirty="0" smtClean="0">
                <a:latin typeface="Times New Roman"/>
                <a:cs typeface="Times New Roman"/>
              </a:rPr>
              <a:t>they</a:t>
            </a:r>
            <a:r>
              <a:rPr lang="en-US" sz="2400" cap="none" spc="-50" dirty="0" smtClean="0">
                <a:latin typeface="Times New Roman"/>
                <a:cs typeface="Times New Roman"/>
              </a:rPr>
              <a:t> </a:t>
            </a:r>
            <a:r>
              <a:rPr lang="en-US" sz="2400" cap="none" spc="-10" dirty="0" smtClean="0">
                <a:latin typeface="Times New Roman"/>
                <a:cs typeface="Times New Roman"/>
              </a:rPr>
              <a:t>were</a:t>
            </a:r>
            <a:r>
              <a:rPr lang="en-US" sz="2400" cap="none" spc="-25" dirty="0" smtClean="0">
                <a:latin typeface="Times New Roman"/>
                <a:cs typeface="Times New Roman"/>
              </a:rPr>
              <a:t> in </a:t>
            </a:r>
            <a:r>
              <a:rPr lang="en-US" sz="2400" cap="none" spc="-45" dirty="0" err="1" smtClean="0">
                <a:latin typeface="Times New Roman"/>
                <a:cs typeface="Times New Roman"/>
              </a:rPr>
              <a:t>Harappan</a:t>
            </a:r>
            <a:r>
              <a:rPr lang="en-US" sz="2400" cap="none" spc="-45" dirty="0" smtClean="0">
                <a:latin typeface="Times New Roman"/>
                <a:cs typeface="Times New Roman"/>
              </a:rPr>
              <a:t> </a:t>
            </a:r>
            <a:r>
              <a:rPr lang="en-US" sz="2400" cap="none" spc="-10" dirty="0" smtClean="0">
                <a:latin typeface="Times New Roman"/>
                <a:cs typeface="Times New Roman"/>
              </a:rPr>
              <a:t>times.</a:t>
            </a:r>
          </a:p>
          <a:p>
            <a:pPr>
              <a:lnSpc>
                <a:spcPct val="150000"/>
              </a:lnSpc>
            </a:pPr>
            <a:endParaRPr lang="en-US" sz="2400" cap="none" dirty="0"/>
          </a:p>
        </p:txBody>
      </p:sp>
    </p:spTree>
    <p:extLst>
      <p:ext uri="{BB962C8B-B14F-4D97-AF65-F5344CB8AC3E}">
        <p14:creationId xmlns:p14="http://schemas.microsoft.com/office/powerpoint/2010/main" val="243830456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1200150" y="533400"/>
            <a:ext cx="8020050" cy="6896760"/>
          </a:xfrm>
          <a:prstGeom prst="rect">
            <a:avLst/>
          </a:prstGeom>
        </p:spPr>
        <p:txBody>
          <a:bodyPr wrap="square">
            <a:spAutoFit/>
          </a:bodyPr>
          <a:lstStyle/>
          <a:p>
            <a:pPr marL="467031" lvl="2" indent="-454338" algn="ctr">
              <a:lnSpc>
                <a:spcPct val="150000"/>
              </a:lnSpc>
              <a:buAutoNum type="arabicPeriod" startAt="3"/>
              <a:tabLst>
                <a:tab pos="467031" algn="l"/>
              </a:tabLst>
            </a:pPr>
            <a:r>
              <a:rPr lang="en-US" sz="2800" b="1" u="sng" spc="-40" dirty="0" smtClean="0">
                <a:solidFill>
                  <a:srgbClr val="002060"/>
                </a:solidFill>
                <a:latin typeface="Times New Roman"/>
                <a:cs typeface="Times New Roman"/>
              </a:rPr>
              <a:t>GOLD</a:t>
            </a:r>
            <a:r>
              <a:rPr lang="en-US" sz="2800" b="1" u="sng" spc="-55" dirty="0" smtClean="0">
                <a:solidFill>
                  <a:srgbClr val="002060"/>
                </a:solidFill>
                <a:latin typeface="Times New Roman"/>
                <a:cs typeface="Times New Roman"/>
              </a:rPr>
              <a:t> </a:t>
            </a:r>
            <a:r>
              <a:rPr lang="en-US" sz="2800" b="1" u="sng" spc="-10" dirty="0" smtClean="0">
                <a:solidFill>
                  <a:srgbClr val="002060"/>
                </a:solidFill>
                <a:latin typeface="Times New Roman"/>
                <a:cs typeface="Times New Roman"/>
              </a:rPr>
              <a:t>METALLURGY</a:t>
            </a:r>
          </a:p>
          <a:p>
            <a:pPr marL="12691" marR="6349" indent="342659" algn="just">
              <a:lnSpc>
                <a:spcPct val="150000"/>
              </a:lnSpc>
              <a:spcBef>
                <a:spcPts val="55"/>
              </a:spcBef>
            </a:pPr>
            <a:endParaRPr lang="en-US" sz="2400" spc="-20" dirty="0" smtClean="0">
              <a:latin typeface="Times New Roman"/>
              <a:cs typeface="Times New Roman"/>
            </a:endParaRPr>
          </a:p>
          <a:p>
            <a:pPr marL="355591" marR="6349" indent="-342900" algn="just">
              <a:lnSpc>
                <a:spcPct val="150000"/>
              </a:lnSpc>
              <a:spcBef>
                <a:spcPts val="55"/>
              </a:spcBef>
              <a:buFont typeface="Arial" panose="020B0604020202020204" pitchFamily="34" charset="0"/>
              <a:buChar char="•"/>
            </a:pPr>
            <a:r>
              <a:rPr lang="en-US" sz="2400" spc="-20" dirty="0" smtClean="0">
                <a:latin typeface="Times New Roman"/>
                <a:cs typeface="Times New Roman"/>
              </a:rPr>
              <a:t>The</a:t>
            </a:r>
            <a:r>
              <a:rPr lang="en-US" sz="2400" spc="-55" dirty="0" smtClean="0">
                <a:latin typeface="Times New Roman"/>
                <a:cs typeface="Times New Roman"/>
              </a:rPr>
              <a:t> </a:t>
            </a:r>
            <a:r>
              <a:rPr lang="en-US" sz="2400" spc="-40" dirty="0" smtClean="0">
                <a:solidFill>
                  <a:srgbClr val="C00000"/>
                </a:solidFill>
                <a:latin typeface="Times New Roman"/>
                <a:cs typeface="Times New Roman"/>
              </a:rPr>
              <a:t>noble</a:t>
            </a:r>
            <a:r>
              <a:rPr lang="en-US" sz="2400" spc="-35" dirty="0" smtClean="0">
                <a:solidFill>
                  <a:srgbClr val="C00000"/>
                </a:solidFill>
                <a:latin typeface="Times New Roman"/>
                <a:cs typeface="Times New Roman"/>
              </a:rPr>
              <a:t> </a:t>
            </a:r>
            <a:r>
              <a:rPr lang="en-US" sz="2400" spc="-40" dirty="0" smtClean="0">
                <a:solidFill>
                  <a:srgbClr val="C00000"/>
                </a:solidFill>
                <a:latin typeface="Times New Roman"/>
                <a:cs typeface="Times New Roman"/>
              </a:rPr>
              <a:t>metals,</a:t>
            </a:r>
            <a:r>
              <a:rPr lang="en-US" sz="2400" spc="-35" dirty="0" smtClean="0">
                <a:solidFill>
                  <a:srgbClr val="C00000"/>
                </a:solidFill>
                <a:latin typeface="Times New Roman"/>
                <a:cs typeface="Times New Roman"/>
              </a:rPr>
              <a:t> gold </a:t>
            </a:r>
            <a:r>
              <a:rPr lang="en-US" sz="2400" spc="-30" dirty="0" smtClean="0">
                <a:solidFill>
                  <a:srgbClr val="C00000"/>
                </a:solidFill>
                <a:latin typeface="Times New Roman"/>
                <a:cs typeface="Times New Roman"/>
              </a:rPr>
              <a:t>and</a:t>
            </a:r>
            <a:r>
              <a:rPr lang="en-US" sz="2400" spc="-40" dirty="0" smtClean="0">
                <a:solidFill>
                  <a:srgbClr val="C00000"/>
                </a:solidFill>
                <a:latin typeface="Times New Roman"/>
                <a:cs typeface="Times New Roman"/>
              </a:rPr>
              <a:t> </a:t>
            </a:r>
            <a:r>
              <a:rPr lang="en-US" sz="2400" spc="-35" dirty="0" smtClean="0">
                <a:solidFill>
                  <a:srgbClr val="C00000"/>
                </a:solidFill>
                <a:latin typeface="Times New Roman"/>
                <a:cs typeface="Times New Roman"/>
              </a:rPr>
              <a:t>silver,</a:t>
            </a:r>
            <a:r>
              <a:rPr lang="en-US" sz="2400" spc="-40" dirty="0" smtClean="0">
                <a:solidFill>
                  <a:srgbClr val="C00000"/>
                </a:solidFill>
                <a:latin typeface="Times New Roman"/>
                <a:cs typeface="Times New Roman"/>
              </a:rPr>
              <a:t> </a:t>
            </a:r>
            <a:r>
              <a:rPr lang="en-US" sz="2400" spc="-20" dirty="0" smtClean="0">
                <a:solidFill>
                  <a:srgbClr val="C00000"/>
                </a:solidFill>
                <a:latin typeface="Times New Roman"/>
                <a:cs typeface="Times New Roman"/>
              </a:rPr>
              <a:t>are</a:t>
            </a:r>
            <a:r>
              <a:rPr lang="en-US" sz="2400" spc="-40" dirty="0" smtClean="0">
                <a:solidFill>
                  <a:srgbClr val="C00000"/>
                </a:solidFill>
                <a:latin typeface="Times New Roman"/>
                <a:cs typeface="Times New Roman"/>
              </a:rPr>
              <a:t> </a:t>
            </a:r>
            <a:r>
              <a:rPr lang="en-US" sz="2400" spc="-30" dirty="0" smtClean="0">
                <a:solidFill>
                  <a:srgbClr val="C00000"/>
                </a:solidFill>
                <a:latin typeface="Times New Roman"/>
                <a:cs typeface="Times New Roman"/>
              </a:rPr>
              <a:t>found</a:t>
            </a:r>
            <a:r>
              <a:rPr lang="en-US" sz="2400" spc="-40" dirty="0" smtClean="0">
                <a:solidFill>
                  <a:srgbClr val="C00000"/>
                </a:solidFill>
                <a:latin typeface="Times New Roman"/>
                <a:cs typeface="Times New Roman"/>
              </a:rPr>
              <a:t> </a:t>
            </a:r>
            <a:r>
              <a:rPr lang="en-US" sz="2400" dirty="0" smtClean="0">
                <a:solidFill>
                  <a:srgbClr val="C00000"/>
                </a:solidFill>
                <a:latin typeface="Times New Roman"/>
                <a:cs typeface="Times New Roman"/>
              </a:rPr>
              <a:t>in</a:t>
            </a:r>
            <a:r>
              <a:rPr lang="en-US" sz="2400" spc="-30" dirty="0" smtClean="0">
                <a:solidFill>
                  <a:srgbClr val="C00000"/>
                </a:solidFill>
                <a:latin typeface="Times New Roman"/>
                <a:cs typeface="Times New Roman"/>
              </a:rPr>
              <a:t> </a:t>
            </a:r>
            <a:r>
              <a:rPr lang="en-US" sz="2400" spc="-20" dirty="0" smtClean="0">
                <a:solidFill>
                  <a:srgbClr val="C00000"/>
                </a:solidFill>
                <a:latin typeface="Times New Roman"/>
                <a:cs typeface="Times New Roman"/>
              </a:rPr>
              <a:t>the</a:t>
            </a:r>
            <a:r>
              <a:rPr lang="en-US" sz="2400" spc="-35" dirty="0" smtClean="0">
                <a:solidFill>
                  <a:srgbClr val="C00000"/>
                </a:solidFill>
                <a:latin typeface="Times New Roman"/>
                <a:cs typeface="Times New Roman"/>
              </a:rPr>
              <a:t> </a:t>
            </a:r>
            <a:r>
              <a:rPr lang="en-US" sz="2400" spc="-40" dirty="0" smtClean="0">
                <a:solidFill>
                  <a:srgbClr val="C00000"/>
                </a:solidFill>
                <a:latin typeface="Times New Roman"/>
                <a:cs typeface="Times New Roman"/>
              </a:rPr>
              <a:t>native</a:t>
            </a:r>
            <a:r>
              <a:rPr lang="en-US" sz="2400" spc="-35" dirty="0" smtClean="0">
                <a:solidFill>
                  <a:srgbClr val="C00000"/>
                </a:solidFill>
                <a:latin typeface="Times New Roman"/>
                <a:cs typeface="Times New Roman"/>
              </a:rPr>
              <a:t> state</a:t>
            </a:r>
            <a:r>
              <a:rPr lang="en-US" sz="2400" spc="-35" dirty="0" smtClean="0">
                <a:latin typeface="Times New Roman"/>
                <a:cs typeface="Times New Roman"/>
              </a:rPr>
              <a:t>, </a:t>
            </a:r>
            <a:r>
              <a:rPr lang="en-US" sz="2400" spc="-20" dirty="0" smtClean="0">
                <a:latin typeface="Times New Roman"/>
                <a:cs typeface="Times New Roman"/>
              </a:rPr>
              <a:t>and</a:t>
            </a:r>
            <a:r>
              <a:rPr lang="en-US" sz="2400" spc="-30" dirty="0" smtClean="0">
                <a:latin typeface="Times New Roman"/>
                <a:cs typeface="Times New Roman"/>
              </a:rPr>
              <a:t> </a:t>
            </a:r>
            <a:r>
              <a:rPr lang="en-US" sz="2400" dirty="0" smtClean="0">
                <a:latin typeface="Times New Roman"/>
                <a:cs typeface="Times New Roman"/>
              </a:rPr>
              <a:t>as</a:t>
            </a:r>
            <a:r>
              <a:rPr lang="en-US" sz="2400" spc="-40" dirty="0" smtClean="0">
                <a:latin typeface="Times New Roman"/>
                <a:cs typeface="Times New Roman"/>
              </a:rPr>
              <a:t> </a:t>
            </a:r>
            <a:r>
              <a:rPr lang="en-US" sz="2400" dirty="0" smtClean="0">
                <a:latin typeface="Times New Roman"/>
                <a:cs typeface="Times New Roman"/>
              </a:rPr>
              <a:t>is</a:t>
            </a:r>
            <a:r>
              <a:rPr lang="en-US" sz="2400" spc="-30" dirty="0" smtClean="0">
                <a:latin typeface="Times New Roman"/>
                <a:cs typeface="Times New Roman"/>
              </a:rPr>
              <a:t> well</a:t>
            </a:r>
            <a:r>
              <a:rPr lang="en-US" sz="2400" spc="-40" dirty="0" smtClean="0">
                <a:latin typeface="Times New Roman"/>
                <a:cs typeface="Times New Roman"/>
              </a:rPr>
              <a:t> </a:t>
            </a:r>
            <a:r>
              <a:rPr lang="en-US" sz="2400" spc="-30" dirty="0" smtClean="0">
                <a:latin typeface="Times New Roman"/>
                <a:cs typeface="Times New Roman"/>
              </a:rPr>
              <a:t>known,</a:t>
            </a:r>
            <a:r>
              <a:rPr lang="en-US" sz="2400" spc="-35" dirty="0" smtClean="0">
                <a:latin typeface="Times New Roman"/>
                <a:cs typeface="Times New Roman"/>
              </a:rPr>
              <a:t> </a:t>
            </a:r>
            <a:r>
              <a:rPr lang="en-US" sz="2400" spc="-25" dirty="0" smtClean="0">
                <a:latin typeface="Times New Roman"/>
                <a:cs typeface="Times New Roman"/>
              </a:rPr>
              <a:t>gold</a:t>
            </a:r>
            <a:r>
              <a:rPr lang="en-US" sz="2400" spc="-30" dirty="0" smtClean="0">
                <a:latin typeface="Times New Roman"/>
                <a:cs typeface="Times New Roman"/>
              </a:rPr>
              <a:t> and</a:t>
            </a:r>
            <a:r>
              <a:rPr lang="en-US" sz="2400" spc="-40" dirty="0" smtClean="0">
                <a:latin typeface="Times New Roman"/>
                <a:cs typeface="Times New Roman"/>
              </a:rPr>
              <a:t> </a:t>
            </a:r>
            <a:r>
              <a:rPr lang="en-US" sz="2400" spc="-10" dirty="0" smtClean="0">
                <a:latin typeface="Times New Roman"/>
                <a:cs typeface="Times New Roman"/>
              </a:rPr>
              <a:t>silver </a:t>
            </a:r>
            <a:r>
              <a:rPr lang="en-US" sz="2400" spc="-30" dirty="0" smtClean="0">
                <a:latin typeface="Times New Roman"/>
                <a:cs typeface="Times New Roman"/>
              </a:rPr>
              <a:t>were</a:t>
            </a:r>
            <a:r>
              <a:rPr lang="en-US" sz="2400" spc="-45" dirty="0" smtClean="0">
                <a:latin typeface="Times New Roman"/>
                <a:cs typeface="Times New Roman"/>
              </a:rPr>
              <a:t> </a:t>
            </a:r>
            <a:r>
              <a:rPr lang="en-US" sz="2400" spc="-25" dirty="0" smtClean="0">
                <a:latin typeface="Times New Roman"/>
                <a:cs typeface="Times New Roman"/>
              </a:rPr>
              <a:t>used</a:t>
            </a:r>
            <a:r>
              <a:rPr lang="en-US" sz="2400" spc="-50" dirty="0" smtClean="0">
                <a:latin typeface="Times New Roman"/>
                <a:cs typeface="Times New Roman"/>
              </a:rPr>
              <a:t> </a:t>
            </a:r>
            <a:r>
              <a:rPr lang="en-US" sz="2400" dirty="0" smtClean="0">
                <a:latin typeface="Times New Roman"/>
                <a:cs typeface="Times New Roman"/>
              </a:rPr>
              <a:t>to</a:t>
            </a:r>
            <a:r>
              <a:rPr lang="en-US" sz="2400" spc="-40" dirty="0" smtClean="0">
                <a:latin typeface="Times New Roman"/>
                <a:cs typeface="Times New Roman"/>
              </a:rPr>
              <a:t> make</a:t>
            </a:r>
            <a:r>
              <a:rPr lang="en-US" sz="2400" spc="-35" dirty="0" smtClean="0">
                <a:latin typeface="Times New Roman"/>
                <a:cs typeface="Times New Roman"/>
              </a:rPr>
              <a:t> </a:t>
            </a:r>
            <a:r>
              <a:rPr lang="en-US" sz="2400" spc="-40" dirty="0" err="1" smtClean="0">
                <a:latin typeface="Times New Roman"/>
                <a:cs typeface="Times New Roman"/>
              </a:rPr>
              <a:t>jewellery</a:t>
            </a:r>
            <a:r>
              <a:rPr lang="en-US" sz="2400" spc="-35" dirty="0" smtClean="0">
                <a:latin typeface="Times New Roman"/>
                <a:cs typeface="Times New Roman"/>
              </a:rPr>
              <a:t> </a:t>
            </a:r>
            <a:r>
              <a:rPr lang="en-US" sz="2400" spc="-20" dirty="0" smtClean="0">
                <a:latin typeface="Times New Roman"/>
                <a:cs typeface="Times New Roman"/>
              </a:rPr>
              <a:t>and</a:t>
            </a:r>
            <a:r>
              <a:rPr lang="en-US" sz="2400" spc="-25" dirty="0" smtClean="0">
                <a:latin typeface="Times New Roman"/>
                <a:cs typeface="Times New Roman"/>
              </a:rPr>
              <a:t> </a:t>
            </a:r>
            <a:r>
              <a:rPr lang="en-US" sz="2400" spc="-35" dirty="0" smtClean="0">
                <a:latin typeface="Times New Roman"/>
                <a:cs typeface="Times New Roman"/>
              </a:rPr>
              <a:t>sheet</a:t>
            </a:r>
            <a:r>
              <a:rPr lang="en-US" sz="2400" spc="-25" dirty="0" smtClean="0">
                <a:latin typeface="Times New Roman"/>
                <a:cs typeface="Times New Roman"/>
              </a:rPr>
              <a:t> </a:t>
            </a:r>
            <a:r>
              <a:rPr lang="en-US" sz="2400" spc="-45" dirty="0" smtClean="0">
                <a:latin typeface="Times New Roman"/>
                <a:cs typeface="Times New Roman"/>
              </a:rPr>
              <a:t>metal</a:t>
            </a:r>
            <a:r>
              <a:rPr lang="en-US" sz="2400" spc="-25" dirty="0" smtClean="0">
                <a:latin typeface="Times New Roman"/>
                <a:cs typeface="Times New Roman"/>
              </a:rPr>
              <a:t> </a:t>
            </a:r>
            <a:r>
              <a:rPr lang="en-US" sz="2400" spc="-30" dirty="0" smtClean="0">
                <a:latin typeface="Times New Roman"/>
                <a:cs typeface="Times New Roman"/>
              </a:rPr>
              <a:t>due </a:t>
            </a:r>
            <a:r>
              <a:rPr lang="en-US" sz="2400" dirty="0" smtClean="0">
                <a:latin typeface="Times New Roman"/>
                <a:cs typeface="Times New Roman"/>
              </a:rPr>
              <a:t>to</a:t>
            </a:r>
            <a:r>
              <a:rPr lang="en-US" sz="2400" spc="-40" dirty="0" smtClean="0">
                <a:latin typeface="Times New Roman"/>
                <a:cs typeface="Times New Roman"/>
              </a:rPr>
              <a:t> </a:t>
            </a:r>
            <a:r>
              <a:rPr lang="en-US" sz="2400" spc="-30" dirty="0" smtClean="0">
                <a:latin typeface="Times New Roman"/>
                <a:cs typeface="Times New Roman"/>
              </a:rPr>
              <a:t>the</a:t>
            </a:r>
            <a:r>
              <a:rPr lang="en-US" sz="2400" spc="-40" dirty="0" smtClean="0">
                <a:latin typeface="Times New Roman"/>
                <a:cs typeface="Times New Roman"/>
              </a:rPr>
              <a:t> </a:t>
            </a:r>
            <a:r>
              <a:rPr lang="en-US" sz="2400" spc="-45" dirty="0" smtClean="0">
                <a:solidFill>
                  <a:srgbClr val="C00000"/>
                </a:solidFill>
                <a:latin typeface="Times New Roman"/>
                <a:cs typeface="Times New Roman"/>
              </a:rPr>
              <a:t>great</a:t>
            </a:r>
            <a:r>
              <a:rPr lang="en-US" sz="2400" spc="-25" dirty="0" smtClean="0">
                <a:solidFill>
                  <a:srgbClr val="C00000"/>
                </a:solidFill>
                <a:latin typeface="Times New Roman"/>
                <a:cs typeface="Times New Roman"/>
              </a:rPr>
              <a:t> </a:t>
            </a:r>
            <a:r>
              <a:rPr lang="en-US" sz="2400" spc="-45" dirty="0" smtClean="0">
                <a:solidFill>
                  <a:srgbClr val="C00000"/>
                </a:solidFill>
                <a:latin typeface="Times New Roman"/>
                <a:cs typeface="Times New Roman"/>
              </a:rPr>
              <a:t>ductility</a:t>
            </a:r>
            <a:r>
              <a:rPr lang="en-US" sz="2400" spc="-30" dirty="0" smtClean="0">
                <a:solidFill>
                  <a:srgbClr val="C00000"/>
                </a:solidFill>
                <a:latin typeface="Times New Roman"/>
                <a:cs typeface="Times New Roman"/>
              </a:rPr>
              <a:t> </a:t>
            </a:r>
            <a:r>
              <a:rPr lang="en-US" sz="2400" spc="-20" dirty="0" smtClean="0">
                <a:solidFill>
                  <a:srgbClr val="C00000"/>
                </a:solidFill>
                <a:latin typeface="Times New Roman"/>
                <a:cs typeface="Times New Roman"/>
              </a:rPr>
              <a:t>and</a:t>
            </a:r>
            <a:r>
              <a:rPr lang="en-US" sz="2400" spc="-25" dirty="0" smtClean="0">
                <a:solidFill>
                  <a:srgbClr val="C00000"/>
                </a:solidFill>
                <a:latin typeface="Times New Roman"/>
                <a:cs typeface="Times New Roman"/>
              </a:rPr>
              <a:t> </a:t>
            </a:r>
            <a:r>
              <a:rPr lang="en-US" sz="2400" spc="-35" dirty="0" err="1" smtClean="0">
                <a:solidFill>
                  <a:srgbClr val="C00000"/>
                </a:solidFill>
                <a:latin typeface="Times New Roman"/>
                <a:cs typeface="Times New Roman"/>
              </a:rPr>
              <a:t>lustre</a:t>
            </a:r>
            <a:r>
              <a:rPr lang="en-US" sz="2400" spc="-25" dirty="0" smtClean="0">
                <a:solidFill>
                  <a:srgbClr val="C00000"/>
                </a:solidFill>
                <a:latin typeface="Times New Roman"/>
                <a:cs typeface="Times New Roman"/>
              </a:rPr>
              <a:t> </a:t>
            </a:r>
            <a:r>
              <a:rPr lang="en-US" sz="2400" dirty="0" smtClean="0">
                <a:latin typeface="Times New Roman"/>
                <a:cs typeface="Times New Roman"/>
              </a:rPr>
              <a:t>of</a:t>
            </a:r>
            <a:r>
              <a:rPr lang="en-US" sz="2400" spc="-30" dirty="0" smtClean="0">
                <a:latin typeface="Times New Roman"/>
                <a:cs typeface="Times New Roman"/>
              </a:rPr>
              <a:t> </a:t>
            </a:r>
            <a:r>
              <a:rPr lang="en-US" sz="2400" spc="-20" dirty="0" smtClean="0">
                <a:latin typeface="Times New Roman"/>
                <a:cs typeface="Times New Roman"/>
              </a:rPr>
              <a:t>the</a:t>
            </a:r>
            <a:r>
              <a:rPr lang="en-US" sz="2400" spc="-30" dirty="0" smtClean="0">
                <a:latin typeface="Times New Roman"/>
                <a:cs typeface="Times New Roman"/>
              </a:rPr>
              <a:t> pure</a:t>
            </a:r>
            <a:r>
              <a:rPr lang="en-US" sz="2400" spc="-40" dirty="0" smtClean="0">
                <a:latin typeface="Times New Roman"/>
                <a:cs typeface="Times New Roman"/>
              </a:rPr>
              <a:t> metals.</a:t>
            </a:r>
            <a:r>
              <a:rPr lang="en-US" sz="2400" spc="-35" dirty="0" smtClean="0">
                <a:latin typeface="Times New Roman"/>
                <a:cs typeface="Times New Roman"/>
              </a:rPr>
              <a:t> </a:t>
            </a:r>
          </a:p>
          <a:p>
            <a:pPr marL="355591" marR="6349" indent="-342900" algn="just">
              <a:lnSpc>
                <a:spcPct val="150000"/>
              </a:lnSpc>
              <a:spcBef>
                <a:spcPts val="55"/>
              </a:spcBef>
              <a:buFont typeface="Arial" panose="020B0604020202020204" pitchFamily="34" charset="0"/>
              <a:buChar char="•"/>
            </a:pPr>
            <a:r>
              <a:rPr lang="en-US" sz="2400" spc="-35" dirty="0" smtClean="0">
                <a:latin typeface="Times New Roman"/>
                <a:cs typeface="Times New Roman"/>
              </a:rPr>
              <a:t>Some</a:t>
            </a:r>
            <a:r>
              <a:rPr lang="en-US" sz="2400" spc="-30" dirty="0" smtClean="0">
                <a:latin typeface="Times New Roman"/>
                <a:cs typeface="Times New Roman"/>
              </a:rPr>
              <a:t> </a:t>
            </a:r>
            <a:r>
              <a:rPr lang="en-US" sz="2400" spc="-25" dirty="0" smtClean="0">
                <a:latin typeface="Times New Roman"/>
                <a:cs typeface="Times New Roman"/>
              </a:rPr>
              <a:t>of </a:t>
            </a:r>
            <a:r>
              <a:rPr lang="en-US" sz="2400" dirty="0" smtClean="0">
                <a:latin typeface="Times New Roman"/>
                <a:cs typeface="Times New Roman"/>
              </a:rPr>
              <a:t>the</a:t>
            </a:r>
            <a:r>
              <a:rPr lang="en-US" sz="2400" spc="-35" dirty="0" smtClean="0">
                <a:latin typeface="Times New Roman"/>
                <a:cs typeface="Times New Roman"/>
              </a:rPr>
              <a:t> </a:t>
            </a:r>
            <a:r>
              <a:rPr lang="en-US" sz="2400" spc="-30" dirty="0" smtClean="0">
                <a:latin typeface="Times New Roman"/>
                <a:cs typeface="Times New Roman"/>
              </a:rPr>
              <a:t>early</a:t>
            </a:r>
            <a:r>
              <a:rPr lang="en-US" sz="2400" spc="-45" dirty="0" smtClean="0">
                <a:latin typeface="Times New Roman"/>
                <a:cs typeface="Times New Roman"/>
              </a:rPr>
              <a:t> </a:t>
            </a:r>
            <a:r>
              <a:rPr lang="en-US" sz="2400" spc="-10" dirty="0" smtClean="0">
                <a:latin typeface="Times New Roman"/>
                <a:cs typeface="Times New Roman"/>
              </a:rPr>
              <a:t>rich</a:t>
            </a:r>
            <a:r>
              <a:rPr lang="en-US" sz="2400" spc="-20" dirty="0" smtClean="0">
                <a:latin typeface="Times New Roman"/>
                <a:cs typeface="Times New Roman"/>
              </a:rPr>
              <a:t> finds</a:t>
            </a:r>
            <a:r>
              <a:rPr lang="en-US" sz="2400" spc="-30" dirty="0" smtClean="0">
                <a:latin typeface="Times New Roman"/>
                <a:cs typeface="Times New Roman"/>
              </a:rPr>
              <a:t> </a:t>
            </a:r>
            <a:r>
              <a:rPr lang="en-US" sz="2400" dirty="0" smtClean="0">
                <a:latin typeface="Times New Roman"/>
                <a:cs typeface="Times New Roman"/>
              </a:rPr>
              <a:t>of</a:t>
            </a:r>
            <a:r>
              <a:rPr lang="en-US" sz="2400" spc="-35" dirty="0" smtClean="0">
                <a:latin typeface="Times New Roman"/>
                <a:cs typeface="Times New Roman"/>
              </a:rPr>
              <a:t> </a:t>
            </a:r>
            <a:r>
              <a:rPr lang="en-US" sz="2400" spc="-10" dirty="0" smtClean="0">
                <a:latin typeface="Times New Roman"/>
                <a:cs typeface="Times New Roman"/>
              </a:rPr>
              <a:t>gold</a:t>
            </a:r>
            <a:r>
              <a:rPr lang="en-US" sz="2400" spc="-25" dirty="0" smtClean="0">
                <a:latin typeface="Times New Roman"/>
                <a:cs typeface="Times New Roman"/>
              </a:rPr>
              <a:t> </a:t>
            </a:r>
            <a:r>
              <a:rPr lang="en-US" sz="2400" spc="-35" dirty="0" smtClean="0">
                <a:latin typeface="Times New Roman"/>
                <a:cs typeface="Times New Roman"/>
              </a:rPr>
              <a:t>artifacts</a:t>
            </a:r>
            <a:r>
              <a:rPr lang="en-US" sz="2400" spc="-30" dirty="0" smtClean="0">
                <a:latin typeface="Times New Roman"/>
                <a:cs typeface="Times New Roman"/>
              </a:rPr>
              <a:t> </a:t>
            </a:r>
            <a:r>
              <a:rPr lang="en-US" sz="2400" spc="-10" dirty="0" smtClean="0">
                <a:latin typeface="Times New Roman"/>
                <a:cs typeface="Times New Roman"/>
              </a:rPr>
              <a:t>were</a:t>
            </a:r>
            <a:r>
              <a:rPr lang="en-US" sz="2400" spc="-25" dirty="0" smtClean="0">
                <a:latin typeface="Times New Roman"/>
                <a:cs typeface="Times New Roman"/>
              </a:rPr>
              <a:t> </a:t>
            </a:r>
            <a:r>
              <a:rPr lang="en-US" sz="2400" spc="-20" dirty="0" smtClean="0">
                <a:latin typeface="Times New Roman"/>
                <a:cs typeface="Times New Roman"/>
              </a:rPr>
              <a:t>from</a:t>
            </a:r>
            <a:r>
              <a:rPr lang="en-US" sz="2400" spc="-30" dirty="0" smtClean="0">
                <a:latin typeface="Times New Roman"/>
                <a:cs typeface="Times New Roman"/>
              </a:rPr>
              <a:t> </a:t>
            </a:r>
            <a:r>
              <a:rPr lang="en-US" sz="2400" dirty="0" smtClean="0">
                <a:latin typeface="Times New Roman"/>
                <a:cs typeface="Times New Roman"/>
              </a:rPr>
              <a:t>the</a:t>
            </a:r>
            <a:r>
              <a:rPr lang="en-US" sz="2400" spc="-35" dirty="0" smtClean="0">
                <a:latin typeface="Times New Roman"/>
                <a:cs typeface="Times New Roman"/>
              </a:rPr>
              <a:t> </a:t>
            </a:r>
            <a:r>
              <a:rPr lang="en-US" sz="2400" spc="-40" dirty="0" smtClean="0">
                <a:latin typeface="Times New Roman"/>
                <a:cs typeface="Times New Roman"/>
              </a:rPr>
              <a:t>cemeteries</a:t>
            </a:r>
            <a:r>
              <a:rPr lang="en-US" sz="2400" spc="-30" dirty="0" smtClean="0">
                <a:latin typeface="Times New Roman"/>
                <a:cs typeface="Times New Roman"/>
              </a:rPr>
              <a:t> </a:t>
            </a:r>
            <a:r>
              <a:rPr lang="en-US" sz="2400" dirty="0" smtClean="0">
                <a:latin typeface="Times New Roman"/>
                <a:cs typeface="Times New Roman"/>
              </a:rPr>
              <a:t>in</a:t>
            </a:r>
            <a:r>
              <a:rPr lang="en-US" sz="2400" spc="-35" dirty="0" smtClean="0">
                <a:latin typeface="Times New Roman"/>
                <a:cs typeface="Times New Roman"/>
              </a:rPr>
              <a:t> </a:t>
            </a:r>
            <a:r>
              <a:rPr lang="en-US" sz="2400" spc="-35" dirty="0" smtClean="0">
                <a:solidFill>
                  <a:srgbClr val="C00000"/>
                </a:solidFill>
                <a:latin typeface="Times New Roman"/>
                <a:cs typeface="Times New Roman"/>
              </a:rPr>
              <a:t>Bulgaria </a:t>
            </a:r>
            <a:r>
              <a:rPr lang="en-US" sz="2400" dirty="0" smtClean="0">
                <a:solidFill>
                  <a:srgbClr val="C00000"/>
                </a:solidFill>
                <a:latin typeface="Times New Roman"/>
                <a:cs typeface="Times New Roman"/>
              </a:rPr>
              <a:t>in</a:t>
            </a:r>
            <a:r>
              <a:rPr lang="en-US" sz="2400" spc="-35" dirty="0" smtClean="0">
                <a:solidFill>
                  <a:srgbClr val="C00000"/>
                </a:solidFill>
                <a:latin typeface="Times New Roman"/>
                <a:cs typeface="Times New Roman"/>
              </a:rPr>
              <a:t> </a:t>
            </a:r>
            <a:r>
              <a:rPr lang="en-US" sz="2400" spc="-25" dirty="0" smtClean="0">
                <a:solidFill>
                  <a:srgbClr val="C00000"/>
                </a:solidFill>
                <a:latin typeface="Times New Roman"/>
                <a:cs typeface="Times New Roman"/>
              </a:rPr>
              <a:t>Europe </a:t>
            </a:r>
            <a:r>
              <a:rPr lang="en-US" sz="2400" spc="-20" dirty="0" smtClean="0">
                <a:latin typeface="Times New Roman"/>
                <a:cs typeface="Times New Roman"/>
              </a:rPr>
              <a:t>(5th</a:t>
            </a:r>
            <a:r>
              <a:rPr lang="en-US" sz="2400" spc="-35" dirty="0" smtClean="0">
                <a:latin typeface="Times New Roman"/>
                <a:cs typeface="Times New Roman"/>
              </a:rPr>
              <a:t> </a:t>
            </a:r>
            <a:r>
              <a:rPr lang="en-US" sz="2400" spc="-40" dirty="0" smtClean="0">
                <a:latin typeface="Times New Roman"/>
                <a:cs typeface="Times New Roman"/>
              </a:rPr>
              <a:t>millennium</a:t>
            </a:r>
            <a:r>
              <a:rPr lang="en-US" sz="2400" spc="-20" dirty="0" smtClean="0">
                <a:latin typeface="Times New Roman"/>
                <a:cs typeface="Times New Roman"/>
              </a:rPr>
              <a:t> </a:t>
            </a:r>
            <a:r>
              <a:rPr lang="en-US" sz="2400" spc="-25" dirty="0" smtClean="0">
                <a:latin typeface="Times New Roman"/>
                <a:cs typeface="Times New Roman"/>
              </a:rPr>
              <a:t>BC) </a:t>
            </a:r>
            <a:r>
              <a:rPr lang="en-US" sz="2400" dirty="0" smtClean="0">
                <a:latin typeface="Times New Roman"/>
                <a:cs typeface="Times New Roman"/>
              </a:rPr>
              <a:t>with</a:t>
            </a:r>
            <a:r>
              <a:rPr lang="en-US" sz="2400" spc="20" dirty="0" smtClean="0">
                <a:latin typeface="Times New Roman"/>
                <a:cs typeface="Times New Roman"/>
              </a:rPr>
              <a:t> </a:t>
            </a:r>
            <a:r>
              <a:rPr lang="en-US" sz="2400" spc="-35" dirty="0" smtClean="0">
                <a:latin typeface="Times New Roman"/>
                <a:cs typeface="Times New Roman"/>
              </a:rPr>
              <a:t>accoutrements</a:t>
            </a:r>
            <a:r>
              <a:rPr lang="en-US" sz="2400" spc="14" dirty="0" smtClean="0">
                <a:latin typeface="Times New Roman"/>
                <a:cs typeface="Times New Roman"/>
              </a:rPr>
              <a:t> </a:t>
            </a:r>
            <a:r>
              <a:rPr lang="en-US" sz="2400" dirty="0" smtClean="0">
                <a:latin typeface="Times New Roman"/>
                <a:cs typeface="Times New Roman"/>
              </a:rPr>
              <a:t>of</a:t>
            </a:r>
            <a:r>
              <a:rPr lang="en-US" sz="2400" spc="20" dirty="0" smtClean="0">
                <a:latin typeface="Times New Roman"/>
                <a:cs typeface="Times New Roman"/>
              </a:rPr>
              <a:t> </a:t>
            </a:r>
            <a:r>
              <a:rPr lang="en-US" sz="2400" spc="-20" dirty="0" smtClean="0">
                <a:latin typeface="Times New Roman"/>
                <a:cs typeface="Times New Roman"/>
              </a:rPr>
              <a:t>hammered</a:t>
            </a:r>
            <a:r>
              <a:rPr lang="en-US" sz="2400" spc="25" dirty="0" smtClean="0">
                <a:latin typeface="Times New Roman"/>
                <a:cs typeface="Times New Roman"/>
              </a:rPr>
              <a:t> </a:t>
            </a:r>
            <a:r>
              <a:rPr lang="en-US" sz="2400" dirty="0" smtClean="0">
                <a:latin typeface="Times New Roman"/>
                <a:cs typeface="Times New Roman"/>
              </a:rPr>
              <a:t>and</a:t>
            </a:r>
            <a:r>
              <a:rPr lang="en-US" sz="2400" spc="20" dirty="0" smtClean="0">
                <a:latin typeface="Times New Roman"/>
                <a:cs typeface="Times New Roman"/>
              </a:rPr>
              <a:t> </a:t>
            </a:r>
            <a:r>
              <a:rPr lang="en-US" sz="2400" dirty="0" smtClean="0">
                <a:latin typeface="Times New Roman"/>
                <a:cs typeface="Times New Roman"/>
              </a:rPr>
              <a:t>sheet</a:t>
            </a:r>
            <a:r>
              <a:rPr lang="en-US" sz="2400" spc="25" dirty="0" smtClean="0">
                <a:latin typeface="Times New Roman"/>
                <a:cs typeface="Times New Roman"/>
              </a:rPr>
              <a:t> </a:t>
            </a:r>
            <a:r>
              <a:rPr lang="en-US" sz="2400" dirty="0" smtClean="0">
                <a:latin typeface="Times New Roman"/>
                <a:cs typeface="Times New Roman"/>
              </a:rPr>
              <a:t>gold.</a:t>
            </a:r>
            <a:r>
              <a:rPr lang="en-US" sz="2400" spc="14" dirty="0" smtClean="0">
                <a:latin typeface="Times New Roman"/>
                <a:cs typeface="Times New Roman"/>
              </a:rPr>
              <a:t> </a:t>
            </a:r>
          </a:p>
          <a:p>
            <a:pPr marL="355591" marR="6349" indent="-342900" algn="just">
              <a:lnSpc>
                <a:spcPct val="150000"/>
              </a:lnSpc>
              <a:spcBef>
                <a:spcPts val="55"/>
              </a:spcBef>
              <a:buFont typeface="Arial" panose="020B0604020202020204" pitchFamily="34" charset="0"/>
              <a:buChar char="•"/>
            </a:pPr>
            <a:r>
              <a:rPr lang="en-US" sz="2400" dirty="0" smtClean="0">
                <a:latin typeface="Times New Roman"/>
                <a:cs typeface="Times New Roman"/>
              </a:rPr>
              <a:t>Some</a:t>
            </a:r>
            <a:r>
              <a:rPr lang="en-US" sz="2400" spc="25" dirty="0" smtClean="0">
                <a:latin typeface="Times New Roman"/>
                <a:cs typeface="Times New Roman"/>
              </a:rPr>
              <a:t> </a:t>
            </a:r>
            <a:r>
              <a:rPr lang="en-US" sz="2400" dirty="0" smtClean="0">
                <a:latin typeface="Times New Roman"/>
                <a:cs typeface="Times New Roman"/>
              </a:rPr>
              <a:t>of</a:t>
            </a:r>
            <a:r>
              <a:rPr lang="en-US" sz="2400" spc="20" dirty="0" smtClean="0">
                <a:latin typeface="Times New Roman"/>
                <a:cs typeface="Times New Roman"/>
              </a:rPr>
              <a:t> </a:t>
            </a:r>
            <a:r>
              <a:rPr lang="en-US" sz="2400" dirty="0" smtClean="0">
                <a:latin typeface="Times New Roman"/>
                <a:cs typeface="Times New Roman"/>
              </a:rPr>
              <a:t>the</a:t>
            </a:r>
            <a:r>
              <a:rPr lang="en-US" sz="2400" spc="20" dirty="0" smtClean="0">
                <a:latin typeface="Times New Roman"/>
                <a:cs typeface="Times New Roman"/>
              </a:rPr>
              <a:t> </a:t>
            </a:r>
            <a:r>
              <a:rPr lang="en-US" sz="2400" dirty="0" smtClean="0">
                <a:latin typeface="Times New Roman"/>
                <a:cs typeface="Times New Roman"/>
              </a:rPr>
              <a:t>most</a:t>
            </a:r>
            <a:r>
              <a:rPr lang="en-US" sz="2400" spc="30" dirty="0" smtClean="0">
                <a:latin typeface="Times New Roman"/>
                <a:cs typeface="Times New Roman"/>
              </a:rPr>
              <a:t> </a:t>
            </a:r>
            <a:r>
              <a:rPr lang="en-US" sz="2400" spc="-20" dirty="0" smtClean="0">
                <a:latin typeface="Times New Roman"/>
                <a:cs typeface="Times New Roman"/>
              </a:rPr>
              <a:t>elegant</a:t>
            </a:r>
            <a:r>
              <a:rPr lang="en-US" sz="2400" spc="14" dirty="0" smtClean="0">
                <a:latin typeface="Times New Roman"/>
                <a:cs typeface="Times New Roman"/>
              </a:rPr>
              <a:t> </a:t>
            </a:r>
            <a:r>
              <a:rPr lang="en-US" sz="2400" dirty="0" smtClean="0">
                <a:latin typeface="Times New Roman"/>
                <a:cs typeface="Times New Roman"/>
              </a:rPr>
              <a:t>gold</a:t>
            </a:r>
            <a:r>
              <a:rPr lang="en-US" sz="2400" spc="25" dirty="0" smtClean="0">
                <a:latin typeface="Times New Roman"/>
                <a:cs typeface="Times New Roman"/>
              </a:rPr>
              <a:t> </a:t>
            </a:r>
            <a:r>
              <a:rPr lang="en-US" sz="2400" spc="-10" dirty="0" smtClean="0">
                <a:latin typeface="Times New Roman"/>
                <a:cs typeface="Times New Roman"/>
              </a:rPr>
              <a:t>vessels</a:t>
            </a:r>
            <a:r>
              <a:rPr lang="en-US" sz="2400" spc="14" dirty="0" smtClean="0">
                <a:latin typeface="Times New Roman"/>
                <a:cs typeface="Times New Roman"/>
              </a:rPr>
              <a:t> </a:t>
            </a:r>
            <a:r>
              <a:rPr lang="en-US" sz="2400" dirty="0" smtClean="0">
                <a:latin typeface="Times New Roman"/>
                <a:cs typeface="Times New Roman"/>
              </a:rPr>
              <a:t>made</a:t>
            </a:r>
            <a:r>
              <a:rPr lang="en-US" sz="2400" spc="20" dirty="0" smtClean="0">
                <a:latin typeface="Times New Roman"/>
                <a:cs typeface="Times New Roman"/>
              </a:rPr>
              <a:t> </a:t>
            </a:r>
            <a:r>
              <a:rPr lang="en-US" sz="2400" dirty="0" smtClean="0">
                <a:latin typeface="Times New Roman"/>
                <a:cs typeface="Times New Roman"/>
              </a:rPr>
              <a:t>by</a:t>
            </a:r>
            <a:r>
              <a:rPr lang="en-US" sz="2400" spc="-4" dirty="0" smtClean="0">
                <a:latin typeface="Times New Roman"/>
                <a:cs typeface="Times New Roman"/>
              </a:rPr>
              <a:t> </a:t>
            </a:r>
            <a:r>
              <a:rPr lang="en-US" sz="2400" spc="-25" dirty="0" smtClean="0">
                <a:latin typeface="Times New Roman"/>
                <a:cs typeface="Times New Roman"/>
              </a:rPr>
              <a:t>the </a:t>
            </a:r>
            <a:r>
              <a:rPr lang="en-US" sz="2400" spc="-35" dirty="0" smtClean="0">
                <a:solidFill>
                  <a:srgbClr val="C00000"/>
                </a:solidFill>
                <a:latin typeface="Times New Roman"/>
                <a:cs typeface="Times New Roman"/>
              </a:rPr>
              <a:t>repousse </a:t>
            </a:r>
            <a:r>
              <a:rPr lang="en-US" sz="2400" spc="-40" dirty="0" smtClean="0">
                <a:solidFill>
                  <a:srgbClr val="C00000"/>
                </a:solidFill>
                <a:latin typeface="Times New Roman"/>
                <a:cs typeface="Times New Roman"/>
              </a:rPr>
              <a:t>technique</a:t>
            </a:r>
            <a:r>
              <a:rPr lang="en-US" sz="2400" spc="-35" dirty="0" smtClean="0">
                <a:solidFill>
                  <a:srgbClr val="C00000"/>
                </a:solidFill>
                <a:latin typeface="Times New Roman"/>
                <a:cs typeface="Times New Roman"/>
              </a:rPr>
              <a:t> </a:t>
            </a:r>
            <a:r>
              <a:rPr lang="en-US" sz="2400" spc="-25" dirty="0" smtClean="0">
                <a:solidFill>
                  <a:srgbClr val="C00000"/>
                </a:solidFill>
                <a:latin typeface="Times New Roman"/>
                <a:cs typeface="Times New Roman"/>
              </a:rPr>
              <a:t>come</a:t>
            </a:r>
            <a:r>
              <a:rPr lang="en-US" sz="2400" spc="-30" dirty="0" smtClean="0">
                <a:solidFill>
                  <a:srgbClr val="C00000"/>
                </a:solidFill>
                <a:latin typeface="Times New Roman"/>
                <a:cs typeface="Times New Roman"/>
              </a:rPr>
              <a:t> </a:t>
            </a:r>
            <a:r>
              <a:rPr lang="en-US" sz="2400" spc="-25" dirty="0" smtClean="0">
                <a:solidFill>
                  <a:srgbClr val="C00000"/>
                </a:solidFill>
                <a:latin typeface="Times New Roman"/>
                <a:cs typeface="Times New Roman"/>
              </a:rPr>
              <a:t>from</a:t>
            </a:r>
            <a:r>
              <a:rPr lang="en-US" sz="2400" spc="-40" dirty="0" smtClean="0">
                <a:solidFill>
                  <a:srgbClr val="C00000"/>
                </a:solidFill>
                <a:latin typeface="Times New Roman"/>
                <a:cs typeface="Times New Roman"/>
              </a:rPr>
              <a:t> Mesopotamia</a:t>
            </a:r>
            <a:r>
              <a:rPr lang="en-US" sz="2400" spc="-35" dirty="0" smtClean="0">
                <a:latin typeface="Times New Roman"/>
                <a:cs typeface="Times New Roman"/>
              </a:rPr>
              <a:t> </a:t>
            </a:r>
            <a:r>
              <a:rPr lang="en-US" sz="2400" spc="-10" dirty="0" smtClean="0">
                <a:latin typeface="Times New Roman"/>
                <a:cs typeface="Times New Roman"/>
              </a:rPr>
              <a:t>(</a:t>
            </a:r>
            <a:r>
              <a:rPr lang="en-US" sz="2400" spc="-40" dirty="0" smtClean="0">
                <a:latin typeface="Times New Roman"/>
                <a:cs typeface="Times New Roman"/>
              </a:rPr>
              <a:t> </a:t>
            </a:r>
            <a:r>
              <a:rPr lang="en-US" sz="2400" spc="-10" dirty="0" smtClean="0">
                <a:latin typeface="Times New Roman"/>
                <a:cs typeface="Times New Roman"/>
              </a:rPr>
              <a:t>2500</a:t>
            </a:r>
            <a:r>
              <a:rPr lang="en-US" sz="2400" spc="-30" dirty="0" smtClean="0">
                <a:latin typeface="Times New Roman"/>
                <a:cs typeface="Times New Roman"/>
              </a:rPr>
              <a:t> </a:t>
            </a:r>
            <a:r>
              <a:rPr lang="en-US" sz="2400" spc="-20" dirty="0" smtClean="0">
                <a:latin typeface="Times New Roman"/>
                <a:cs typeface="Times New Roman"/>
              </a:rPr>
              <a:t>BC).</a:t>
            </a:r>
            <a:r>
              <a:rPr lang="en-US" sz="2400" spc="-35" dirty="0" smtClean="0">
                <a:latin typeface="Times New Roman"/>
                <a:cs typeface="Times New Roman"/>
              </a:rPr>
              <a:t> </a:t>
            </a:r>
          </a:p>
          <a:p>
            <a:pPr marL="12691" marR="6349" indent="342659" algn="just">
              <a:lnSpc>
                <a:spcPct val="150000"/>
              </a:lnSpc>
              <a:spcBef>
                <a:spcPts val="55"/>
              </a:spcBef>
            </a:pPr>
            <a:endParaRPr lang="en-US" sz="2400" dirty="0">
              <a:latin typeface="Times New Roman"/>
              <a:cs typeface="Times New Roman"/>
            </a:endParaRPr>
          </a:p>
        </p:txBody>
      </p:sp>
    </p:spTree>
    <p:extLst>
      <p:ext uri="{BB962C8B-B14F-4D97-AF65-F5344CB8AC3E}">
        <p14:creationId xmlns:p14="http://schemas.microsoft.com/office/powerpoint/2010/main" val="46344102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887509" y="529939"/>
            <a:ext cx="8480612" cy="6199068"/>
          </a:xfrm>
          <a:prstGeom prst="rect">
            <a:avLst/>
          </a:prstGeom>
        </p:spPr>
        <p:txBody>
          <a:bodyPr wrap="square" lIns="91378" tIns="45688" rIns="91378" bIns="45688">
            <a:spAutoFit/>
          </a:bodyPr>
          <a:lstStyle/>
          <a:p>
            <a:pPr marL="355591" marR="6349" indent="-342900" algn="just">
              <a:lnSpc>
                <a:spcPct val="150000"/>
              </a:lnSpc>
              <a:spcBef>
                <a:spcPts val="55"/>
              </a:spcBef>
              <a:buFont typeface="Arial" panose="020B0604020202020204" pitchFamily="34" charset="0"/>
              <a:buChar char="•"/>
            </a:pPr>
            <a:r>
              <a:rPr lang="en-US" sz="2400" spc="-40" dirty="0" smtClean="0">
                <a:latin typeface="Times New Roman"/>
                <a:cs typeface="Times New Roman"/>
              </a:rPr>
              <a:t>Spectacular</a:t>
            </a:r>
            <a:r>
              <a:rPr lang="en-US" sz="2400" spc="-35" dirty="0" smtClean="0">
                <a:latin typeface="Times New Roman"/>
                <a:cs typeface="Times New Roman"/>
              </a:rPr>
              <a:t> </a:t>
            </a:r>
            <a:r>
              <a:rPr lang="en-US" sz="2400" spc="-25" dirty="0">
                <a:latin typeface="Times New Roman"/>
                <a:cs typeface="Times New Roman"/>
              </a:rPr>
              <a:t>gold </a:t>
            </a:r>
            <a:r>
              <a:rPr lang="en-US" sz="2400" spc="-35" dirty="0">
                <a:latin typeface="Times New Roman"/>
                <a:cs typeface="Times New Roman"/>
              </a:rPr>
              <a:t>castings</a:t>
            </a:r>
            <a:r>
              <a:rPr lang="en-US" sz="2400" spc="-30" dirty="0">
                <a:latin typeface="Times New Roman"/>
                <a:cs typeface="Times New Roman"/>
              </a:rPr>
              <a:t> </a:t>
            </a:r>
            <a:r>
              <a:rPr lang="en-US" sz="2400" spc="-10" dirty="0">
                <a:latin typeface="Times New Roman"/>
                <a:cs typeface="Times New Roman"/>
              </a:rPr>
              <a:t>are</a:t>
            </a:r>
            <a:r>
              <a:rPr lang="en-US" sz="2400" spc="-30" dirty="0">
                <a:latin typeface="Times New Roman"/>
                <a:cs typeface="Times New Roman"/>
              </a:rPr>
              <a:t> </a:t>
            </a:r>
            <a:r>
              <a:rPr lang="en-US" sz="2400" spc="-25" dirty="0">
                <a:latin typeface="Times New Roman"/>
                <a:cs typeface="Times New Roman"/>
              </a:rPr>
              <a:t>known</a:t>
            </a:r>
            <a:r>
              <a:rPr lang="en-US" sz="2400" spc="-40" dirty="0">
                <a:latin typeface="Times New Roman"/>
                <a:cs typeface="Times New Roman"/>
              </a:rPr>
              <a:t> </a:t>
            </a:r>
            <a:r>
              <a:rPr lang="en-US" sz="2400" spc="-20" dirty="0">
                <a:latin typeface="Times New Roman"/>
                <a:cs typeface="Times New Roman"/>
              </a:rPr>
              <a:t>from </a:t>
            </a:r>
            <a:r>
              <a:rPr lang="en-US" sz="2400" spc="-30" dirty="0">
                <a:solidFill>
                  <a:srgbClr val="C00000"/>
                </a:solidFill>
                <a:latin typeface="Times New Roman"/>
                <a:cs typeface="Times New Roman"/>
              </a:rPr>
              <a:t>ancient</a:t>
            </a:r>
            <a:r>
              <a:rPr lang="en-US" sz="2400" spc="-25" dirty="0">
                <a:solidFill>
                  <a:srgbClr val="C00000"/>
                </a:solidFill>
                <a:latin typeface="Times New Roman"/>
                <a:cs typeface="Times New Roman"/>
              </a:rPr>
              <a:t> </a:t>
            </a:r>
            <a:r>
              <a:rPr lang="en-US" sz="2400" spc="-35" dirty="0" err="1">
                <a:solidFill>
                  <a:srgbClr val="C00000"/>
                </a:solidFill>
                <a:latin typeface="Times New Roman"/>
                <a:cs typeface="Times New Roman"/>
              </a:rPr>
              <a:t>Pharaohnic</a:t>
            </a:r>
            <a:r>
              <a:rPr lang="en-US" sz="2400" spc="-20" dirty="0">
                <a:solidFill>
                  <a:srgbClr val="C00000"/>
                </a:solidFill>
                <a:latin typeface="Times New Roman"/>
                <a:cs typeface="Times New Roman"/>
              </a:rPr>
              <a:t> </a:t>
            </a:r>
            <a:r>
              <a:rPr lang="en-US" sz="2400" spc="-25" dirty="0">
                <a:solidFill>
                  <a:srgbClr val="C00000"/>
                </a:solidFill>
                <a:latin typeface="Times New Roman"/>
                <a:cs typeface="Times New Roman"/>
              </a:rPr>
              <a:t>Egypt,</a:t>
            </a:r>
            <a:r>
              <a:rPr lang="en-US" sz="2400" spc="-14" dirty="0">
                <a:latin typeface="Times New Roman"/>
                <a:cs typeface="Times New Roman"/>
              </a:rPr>
              <a:t> </a:t>
            </a:r>
            <a:r>
              <a:rPr lang="en-US" sz="2400" dirty="0" smtClean="0">
                <a:latin typeface="Times New Roman"/>
                <a:cs typeface="Times New Roman"/>
              </a:rPr>
              <a:t>such</a:t>
            </a:r>
            <a:r>
              <a:rPr lang="en-US" sz="2400" spc="-14" dirty="0">
                <a:latin typeface="Times New Roman"/>
                <a:cs typeface="Times New Roman"/>
              </a:rPr>
              <a:t> </a:t>
            </a:r>
            <a:r>
              <a:rPr lang="en-US" sz="2400" dirty="0" smtClean="0">
                <a:latin typeface="Times New Roman"/>
                <a:cs typeface="Times New Roman"/>
              </a:rPr>
              <a:t>as</a:t>
            </a:r>
            <a:r>
              <a:rPr lang="en-US" sz="2400" spc="-25" dirty="0">
                <a:latin typeface="Times New Roman"/>
                <a:cs typeface="Times New Roman"/>
              </a:rPr>
              <a:t> </a:t>
            </a:r>
            <a:r>
              <a:rPr lang="en-US" sz="2400" dirty="0" smtClean="0">
                <a:latin typeface="Times New Roman"/>
                <a:cs typeface="Times New Roman"/>
              </a:rPr>
              <a:t>the</a:t>
            </a:r>
            <a:r>
              <a:rPr lang="en-US" sz="2400" spc="-30" dirty="0">
                <a:latin typeface="Times New Roman"/>
                <a:cs typeface="Times New Roman"/>
              </a:rPr>
              <a:t> </a:t>
            </a:r>
            <a:r>
              <a:rPr lang="en-US" sz="2400" spc="-35" dirty="0">
                <a:latin typeface="Times New Roman"/>
                <a:cs typeface="Times New Roman"/>
              </a:rPr>
              <a:t>enigmatic</a:t>
            </a:r>
            <a:r>
              <a:rPr lang="en-US" sz="2400" spc="-30" dirty="0">
                <a:latin typeface="Times New Roman"/>
                <a:cs typeface="Times New Roman"/>
              </a:rPr>
              <a:t> </a:t>
            </a:r>
            <a:r>
              <a:rPr lang="en-US" sz="2400" spc="-10" dirty="0">
                <a:latin typeface="Times New Roman"/>
                <a:cs typeface="Times New Roman"/>
              </a:rPr>
              <a:t>face</a:t>
            </a:r>
            <a:r>
              <a:rPr lang="en-US" sz="2400" spc="-20" dirty="0">
                <a:latin typeface="Times New Roman"/>
                <a:cs typeface="Times New Roman"/>
              </a:rPr>
              <a:t> </a:t>
            </a:r>
            <a:r>
              <a:rPr lang="en-US" sz="2400" dirty="0" smtClean="0">
                <a:latin typeface="Times New Roman"/>
                <a:cs typeface="Times New Roman"/>
              </a:rPr>
              <a:t>of</a:t>
            </a:r>
            <a:r>
              <a:rPr lang="en-US" sz="2400" spc="-25" dirty="0">
                <a:latin typeface="Times New Roman"/>
                <a:cs typeface="Times New Roman"/>
              </a:rPr>
              <a:t> </a:t>
            </a:r>
            <a:r>
              <a:rPr lang="en-US" sz="2400" dirty="0" smtClean="0">
                <a:latin typeface="Times New Roman"/>
                <a:cs typeface="Times New Roman"/>
              </a:rPr>
              <a:t>the</a:t>
            </a:r>
            <a:r>
              <a:rPr lang="en-US" sz="2400" spc="-20" dirty="0">
                <a:latin typeface="Times New Roman"/>
                <a:cs typeface="Times New Roman"/>
              </a:rPr>
              <a:t> young</a:t>
            </a:r>
            <a:r>
              <a:rPr lang="en-US" sz="2400" spc="-25" dirty="0">
                <a:latin typeface="Times New Roman"/>
                <a:cs typeface="Times New Roman"/>
              </a:rPr>
              <a:t> </a:t>
            </a:r>
            <a:r>
              <a:rPr lang="en-US" sz="2400" spc="-30" dirty="0">
                <a:latin typeface="Times New Roman"/>
                <a:cs typeface="Times New Roman"/>
              </a:rPr>
              <a:t>Pharaoh </a:t>
            </a:r>
            <a:r>
              <a:rPr lang="en-US" sz="2400" spc="-40" dirty="0" err="1">
                <a:latin typeface="Times New Roman"/>
                <a:cs typeface="Times New Roman"/>
              </a:rPr>
              <a:t>Tutenkhamen</a:t>
            </a:r>
            <a:r>
              <a:rPr lang="en-US" sz="2400" spc="-14" dirty="0">
                <a:latin typeface="Times New Roman"/>
                <a:cs typeface="Times New Roman"/>
              </a:rPr>
              <a:t> </a:t>
            </a:r>
            <a:r>
              <a:rPr lang="en-US" sz="2400" dirty="0" smtClean="0">
                <a:latin typeface="Times New Roman"/>
                <a:cs typeface="Times New Roman"/>
              </a:rPr>
              <a:t>(</a:t>
            </a:r>
            <a:r>
              <a:rPr lang="en-US" sz="2400" dirty="0" err="1" smtClean="0">
                <a:latin typeface="Times New Roman"/>
                <a:cs typeface="Times New Roman"/>
              </a:rPr>
              <a:t>ca</a:t>
            </a:r>
            <a:r>
              <a:rPr lang="en-US" sz="2400" spc="-30" dirty="0">
                <a:latin typeface="Times New Roman"/>
                <a:cs typeface="Times New Roman"/>
              </a:rPr>
              <a:t> </a:t>
            </a:r>
            <a:r>
              <a:rPr lang="en-US" sz="2400" dirty="0" smtClean="0">
                <a:latin typeface="Times New Roman"/>
                <a:cs typeface="Times New Roman"/>
              </a:rPr>
              <a:t>1300</a:t>
            </a:r>
            <a:r>
              <a:rPr lang="en-US" sz="2400" spc="-25" dirty="0">
                <a:latin typeface="Times New Roman"/>
                <a:cs typeface="Times New Roman"/>
              </a:rPr>
              <a:t> </a:t>
            </a:r>
            <a:r>
              <a:rPr lang="en-US" sz="2400" spc="-20" dirty="0">
                <a:latin typeface="Times New Roman"/>
                <a:cs typeface="Times New Roman"/>
              </a:rPr>
              <a:t>BC). </a:t>
            </a:r>
          </a:p>
          <a:p>
            <a:pPr marL="355591" marR="6349" indent="-342900" algn="just">
              <a:lnSpc>
                <a:spcPct val="150000"/>
              </a:lnSpc>
              <a:spcBef>
                <a:spcPts val="55"/>
              </a:spcBef>
              <a:buFont typeface="Arial" panose="020B0604020202020204" pitchFamily="34" charset="0"/>
              <a:buChar char="•"/>
            </a:pPr>
            <a:r>
              <a:rPr lang="en-US" sz="2400" spc="-20" dirty="0">
                <a:latin typeface="Times New Roman"/>
                <a:cs typeface="Times New Roman"/>
              </a:rPr>
              <a:t>Early</a:t>
            </a:r>
            <a:r>
              <a:rPr lang="en-US" sz="2400" spc="-55" dirty="0">
                <a:latin typeface="Times New Roman"/>
                <a:cs typeface="Times New Roman"/>
              </a:rPr>
              <a:t> </a:t>
            </a:r>
            <a:r>
              <a:rPr lang="en-US" sz="2400" dirty="0" smtClean="0">
                <a:latin typeface="Times New Roman"/>
                <a:cs typeface="Times New Roman"/>
              </a:rPr>
              <a:t>gold</a:t>
            </a:r>
            <a:r>
              <a:rPr lang="en-US" sz="2400" spc="-25" dirty="0">
                <a:latin typeface="Times New Roman"/>
                <a:cs typeface="Times New Roman"/>
              </a:rPr>
              <a:t> </a:t>
            </a:r>
            <a:r>
              <a:rPr lang="en-US" sz="2400" dirty="0" smtClean="0">
                <a:latin typeface="Times New Roman"/>
                <a:cs typeface="Times New Roman"/>
              </a:rPr>
              <a:t>and</a:t>
            </a:r>
            <a:r>
              <a:rPr lang="en-US" sz="2400" spc="-35" dirty="0">
                <a:latin typeface="Times New Roman"/>
                <a:cs typeface="Times New Roman"/>
              </a:rPr>
              <a:t> </a:t>
            </a:r>
            <a:r>
              <a:rPr lang="en-US" sz="2400" spc="-20" dirty="0">
                <a:latin typeface="Times New Roman"/>
                <a:cs typeface="Times New Roman"/>
              </a:rPr>
              <a:t>silver</a:t>
            </a:r>
            <a:r>
              <a:rPr lang="en-US" sz="2400" spc="-45" dirty="0">
                <a:latin typeface="Times New Roman"/>
                <a:cs typeface="Times New Roman"/>
              </a:rPr>
              <a:t> </a:t>
            </a:r>
            <a:r>
              <a:rPr lang="en-US" sz="2400" spc="-30" dirty="0">
                <a:latin typeface="Times New Roman"/>
                <a:cs typeface="Times New Roman"/>
              </a:rPr>
              <a:t>ornaments </a:t>
            </a:r>
            <a:r>
              <a:rPr lang="en-US" sz="2400" dirty="0" smtClean="0">
                <a:latin typeface="Times New Roman"/>
                <a:cs typeface="Times New Roman"/>
              </a:rPr>
              <a:t>from</a:t>
            </a:r>
            <a:r>
              <a:rPr lang="en-US" sz="2400" spc="-30" dirty="0">
                <a:latin typeface="Times New Roman"/>
                <a:cs typeface="Times New Roman"/>
              </a:rPr>
              <a:t> </a:t>
            </a:r>
            <a:r>
              <a:rPr lang="en-US" sz="2400" dirty="0" smtClean="0">
                <a:latin typeface="Times New Roman"/>
                <a:cs typeface="Times New Roman"/>
              </a:rPr>
              <a:t>the</a:t>
            </a:r>
            <a:r>
              <a:rPr lang="en-US" sz="2400" spc="-40" dirty="0">
                <a:latin typeface="Times New Roman"/>
                <a:cs typeface="Times New Roman"/>
              </a:rPr>
              <a:t> </a:t>
            </a:r>
            <a:r>
              <a:rPr lang="en-US" sz="2400" spc="-20" dirty="0">
                <a:latin typeface="Times New Roman"/>
                <a:cs typeface="Times New Roman"/>
              </a:rPr>
              <a:t>Indian</a:t>
            </a:r>
            <a:r>
              <a:rPr lang="en-US" sz="2400" spc="-30" dirty="0">
                <a:latin typeface="Times New Roman"/>
                <a:cs typeface="Times New Roman"/>
              </a:rPr>
              <a:t> </a:t>
            </a:r>
            <a:r>
              <a:rPr lang="en-US" sz="2400" spc="-35" dirty="0">
                <a:latin typeface="Times New Roman"/>
                <a:cs typeface="Times New Roman"/>
              </a:rPr>
              <a:t>subcontinent</a:t>
            </a:r>
            <a:r>
              <a:rPr lang="en-US" sz="2400" spc="-30" dirty="0">
                <a:latin typeface="Times New Roman"/>
                <a:cs typeface="Times New Roman"/>
              </a:rPr>
              <a:t> </a:t>
            </a:r>
            <a:r>
              <a:rPr lang="en-US" sz="2400" dirty="0" smtClean="0">
                <a:latin typeface="Times New Roman"/>
                <a:cs typeface="Times New Roman"/>
              </a:rPr>
              <a:t>are</a:t>
            </a:r>
            <a:r>
              <a:rPr lang="en-US" sz="2400" spc="-30" dirty="0">
                <a:latin typeface="Times New Roman"/>
                <a:cs typeface="Times New Roman"/>
              </a:rPr>
              <a:t> </a:t>
            </a:r>
            <a:r>
              <a:rPr lang="en-US" sz="2400" spc="-10" dirty="0">
                <a:latin typeface="Times New Roman"/>
                <a:cs typeface="Times New Roman"/>
              </a:rPr>
              <a:t>found</a:t>
            </a:r>
            <a:r>
              <a:rPr lang="en-US" sz="2400" spc="-30" dirty="0">
                <a:latin typeface="Times New Roman"/>
                <a:cs typeface="Times New Roman"/>
              </a:rPr>
              <a:t> </a:t>
            </a:r>
            <a:r>
              <a:rPr lang="en-US" sz="2400" dirty="0" smtClean="0">
                <a:latin typeface="Times New Roman"/>
                <a:cs typeface="Times New Roman"/>
              </a:rPr>
              <a:t>from</a:t>
            </a:r>
            <a:r>
              <a:rPr lang="en-US" sz="2400" spc="-30" dirty="0">
                <a:latin typeface="Times New Roman"/>
                <a:cs typeface="Times New Roman"/>
              </a:rPr>
              <a:t> </a:t>
            </a:r>
            <a:r>
              <a:rPr lang="en-US" sz="2400" spc="-10" dirty="0">
                <a:solidFill>
                  <a:srgbClr val="C00000"/>
                </a:solidFill>
                <a:latin typeface="Times New Roman"/>
                <a:cs typeface="Times New Roman"/>
              </a:rPr>
              <a:t>Indus</a:t>
            </a:r>
            <a:r>
              <a:rPr lang="en-US" sz="2400" spc="-35" dirty="0">
                <a:solidFill>
                  <a:srgbClr val="C00000"/>
                </a:solidFill>
                <a:latin typeface="Times New Roman"/>
                <a:cs typeface="Times New Roman"/>
              </a:rPr>
              <a:t> </a:t>
            </a:r>
            <a:r>
              <a:rPr lang="en-US" sz="2400" spc="-25" dirty="0">
                <a:solidFill>
                  <a:srgbClr val="C00000"/>
                </a:solidFill>
                <a:latin typeface="Times New Roman"/>
                <a:cs typeface="Times New Roman"/>
              </a:rPr>
              <a:t>Valley</a:t>
            </a:r>
            <a:r>
              <a:rPr lang="en-US" sz="2400" spc="-50" dirty="0">
                <a:solidFill>
                  <a:srgbClr val="C00000"/>
                </a:solidFill>
                <a:latin typeface="Times New Roman"/>
                <a:cs typeface="Times New Roman"/>
              </a:rPr>
              <a:t> </a:t>
            </a:r>
            <a:r>
              <a:rPr lang="en-US" sz="2400" spc="-10" dirty="0">
                <a:solidFill>
                  <a:srgbClr val="C00000"/>
                </a:solidFill>
                <a:latin typeface="Times New Roman"/>
                <a:cs typeface="Times New Roman"/>
              </a:rPr>
              <a:t>sites</a:t>
            </a:r>
            <a:r>
              <a:rPr lang="en-US" sz="2400" spc="-35" dirty="0">
                <a:solidFill>
                  <a:srgbClr val="C00000"/>
                </a:solidFill>
                <a:latin typeface="Times New Roman"/>
                <a:cs typeface="Times New Roman"/>
              </a:rPr>
              <a:t> </a:t>
            </a:r>
            <a:r>
              <a:rPr lang="en-US" sz="2400" dirty="0" smtClean="0">
                <a:solidFill>
                  <a:srgbClr val="C00000"/>
                </a:solidFill>
                <a:latin typeface="Times New Roman"/>
                <a:cs typeface="Times New Roman"/>
              </a:rPr>
              <a:t>such</a:t>
            </a:r>
            <a:r>
              <a:rPr lang="en-US" sz="2400" spc="-30" dirty="0">
                <a:solidFill>
                  <a:srgbClr val="C00000"/>
                </a:solidFill>
                <a:latin typeface="Times New Roman"/>
                <a:cs typeface="Times New Roman"/>
              </a:rPr>
              <a:t> </a:t>
            </a:r>
            <a:r>
              <a:rPr lang="en-US" sz="2400" spc="-25" dirty="0">
                <a:solidFill>
                  <a:srgbClr val="C00000"/>
                </a:solidFill>
                <a:latin typeface="Times New Roman"/>
                <a:cs typeface="Times New Roman"/>
              </a:rPr>
              <a:t>as </a:t>
            </a:r>
            <a:r>
              <a:rPr lang="en-US" sz="2400" spc="-50" dirty="0" err="1">
                <a:solidFill>
                  <a:srgbClr val="C00000"/>
                </a:solidFill>
                <a:latin typeface="Times New Roman"/>
                <a:cs typeface="Times New Roman"/>
              </a:rPr>
              <a:t>Mohenjodaro</a:t>
            </a:r>
            <a:r>
              <a:rPr lang="en-US" sz="2400" spc="-40" dirty="0">
                <a:solidFill>
                  <a:srgbClr val="C00000"/>
                </a:solidFill>
                <a:latin typeface="Times New Roman"/>
                <a:cs typeface="Times New Roman"/>
              </a:rPr>
              <a:t> </a:t>
            </a:r>
            <a:r>
              <a:rPr lang="en-US" sz="2400" spc="-40" dirty="0">
                <a:latin typeface="Times New Roman"/>
                <a:cs typeface="Times New Roman"/>
              </a:rPr>
              <a:t>(</a:t>
            </a:r>
            <a:r>
              <a:rPr lang="en-US" sz="2400" spc="-40" dirty="0" err="1">
                <a:latin typeface="Times New Roman"/>
                <a:cs typeface="Times New Roman"/>
              </a:rPr>
              <a:t>ca</a:t>
            </a:r>
            <a:r>
              <a:rPr lang="en-US" sz="2400" spc="-55" dirty="0">
                <a:latin typeface="Times New Roman"/>
                <a:cs typeface="Times New Roman"/>
              </a:rPr>
              <a:t> </a:t>
            </a:r>
            <a:r>
              <a:rPr lang="en-US" sz="2400" spc="-40" dirty="0">
                <a:latin typeface="Times New Roman"/>
                <a:cs typeface="Times New Roman"/>
              </a:rPr>
              <a:t>3000 BC). </a:t>
            </a:r>
            <a:r>
              <a:rPr lang="en-US" sz="2400" spc="-45" dirty="0">
                <a:latin typeface="Times New Roman"/>
                <a:cs typeface="Times New Roman"/>
              </a:rPr>
              <a:t>These </a:t>
            </a:r>
            <a:r>
              <a:rPr lang="en-US" sz="2400" spc="-40" dirty="0">
                <a:latin typeface="Times New Roman"/>
                <a:cs typeface="Times New Roman"/>
              </a:rPr>
              <a:t>are</a:t>
            </a:r>
            <a:r>
              <a:rPr lang="en-US" sz="2400" spc="-45" dirty="0">
                <a:latin typeface="Times New Roman"/>
                <a:cs typeface="Times New Roman"/>
              </a:rPr>
              <a:t> </a:t>
            </a:r>
            <a:r>
              <a:rPr lang="en-US" sz="2400" spc="-25" dirty="0">
                <a:latin typeface="Times New Roman"/>
                <a:cs typeface="Times New Roman"/>
              </a:rPr>
              <a:t>on</a:t>
            </a:r>
            <a:r>
              <a:rPr lang="en-US" sz="2400" spc="-35" dirty="0">
                <a:latin typeface="Times New Roman"/>
                <a:cs typeface="Times New Roman"/>
              </a:rPr>
              <a:t> </a:t>
            </a:r>
            <a:r>
              <a:rPr lang="en-US" sz="2400" spc="-45" dirty="0">
                <a:latin typeface="Times New Roman"/>
                <a:cs typeface="Times New Roman"/>
              </a:rPr>
              <a:t>display</a:t>
            </a:r>
            <a:r>
              <a:rPr lang="en-US" sz="2400" spc="-80" dirty="0">
                <a:latin typeface="Times New Roman"/>
                <a:cs typeface="Times New Roman"/>
              </a:rPr>
              <a:t> </a:t>
            </a:r>
            <a:r>
              <a:rPr lang="en-US" sz="2400" spc="-30" dirty="0">
                <a:latin typeface="Times New Roman"/>
                <a:cs typeface="Times New Roman"/>
              </a:rPr>
              <a:t>in</a:t>
            </a:r>
            <a:r>
              <a:rPr lang="en-US" sz="2400" spc="-40" dirty="0">
                <a:latin typeface="Times New Roman"/>
                <a:cs typeface="Times New Roman"/>
              </a:rPr>
              <a:t> the</a:t>
            </a:r>
            <a:r>
              <a:rPr lang="en-US" sz="2400" spc="-45" dirty="0">
                <a:latin typeface="Times New Roman"/>
                <a:cs typeface="Times New Roman"/>
              </a:rPr>
              <a:t> </a:t>
            </a:r>
            <a:r>
              <a:rPr lang="en-US" sz="2400" spc="-50" dirty="0">
                <a:solidFill>
                  <a:srgbClr val="C00000"/>
                </a:solidFill>
                <a:latin typeface="Times New Roman"/>
                <a:cs typeface="Times New Roman"/>
              </a:rPr>
              <a:t>National</a:t>
            </a:r>
            <a:r>
              <a:rPr lang="en-US" sz="2400" spc="-35" dirty="0">
                <a:solidFill>
                  <a:srgbClr val="C00000"/>
                </a:solidFill>
                <a:latin typeface="Times New Roman"/>
                <a:cs typeface="Times New Roman"/>
              </a:rPr>
              <a:t> </a:t>
            </a:r>
            <a:r>
              <a:rPr lang="en-US" sz="2400" spc="-45" dirty="0">
                <a:solidFill>
                  <a:srgbClr val="C00000"/>
                </a:solidFill>
                <a:latin typeface="Times New Roman"/>
                <a:cs typeface="Times New Roman"/>
              </a:rPr>
              <a:t>Museum,</a:t>
            </a:r>
            <a:r>
              <a:rPr lang="en-US" sz="2400" spc="-50" dirty="0">
                <a:solidFill>
                  <a:srgbClr val="C00000"/>
                </a:solidFill>
                <a:latin typeface="Times New Roman"/>
                <a:cs typeface="Times New Roman"/>
              </a:rPr>
              <a:t> </a:t>
            </a:r>
            <a:r>
              <a:rPr lang="en-US" sz="2400" spc="-40" dirty="0">
                <a:solidFill>
                  <a:srgbClr val="C00000"/>
                </a:solidFill>
                <a:latin typeface="Times New Roman"/>
                <a:cs typeface="Times New Roman"/>
              </a:rPr>
              <a:t>New</a:t>
            </a:r>
            <a:r>
              <a:rPr lang="en-US" sz="2400" spc="-55" dirty="0">
                <a:solidFill>
                  <a:srgbClr val="C00000"/>
                </a:solidFill>
                <a:latin typeface="Times New Roman"/>
                <a:cs typeface="Times New Roman"/>
              </a:rPr>
              <a:t> </a:t>
            </a:r>
            <a:r>
              <a:rPr lang="en-US" sz="2400" spc="-10" dirty="0">
                <a:solidFill>
                  <a:srgbClr val="C00000"/>
                </a:solidFill>
                <a:latin typeface="Times New Roman"/>
                <a:cs typeface="Times New Roman"/>
              </a:rPr>
              <a:t>Delhi</a:t>
            </a:r>
            <a:r>
              <a:rPr lang="en-US" sz="2400" spc="-10" dirty="0">
                <a:latin typeface="Times New Roman"/>
                <a:cs typeface="Times New Roman"/>
              </a:rPr>
              <a:t>.</a:t>
            </a:r>
          </a:p>
          <a:p>
            <a:pPr marL="355591" marR="5080" indent="-342900" algn="just">
              <a:lnSpc>
                <a:spcPct val="150000"/>
              </a:lnSpc>
              <a:buFont typeface="Arial" panose="020B0604020202020204" pitchFamily="34" charset="0"/>
              <a:buChar char="•"/>
            </a:pPr>
            <a:r>
              <a:rPr lang="en-US" sz="2400" dirty="0" smtClean="0">
                <a:latin typeface="Times New Roman"/>
                <a:cs typeface="Times New Roman"/>
              </a:rPr>
              <a:t>In</a:t>
            </a:r>
            <a:r>
              <a:rPr lang="en-US" sz="2400" spc="-25" dirty="0">
                <a:latin typeface="Times New Roman"/>
                <a:cs typeface="Times New Roman"/>
              </a:rPr>
              <a:t> </a:t>
            </a:r>
            <a:r>
              <a:rPr lang="en-US" sz="2400" spc="-35" dirty="0">
                <a:latin typeface="Times New Roman"/>
                <a:cs typeface="Times New Roman"/>
              </a:rPr>
              <a:t>antiquity</a:t>
            </a:r>
            <a:r>
              <a:rPr lang="en-US" sz="2400" spc="-40" dirty="0">
                <a:latin typeface="Times New Roman"/>
                <a:cs typeface="Times New Roman"/>
              </a:rPr>
              <a:t> </a:t>
            </a:r>
            <a:r>
              <a:rPr lang="en-US" sz="2400" spc="-10" dirty="0">
                <a:latin typeface="Times New Roman"/>
                <a:cs typeface="Times New Roman"/>
              </a:rPr>
              <a:t>gold</a:t>
            </a:r>
            <a:r>
              <a:rPr lang="en-US" sz="2400" spc="-14" dirty="0">
                <a:latin typeface="Times New Roman"/>
                <a:cs typeface="Times New Roman"/>
              </a:rPr>
              <a:t> </a:t>
            </a:r>
            <a:r>
              <a:rPr lang="en-US" sz="2400" spc="-20" dirty="0">
                <a:latin typeface="Times New Roman"/>
                <a:cs typeface="Times New Roman"/>
              </a:rPr>
              <a:t>would </a:t>
            </a:r>
            <a:r>
              <a:rPr lang="en-US" sz="2400" spc="-35" dirty="0">
                <a:latin typeface="Times New Roman"/>
                <a:cs typeface="Times New Roman"/>
              </a:rPr>
              <a:t>usually</a:t>
            </a:r>
            <a:r>
              <a:rPr lang="en-US" sz="2400" spc="-40" dirty="0">
                <a:latin typeface="Times New Roman"/>
                <a:cs typeface="Times New Roman"/>
              </a:rPr>
              <a:t> </a:t>
            </a:r>
            <a:r>
              <a:rPr lang="en-US" sz="2400" spc="-10" dirty="0">
                <a:latin typeface="Times New Roman"/>
                <a:cs typeface="Times New Roman"/>
              </a:rPr>
              <a:t>have</a:t>
            </a:r>
            <a:r>
              <a:rPr lang="en-US" sz="2400" spc="-20" dirty="0">
                <a:latin typeface="Times New Roman"/>
                <a:cs typeface="Times New Roman"/>
              </a:rPr>
              <a:t> </a:t>
            </a:r>
            <a:r>
              <a:rPr lang="en-US" sz="2400" spc="-10" dirty="0">
                <a:latin typeface="Times New Roman"/>
                <a:cs typeface="Times New Roman"/>
              </a:rPr>
              <a:t>been</a:t>
            </a:r>
            <a:r>
              <a:rPr lang="en-US" sz="2400" spc="-20" dirty="0">
                <a:latin typeface="Times New Roman"/>
                <a:cs typeface="Times New Roman"/>
              </a:rPr>
              <a:t> </a:t>
            </a:r>
            <a:r>
              <a:rPr lang="en-US" sz="2400" spc="-40" dirty="0">
                <a:latin typeface="Times New Roman"/>
                <a:cs typeface="Times New Roman"/>
              </a:rPr>
              <a:t>collected</a:t>
            </a:r>
            <a:r>
              <a:rPr lang="en-US" sz="2400" spc="-30" dirty="0">
                <a:latin typeface="Times New Roman"/>
                <a:cs typeface="Times New Roman"/>
              </a:rPr>
              <a:t> </a:t>
            </a:r>
            <a:r>
              <a:rPr lang="en-US" sz="2400" dirty="0" smtClean="0">
                <a:latin typeface="Times New Roman"/>
                <a:cs typeface="Times New Roman"/>
              </a:rPr>
              <a:t>by</a:t>
            </a:r>
            <a:r>
              <a:rPr lang="en-US" sz="2400" spc="-45" dirty="0">
                <a:latin typeface="Times New Roman"/>
                <a:cs typeface="Times New Roman"/>
              </a:rPr>
              <a:t> </a:t>
            </a:r>
            <a:r>
              <a:rPr lang="en-US" sz="2400" spc="-30" dirty="0">
                <a:solidFill>
                  <a:srgbClr val="C00000"/>
                </a:solidFill>
                <a:latin typeface="Times New Roman"/>
                <a:cs typeface="Times New Roman"/>
              </a:rPr>
              <a:t>panning </a:t>
            </a:r>
            <a:r>
              <a:rPr lang="en-US" sz="2400" spc="-35" dirty="0">
                <a:solidFill>
                  <a:srgbClr val="C00000"/>
                </a:solidFill>
                <a:latin typeface="Times New Roman"/>
                <a:cs typeface="Times New Roman"/>
              </a:rPr>
              <a:t>alluvial</a:t>
            </a:r>
            <a:r>
              <a:rPr lang="en-US" sz="2400" spc="-25" dirty="0">
                <a:solidFill>
                  <a:srgbClr val="C00000"/>
                </a:solidFill>
                <a:latin typeface="Times New Roman"/>
                <a:cs typeface="Times New Roman"/>
              </a:rPr>
              <a:t> </a:t>
            </a:r>
            <a:r>
              <a:rPr lang="en-US" sz="2400" spc="-20" dirty="0">
                <a:solidFill>
                  <a:srgbClr val="C00000"/>
                </a:solidFill>
                <a:latin typeface="Times New Roman"/>
                <a:cs typeface="Times New Roman"/>
              </a:rPr>
              <a:t>sands</a:t>
            </a:r>
            <a:r>
              <a:rPr lang="en-US" sz="2400" spc="-25" dirty="0">
                <a:solidFill>
                  <a:srgbClr val="C00000"/>
                </a:solidFill>
                <a:latin typeface="Times New Roman"/>
                <a:cs typeface="Times New Roman"/>
              </a:rPr>
              <a:t> </a:t>
            </a:r>
            <a:r>
              <a:rPr lang="en-US" sz="2400" spc="-10" dirty="0">
                <a:solidFill>
                  <a:srgbClr val="C00000"/>
                </a:solidFill>
                <a:latin typeface="Times New Roman"/>
                <a:cs typeface="Times New Roman"/>
              </a:rPr>
              <a:t>from</a:t>
            </a:r>
            <a:r>
              <a:rPr lang="en-US" sz="2400" spc="-14" dirty="0">
                <a:solidFill>
                  <a:srgbClr val="C00000"/>
                </a:solidFill>
                <a:latin typeface="Times New Roman"/>
                <a:cs typeface="Times New Roman"/>
              </a:rPr>
              <a:t> </a:t>
            </a:r>
            <a:r>
              <a:rPr lang="en-US" sz="2400" spc="-30" dirty="0">
                <a:solidFill>
                  <a:srgbClr val="C00000"/>
                </a:solidFill>
                <a:latin typeface="Times New Roman"/>
                <a:cs typeface="Times New Roman"/>
              </a:rPr>
              <a:t>placer</a:t>
            </a:r>
            <a:r>
              <a:rPr lang="en-US" sz="2400" spc="-25" dirty="0">
                <a:solidFill>
                  <a:srgbClr val="C00000"/>
                </a:solidFill>
                <a:latin typeface="Times New Roman"/>
                <a:cs typeface="Times New Roman"/>
              </a:rPr>
              <a:t> </a:t>
            </a:r>
            <a:r>
              <a:rPr lang="en-US" sz="2400" spc="-10" dirty="0">
                <a:solidFill>
                  <a:srgbClr val="C00000"/>
                </a:solidFill>
                <a:latin typeface="Times New Roman"/>
                <a:cs typeface="Times New Roman"/>
              </a:rPr>
              <a:t>deposits. </a:t>
            </a:r>
          </a:p>
          <a:p>
            <a:pPr marL="355591" marR="5080" indent="-342900" algn="just">
              <a:lnSpc>
                <a:spcPct val="150000"/>
              </a:lnSpc>
              <a:buFont typeface="Arial" panose="020B0604020202020204" pitchFamily="34" charset="0"/>
              <a:buChar char="•"/>
            </a:pPr>
            <a:r>
              <a:rPr lang="en-US" sz="2400" spc="-40" dirty="0">
                <a:latin typeface="Times New Roman"/>
                <a:cs typeface="Times New Roman"/>
              </a:rPr>
              <a:t>However</a:t>
            </a:r>
            <a:r>
              <a:rPr lang="en-US" sz="2400" spc="-30" dirty="0">
                <a:latin typeface="Times New Roman"/>
                <a:cs typeface="Times New Roman"/>
              </a:rPr>
              <a:t> </a:t>
            </a:r>
            <a:r>
              <a:rPr lang="en-US" sz="2400" spc="-40" dirty="0">
                <a:latin typeface="Times New Roman"/>
                <a:cs typeface="Times New Roman"/>
              </a:rPr>
              <a:t>India</a:t>
            </a:r>
            <a:r>
              <a:rPr lang="en-US" sz="2400" dirty="0" smtClean="0">
                <a:latin typeface="Times New Roman"/>
                <a:cs typeface="Times New Roman"/>
              </a:rPr>
              <a:t> </a:t>
            </a:r>
            <a:r>
              <a:rPr lang="en-US" sz="2400" spc="-40" dirty="0">
                <a:latin typeface="Times New Roman"/>
                <a:cs typeface="Times New Roman"/>
              </a:rPr>
              <a:t>has</a:t>
            </a:r>
            <a:r>
              <a:rPr lang="en-US" sz="2400" spc="-25" dirty="0">
                <a:latin typeface="Times New Roman"/>
                <a:cs typeface="Times New Roman"/>
              </a:rPr>
              <a:t> </a:t>
            </a:r>
            <a:r>
              <a:rPr lang="en-US" sz="2400" spc="-35" dirty="0">
                <a:latin typeface="Times New Roman"/>
                <a:cs typeface="Times New Roman"/>
              </a:rPr>
              <a:t>the</a:t>
            </a:r>
            <a:r>
              <a:rPr lang="en-US" sz="2400" spc="-20" dirty="0">
                <a:latin typeface="Times New Roman"/>
                <a:cs typeface="Times New Roman"/>
              </a:rPr>
              <a:t> </a:t>
            </a:r>
            <a:r>
              <a:rPr lang="en-US" sz="2400" spc="-50" dirty="0">
                <a:latin typeface="Times New Roman"/>
                <a:cs typeface="Times New Roman"/>
              </a:rPr>
              <a:t>distinction</a:t>
            </a:r>
            <a:r>
              <a:rPr lang="en-US" sz="2400" spc="-14" dirty="0">
                <a:latin typeface="Times New Roman"/>
                <a:cs typeface="Times New Roman"/>
              </a:rPr>
              <a:t> </a:t>
            </a:r>
            <a:r>
              <a:rPr lang="en-US" sz="2400" spc="-45" dirty="0">
                <a:latin typeface="Times New Roman"/>
                <a:cs typeface="Times New Roman"/>
              </a:rPr>
              <a:t>that</a:t>
            </a:r>
            <a:r>
              <a:rPr lang="en-US" sz="2400" spc="-10" dirty="0">
                <a:latin typeface="Times New Roman"/>
                <a:cs typeface="Times New Roman"/>
              </a:rPr>
              <a:t> </a:t>
            </a:r>
            <a:r>
              <a:rPr lang="en-US" sz="2400" spc="-40" dirty="0">
                <a:latin typeface="Times New Roman"/>
                <a:cs typeface="Times New Roman"/>
              </a:rPr>
              <a:t>the</a:t>
            </a:r>
            <a:r>
              <a:rPr lang="en-US" sz="2400" spc="-30" dirty="0">
                <a:latin typeface="Times New Roman"/>
                <a:cs typeface="Times New Roman"/>
              </a:rPr>
              <a:t> </a:t>
            </a:r>
            <a:r>
              <a:rPr lang="en-US" sz="2400" spc="-40" dirty="0">
                <a:latin typeface="Times New Roman"/>
                <a:cs typeface="Times New Roman"/>
              </a:rPr>
              <a:t>deepest</a:t>
            </a:r>
            <a:r>
              <a:rPr lang="en-US" sz="2400" dirty="0" smtClean="0">
                <a:latin typeface="Times New Roman"/>
                <a:cs typeface="Times New Roman"/>
              </a:rPr>
              <a:t> </a:t>
            </a:r>
            <a:r>
              <a:rPr lang="en-US" sz="2400" spc="-55" dirty="0">
                <a:latin typeface="Times New Roman"/>
                <a:cs typeface="Times New Roman"/>
              </a:rPr>
              <a:t>ancient</a:t>
            </a:r>
            <a:r>
              <a:rPr lang="en-US" sz="2400" spc="-20" dirty="0">
                <a:latin typeface="Times New Roman"/>
                <a:cs typeface="Times New Roman"/>
              </a:rPr>
              <a:t> </a:t>
            </a:r>
            <a:r>
              <a:rPr lang="en-US" sz="2400" spc="-40" dirty="0">
                <a:latin typeface="Times New Roman"/>
                <a:cs typeface="Times New Roman"/>
              </a:rPr>
              <a:t>mines</a:t>
            </a:r>
            <a:r>
              <a:rPr lang="en-US" sz="2400" spc="-14" dirty="0">
                <a:latin typeface="Times New Roman"/>
                <a:cs typeface="Times New Roman"/>
              </a:rPr>
              <a:t> </a:t>
            </a:r>
            <a:r>
              <a:rPr lang="en-US" sz="2400" spc="-30" dirty="0">
                <a:latin typeface="Times New Roman"/>
                <a:cs typeface="Times New Roman"/>
              </a:rPr>
              <a:t>in</a:t>
            </a:r>
            <a:r>
              <a:rPr lang="en-US" sz="2400" spc="-14" dirty="0">
                <a:latin typeface="Times New Roman"/>
                <a:cs typeface="Times New Roman"/>
              </a:rPr>
              <a:t> </a:t>
            </a:r>
            <a:r>
              <a:rPr lang="en-US" sz="2400" spc="-35" dirty="0">
                <a:latin typeface="Times New Roman"/>
                <a:cs typeface="Times New Roman"/>
              </a:rPr>
              <a:t>the</a:t>
            </a:r>
            <a:r>
              <a:rPr lang="en-US" sz="2400" spc="-20" dirty="0">
                <a:latin typeface="Times New Roman"/>
                <a:cs typeface="Times New Roman"/>
              </a:rPr>
              <a:t> </a:t>
            </a:r>
            <a:r>
              <a:rPr lang="en-US" sz="2400" spc="-45" dirty="0">
                <a:latin typeface="Times New Roman"/>
                <a:cs typeface="Times New Roman"/>
              </a:rPr>
              <a:t>world</a:t>
            </a:r>
            <a:r>
              <a:rPr lang="en-US" sz="2400" spc="-10" dirty="0">
                <a:latin typeface="Times New Roman"/>
                <a:cs typeface="Times New Roman"/>
              </a:rPr>
              <a:t> </a:t>
            </a:r>
            <a:r>
              <a:rPr lang="en-US" sz="2400" spc="-40" dirty="0">
                <a:latin typeface="Times New Roman"/>
                <a:cs typeface="Times New Roman"/>
              </a:rPr>
              <a:t>for</a:t>
            </a:r>
            <a:r>
              <a:rPr lang="en-US" sz="2400" spc="-14" dirty="0">
                <a:latin typeface="Times New Roman"/>
                <a:cs typeface="Times New Roman"/>
              </a:rPr>
              <a:t> </a:t>
            </a:r>
            <a:r>
              <a:rPr lang="en-US" sz="2400" spc="-30" dirty="0">
                <a:latin typeface="Times New Roman"/>
                <a:cs typeface="Times New Roman"/>
              </a:rPr>
              <a:t>gold</a:t>
            </a:r>
            <a:r>
              <a:rPr lang="en-US" sz="2400" spc="-4" dirty="0">
                <a:latin typeface="Times New Roman"/>
                <a:cs typeface="Times New Roman"/>
              </a:rPr>
              <a:t> </a:t>
            </a:r>
            <a:r>
              <a:rPr lang="en-US" sz="2400" spc="-50" dirty="0">
                <a:latin typeface="Times New Roman"/>
                <a:cs typeface="Times New Roman"/>
              </a:rPr>
              <a:t>come</a:t>
            </a:r>
            <a:r>
              <a:rPr lang="en-US" sz="2400" spc="-20" dirty="0">
                <a:latin typeface="Times New Roman"/>
                <a:cs typeface="Times New Roman"/>
              </a:rPr>
              <a:t> </a:t>
            </a:r>
            <a:r>
              <a:rPr lang="en-US" sz="2400" spc="-45" dirty="0">
                <a:latin typeface="Times New Roman"/>
                <a:cs typeface="Times New Roman"/>
              </a:rPr>
              <a:t>from</a:t>
            </a:r>
            <a:r>
              <a:rPr lang="en-US" sz="2400" spc="-10" dirty="0">
                <a:latin typeface="Times New Roman"/>
                <a:cs typeface="Times New Roman"/>
              </a:rPr>
              <a:t> </a:t>
            </a:r>
            <a:r>
              <a:rPr lang="en-US" sz="2400" spc="-40" dirty="0">
                <a:latin typeface="Times New Roman"/>
                <a:cs typeface="Times New Roman"/>
              </a:rPr>
              <a:t>the</a:t>
            </a:r>
            <a:r>
              <a:rPr lang="en-US" sz="2400" spc="-20" dirty="0">
                <a:latin typeface="Times New Roman"/>
                <a:cs typeface="Times New Roman"/>
              </a:rPr>
              <a:t> </a:t>
            </a:r>
            <a:r>
              <a:rPr lang="en-US" sz="2400" spc="-10" dirty="0" err="1">
                <a:solidFill>
                  <a:srgbClr val="C00000"/>
                </a:solidFill>
                <a:latin typeface="Times New Roman"/>
                <a:cs typeface="Times New Roman"/>
              </a:rPr>
              <a:t>Maski</a:t>
            </a:r>
            <a:r>
              <a:rPr lang="en-US" sz="2400" spc="-10" dirty="0">
                <a:solidFill>
                  <a:srgbClr val="C00000"/>
                </a:solidFill>
                <a:latin typeface="Times New Roman"/>
                <a:cs typeface="Times New Roman"/>
              </a:rPr>
              <a:t> </a:t>
            </a:r>
            <a:r>
              <a:rPr lang="en-US" sz="2400" dirty="0" smtClean="0">
                <a:solidFill>
                  <a:srgbClr val="C00000"/>
                </a:solidFill>
                <a:latin typeface="Times New Roman"/>
                <a:cs typeface="Times New Roman"/>
              </a:rPr>
              <a:t>region</a:t>
            </a:r>
            <a:r>
              <a:rPr lang="en-US" sz="2400" spc="25" dirty="0">
                <a:solidFill>
                  <a:srgbClr val="C00000"/>
                </a:solidFill>
                <a:latin typeface="Times New Roman"/>
                <a:cs typeface="Times New Roman"/>
              </a:rPr>
              <a:t> </a:t>
            </a:r>
            <a:r>
              <a:rPr lang="en-US" sz="2400" dirty="0" smtClean="0">
                <a:solidFill>
                  <a:srgbClr val="C00000"/>
                </a:solidFill>
                <a:latin typeface="Times New Roman"/>
                <a:cs typeface="Times New Roman"/>
              </a:rPr>
              <a:t>of</a:t>
            </a:r>
            <a:r>
              <a:rPr lang="en-US" sz="2400" spc="30" dirty="0">
                <a:solidFill>
                  <a:srgbClr val="C00000"/>
                </a:solidFill>
                <a:latin typeface="Times New Roman"/>
                <a:cs typeface="Times New Roman"/>
              </a:rPr>
              <a:t> </a:t>
            </a:r>
            <a:r>
              <a:rPr lang="en-US" sz="2400" spc="-20" dirty="0">
                <a:solidFill>
                  <a:srgbClr val="C00000"/>
                </a:solidFill>
                <a:latin typeface="Times New Roman"/>
                <a:cs typeface="Times New Roman"/>
              </a:rPr>
              <a:t>Karnataka</a:t>
            </a:r>
            <a:r>
              <a:rPr lang="en-US" sz="2400" spc="35" dirty="0">
                <a:solidFill>
                  <a:srgbClr val="C00000"/>
                </a:solidFill>
                <a:latin typeface="Times New Roman"/>
                <a:cs typeface="Times New Roman"/>
              </a:rPr>
              <a:t> </a:t>
            </a:r>
            <a:r>
              <a:rPr lang="en-US" sz="2400" dirty="0" smtClean="0">
                <a:latin typeface="Times New Roman"/>
                <a:cs typeface="Times New Roman"/>
              </a:rPr>
              <a:t>with</a:t>
            </a:r>
            <a:r>
              <a:rPr lang="en-US" sz="2400" spc="30" dirty="0">
                <a:latin typeface="Times New Roman"/>
                <a:cs typeface="Times New Roman"/>
              </a:rPr>
              <a:t> </a:t>
            </a:r>
            <a:r>
              <a:rPr lang="en-US" sz="2400" dirty="0" smtClean="0">
                <a:latin typeface="Times New Roman"/>
                <a:cs typeface="Times New Roman"/>
              </a:rPr>
              <a:t>carbon</a:t>
            </a:r>
            <a:r>
              <a:rPr lang="en-US" sz="2400" spc="30" dirty="0">
                <a:latin typeface="Times New Roman"/>
                <a:cs typeface="Times New Roman"/>
              </a:rPr>
              <a:t> </a:t>
            </a:r>
            <a:r>
              <a:rPr lang="en-US" sz="2400" dirty="0" smtClean="0">
                <a:latin typeface="Times New Roman"/>
                <a:cs typeface="Times New Roman"/>
              </a:rPr>
              <a:t>dates</a:t>
            </a:r>
            <a:r>
              <a:rPr lang="en-US" sz="2400" spc="40" dirty="0">
                <a:latin typeface="Times New Roman"/>
                <a:cs typeface="Times New Roman"/>
              </a:rPr>
              <a:t> </a:t>
            </a:r>
            <a:r>
              <a:rPr lang="en-US" sz="2400" dirty="0" smtClean="0">
                <a:latin typeface="Times New Roman"/>
                <a:cs typeface="Times New Roman"/>
              </a:rPr>
              <a:t>from</a:t>
            </a:r>
            <a:r>
              <a:rPr lang="en-US" sz="2400" spc="20" dirty="0">
                <a:latin typeface="Times New Roman"/>
                <a:cs typeface="Times New Roman"/>
              </a:rPr>
              <a:t> </a:t>
            </a:r>
            <a:r>
              <a:rPr lang="en-US" sz="2400" dirty="0" smtClean="0">
                <a:latin typeface="Times New Roman"/>
                <a:cs typeface="Times New Roman"/>
              </a:rPr>
              <a:t>the</a:t>
            </a:r>
            <a:r>
              <a:rPr lang="en-US" sz="2400" spc="20" dirty="0">
                <a:latin typeface="Times New Roman"/>
                <a:cs typeface="Times New Roman"/>
              </a:rPr>
              <a:t> </a:t>
            </a:r>
            <a:r>
              <a:rPr lang="en-US" sz="2400" dirty="0" smtClean="0">
                <a:latin typeface="Times New Roman"/>
                <a:cs typeface="Times New Roman"/>
              </a:rPr>
              <a:t>mid</a:t>
            </a:r>
            <a:r>
              <a:rPr lang="en-US" sz="2400" spc="20" dirty="0">
                <a:latin typeface="Times New Roman"/>
                <a:cs typeface="Times New Roman"/>
              </a:rPr>
              <a:t> </a:t>
            </a:r>
            <a:r>
              <a:rPr lang="en-US" sz="2400" dirty="0" smtClean="0">
                <a:latin typeface="Times New Roman"/>
                <a:cs typeface="Times New Roman"/>
              </a:rPr>
              <a:t>1st</a:t>
            </a:r>
            <a:r>
              <a:rPr lang="en-US" sz="2400" spc="25" dirty="0">
                <a:latin typeface="Times New Roman"/>
                <a:cs typeface="Times New Roman"/>
              </a:rPr>
              <a:t> </a:t>
            </a:r>
            <a:r>
              <a:rPr lang="en-US" sz="2400" spc="-25" dirty="0">
                <a:latin typeface="Times New Roman"/>
                <a:cs typeface="Times New Roman"/>
              </a:rPr>
              <a:t>millennium</a:t>
            </a:r>
            <a:r>
              <a:rPr lang="en-US" sz="2400" spc="30" dirty="0">
                <a:latin typeface="Times New Roman"/>
                <a:cs typeface="Times New Roman"/>
              </a:rPr>
              <a:t> </a:t>
            </a:r>
            <a:r>
              <a:rPr lang="en-US" sz="2400" dirty="0" smtClean="0">
                <a:latin typeface="Times New Roman"/>
                <a:cs typeface="Times New Roman"/>
              </a:rPr>
              <a:t>BC.</a:t>
            </a:r>
            <a:r>
              <a:rPr lang="en-US" sz="2400" spc="25" dirty="0">
                <a:latin typeface="Times New Roman"/>
                <a:cs typeface="Times New Roman"/>
              </a:rPr>
              <a:t> </a:t>
            </a:r>
            <a:endParaRPr lang="en-US" dirty="0" smtClean="0">
              <a:latin typeface="Times New Roman"/>
              <a:cs typeface="Times New Roman"/>
            </a:endParaRPr>
          </a:p>
        </p:txBody>
      </p:sp>
    </p:spTree>
    <p:extLst>
      <p:ext uri="{BB962C8B-B14F-4D97-AF65-F5344CB8AC3E}">
        <p14:creationId xmlns:p14="http://schemas.microsoft.com/office/powerpoint/2010/main" val="15027143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914400" y="381000"/>
            <a:ext cx="8229600" cy="7294305"/>
          </a:xfrm>
          <a:prstGeom prst="rect">
            <a:avLst/>
          </a:prstGeom>
        </p:spPr>
        <p:txBody>
          <a:bodyPr wrap="square">
            <a:spAutoFit/>
          </a:bodyPr>
          <a:lstStyle/>
          <a:p>
            <a:pPr marL="355591" marR="5080" indent="-342900" algn="just">
              <a:lnSpc>
                <a:spcPct val="150000"/>
              </a:lnSpc>
              <a:buFont typeface="Arial" panose="020B0604020202020204" pitchFamily="34" charset="0"/>
              <a:buChar char="•"/>
            </a:pPr>
            <a:r>
              <a:rPr lang="en-US" sz="2400" dirty="0" smtClean="0">
                <a:latin typeface="Times New Roman"/>
                <a:cs typeface="Times New Roman"/>
              </a:rPr>
              <a:t>A</a:t>
            </a:r>
            <a:r>
              <a:rPr lang="en-US" sz="2400" spc="35" dirty="0" smtClean="0">
                <a:latin typeface="Times New Roman"/>
                <a:cs typeface="Times New Roman"/>
              </a:rPr>
              <a:t> </a:t>
            </a:r>
            <a:r>
              <a:rPr lang="en-US" sz="2400" dirty="0" smtClean="0">
                <a:latin typeface="Times New Roman"/>
                <a:cs typeface="Times New Roman"/>
              </a:rPr>
              <a:t>rather</a:t>
            </a:r>
            <a:r>
              <a:rPr lang="en-US" sz="2400" spc="30" dirty="0" smtClean="0">
                <a:latin typeface="Times New Roman"/>
                <a:cs typeface="Times New Roman"/>
              </a:rPr>
              <a:t> </a:t>
            </a:r>
            <a:r>
              <a:rPr lang="en-US" sz="2400" spc="-25" dirty="0" smtClean="0">
                <a:latin typeface="Times New Roman"/>
                <a:cs typeface="Times New Roman"/>
              </a:rPr>
              <a:t>delightful</a:t>
            </a:r>
            <a:r>
              <a:rPr lang="en-US" sz="2400" spc="30" dirty="0" smtClean="0">
                <a:latin typeface="Times New Roman"/>
                <a:cs typeface="Times New Roman"/>
              </a:rPr>
              <a:t> </a:t>
            </a:r>
            <a:r>
              <a:rPr lang="en-US" sz="2400" dirty="0" smtClean="0">
                <a:latin typeface="Times New Roman"/>
                <a:cs typeface="Times New Roman"/>
              </a:rPr>
              <a:t>piece</a:t>
            </a:r>
            <a:r>
              <a:rPr lang="en-US" sz="2400" spc="25" dirty="0" smtClean="0">
                <a:latin typeface="Times New Roman"/>
                <a:cs typeface="Times New Roman"/>
              </a:rPr>
              <a:t> </a:t>
            </a:r>
            <a:r>
              <a:rPr lang="en-US" sz="2400" spc="-25" dirty="0" smtClean="0">
                <a:latin typeface="Times New Roman"/>
                <a:cs typeface="Times New Roman"/>
              </a:rPr>
              <a:t>of </a:t>
            </a:r>
            <a:r>
              <a:rPr lang="en-US" sz="2400" spc="-50" dirty="0" smtClean="0">
                <a:latin typeface="Times New Roman"/>
                <a:cs typeface="Times New Roman"/>
              </a:rPr>
              <a:t>conjecture</a:t>
            </a:r>
            <a:r>
              <a:rPr lang="en-US" sz="2400" spc="-45" dirty="0" smtClean="0">
                <a:latin typeface="Times New Roman"/>
                <a:cs typeface="Times New Roman"/>
              </a:rPr>
              <a:t> </a:t>
            </a:r>
            <a:r>
              <a:rPr lang="en-US" sz="2400" spc="-35" dirty="0" smtClean="0">
                <a:latin typeface="Times New Roman"/>
                <a:cs typeface="Times New Roman"/>
              </a:rPr>
              <a:t>is </a:t>
            </a:r>
            <a:r>
              <a:rPr lang="en-US" sz="2400" spc="-45" dirty="0" smtClean="0">
                <a:latin typeface="Times New Roman"/>
                <a:cs typeface="Times New Roman"/>
              </a:rPr>
              <a:t>that</a:t>
            </a:r>
            <a:r>
              <a:rPr lang="en-US" sz="2400" spc="-25" dirty="0" smtClean="0">
                <a:latin typeface="Times New Roman"/>
                <a:cs typeface="Times New Roman"/>
              </a:rPr>
              <a:t> </a:t>
            </a:r>
            <a:r>
              <a:rPr lang="en-US" sz="2400" spc="-45" dirty="0" smtClean="0">
                <a:solidFill>
                  <a:srgbClr val="C00000"/>
                </a:solidFill>
                <a:latin typeface="Times New Roman"/>
                <a:cs typeface="Times New Roman"/>
              </a:rPr>
              <a:t>tales</a:t>
            </a:r>
            <a:r>
              <a:rPr lang="en-US" sz="2400" spc="-35" dirty="0" smtClean="0">
                <a:solidFill>
                  <a:srgbClr val="C00000"/>
                </a:solidFill>
                <a:latin typeface="Times New Roman"/>
                <a:cs typeface="Times New Roman"/>
              </a:rPr>
              <a:t> </a:t>
            </a:r>
            <a:r>
              <a:rPr lang="en-US" sz="2400" spc="-30" dirty="0" smtClean="0">
                <a:solidFill>
                  <a:srgbClr val="C00000"/>
                </a:solidFill>
                <a:latin typeface="Times New Roman"/>
                <a:cs typeface="Times New Roman"/>
              </a:rPr>
              <a:t>of</a:t>
            </a:r>
            <a:r>
              <a:rPr lang="en-US" sz="2400" spc="-40" dirty="0" smtClean="0">
                <a:solidFill>
                  <a:srgbClr val="C00000"/>
                </a:solidFill>
                <a:latin typeface="Times New Roman"/>
                <a:cs typeface="Times New Roman"/>
              </a:rPr>
              <a:t> </a:t>
            </a:r>
            <a:r>
              <a:rPr lang="en-US" sz="2400" spc="-50" dirty="0" smtClean="0">
                <a:solidFill>
                  <a:srgbClr val="C00000"/>
                </a:solidFill>
                <a:latin typeface="Times New Roman"/>
                <a:cs typeface="Times New Roman"/>
              </a:rPr>
              <a:t>Herodotus</a:t>
            </a:r>
            <a:r>
              <a:rPr lang="en-US" sz="2400" spc="-50" dirty="0" smtClean="0">
                <a:latin typeface="Times New Roman"/>
                <a:cs typeface="Times New Roman"/>
              </a:rPr>
              <a:t>,</a:t>
            </a:r>
            <a:r>
              <a:rPr lang="en-US" sz="2400" spc="-35" dirty="0" smtClean="0">
                <a:latin typeface="Times New Roman"/>
                <a:cs typeface="Times New Roman"/>
              </a:rPr>
              <a:t> the</a:t>
            </a:r>
            <a:r>
              <a:rPr lang="en-US" sz="2400" spc="-40" dirty="0" smtClean="0">
                <a:latin typeface="Times New Roman"/>
                <a:cs typeface="Times New Roman"/>
              </a:rPr>
              <a:t> </a:t>
            </a:r>
            <a:r>
              <a:rPr lang="en-US" sz="2400" spc="-45" dirty="0" smtClean="0">
                <a:latin typeface="Times New Roman"/>
                <a:cs typeface="Times New Roman"/>
              </a:rPr>
              <a:t>Greek,</a:t>
            </a:r>
            <a:r>
              <a:rPr lang="en-US" sz="2400" spc="-35" dirty="0" smtClean="0">
                <a:latin typeface="Times New Roman"/>
                <a:cs typeface="Times New Roman"/>
              </a:rPr>
              <a:t> </a:t>
            </a:r>
            <a:r>
              <a:rPr lang="en-US" sz="2400" spc="-45" dirty="0" smtClean="0">
                <a:latin typeface="Times New Roman"/>
                <a:cs typeface="Times New Roman"/>
              </a:rPr>
              <a:t>about</a:t>
            </a:r>
            <a:r>
              <a:rPr lang="en-US" sz="2400" spc="-50" dirty="0" smtClean="0">
                <a:latin typeface="Times New Roman"/>
                <a:cs typeface="Times New Roman"/>
              </a:rPr>
              <a:t> </a:t>
            </a:r>
            <a:r>
              <a:rPr lang="en-US" sz="2400" b="1" spc="-85" dirty="0" smtClean="0">
                <a:solidFill>
                  <a:srgbClr val="C00000"/>
                </a:solidFill>
                <a:latin typeface="Times New Roman"/>
                <a:cs typeface="Times New Roman"/>
              </a:rPr>
              <a:t>‘gold-</a:t>
            </a:r>
            <a:r>
              <a:rPr lang="en-US" sz="2400" b="1" spc="-45" dirty="0" smtClean="0">
                <a:solidFill>
                  <a:srgbClr val="C00000"/>
                </a:solidFill>
                <a:latin typeface="Times New Roman"/>
                <a:cs typeface="Times New Roman"/>
              </a:rPr>
              <a:t>digging </a:t>
            </a:r>
            <a:r>
              <a:rPr lang="en-US" sz="2400" b="1" spc="-40" dirty="0" smtClean="0">
                <a:solidFill>
                  <a:srgbClr val="C00000"/>
                </a:solidFill>
                <a:latin typeface="Times New Roman"/>
                <a:cs typeface="Times New Roman"/>
              </a:rPr>
              <a:t>ants’ </a:t>
            </a:r>
            <a:r>
              <a:rPr lang="en-US" sz="2400" spc="-45" dirty="0" smtClean="0">
                <a:latin typeface="Times New Roman"/>
                <a:cs typeface="Times New Roman"/>
              </a:rPr>
              <a:t>from</a:t>
            </a:r>
            <a:r>
              <a:rPr lang="en-US" sz="2400" spc="-30" dirty="0" smtClean="0">
                <a:latin typeface="Times New Roman"/>
                <a:cs typeface="Times New Roman"/>
              </a:rPr>
              <a:t> </a:t>
            </a:r>
            <a:r>
              <a:rPr lang="en-US" sz="2400" spc="-45" dirty="0" smtClean="0">
                <a:latin typeface="Times New Roman"/>
                <a:cs typeface="Times New Roman"/>
              </a:rPr>
              <a:t>India</a:t>
            </a:r>
            <a:r>
              <a:rPr lang="en-US" sz="2400" spc="-40" dirty="0" smtClean="0">
                <a:latin typeface="Times New Roman"/>
                <a:cs typeface="Times New Roman"/>
              </a:rPr>
              <a:t> </a:t>
            </a:r>
            <a:r>
              <a:rPr lang="en-US" sz="2400" spc="-45" dirty="0" smtClean="0">
                <a:latin typeface="Times New Roman"/>
                <a:cs typeface="Times New Roman"/>
              </a:rPr>
              <a:t>refers</a:t>
            </a:r>
            <a:r>
              <a:rPr lang="en-US" sz="2400" spc="-35" dirty="0" smtClean="0">
                <a:latin typeface="Times New Roman"/>
                <a:cs typeface="Times New Roman"/>
              </a:rPr>
              <a:t> to </a:t>
            </a:r>
            <a:r>
              <a:rPr lang="en-US" sz="2400" spc="-50" dirty="0" smtClean="0">
                <a:latin typeface="Times New Roman"/>
                <a:cs typeface="Times New Roman"/>
              </a:rPr>
              <a:t>marmot,</a:t>
            </a:r>
            <a:r>
              <a:rPr lang="en-US" sz="2400" spc="-35" dirty="0" smtClean="0">
                <a:latin typeface="Times New Roman"/>
                <a:cs typeface="Times New Roman"/>
              </a:rPr>
              <a:t> </a:t>
            </a:r>
            <a:r>
              <a:rPr lang="en-US" sz="2400" spc="-10" dirty="0" smtClean="0">
                <a:latin typeface="Times New Roman"/>
                <a:cs typeface="Times New Roman"/>
              </a:rPr>
              <a:t>a</a:t>
            </a:r>
            <a:r>
              <a:rPr lang="en-US" sz="2400" spc="-40" dirty="0" smtClean="0">
                <a:latin typeface="Times New Roman"/>
                <a:cs typeface="Times New Roman"/>
              </a:rPr>
              <a:t> </a:t>
            </a:r>
            <a:r>
              <a:rPr lang="en-US" sz="2400" spc="-20" dirty="0" smtClean="0">
                <a:latin typeface="Times New Roman"/>
                <a:cs typeface="Times New Roman"/>
              </a:rPr>
              <a:t>type </a:t>
            </a:r>
            <a:r>
              <a:rPr lang="en-US" sz="2400" dirty="0" smtClean="0">
                <a:latin typeface="Times New Roman"/>
                <a:cs typeface="Times New Roman"/>
              </a:rPr>
              <a:t>of</a:t>
            </a:r>
            <a:r>
              <a:rPr lang="en-US" sz="2400" spc="-65" dirty="0" smtClean="0">
                <a:latin typeface="Times New Roman"/>
                <a:cs typeface="Times New Roman"/>
              </a:rPr>
              <a:t> </a:t>
            </a:r>
            <a:r>
              <a:rPr lang="en-US" sz="2400" spc="-35" dirty="0" smtClean="0">
                <a:latin typeface="Times New Roman"/>
                <a:cs typeface="Times New Roman"/>
              </a:rPr>
              <a:t>rodent</a:t>
            </a:r>
            <a:r>
              <a:rPr lang="en-US" sz="2400" spc="-40" dirty="0" smtClean="0">
                <a:latin typeface="Times New Roman"/>
                <a:cs typeface="Times New Roman"/>
              </a:rPr>
              <a:t> </a:t>
            </a:r>
            <a:r>
              <a:rPr lang="en-US" sz="2400" spc="-30" dirty="0" smtClean="0">
                <a:latin typeface="Times New Roman"/>
                <a:cs typeface="Times New Roman"/>
              </a:rPr>
              <a:t>found</a:t>
            </a:r>
            <a:r>
              <a:rPr lang="en-US" sz="2400" spc="-45" dirty="0" smtClean="0">
                <a:latin typeface="Times New Roman"/>
                <a:cs typeface="Times New Roman"/>
              </a:rPr>
              <a:t> </a:t>
            </a:r>
            <a:r>
              <a:rPr lang="en-US" sz="2400" dirty="0" smtClean="0">
                <a:latin typeface="Times New Roman"/>
                <a:cs typeface="Times New Roman"/>
              </a:rPr>
              <a:t>in</a:t>
            </a:r>
            <a:r>
              <a:rPr lang="en-US" sz="2400" spc="-40" dirty="0" smtClean="0">
                <a:latin typeface="Times New Roman"/>
                <a:cs typeface="Times New Roman"/>
              </a:rPr>
              <a:t> Afghanistan,</a:t>
            </a:r>
            <a:r>
              <a:rPr lang="en-US" sz="2400" spc="-30" dirty="0" smtClean="0">
                <a:latin typeface="Times New Roman"/>
                <a:cs typeface="Times New Roman"/>
              </a:rPr>
              <a:t> </a:t>
            </a:r>
            <a:r>
              <a:rPr lang="en-US" sz="2400" spc="-10" dirty="0" smtClean="0">
                <a:latin typeface="Times New Roman"/>
                <a:cs typeface="Times New Roman"/>
              </a:rPr>
              <a:t>who</a:t>
            </a:r>
            <a:r>
              <a:rPr lang="en-US" sz="2400" spc="-45" dirty="0" smtClean="0">
                <a:latin typeface="Times New Roman"/>
                <a:cs typeface="Times New Roman"/>
              </a:rPr>
              <a:t> </a:t>
            </a:r>
            <a:r>
              <a:rPr lang="en-US" sz="2400" spc="-10" dirty="0" smtClean="0">
                <a:latin typeface="Times New Roman"/>
                <a:cs typeface="Times New Roman"/>
              </a:rPr>
              <a:t>dig</a:t>
            </a:r>
            <a:r>
              <a:rPr lang="en-US" sz="2400" spc="-45" dirty="0" smtClean="0">
                <a:latin typeface="Times New Roman"/>
                <a:cs typeface="Times New Roman"/>
              </a:rPr>
              <a:t> </a:t>
            </a:r>
            <a:r>
              <a:rPr lang="en-US" sz="2400" dirty="0" smtClean="0">
                <a:latin typeface="Times New Roman"/>
                <a:cs typeface="Times New Roman"/>
              </a:rPr>
              <a:t>up</a:t>
            </a:r>
            <a:r>
              <a:rPr lang="en-US" sz="2400" spc="-30" dirty="0" smtClean="0">
                <a:latin typeface="Times New Roman"/>
                <a:cs typeface="Times New Roman"/>
              </a:rPr>
              <a:t> </a:t>
            </a:r>
            <a:r>
              <a:rPr lang="en-US" sz="2400" spc="-10" dirty="0" smtClean="0">
                <a:latin typeface="Times New Roman"/>
                <a:cs typeface="Times New Roman"/>
              </a:rPr>
              <a:t>the</a:t>
            </a:r>
            <a:r>
              <a:rPr lang="en-US" sz="2400" spc="-20" dirty="0" smtClean="0">
                <a:latin typeface="Times New Roman"/>
                <a:cs typeface="Times New Roman"/>
              </a:rPr>
              <a:t> </a:t>
            </a:r>
            <a:r>
              <a:rPr lang="en-US" sz="2400" spc="-45" dirty="0" smtClean="0">
                <a:latin typeface="Times New Roman"/>
                <a:cs typeface="Times New Roman"/>
              </a:rPr>
              <a:t>river</a:t>
            </a:r>
            <a:r>
              <a:rPr lang="en-US" sz="2400" spc="-30" dirty="0" smtClean="0">
                <a:latin typeface="Times New Roman"/>
                <a:cs typeface="Times New Roman"/>
              </a:rPr>
              <a:t> </a:t>
            </a:r>
            <a:r>
              <a:rPr lang="en-US" sz="2400" spc="-20" dirty="0" smtClean="0">
                <a:latin typeface="Times New Roman"/>
                <a:cs typeface="Times New Roman"/>
              </a:rPr>
              <a:t>sand</a:t>
            </a:r>
            <a:r>
              <a:rPr lang="en-US" sz="2400" spc="-40" dirty="0" smtClean="0">
                <a:latin typeface="Times New Roman"/>
                <a:cs typeface="Times New Roman"/>
              </a:rPr>
              <a:t> </a:t>
            </a:r>
            <a:r>
              <a:rPr lang="en-US" sz="2400" spc="-25" dirty="0" smtClean="0">
                <a:latin typeface="Times New Roman"/>
                <a:cs typeface="Times New Roman"/>
              </a:rPr>
              <a:t>which</a:t>
            </a:r>
            <a:r>
              <a:rPr lang="en-US" sz="2400" spc="-30" dirty="0" smtClean="0">
                <a:latin typeface="Times New Roman"/>
                <a:cs typeface="Times New Roman"/>
              </a:rPr>
              <a:t> </a:t>
            </a:r>
            <a:r>
              <a:rPr lang="en-US" sz="2400" spc="-35" dirty="0" smtClean="0">
                <a:latin typeface="Times New Roman"/>
                <a:cs typeface="Times New Roman"/>
              </a:rPr>
              <a:t>could</a:t>
            </a:r>
            <a:r>
              <a:rPr lang="en-US" sz="2400" spc="-40" dirty="0" smtClean="0">
                <a:latin typeface="Times New Roman"/>
                <a:cs typeface="Times New Roman"/>
              </a:rPr>
              <a:t> </a:t>
            </a:r>
            <a:r>
              <a:rPr lang="en-US" sz="2400" spc="-25" dirty="0" smtClean="0">
                <a:latin typeface="Times New Roman"/>
                <a:cs typeface="Times New Roman"/>
              </a:rPr>
              <a:t>then</a:t>
            </a:r>
            <a:r>
              <a:rPr lang="en-US" sz="2400" spc="-45" dirty="0" smtClean="0">
                <a:latin typeface="Times New Roman"/>
                <a:cs typeface="Times New Roman"/>
              </a:rPr>
              <a:t> </a:t>
            </a:r>
            <a:r>
              <a:rPr lang="en-US" sz="2400" spc="-25" dirty="0" smtClean="0">
                <a:latin typeface="Times New Roman"/>
                <a:cs typeface="Times New Roman"/>
              </a:rPr>
              <a:t>have</a:t>
            </a:r>
            <a:r>
              <a:rPr lang="en-US" sz="2400" spc="-35" dirty="0" smtClean="0">
                <a:latin typeface="Times New Roman"/>
                <a:cs typeface="Times New Roman"/>
              </a:rPr>
              <a:t> </a:t>
            </a:r>
            <a:r>
              <a:rPr lang="en-US" sz="2400" spc="-25" dirty="0" smtClean="0">
                <a:latin typeface="Times New Roman"/>
                <a:cs typeface="Times New Roman"/>
              </a:rPr>
              <a:t>been</a:t>
            </a:r>
            <a:r>
              <a:rPr lang="en-US" sz="2400" spc="-45" dirty="0" smtClean="0">
                <a:latin typeface="Times New Roman"/>
                <a:cs typeface="Times New Roman"/>
              </a:rPr>
              <a:t> </a:t>
            </a:r>
            <a:r>
              <a:rPr lang="en-US" sz="2400" spc="-30" dirty="0" smtClean="0">
                <a:latin typeface="Times New Roman"/>
                <a:cs typeface="Times New Roman"/>
              </a:rPr>
              <a:t>panned </a:t>
            </a:r>
            <a:r>
              <a:rPr lang="en-US" sz="2400" spc="-10" dirty="0" smtClean="0">
                <a:latin typeface="Times New Roman"/>
                <a:cs typeface="Times New Roman"/>
              </a:rPr>
              <a:t>for</a:t>
            </a:r>
            <a:r>
              <a:rPr lang="en-US" sz="2400" spc="-40" dirty="0" smtClean="0">
                <a:latin typeface="Times New Roman"/>
                <a:cs typeface="Times New Roman"/>
              </a:rPr>
              <a:t> </a:t>
            </a:r>
            <a:r>
              <a:rPr lang="en-US" sz="2400" spc="-25" dirty="0" smtClean="0">
                <a:latin typeface="Times New Roman"/>
                <a:cs typeface="Times New Roman"/>
              </a:rPr>
              <a:t>gold</a:t>
            </a:r>
            <a:r>
              <a:rPr lang="en-US" sz="2400" spc="-45" dirty="0" smtClean="0">
                <a:latin typeface="Times New Roman"/>
                <a:cs typeface="Times New Roman"/>
              </a:rPr>
              <a:t> </a:t>
            </a:r>
            <a:r>
              <a:rPr lang="en-US" sz="2400" spc="-25" dirty="0" smtClean="0">
                <a:latin typeface="Times New Roman"/>
                <a:cs typeface="Times New Roman"/>
              </a:rPr>
              <a:t>by </a:t>
            </a:r>
            <a:r>
              <a:rPr lang="en-US" sz="2400" spc="-35" dirty="0" smtClean="0">
                <a:latin typeface="Times New Roman"/>
                <a:cs typeface="Times New Roman"/>
              </a:rPr>
              <a:t>the</a:t>
            </a:r>
            <a:r>
              <a:rPr lang="en-US" sz="2400" spc="-75" dirty="0" smtClean="0">
                <a:latin typeface="Times New Roman"/>
                <a:cs typeface="Times New Roman"/>
              </a:rPr>
              <a:t> </a:t>
            </a:r>
            <a:r>
              <a:rPr lang="en-US" sz="2400" spc="-10" dirty="0" smtClean="0">
                <a:latin typeface="Times New Roman"/>
                <a:cs typeface="Times New Roman"/>
              </a:rPr>
              <a:t>inhabitants.</a:t>
            </a:r>
            <a:endParaRPr lang="en-US" sz="2400" dirty="0" smtClean="0">
              <a:latin typeface="Times New Roman"/>
              <a:cs typeface="Times New Roman"/>
            </a:endParaRPr>
          </a:p>
          <a:p>
            <a:pPr marL="355591" marR="5715" indent="-342900" algn="just">
              <a:lnSpc>
                <a:spcPct val="150000"/>
              </a:lnSpc>
              <a:buFont typeface="Arial" panose="020B0604020202020204" pitchFamily="34" charset="0"/>
              <a:buChar char="•"/>
            </a:pPr>
            <a:r>
              <a:rPr lang="en-US" sz="2400" spc="-40" dirty="0" smtClean="0">
                <a:latin typeface="Times New Roman"/>
                <a:cs typeface="Times New Roman"/>
              </a:rPr>
              <a:t>Surface</a:t>
            </a:r>
            <a:r>
              <a:rPr lang="en-US" sz="2400" spc="-30" dirty="0" smtClean="0">
                <a:latin typeface="Times New Roman"/>
                <a:cs typeface="Times New Roman"/>
              </a:rPr>
              <a:t> </a:t>
            </a:r>
            <a:r>
              <a:rPr lang="en-US" sz="2400" spc="-40" dirty="0" smtClean="0">
                <a:latin typeface="Times New Roman"/>
                <a:cs typeface="Times New Roman"/>
              </a:rPr>
              <a:t>tension</a:t>
            </a:r>
            <a:r>
              <a:rPr lang="en-US" sz="2400" spc="-25" dirty="0" smtClean="0">
                <a:latin typeface="Times New Roman"/>
                <a:cs typeface="Times New Roman"/>
              </a:rPr>
              <a:t> </a:t>
            </a:r>
            <a:r>
              <a:rPr lang="en-US" sz="2400" spc="-30" dirty="0" smtClean="0">
                <a:latin typeface="Times New Roman"/>
                <a:cs typeface="Times New Roman"/>
              </a:rPr>
              <a:t>was</a:t>
            </a:r>
            <a:r>
              <a:rPr lang="en-US" sz="2400" spc="-25" dirty="0" smtClean="0">
                <a:latin typeface="Times New Roman"/>
                <a:cs typeface="Times New Roman"/>
              </a:rPr>
              <a:t> </a:t>
            </a:r>
            <a:r>
              <a:rPr lang="en-US" sz="2400" spc="-30" dirty="0" smtClean="0">
                <a:latin typeface="Times New Roman"/>
                <a:cs typeface="Times New Roman"/>
              </a:rPr>
              <a:t>used</a:t>
            </a:r>
            <a:r>
              <a:rPr lang="en-US" sz="2400" spc="-35" dirty="0" smtClean="0">
                <a:latin typeface="Times New Roman"/>
                <a:cs typeface="Times New Roman"/>
              </a:rPr>
              <a:t> </a:t>
            </a:r>
            <a:r>
              <a:rPr lang="en-US" sz="2400" dirty="0" smtClean="0">
                <a:latin typeface="Times New Roman"/>
                <a:cs typeface="Times New Roman"/>
              </a:rPr>
              <a:t>to</a:t>
            </a:r>
            <a:r>
              <a:rPr lang="en-US" sz="2400" spc="-25" dirty="0" smtClean="0">
                <a:latin typeface="Times New Roman"/>
                <a:cs typeface="Times New Roman"/>
              </a:rPr>
              <a:t> </a:t>
            </a:r>
            <a:r>
              <a:rPr lang="en-US" sz="2400" spc="-30" dirty="0" smtClean="0">
                <a:latin typeface="Times New Roman"/>
                <a:cs typeface="Times New Roman"/>
              </a:rPr>
              <a:t>turn</a:t>
            </a:r>
            <a:r>
              <a:rPr lang="en-US" sz="2400" spc="-40" dirty="0" smtClean="0">
                <a:latin typeface="Times New Roman"/>
                <a:cs typeface="Times New Roman"/>
              </a:rPr>
              <a:t> melted</a:t>
            </a:r>
            <a:r>
              <a:rPr lang="en-US" sz="2400" spc="-25" dirty="0" smtClean="0">
                <a:latin typeface="Times New Roman"/>
                <a:cs typeface="Times New Roman"/>
              </a:rPr>
              <a:t> gold</a:t>
            </a:r>
            <a:r>
              <a:rPr lang="en-US" sz="2400" spc="-20" dirty="0" smtClean="0">
                <a:latin typeface="Times New Roman"/>
                <a:cs typeface="Times New Roman"/>
              </a:rPr>
              <a:t> </a:t>
            </a:r>
            <a:r>
              <a:rPr lang="en-US" sz="2400" spc="-40" dirty="0" smtClean="0">
                <a:latin typeface="Times New Roman"/>
                <a:cs typeface="Times New Roman"/>
              </a:rPr>
              <a:t>filings</a:t>
            </a:r>
            <a:r>
              <a:rPr lang="en-US" sz="2400" spc="-25" dirty="0" smtClean="0">
                <a:latin typeface="Times New Roman"/>
                <a:cs typeface="Times New Roman"/>
              </a:rPr>
              <a:t> </a:t>
            </a:r>
            <a:r>
              <a:rPr lang="en-US" sz="2400" spc="-35" dirty="0" smtClean="0">
                <a:latin typeface="Times New Roman"/>
                <a:cs typeface="Times New Roman"/>
              </a:rPr>
              <a:t>into</a:t>
            </a:r>
            <a:r>
              <a:rPr lang="en-US" sz="2400" spc="-25" dirty="0" smtClean="0">
                <a:latin typeface="Times New Roman"/>
                <a:cs typeface="Times New Roman"/>
              </a:rPr>
              <a:t> </a:t>
            </a:r>
            <a:r>
              <a:rPr lang="en-US" sz="2400" spc="-40" dirty="0" smtClean="0">
                <a:latin typeface="Times New Roman"/>
                <a:cs typeface="Times New Roman"/>
              </a:rPr>
              <a:t>spheres.</a:t>
            </a:r>
            <a:r>
              <a:rPr lang="en-US" sz="2400" spc="-25" dirty="0" smtClean="0">
                <a:latin typeface="Times New Roman"/>
                <a:cs typeface="Times New Roman"/>
              </a:rPr>
              <a:t> </a:t>
            </a:r>
            <a:r>
              <a:rPr lang="en-US" sz="2400" spc="-20" dirty="0" smtClean="0">
                <a:solidFill>
                  <a:srgbClr val="C00000"/>
                </a:solidFill>
                <a:latin typeface="Times New Roman"/>
                <a:cs typeface="Times New Roman"/>
              </a:rPr>
              <a:t>The</a:t>
            </a:r>
            <a:r>
              <a:rPr lang="en-US" sz="2400" spc="-30" dirty="0" smtClean="0">
                <a:solidFill>
                  <a:srgbClr val="C00000"/>
                </a:solidFill>
                <a:latin typeface="Times New Roman"/>
                <a:cs typeface="Times New Roman"/>
              </a:rPr>
              <a:t> </a:t>
            </a:r>
            <a:r>
              <a:rPr lang="en-US" sz="2400" spc="-45" dirty="0" smtClean="0">
                <a:solidFill>
                  <a:srgbClr val="C00000"/>
                </a:solidFill>
                <a:latin typeface="Times New Roman"/>
                <a:cs typeface="Times New Roman"/>
              </a:rPr>
              <a:t>granulation</a:t>
            </a:r>
            <a:r>
              <a:rPr lang="en-US" sz="2400" spc="-20" dirty="0" smtClean="0">
                <a:solidFill>
                  <a:srgbClr val="C00000"/>
                </a:solidFill>
                <a:latin typeface="Times New Roman"/>
                <a:cs typeface="Times New Roman"/>
              </a:rPr>
              <a:t> </a:t>
            </a:r>
            <a:r>
              <a:rPr lang="en-US" sz="2400" spc="-40" dirty="0" smtClean="0">
                <a:solidFill>
                  <a:srgbClr val="C00000"/>
                </a:solidFill>
                <a:latin typeface="Times New Roman"/>
                <a:cs typeface="Times New Roman"/>
              </a:rPr>
              <a:t>technique</a:t>
            </a:r>
            <a:r>
              <a:rPr lang="en-US" sz="2400" spc="-30" dirty="0" smtClean="0">
                <a:solidFill>
                  <a:srgbClr val="C00000"/>
                </a:solidFill>
                <a:latin typeface="Times New Roman"/>
                <a:cs typeface="Times New Roman"/>
              </a:rPr>
              <a:t> </a:t>
            </a:r>
            <a:r>
              <a:rPr lang="en-US" sz="2400" spc="-30" dirty="0" smtClean="0">
                <a:latin typeface="Times New Roman"/>
                <a:cs typeface="Times New Roman"/>
              </a:rPr>
              <a:t>was</a:t>
            </a:r>
            <a:r>
              <a:rPr lang="en-US" sz="2400" spc="-25" dirty="0" smtClean="0">
                <a:latin typeface="Times New Roman"/>
                <a:cs typeface="Times New Roman"/>
              </a:rPr>
              <a:t> </a:t>
            </a:r>
            <a:r>
              <a:rPr lang="en-US" sz="2400" spc="-20" dirty="0" smtClean="0">
                <a:latin typeface="Times New Roman"/>
                <a:cs typeface="Times New Roman"/>
              </a:rPr>
              <a:t>also </a:t>
            </a:r>
            <a:r>
              <a:rPr lang="en-US" sz="2400" spc="-50" dirty="0" smtClean="0">
                <a:latin typeface="Times New Roman"/>
                <a:cs typeface="Times New Roman"/>
              </a:rPr>
              <a:t>used</a:t>
            </a:r>
            <a:r>
              <a:rPr lang="en-US" sz="2400" spc="-25" dirty="0" smtClean="0">
                <a:latin typeface="Times New Roman"/>
                <a:cs typeface="Times New Roman"/>
              </a:rPr>
              <a:t> </a:t>
            </a:r>
            <a:r>
              <a:rPr lang="en-US" sz="2400" spc="-55" dirty="0" smtClean="0">
                <a:latin typeface="Times New Roman"/>
                <a:cs typeface="Times New Roman"/>
              </a:rPr>
              <a:t>to</a:t>
            </a:r>
            <a:r>
              <a:rPr lang="en-US" sz="2400" spc="-20" dirty="0" smtClean="0">
                <a:latin typeface="Times New Roman"/>
                <a:cs typeface="Times New Roman"/>
              </a:rPr>
              <a:t> </a:t>
            </a:r>
            <a:r>
              <a:rPr lang="en-US" sz="2400" spc="-55" dirty="0" smtClean="0">
                <a:latin typeface="Times New Roman"/>
                <a:cs typeface="Times New Roman"/>
              </a:rPr>
              <a:t>make</a:t>
            </a:r>
            <a:r>
              <a:rPr lang="en-US" sz="2400" spc="-20" dirty="0" smtClean="0">
                <a:latin typeface="Times New Roman"/>
                <a:cs typeface="Times New Roman"/>
              </a:rPr>
              <a:t> </a:t>
            </a:r>
            <a:r>
              <a:rPr lang="en-US" sz="2400" spc="-55" dirty="0" smtClean="0">
                <a:latin typeface="Times New Roman"/>
                <a:cs typeface="Times New Roman"/>
              </a:rPr>
              <a:t>gold</a:t>
            </a:r>
            <a:r>
              <a:rPr lang="en-US" sz="2400" spc="-14" dirty="0" smtClean="0">
                <a:latin typeface="Times New Roman"/>
                <a:cs typeface="Times New Roman"/>
              </a:rPr>
              <a:t> </a:t>
            </a:r>
            <a:r>
              <a:rPr lang="en-US" sz="2400" spc="-60" dirty="0" smtClean="0">
                <a:latin typeface="Times New Roman"/>
                <a:cs typeface="Times New Roman"/>
              </a:rPr>
              <a:t>jewelry</a:t>
            </a:r>
            <a:r>
              <a:rPr lang="en-US" sz="2400" spc="-14" dirty="0" smtClean="0">
                <a:latin typeface="Times New Roman"/>
                <a:cs typeface="Times New Roman"/>
              </a:rPr>
              <a:t> </a:t>
            </a:r>
            <a:r>
              <a:rPr lang="en-US" sz="2400" spc="-50" dirty="0" smtClean="0">
                <a:latin typeface="Times New Roman"/>
                <a:cs typeface="Times New Roman"/>
              </a:rPr>
              <a:t>in</a:t>
            </a:r>
            <a:r>
              <a:rPr lang="en-US" sz="2400" spc="4" dirty="0" smtClean="0">
                <a:latin typeface="Times New Roman"/>
                <a:cs typeface="Times New Roman"/>
              </a:rPr>
              <a:t> </a:t>
            </a:r>
            <a:r>
              <a:rPr lang="en-US" sz="2400" spc="-60" dirty="0" smtClean="0">
                <a:latin typeface="Times New Roman"/>
                <a:cs typeface="Times New Roman"/>
              </a:rPr>
              <a:t>India</a:t>
            </a:r>
            <a:r>
              <a:rPr lang="en-US" sz="2400" dirty="0" smtClean="0">
                <a:latin typeface="Times New Roman"/>
                <a:cs typeface="Times New Roman"/>
              </a:rPr>
              <a:t> </a:t>
            </a:r>
            <a:r>
              <a:rPr lang="en-US" sz="2400" spc="-50" dirty="0" smtClean="0">
                <a:latin typeface="Times New Roman"/>
                <a:cs typeface="Times New Roman"/>
              </a:rPr>
              <a:t>in</a:t>
            </a:r>
            <a:r>
              <a:rPr lang="en-US" sz="2400" spc="4" dirty="0" smtClean="0">
                <a:latin typeface="Times New Roman"/>
                <a:cs typeface="Times New Roman"/>
              </a:rPr>
              <a:t> </a:t>
            </a:r>
            <a:r>
              <a:rPr lang="en-US" sz="2400" spc="-55" dirty="0" smtClean="0">
                <a:latin typeface="Times New Roman"/>
                <a:cs typeface="Times New Roman"/>
              </a:rPr>
              <a:t>the</a:t>
            </a:r>
            <a:r>
              <a:rPr lang="en-US" sz="2400" spc="-4" dirty="0" smtClean="0">
                <a:latin typeface="Times New Roman"/>
                <a:cs typeface="Times New Roman"/>
              </a:rPr>
              <a:t> </a:t>
            </a:r>
            <a:r>
              <a:rPr lang="en-US" sz="2400" spc="-55" dirty="0" smtClean="0">
                <a:latin typeface="Times New Roman"/>
                <a:cs typeface="Times New Roman"/>
              </a:rPr>
              <a:t>late</a:t>
            </a:r>
            <a:r>
              <a:rPr lang="en-US" sz="2400" dirty="0" smtClean="0">
                <a:latin typeface="Times New Roman"/>
                <a:cs typeface="Times New Roman"/>
              </a:rPr>
              <a:t> </a:t>
            </a:r>
            <a:r>
              <a:rPr lang="en-US" sz="2400" spc="-60" dirty="0" smtClean="0">
                <a:latin typeface="Times New Roman"/>
                <a:cs typeface="Times New Roman"/>
              </a:rPr>
              <a:t>1st</a:t>
            </a:r>
            <a:r>
              <a:rPr lang="en-US" sz="2400" spc="-10" dirty="0" smtClean="0">
                <a:latin typeface="Times New Roman"/>
                <a:cs typeface="Times New Roman"/>
              </a:rPr>
              <a:t> </a:t>
            </a:r>
            <a:r>
              <a:rPr lang="en-US" sz="2400" spc="-50" dirty="0" smtClean="0">
                <a:latin typeface="Times New Roman"/>
                <a:cs typeface="Times New Roman"/>
              </a:rPr>
              <a:t>millennium</a:t>
            </a:r>
            <a:r>
              <a:rPr lang="en-US" sz="2400" spc="10" dirty="0" smtClean="0">
                <a:latin typeface="Times New Roman"/>
                <a:cs typeface="Times New Roman"/>
              </a:rPr>
              <a:t> </a:t>
            </a:r>
            <a:r>
              <a:rPr lang="en-US" sz="2400" spc="-60" dirty="0" smtClean="0">
                <a:latin typeface="Times New Roman"/>
                <a:cs typeface="Times New Roman"/>
              </a:rPr>
              <a:t>BC</a:t>
            </a:r>
            <a:r>
              <a:rPr lang="en-US" sz="2400" spc="-10" dirty="0" smtClean="0">
                <a:latin typeface="Times New Roman"/>
                <a:cs typeface="Times New Roman"/>
              </a:rPr>
              <a:t> </a:t>
            </a:r>
            <a:r>
              <a:rPr lang="en-US" sz="2400" spc="-50" dirty="0" smtClean="0">
                <a:latin typeface="Times New Roman"/>
                <a:cs typeface="Times New Roman"/>
              </a:rPr>
              <a:t>to</a:t>
            </a:r>
            <a:r>
              <a:rPr lang="en-US" sz="2400" spc="4" dirty="0" smtClean="0">
                <a:latin typeface="Times New Roman"/>
                <a:cs typeface="Times New Roman"/>
              </a:rPr>
              <a:t> </a:t>
            </a:r>
            <a:r>
              <a:rPr lang="en-US" sz="2400" spc="-65" dirty="0" smtClean="0">
                <a:latin typeface="Times New Roman"/>
                <a:cs typeface="Times New Roman"/>
              </a:rPr>
              <a:t>early</a:t>
            </a:r>
            <a:r>
              <a:rPr lang="en-US" sz="2400" spc="-10" dirty="0" smtClean="0">
                <a:latin typeface="Times New Roman"/>
                <a:cs typeface="Times New Roman"/>
              </a:rPr>
              <a:t> </a:t>
            </a:r>
            <a:r>
              <a:rPr lang="en-US" sz="2400" spc="-45" dirty="0" smtClean="0">
                <a:latin typeface="Times New Roman"/>
                <a:cs typeface="Times New Roman"/>
              </a:rPr>
              <a:t>Christian</a:t>
            </a:r>
            <a:r>
              <a:rPr lang="en-US" sz="2400" spc="-4" dirty="0" smtClean="0">
                <a:latin typeface="Times New Roman"/>
                <a:cs typeface="Times New Roman"/>
              </a:rPr>
              <a:t> </a:t>
            </a:r>
            <a:r>
              <a:rPr lang="en-US" sz="2400" spc="-50" dirty="0" smtClean="0">
                <a:latin typeface="Times New Roman"/>
                <a:cs typeface="Times New Roman"/>
              </a:rPr>
              <a:t>era.</a:t>
            </a:r>
            <a:r>
              <a:rPr lang="en-US" sz="2400" spc="20" dirty="0" smtClean="0">
                <a:latin typeface="Times New Roman"/>
                <a:cs typeface="Times New Roman"/>
              </a:rPr>
              <a:t> </a:t>
            </a:r>
          </a:p>
          <a:p>
            <a:pPr marL="355591" marR="5715" indent="-342900" algn="just">
              <a:lnSpc>
                <a:spcPct val="150000"/>
              </a:lnSpc>
              <a:buFont typeface="Arial" panose="020B0604020202020204" pitchFamily="34" charset="0"/>
              <a:buChar char="•"/>
            </a:pPr>
            <a:r>
              <a:rPr lang="en-US" sz="2400" spc="-50" dirty="0" smtClean="0">
                <a:latin typeface="Times New Roman"/>
                <a:cs typeface="Times New Roman"/>
              </a:rPr>
              <a:t>Interestingly,</a:t>
            </a:r>
            <a:r>
              <a:rPr lang="en-US" sz="2400" spc="4" dirty="0" smtClean="0">
                <a:latin typeface="Times New Roman"/>
                <a:cs typeface="Times New Roman"/>
              </a:rPr>
              <a:t> </a:t>
            </a:r>
            <a:r>
              <a:rPr lang="en-US" sz="2400" spc="-55" dirty="0" smtClean="0">
                <a:latin typeface="Times New Roman"/>
                <a:cs typeface="Times New Roman"/>
              </a:rPr>
              <a:t>as</a:t>
            </a:r>
            <a:r>
              <a:rPr lang="en-US" sz="2400" spc="4" dirty="0" smtClean="0">
                <a:latin typeface="Times New Roman"/>
                <a:cs typeface="Times New Roman"/>
              </a:rPr>
              <a:t> </a:t>
            </a:r>
            <a:r>
              <a:rPr lang="en-US" sz="2400" spc="-60" dirty="0" smtClean="0">
                <a:latin typeface="Times New Roman"/>
                <a:cs typeface="Times New Roman"/>
              </a:rPr>
              <a:t>far</a:t>
            </a:r>
            <a:r>
              <a:rPr lang="en-US" sz="2400" dirty="0" smtClean="0">
                <a:latin typeface="Times New Roman"/>
                <a:cs typeface="Times New Roman"/>
              </a:rPr>
              <a:t> </a:t>
            </a:r>
            <a:r>
              <a:rPr lang="en-US" sz="2400" spc="-25" dirty="0" smtClean="0">
                <a:latin typeface="Times New Roman"/>
                <a:cs typeface="Times New Roman"/>
              </a:rPr>
              <a:t>as </a:t>
            </a:r>
            <a:r>
              <a:rPr lang="en-US" sz="2400" b="1" spc="-40" dirty="0" smtClean="0">
                <a:solidFill>
                  <a:srgbClr val="C00000"/>
                </a:solidFill>
                <a:latin typeface="Times New Roman"/>
                <a:cs typeface="Times New Roman"/>
              </a:rPr>
              <a:t>silver</a:t>
            </a:r>
            <a:r>
              <a:rPr lang="en-US" sz="2400" b="1" spc="-30" dirty="0" smtClean="0">
                <a:solidFill>
                  <a:srgbClr val="C00000"/>
                </a:solidFill>
                <a:latin typeface="Times New Roman"/>
                <a:cs typeface="Times New Roman"/>
              </a:rPr>
              <a:t> </a:t>
            </a:r>
            <a:r>
              <a:rPr lang="en-US" sz="2400" b="1" spc="-45" dirty="0" smtClean="0">
                <a:solidFill>
                  <a:srgbClr val="C00000"/>
                </a:solidFill>
                <a:latin typeface="Times New Roman"/>
                <a:cs typeface="Times New Roman"/>
              </a:rPr>
              <a:t>production</a:t>
            </a:r>
            <a:r>
              <a:rPr lang="en-US" sz="2400" b="1" spc="-20" dirty="0" smtClean="0">
                <a:solidFill>
                  <a:srgbClr val="C00000"/>
                </a:solidFill>
                <a:latin typeface="Times New Roman"/>
                <a:cs typeface="Times New Roman"/>
              </a:rPr>
              <a:t> </a:t>
            </a:r>
            <a:r>
              <a:rPr lang="en-US" sz="2400" spc="-45" dirty="0" smtClean="0">
                <a:latin typeface="Times New Roman"/>
                <a:cs typeface="Times New Roman"/>
              </a:rPr>
              <a:t>goes,</a:t>
            </a:r>
            <a:r>
              <a:rPr lang="en-US" sz="2400" spc="-25" dirty="0" smtClean="0">
                <a:latin typeface="Times New Roman"/>
                <a:cs typeface="Times New Roman"/>
              </a:rPr>
              <a:t> </a:t>
            </a:r>
          </a:p>
          <a:p>
            <a:pPr marL="355591" marR="5715" indent="-342900" algn="just">
              <a:lnSpc>
                <a:spcPct val="150000"/>
              </a:lnSpc>
              <a:buFont typeface="Arial" panose="020B0604020202020204" pitchFamily="34" charset="0"/>
              <a:buChar char="•"/>
            </a:pPr>
            <a:r>
              <a:rPr lang="en-US" sz="2400" spc="-45" dirty="0" err="1" smtClean="0">
                <a:solidFill>
                  <a:srgbClr val="C00000"/>
                </a:solidFill>
                <a:latin typeface="Times New Roman"/>
                <a:cs typeface="Times New Roman"/>
              </a:rPr>
              <a:t>Aravalli</a:t>
            </a:r>
            <a:r>
              <a:rPr lang="en-US" sz="2400" spc="-14" dirty="0" smtClean="0">
                <a:solidFill>
                  <a:srgbClr val="C00000"/>
                </a:solidFill>
                <a:latin typeface="Times New Roman"/>
                <a:cs typeface="Times New Roman"/>
              </a:rPr>
              <a:t> </a:t>
            </a:r>
            <a:r>
              <a:rPr lang="en-US" sz="2400" spc="-40" dirty="0" smtClean="0">
                <a:solidFill>
                  <a:srgbClr val="C00000"/>
                </a:solidFill>
                <a:latin typeface="Times New Roman"/>
                <a:cs typeface="Times New Roman"/>
              </a:rPr>
              <a:t>region</a:t>
            </a:r>
            <a:r>
              <a:rPr lang="en-US" sz="2400" spc="-25" dirty="0" smtClean="0">
                <a:solidFill>
                  <a:srgbClr val="C00000"/>
                </a:solidFill>
                <a:latin typeface="Times New Roman"/>
                <a:cs typeface="Times New Roman"/>
              </a:rPr>
              <a:t> </a:t>
            </a:r>
            <a:r>
              <a:rPr lang="en-US" sz="2400" spc="-10" dirty="0" smtClean="0">
                <a:solidFill>
                  <a:srgbClr val="C00000"/>
                </a:solidFill>
                <a:latin typeface="Times New Roman"/>
                <a:cs typeface="Times New Roman"/>
              </a:rPr>
              <a:t>in</a:t>
            </a:r>
            <a:r>
              <a:rPr lang="en-US" sz="2400" spc="-20" dirty="0" smtClean="0">
                <a:solidFill>
                  <a:srgbClr val="C00000"/>
                </a:solidFill>
                <a:latin typeface="Times New Roman"/>
                <a:cs typeface="Times New Roman"/>
              </a:rPr>
              <a:t> </a:t>
            </a:r>
            <a:r>
              <a:rPr lang="en-US" sz="2400" spc="-50" dirty="0" smtClean="0">
                <a:solidFill>
                  <a:srgbClr val="C00000"/>
                </a:solidFill>
                <a:latin typeface="Times New Roman"/>
                <a:cs typeface="Times New Roman"/>
              </a:rPr>
              <a:t>north-</a:t>
            </a:r>
            <a:r>
              <a:rPr lang="en-US" sz="2400" spc="-35" dirty="0" smtClean="0">
                <a:solidFill>
                  <a:srgbClr val="C00000"/>
                </a:solidFill>
                <a:latin typeface="Times New Roman"/>
                <a:cs typeface="Times New Roman"/>
              </a:rPr>
              <a:t>west</a:t>
            </a:r>
            <a:r>
              <a:rPr lang="en-US" sz="2400" spc="-20" dirty="0" smtClean="0">
                <a:solidFill>
                  <a:srgbClr val="C00000"/>
                </a:solidFill>
                <a:latin typeface="Times New Roman"/>
                <a:cs typeface="Times New Roman"/>
              </a:rPr>
              <a:t> </a:t>
            </a:r>
            <a:r>
              <a:rPr lang="en-US" sz="2400" spc="-40" dirty="0" smtClean="0">
                <a:solidFill>
                  <a:srgbClr val="C00000"/>
                </a:solidFill>
                <a:latin typeface="Times New Roman"/>
                <a:cs typeface="Times New Roman"/>
              </a:rPr>
              <a:t>India</a:t>
            </a:r>
            <a:r>
              <a:rPr lang="en-US" sz="2400" spc="-10" dirty="0" smtClean="0">
                <a:solidFill>
                  <a:srgbClr val="C00000"/>
                </a:solidFill>
                <a:latin typeface="Times New Roman"/>
                <a:cs typeface="Times New Roman"/>
              </a:rPr>
              <a:t> </a:t>
            </a:r>
          </a:p>
          <a:p>
            <a:pPr marL="355591" marR="5715" indent="-342900" algn="just">
              <a:lnSpc>
                <a:spcPct val="150000"/>
              </a:lnSpc>
              <a:buFont typeface="Arial" panose="020B0604020202020204" pitchFamily="34" charset="0"/>
              <a:buChar char="•"/>
            </a:pPr>
            <a:r>
              <a:rPr lang="en-US" sz="2400" spc="-45" dirty="0" err="1" smtClean="0">
                <a:solidFill>
                  <a:srgbClr val="C00000"/>
                </a:solidFill>
                <a:latin typeface="Times New Roman"/>
                <a:cs typeface="Times New Roman"/>
              </a:rPr>
              <a:t>Laurion</a:t>
            </a:r>
            <a:r>
              <a:rPr lang="en-US" sz="2400" spc="-25" dirty="0" smtClean="0">
                <a:solidFill>
                  <a:srgbClr val="C00000"/>
                </a:solidFill>
                <a:latin typeface="Times New Roman"/>
                <a:cs typeface="Times New Roman"/>
              </a:rPr>
              <a:t> </a:t>
            </a:r>
            <a:r>
              <a:rPr lang="en-US" sz="2400" spc="-10" dirty="0" smtClean="0">
                <a:solidFill>
                  <a:srgbClr val="C00000"/>
                </a:solidFill>
                <a:latin typeface="Times New Roman"/>
                <a:cs typeface="Times New Roman"/>
              </a:rPr>
              <a:t>in</a:t>
            </a:r>
            <a:r>
              <a:rPr lang="en-US" sz="2400" spc="-20" dirty="0" smtClean="0">
                <a:solidFill>
                  <a:srgbClr val="C00000"/>
                </a:solidFill>
                <a:latin typeface="Times New Roman"/>
                <a:cs typeface="Times New Roman"/>
              </a:rPr>
              <a:t> </a:t>
            </a:r>
            <a:r>
              <a:rPr lang="en-US" sz="2400" spc="-40" dirty="0" smtClean="0">
                <a:solidFill>
                  <a:srgbClr val="C00000"/>
                </a:solidFill>
                <a:latin typeface="Times New Roman"/>
                <a:cs typeface="Times New Roman"/>
              </a:rPr>
              <a:t>Greece</a:t>
            </a:r>
            <a:r>
              <a:rPr lang="en-US" sz="2400" spc="-14" dirty="0" smtClean="0">
                <a:solidFill>
                  <a:srgbClr val="C00000"/>
                </a:solidFill>
                <a:latin typeface="Times New Roman"/>
                <a:cs typeface="Times New Roman"/>
              </a:rPr>
              <a:t> </a:t>
            </a:r>
            <a:r>
              <a:rPr lang="en-US" sz="2400" spc="-40" dirty="0" smtClean="0">
                <a:solidFill>
                  <a:srgbClr val="C00000"/>
                </a:solidFill>
                <a:latin typeface="Times New Roman"/>
                <a:cs typeface="Times New Roman"/>
              </a:rPr>
              <a:t>and</a:t>
            </a:r>
            <a:r>
              <a:rPr lang="en-US" sz="2400" spc="-35" dirty="0" smtClean="0">
                <a:solidFill>
                  <a:srgbClr val="C00000"/>
                </a:solidFill>
                <a:latin typeface="Times New Roman"/>
                <a:cs typeface="Times New Roman"/>
              </a:rPr>
              <a:t> </a:t>
            </a:r>
          </a:p>
          <a:p>
            <a:pPr marL="355591" marR="5715" indent="-342900" algn="just">
              <a:lnSpc>
                <a:spcPct val="150000"/>
              </a:lnSpc>
              <a:buFont typeface="Arial" panose="020B0604020202020204" pitchFamily="34" charset="0"/>
              <a:buChar char="•"/>
            </a:pPr>
            <a:r>
              <a:rPr lang="en-US" sz="2400" spc="-10" dirty="0" smtClean="0">
                <a:solidFill>
                  <a:srgbClr val="C00000"/>
                </a:solidFill>
                <a:latin typeface="Times New Roman"/>
                <a:cs typeface="Times New Roman"/>
              </a:rPr>
              <a:t>Roman </a:t>
            </a:r>
            <a:r>
              <a:rPr lang="en-US" sz="2400" spc="-35" dirty="0" smtClean="0">
                <a:solidFill>
                  <a:srgbClr val="C00000"/>
                </a:solidFill>
                <a:latin typeface="Times New Roman"/>
                <a:cs typeface="Times New Roman"/>
              </a:rPr>
              <a:t>mines </a:t>
            </a:r>
            <a:r>
              <a:rPr lang="en-US" sz="2400" dirty="0" smtClean="0">
                <a:solidFill>
                  <a:srgbClr val="C00000"/>
                </a:solidFill>
                <a:latin typeface="Times New Roman"/>
                <a:cs typeface="Times New Roman"/>
              </a:rPr>
              <a:t>of</a:t>
            </a:r>
            <a:r>
              <a:rPr lang="en-US" sz="2400" spc="-30" dirty="0" smtClean="0">
                <a:solidFill>
                  <a:srgbClr val="C00000"/>
                </a:solidFill>
                <a:latin typeface="Times New Roman"/>
                <a:cs typeface="Times New Roman"/>
              </a:rPr>
              <a:t> Rio </a:t>
            </a:r>
            <a:r>
              <a:rPr lang="en-US" sz="2400" spc="-45" dirty="0" smtClean="0">
                <a:solidFill>
                  <a:srgbClr val="C00000"/>
                </a:solidFill>
                <a:latin typeface="Times New Roman"/>
                <a:cs typeface="Times New Roman"/>
              </a:rPr>
              <a:t>Tinto</a:t>
            </a:r>
            <a:r>
              <a:rPr lang="en-US" sz="2400" spc="-30" dirty="0" smtClean="0">
                <a:solidFill>
                  <a:srgbClr val="C00000"/>
                </a:solidFill>
                <a:latin typeface="Times New Roman"/>
                <a:cs typeface="Times New Roman"/>
              </a:rPr>
              <a:t> </a:t>
            </a:r>
            <a:r>
              <a:rPr lang="en-US" sz="2400" spc="-20" dirty="0" smtClean="0">
                <a:solidFill>
                  <a:srgbClr val="C00000"/>
                </a:solidFill>
                <a:latin typeface="Times New Roman"/>
                <a:cs typeface="Times New Roman"/>
              </a:rPr>
              <a:t>in</a:t>
            </a:r>
            <a:r>
              <a:rPr lang="en-US" sz="2400" spc="-30" dirty="0" smtClean="0">
                <a:solidFill>
                  <a:srgbClr val="C00000"/>
                </a:solidFill>
                <a:latin typeface="Times New Roman"/>
                <a:cs typeface="Times New Roman"/>
              </a:rPr>
              <a:t> </a:t>
            </a:r>
            <a:r>
              <a:rPr lang="en-US" sz="2400" spc="-35" dirty="0" smtClean="0">
                <a:solidFill>
                  <a:srgbClr val="C00000"/>
                </a:solidFill>
                <a:latin typeface="Times New Roman"/>
                <a:cs typeface="Times New Roman"/>
              </a:rPr>
              <a:t>Spain</a:t>
            </a:r>
            <a:r>
              <a:rPr lang="en-US" sz="2400" spc="-14" dirty="0" smtClean="0">
                <a:solidFill>
                  <a:srgbClr val="C00000"/>
                </a:solidFill>
                <a:latin typeface="Times New Roman"/>
                <a:cs typeface="Times New Roman"/>
              </a:rPr>
              <a:t> </a:t>
            </a:r>
          </a:p>
          <a:p>
            <a:pPr marL="12691" marR="5715" algn="just">
              <a:lnSpc>
                <a:spcPct val="150000"/>
              </a:lnSpc>
            </a:pPr>
            <a:r>
              <a:rPr lang="en-US" sz="2400" spc="-35" dirty="0" smtClean="0">
                <a:latin typeface="Times New Roman"/>
                <a:cs typeface="Times New Roman"/>
              </a:rPr>
              <a:t>ranks</a:t>
            </a:r>
            <a:r>
              <a:rPr lang="en-US" sz="2400" spc="-25" dirty="0" smtClean="0">
                <a:latin typeface="Times New Roman"/>
                <a:cs typeface="Times New Roman"/>
              </a:rPr>
              <a:t> </a:t>
            </a:r>
            <a:r>
              <a:rPr lang="en-US" sz="2400" spc="-50" dirty="0" smtClean="0">
                <a:latin typeface="Times New Roman"/>
                <a:cs typeface="Times New Roman"/>
              </a:rPr>
              <a:t>amongst</a:t>
            </a:r>
            <a:r>
              <a:rPr lang="en-US" sz="2400" spc="-25" dirty="0" smtClean="0">
                <a:latin typeface="Times New Roman"/>
                <a:cs typeface="Times New Roman"/>
              </a:rPr>
              <a:t> </a:t>
            </a:r>
            <a:r>
              <a:rPr lang="en-US" sz="2400" spc="-30" dirty="0" smtClean="0">
                <a:latin typeface="Times New Roman"/>
                <a:cs typeface="Times New Roman"/>
              </a:rPr>
              <a:t>the</a:t>
            </a:r>
            <a:r>
              <a:rPr lang="en-US" sz="2400" spc="-25" dirty="0" smtClean="0">
                <a:latin typeface="Times New Roman"/>
                <a:cs typeface="Times New Roman"/>
              </a:rPr>
              <a:t> few</a:t>
            </a:r>
            <a:r>
              <a:rPr lang="en-US" sz="2400" spc="-30" dirty="0" smtClean="0">
                <a:latin typeface="Times New Roman"/>
                <a:cs typeface="Times New Roman"/>
              </a:rPr>
              <a:t> </a:t>
            </a:r>
            <a:r>
              <a:rPr lang="en-US" sz="2400" spc="-40" dirty="0" smtClean="0">
                <a:latin typeface="Times New Roman"/>
                <a:cs typeface="Times New Roman"/>
              </a:rPr>
              <a:t>major</a:t>
            </a:r>
            <a:r>
              <a:rPr lang="en-US" sz="2400" spc="-30" dirty="0" smtClean="0">
                <a:latin typeface="Times New Roman"/>
                <a:cs typeface="Times New Roman"/>
              </a:rPr>
              <a:t> </a:t>
            </a:r>
            <a:r>
              <a:rPr lang="en-US" sz="2400" spc="-40" dirty="0" smtClean="0">
                <a:latin typeface="Times New Roman"/>
                <a:cs typeface="Times New Roman"/>
              </a:rPr>
              <a:t>ancient</a:t>
            </a:r>
            <a:r>
              <a:rPr lang="en-US" sz="2400" spc="-25" dirty="0" smtClean="0">
                <a:latin typeface="Times New Roman"/>
                <a:cs typeface="Times New Roman"/>
              </a:rPr>
              <a:t> </a:t>
            </a:r>
            <a:r>
              <a:rPr lang="en-US" sz="2400" spc="-40" dirty="0" smtClean="0">
                <a:latin typeface="Times New Roman"/>
                <a:cs typeface="Times New Roman"/>
              </a:rPr>
              <a:t>silver</a:t>
            </a:r>
            <a:r>
              <a:rPr lang="en-US" sz="2400" spc="-30" dirty="0" smtClean="0">
                <a:latin typeface="Times New Roman"/>
                <a:cs typeface="Times New Roman"/>
              </a:rPr>
              <a:t> </a:t>
            </a:r>
            <a:r>
              <a:rPr lang="en-US" sz="2400" spc="-45" dirty="0" smtClean="0">
                <a:latin typeface="Times New Roman"/>
                <a:cs typeface="Times New Roman"/>
              </a:rPr>
              <a:t>producing</a:t>
            </a:r>
            <a:r>
              <a:rPr lang="en-US" sz="2400" spc="-30" dirty="0" smtClean="0">
                <a:latin typeface="Times New Roman"/>
                <a:cs typeface="Times New Roman"/>
              </a:rPr>
              <a:t> </a:t>
            </a:r>
            <a:r>
              <a:rPr lang="en-US" sz="2400" spc="-35" dirty="0" smtClean="0">
                <a:latin typeface="Times New Roman"/>
                <a:cs typeface="Times New Roman"/>
              </a:rPr>
              <a:t>sites</a:t>
            </a:r>
            <a:r>
              <a:rPr lang="en-US" sz="2400" spc="-25" dirty="0" smtClean="0">
                <a:latin typeface="Times New Roman"/>
                <a:cs typeface="Times New Roman"/>
              </a:rPr>
              <a:t> </a:t>
            </a:r>
            <a:r>
              <a:rPr lang="en-US" sz="2400" spc="-30" dirty="0" smtClean="0">
                <a:latin typeface="Times New Roman"/>
                <a:cs typeface="Times New Roman"/>
              </a:rPr>
              <a:t>from</a:t>
            </a:r>
            <a:r>
              <a:rPr lang="en-US" sz="2400" spc="-14" dirty="0" smtClean="0">
                <a:latin typeface="Times New Roman"/>
                <a:cs typeface="Times New Roman"/>
              </a:rPr>
              <a:t> </a:t>
            </a:r>
            <a:r>
              <a:rPr lang="en-US" sz="2400" spc="-45" dirty="0" smtClean="0">
                <a:latin typeface="Times New Roman"/>
                <a:cs typeface="Times New Roman"/>
              </a:rPr>
              <a:t>about</a:t>
            </a:r>
            <a:r>
              <a:rPr lang="en-US" sz="2400" spc="-20" dirty="0" smtClean="0">
                <a:latin typeface="Times New Roman"/>
                <a:cs typeface="Times New Roman"/>
              </a:rPr>
              <a:t> </a:t>
            </a:r>
            <a:r>
              <a:rPr lang="en-US" sz="2400" spc="-35" dirty="0" smtClean="0">
                <a:latin typeface="Times New Roman"/>
                <a:cs typeface="Times New Roman"/>
              </a:rPr>
              <a:t>the</a:t>
            </a:r>
            <a:r>
              <a:rPr lang="en-US" sz="2400" spc="-30" dirty="0" smtClean="0">
                <a:latin typeface="Times New Roman"/>
                <a:cs typeface="Times New Roman"/>
              </a:rPr>
              <a:t> </a:t>
            </a:r>
            <a:r>
              <a:rPr lang="en-US" sz="2400" spc="-25" dirty="0" smtClean="0">
                <a:latin typeface="Times New Roman"/>
                <a:cs typeface="Times New Roman"/>
              </a:rPr>
              <a:t>mid </a:t>
            </a:r>
            <a:r>
              <a:rPr lang="en-US" sz="2400" spc="-35" dirty="0" smtClean="0">
                <a:latin typeface="Times New Roman"/>
                <a:cs typeface="Times New Roman"/>
              </a:rPr>
              <a:t>1st</a:t>
            </a:r>
            <a:r>
              <a:rPr lang="en-US" sz="2400" spc="-55" dirty="0" smtClean="0">
                <a:latin typeface="Times New Roman"/>
                <a:cs typeface="Times New Roman"/>
              </a:rPr>
              <a:t> </a:t>
            </a:r>
            <a:r>
              <a:rPr lang="en-US" sz="2400" spc="-50" dirty="0" smtClean="0">
                <a:latin typeface="Times New Roman"/>
                <a:cs typeface="Times New Roman"/>
              </a:rPr>
              <a:t>millennium</a:t>
            </a:r>
            <a:r>
              <a:rPr lang="en-US" sz="2400" spc="-35" dirty="0" smtClean="0">
                <a:latin typeface="Times New Roman"/>
                <a:cs typeface="Times New Roman"/>
              </a:rPr>
              <a:t> </a:t>
            </a:r>
            <a:r>
              <a:rPr lang="en-US" sz="2400" spc="-30" dirty="0" smtClean="0">
                <a:latin typeface="Times New Roman"/>
                <a:cs typeface="Times New Roman"/>
              </a:rPr>
              <a:t>BC</a:t>
            </a:r>
            <a:r>
              <a:rPr lang="en-US" sz="2400" spc="-50" dirty="0" smtClean="0">
                <a:latin typeface="Times New Roman"/>
                <a:cs typeface="Times New Roman"/>
              </a:rPr>
              <a:t> </a:t>
            </a:r>
            <a:r>
              <a:rPr lang="en-US" sz="2400" spc="-10" dirty="0" smtClean="0">
                <a:latin typeface="Times New Roman"/>
                <a:cs typeface="Times New Roman"/>
              </a:rPr>
              <a:t>onwards.</a:t>
            </a:r>
            <a:endParaRPr lang="en-US" sz="2400" dirty="0" smtClean="0">
              <a:latin typeface="Times New Roman"/>
              <a:cs typeface="Times New Roman"/>
            </a:endParaRPr>
          </a:p>
        </p:txBody>
      </p:sp>
    </p:spTree>
    <p:extLst>
      <p:ext uri="{BB962C8B-B14F-4D97-AF65-F5344CB8AC3E}">
        <p14:creationId xmlns:p14="http://schemas.microsoft.com/office/powerpoint/2010/main" val="154741211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1066800" y="892320"/>
            <a:ext cx="8305800" cy="6863353"/>
          </a:xfrm>
          <a:prstGeom prst="rect">
            <a:avLst/>
          </a:prstGeom>
        </p:spPr>
        <p:txBody>
          <a:bodyPr wrap="square" lIns="91378" tIns="45688" rIns="91378" bIns="45688">
            <a:spAutoFit/>
          </a:bodyPr>
          <a:lstStyle/>
          <a:p>
            <a:pPr marL="467031" lvl="2" indent="-454338" algn="ctr">
              <a:buAutoNum type="arabicPeriod" startAt="4"/>
              <a:tabLst>
                <a:tab pos="467031" algn="l"/>
              </a:tabLst>
            </a:pPr>
            <a:r>
              <a:rPr lang="en-US" sz="2800" b="1" u="sng" spc="-40" dirty="0" smtClean="0">
                <a:solidFill>
                  <a:srgbClr val="002060"/>
                </a:solidFill>
                <a:latin typeface="Times New Roman"/>
                <a:cs typeface="Times New Roman"/>
              </a:rPr>
              <a:t>IRON </a:t>
            </a:r>
            <a:r>
              <a:rPr lang="en-US" sz="2800" b="1" u="sng" spc="-50" dirty="0" smtClean="0">
                <a:solidFill>
                  <a:srgbClr val="002060"/>
                </a:solidFill>
                <a:latin typeface="Times New Roman"/>
                <a:cs typeface="Times New Roman"/>
              </a:rPr>
              <a:t>METALLURGY</a:t>
            </a:r>
            <a:r>
              <a:rPr lang="en-US" sz="2800" b="1" u="sng" spc="-45" dirty="0" smtClean="0">
                <a:solidFill>
                  <a:srgbClr val="002060"/>
                </a:solidFill>
                <a:latin typeface="Times New Roman"/>
                <a:cs typeface="Times New Roman"/>
              </a:rPr>
              <a:t> </a:t>
            </a:r>
            <a:r>
              <a:rPr lang="en-US" sz="2800" b="1" u="sng" spc="-35" dirty="0" smtClean="0">
                <a:solidFill>
                  <a:srgbClr val="002060"/>
                </a:solidFill>
                <a:latin typeface="Times New Roman"/>
                <a:cs typeface="Times New Roman"/>
              </a:rPr>
              <a:t>IN</a:t>
            </a:r>
            <a:r>
              <a:rPr lang="en-US" sz="2800" b="1" u="sng" spc="-40" dirty="0" smtClean="0">
                <a:solidFill>
                  <a:srgbClr val="002060"/>
                </a:solidFill>
                <a:latin typeface="Times New Roman"/>
                <a:cs typeface="Times New Roman"/>
              </a:rPr>
              <a:t> </a:t>
            </a:r>
            <a:r>
              <a:rPr lang="en-US" sz="2800" b="1" u="sng" spc="-45" dirty="0" smtClean="0">
                <a:solidFill>
                  <a:srgbClr val="002060"/>
                </a:solidFill>
                <a:latin typeface="Times New Roman"/>
                <a:cs typeface="Times New Roman"/>
              </a:rPr>
              <a:t>ANCIENT</a:t>
            </a:r>
            <a:r>
              <a:rPr lang="en-US" sz="2800" b="1" u="sng" spc="-40" dirty="0" smtClean="0">
                <a:solidFill>
                  <a:srgbClr val="002060"/>
                </a:solidFill>
                <a:latin typeface="Times New Roman"/>
                <a:cs typeface="Times New Roman"/>
              </a:rPr>
              <a:t> </a:t>
            </a:r>
            <a:r>
              <a:rPr lang="en-US" sz="2800" b="1" u="sng" spc="-20" dirty="0" smtClean="0">
                <a:solidFill>
                  <a:srgbClr val="002060"/>
                </a:solidFill>
                <a:latin typeface="Times New Roman"/>
                <a:cs typeface="Times New Roman"/>
              </a:rPr>
              <a:t>INDIA</a:t>
            </a:r>
          </a:p>
          <a:p>
            <a:pPr marL="12693" lvl="2" algn="ctr">
              <a:tabLst>
                <a:tab pos="467031" algn="l"/>
              </a:tabLst>
            </a:pPr>
            <a:endParaRPr lang="en-US" sz="2800" b="1" u="sng" spc="-20" dirty="0">
              <a:solidFill>
                <a:srgbClr val="C00000"/>
              </a:solidFill>
              <a:latin typeface="Times New Roman"/>
              <a:cs typeface="Times New Roman"/>
            </a:endParaRPr>
          </a:p>
          <a:p>
            <a:pPr marL="355591" marR="5080" indent="-342900" algn="just">
              <a:lnSpc>
                <a:spcPct val="150000"/>
              </a:lnSpc>
              <a:spcBef>
                <a:spcPts val="20"/>
              </a:spcBef>
              <a:buFont typeface="Arial" panose="020B0604020202020204" pitchFamily="34" charset="0"/>
              <a:buChar char="•"/>
            </a:pPr>
            <a:r>
              <a:rPr lang="en-US" sz="2400" dirty="0" smtClean="0">
                <a:latin typeface="Times New Roman"/>
                <a:cs typeface="Times New Roman"/>
              </a:rPr>
              <a:t>While</a:t>
            </a:r>
            <a:r>
              <a:rPr lang="en-US" sz="2400" spc="-14" dirty="0">
                <a:latin typeface="Times New Roman"/>
                <a:cs typeface="Times New Roman"/>
              </a:rPr>
              <a:t> </a:t>
            </a:r>
            <a:r>
              <a:rPr lang="en-US" sz="2400" dirty="0" smtClean="0">
                <a:latin typeface="Times New Roman"/>
                <a:cs typeface="Times New Roman"/>
              </a:rPr>
              <a:t>the</a:t>
            </a:r>
            <a:r>
              <a:rPr lang="en-US" sz="2400" spc="4" dirty="0">
                <a:latin typeface="Times New Roman"/>
                <a:cs typeface="Times New Roman"/>
              </a:rPr>
              <a:t> </a:t>
            </a:r>
            <a:r>
              <a:rPr lang="en-US" sz="2400" dirty="0" smtClean="0">
                <a:solidFill>
                  <a:srgbClr val="C00000"/>
                </a:solidFill>
                <a:latin typeface="Times New Roman"/>
                <a:cs typeface="Times New Roman"/>
              </a:rPr>
              <a:t>Indus </a:t>
            </a:r>
            <a:r>
              <a:rPr lang="en-US" sz="2400" spc="-35" dirty="0">
                <a:solidFill>
                  <a:srgbClr val="C00000"/>
                </a:solidFill>
                <a:latin typeface="Times New Roman"/>
                <a:cs typeface="Times New Roman"/>
              </a:rPr>
              <a:t>civilization</a:t>
            </a:r>
            <a:r>
              <a:rPr lang="en-US" sz="2400" dirty="0" smtClean="0">
                <a:solidFill>
                  <a:srgbClr val="C00000"/>
                </a:solidFill>
                <a:latin typeface="Times New Roman"/>
                <a:cs typeface="Times New Roman"/>
              </a:rPr>
              <a:t> </a:t>
            </a:r>
            <a:r>
              <a:rPr lang="en-US" sz="2400" spc="-20" dirty="0">
                <a:solidFill>
                  <a:srgbClr val="C00000"/>
                </a:solidFill>
                <a:latin typeface="Times New Roman"/>
                <a:cs typeface="Times New Roman"/>
              </a:rPr>
              <a:t>belonged</a:t>
            </a:r>
            <a:r>
              <a:rPr lang="en-US" sz="2400" dirty="0" smtClean="0">
                <a:solidFill>
                  <a:srgbClr val="C00000"/>
                </a:solidFill>
                <a:latin typeface="Times New Roman"/>
                <a:cs typeface="Times New Roman"/>
              </a:rPr>
              <a:t> to the</a:t>
            </a:r>
            <a:r>
              <a:rPr lang="en-US" sz="2400" spc="-4" dirty="0">
                <a:solidFill>
                  <a:srgbClr val="C00000"/>
                </a:solidFill>
                <a:latin typeface="Times New Roman"/>
                <a:cs typeface="Times New Roman"/>
              </a:rPr>
              <a:t> </a:t>
            </a:r>
            <a:r>
              <a:rPr lang="en-US" sz="2400" spc="-10" dirty="0">
                <a:solidFill>
                  <a:srgbClr val="C00000"/>
                </a:solidFill>
                <a:latin typeface="Times New Roman"/>
                <a:cs typeface="Times New Roman"/>
              </a:rPr>
              <a:t>Bronze</a:t>
            </a:r>
            <a:r>
              <a:rPr lang="en-US" sz="2400" spc="4" dirty="0">
                <a:solidFill>
                  <a:srgbClr val="C00000"/>
                </a:solidFill>
                <a:latin typeface="Times New Roman"/>
                <a:cs typeface="Times New Roman"/>
              </a:rPr>
              <a:t> </a:t>
            </a:r>
            <a:r>
              <a:rPr lang="en-US" sz="2400" dirty="0" smtClean="0">
                <a:solidFill>
                  <a:srgbClr val="C00000"/>
                </a:solidFill>
                <a:latin typeface="Times New Roman"/>
                <a:cs typeface="Times New Roman"/>
              </a:rPr>
              <a:t>Age, </a:t>
            </a:r>
            <a:r>
              <a:rPr lang="en-US" sz="2400" dirty="0" smtClean="0">
                <a:latin typeface="Times New Roman"/>
                <a:cs typeface="Times New Roman"/>
              </a:rPr>
              <a:t>its</a:t>
            </a:r>
            <a:r>
              <a:rPr lang="en-US" sz="2400" spc="-10" dirty="0">
                <a:latin typeface="Times New Roman"/>
                <a:cs typeface="Times New Roman"/>
              </a:rPr>
              <a:t> </a:t>
            </a:r>
            <a:r>
              <a:rPr lang="en-US" sz="2400" spc="-25" dirty="0">
                <a:latin typeface="Times New Roman"/>
                <a:cs typeface="Times New Roman"/>
              </a:rPr>
              <a:t>successor,</a:t>
            </a:r>
            <a:r>
              <a:rPr lang="en-US" sz="2400" spc="4" dirty="0">
                <a:latin typeface="Times New Roman"/>
                <a:cs typeface="Times New Roman"/>
              </a:rPr>
              <a:t> </a:t>
            </a:r>
            <a:r>
              <a:rPr lang="en-US" sz="2400" dirty="0" smtClean="0">
                <a:latin typeface="Times New Roman"/>
                <a:cs typeface="Times New Roman"/>
              </a:rPr>
              <a:t>the</a:t>
            </a:r>
            <a:r>
              <a:rPr lang="en-US" sz="2400" spc="-4" dirty="0">
                <a:latin typeface="Times New Roman"/>
                <a:cs typeface="Times New Roman"/>
              </a:rPr>
              <a:t> </a:t>
            </a:r>
            <a:r>
              <a:rPr lang="en-US" sz="2400" spc="-10" dirty="0">
                <a:solidFill>
                  <a:srgbClr val="C00000"/>
                </a:solidFill>
                <a:latin typeface="Times New Roman"/>
                <a:cs typeface="Times New Roman"/>
              </a:rPr>
              <a:t>Ganges</a:t>
            </a:r>
            <a:r>
              <a:rPr lang="en-US" sz="2400" spc="4" dirty="0">
                <a:solidFill>
                  <a:srgbClr val="C00000"/>
                </a:solidFill>
                <a:latin typeface="Times New Roman"/>
                <a:cs typeface="Times New Roman"/>
              </a:rPr>
              <a:t> </a:t>
            </a:r>
            <a:r>
              <a:rPr lang="en-US" sz="2400" spc="-25" dirty="0">
                <a:solidFill>
                  <a:srgbClr val="C00000"/>
                </a:solidFill>
                <a:latin typeface="Times New Roman"/>
                <a:cs typeface="Times New Roman"/>
              </a:rPr>
              <a:t>civilization</a:t>
            </a:r>
            <a:r>
              <a:rPr lang="en-US" sz="2400" spc="-30" dirty="0">
                <a:solidFill>
                  <a:srgbClr val="C00000"/>
                </a:solidFill>
                <a:latin typeface="Times New Roman"/>
                <a:cs typeface="Times New Roman"/>
              </a:rPr>
              <a:t> belonged</a:t>
            </a:r>
            <a:r>
              <a:rPr lang="en-US" sz="2400" spc="-20" dirty="0">
                <a:solidFill>
                  <a:srgbClr val="C00000"/>
                </a:solidFill>
                <a:latin typeface="Times New Roman"/>
                <a:cs typeface="Times New Roman"/>
              </a:rPr>
              <a:t> </a:t>
            </a:r>
            <a:r>
              <a:rPr lang="en-US" sz="2400" dirty="0" smtClean="0">
                <a:solidFill>
                  <a:srgbClr val="C00000"/>
                </a:solidFill>
                <a:latin typeface="Times New Roman"/>
                <a:cs typeface="Times New Roman"/>
              </a:rPr>
              <a:t>to</a:t>
            </a:r>
            <a:r>
              <a:rPr lang="en-US" sz="2400" spc="-30" dirty="0">
                <a:solidFill>
                  <a:srgbClr val="C00000"/>
                </a:solidFill>
                <a:latin typeface="Times New Roman"/>
                <a:cs typeface="Times New Roman"/>
              </a:rPr>
              <a:t> </a:t>
            </a:r>
            <a:r>
              <a:rPr lang="en-US" sz="2400" dirty="0" smtClean="0">
                <a:solidFill>
                  <a:srgbClr val="C00000"/>
                </a:solidFill>
                <a:latin typeface="Times New Roman"/>
                <a:cs typeface="Times New Roman"/>
              </a:rPr>
              <a:t>the</a:t>
            </a:r>
            <a:r>
              <a:rPr lang="en-US" sz="2400" spc="-35" dirty="0">
                <a:solidFill>
                  <a:srgbClr val="C00000"/>
                </a:solidFill>
                <a:latin typeface="Times New Roman"/>
                <a:cs typeface="Times New Roman"/>
              </a:rPr>
              <a:t> </a:t>
            </a:r>
            <a:r>
              <a:rPr lang="en-US" sz="2400" spc="-10" dirty="0">
                <a:solidFill>
                  <a:srgbClr val="C00000"/>
                </a:solidFill>
                <a:latin typeface="Times New Roman"/>
                <a:cs typeface="Times New Roman"/>
              </a:rPr>
              <a:t>Iron</a:t>
            </a:r>
            <a:r>
              <a:rPr lang="en-US" sz="2400" spc="-20" dirty="0">
                <a:solidFill>
                  <a:srgbClr val="C00000"/>
                </a:solidFill>
                <a:latin typeface="Times New Roman"/>
                <a:cs typeface="Times New Roman"/>
              </a:rPr>
              <a:t> </a:t>
            </a:r>
            <a:r>
              <a:rPr lang="en-US" sz="2400" dirty="0" smtClean="0">
                <a:solidFill>
                  <a:srgbClr val="C00000"/>
                </a:solidFill>
                <a:latin typeface="Times New Roman"/>
                <a:cs typeface="Times New Roman"/>
              </a:rPr>
              <a:t>Age.</a:t>
            </a:r>
            <a:r>
              <a:rPr lang="en-US" sz="2400" spc="-14" dirty="0">
                <a:solidFill>
                  <a:srgbClr val="C00000"/>
                </a:solidFill>
                <a:latin typeface="Times New Roman"/>
                <a:cs typeface="Times New Roman"/>
              </a:rPr>
              <a:t> </a:t>
            </a:r>
          </a:p>
          <a:p>
            <a:pPr marL="355591" marR="5080" indent="-342900" algn="just">
              <a:lnSpc>
                <a:spcPct val="150000"/>
              </a:lnSpc>
              <a:spcBef>
                <a:spcPts val="20"/>
              </a:spcBef>
              <a:buFont typeface="Arial" panose="020B0604020202020204" pitchFamily="34" charset="0"/>
              <a:buChar char="•"/>
            </a:pPr>
            <a:r>
              <a:rPr lang="en-US" sz="2400" dirty="0" smtClean="0">
                <a:latin typeface="Times New Roman"/>
                <a:cs typeface="Times New Roman"/>
              </a:rPr>
              <a:t>But</a:t>
            </a:r>
            <a:r>
              <a:rPr lang="en-US" sz="2400" spc="-20" dirty="0">
                <a:latin typeface="Times New Roman"/>
                <a:cs typeface="Times New Roman"/>
              </a:rPr>
              <a:t> </a:t>
            </a:r>
            <a:r>
              <a:rPr lang="en-US" sz="2400" spc="-25" dirty="0">
                <a:latin typeface="Times New Roman"/>
                <a:cs typeface="Times New Roman"/>
              </a:rPr>
              <a:t>recent</a:t>
            </a:r>
            <a:r>
              <a:rPr lang="en-US" sz="2400" spc="-20" dirty="0">
                <a:latin typeface="Times New Roman"/>
                <a:cs typeface="Times New Roman"/>
              </a:rPr>
              <a:t> </a:t>
            </a:r>
            <a:r>
              <a:rPr lang="en-US" sz="2400" spc="-40" dirty="0">
                <a:latin typeface="Times New Roman"/>
                <a:cs typeface="Times New Roman"/>
              </a:rPr>
              <a:t>excavations</a:t>
            </a:r>
            <a:r>
              <a:rPr lang="en-US" sz="2400" spc="-20" dirty="0">
                <a:latin typeface="Times New Roman"/>
                <a:cs typeface="Times New Roman"/>
              </a:rPr>
              <a:t> </a:t>
            </a:r>
            <a:r>
              <a:rPr lang="en-US" sz="2400" dirty="0" smtClean="0">
                <a:latin typeface="Times New Roman"/>
                <a:cs typeface="Times New Roman"/>
              </a:rPr>
              <a:t>in</a:t>
            </a:r>
            <a:r>
              <a:rPr lang="en-US" sz="2400" spc="-20" dirty="0">
                <a:latin typeface="Times New Roman"/>
                <a:cs typeface="Times New Roman"/>
              </a:rPr>
              <a:t> </a:t>
            </a:r>
            <a:r>
              <a:rPr lang="en-US" sz="2400" spc="-10" dirty="0">
                <a:latin typeface="Times New Roman"/>
                <a:cs typeface="Times New Roman"/>
              </a:rPr>
              <a:t>central </a:t>
            </a:r>
            <a:r>
              <a:rPr lang="en-US" sz="2400" spc="-55" dirty="0">
                <a:latin typeface="Times New Roman"/>
                <a:cs typeface="Times New Roman"/>
              </a:rPr>
              <a:t>parts</a:t>
            </a:r>
            <a:r>
              <a:rPr lang="en-US" sz="2400" spc="-10" dirty="0">
                <a:latin typeface="Times New Roman"/>
                <a:cs typeface="Times New Roman"/>
              </a:rPr>
              <a:t> </a:t>
            </a:r>
            <a:r>
              <a:rPr lang="en-US" sz="2400" spc="-50" dirty="0">
                <a:latin typeface="Times New Roman"/>
                <a:cs typeface="Times New Roman"/>
              </a:rPr>
              <a:t>of</a:t>
            </a:r>
            <a:r>
              <a:rPr lang="en-US" sz="2400" spc="-10" dirty="0">
                <a:latin typeface="Times New Roman"/>
                <a:cs typeface="Times New Roman"/>
              </a:rPr>
              <a:t> </a:t>
            </a:r>
            <a:r>
              <a:rPr lang="en-US" sz="2400" spc="-45" dirty="0">
                <a:latin typeface="Times New Roman"/>
                <a:cs typeface="Times New Roman"/>
              </a:rPr>
              <a:t>the</a:t>
            </a:r>
            <a:r>
              <a:rPr lang="en-US" sz="2400" spc="4" dirty="0">
                <a:latin typeface="Times New Roman"/>
                <a:cs typeface="Times New Roman"/>
              </a:rPr>
              <a:t> </a:t>
            </a:r>
            <a:r>
              <a:rPr lang="en-US" sz="2400" spc="-55" dirty="0">
                <a:latin typeface="Times New Roman"/>
                <a:cs typeface="Times New Roman"/>
              </a:rPr>
              <a:t>Ganges</a:t>
            </a:r>
            <a:r>
              <a:rPr lang="en-US" sz="2400" spc="14" dirty="0">
                <a:latin typeface="Times New Roman"/>
                <a:cs typeface="Times New Roman"/>
              </a:rPr>
              <a:t> </a:t>
            </a:r>
            <a:r>
              <a:rPr lang="en-US" sz="2400" spc="-55" dirty="0">
                <a:latin typeface="Times New Roman"/>
                <a:cs typeface="Times New Roman"/>
              </a:rPr>
              <a:t>valley</a:t>
            </a:r>
            <a:r>
              <a:rPr lang="en-US" sz="2400" spc="-20" dirty="0">
                <a:latin typeface="Times New Roman"/>
                <a:cs typeface="Times New Roman"/>
              </a:rPr>
              <a:t> </a:t>
            </a:r>
            <a:r>
              <a:rPr lang="en-US" sz="2400" spc="-45" dirty="0">
                <a:latin typeface="Times New Roman"/>
                <a:cs typeface="Times New Roman"/>
              </a:rPr>
              <a:t>and</a:t>
            </a:r>
            <a:r>
              <a:rPr lang="en-US" sz="2400" spc="14" dirty="0">
                <a:latin typeface="Times New Roman"/>
                <a:cs typeface="Times New Roman"/>
              </a:rPr>
              <a:t> </a:t>
            </a:r>
            <a:r>
              <a:rPr lang="en-US" sz="2400" spc="-50" dirty="0">
                <a:latin typeface="Times New Roman"/>
                <a:cs typeface="Times New Roman"/>
              </a:rPr>
              <a:t>in</a:t>
            </a:r>
            <a:r>
              <a:rPr lang="en-US" sz="2400" spc="14" dirty="0">
                <a:latin typeface="Times New Roman"/>
                <a:cs typeface="Times New Roman"/>
              </a:rPr>
              <a:t> </a:t>
            </a:r>
            <a:r>
              <a:rPr lang="en-US" sz="2400" spc="-50" dirty="0">
                <a:latin typeface="Times New Roman"/>
                <a:cs typeface="Times New Roman"/>
              </a:rPr>
              <a:t>the</a:t>
            </a:r>
            <a:r>
              <a:rPr lang="en-US" sz="2400" spc="4" dirty="0">
                <a:latin typeface="Times New Roman"/>
                <a:cs typeface="Times New Roman"/>
              </a:rPr>
              <a:t> </a:t>
            </a:r>
            <a:r>
              <a:rPr lang="en-US" sz="2400" spc="-55" dirty="0">
                <a:latin typeface="Times New Roman"/>
                <a:cs typeface="Times New Roman"/>
              </a:rPr>
              <a:t>eastern</a:t>
            </a:r>
            <a:r>
              <a:rPr lang="en-US" sz="2400" spc="14" dirty="0">
                <a:latin typeface="Times New Roman"/>
                <a:cs typeface="Times New Roman"/>
              </a:rPr>
              <a:t> </a:t>
            </a:r>
            <a:r>
              <a:rPr lang="en-US" sz="2400" spc="-50" dirty="0">
                <a:latin typeface="Times New Roman"/>
                <a:cs typeface="Times New Roman"/>
              </a:rPr>
              <a:t>Vindhya</a:t>
            </a:r>
            <a:r>
              <a:rPr lang="en-US" sz="2400" spc="4" dirty="0">
                <a:latin typeface="Times New Roman"/>
                <a:cs typeface="Times New Roman"/>
              </a:rPr>
              <a:t> </a:t>
            </a:r>
            <a:r>
              <a:rPr lang="en-US" sz="2400" spc="-55" dirty="0">
                <a:latin typeface="Times New Roman"/>
                <a:cs typeface="Times New Roman"/>
              </a:rPr>
              <a:t>hills</a:t>
            </a:r>
            <a:r>
              <a:rPr lang="en-US" sz="2400" spc="-4" dirty="0">
                <a:latin typeface="Times New Roman"/>
                <a:cs typeface="Times New Roman"/>
              </a:rPr>
              <a:t> </a:t>
            </a:r>
            <a:r>
              <a:rPr lang="en-US" sz="2400" spc="-55" dirty="0">
                <a:latin typeface="Times New Roman"/>
                <a:cs typeface="Times New Roman"/>
              </a:rPr>
              <a:t>have</a:t>
            </a:r>
            <a:r>
              <a:rPr lang="en-US" sz="2400" spc="-10" dirty="0">
                <a:latin typeface="Times New Roman"/>
                <a:cs typeface="Times New Roman"/>
              </a:rPr>
              <a:t> </a:t>
            </a:r>
            <a:r>
              <a:rPr lang="en-US" sz="2400" spc="-50" dirty="0">
                <a:latin typeface="Times New Roman"/>
                <a:cs typeface="Times New Roman"/>
              </a:rPr>
              <a:t>shown</a:t>
            </a:r>
            <a:r>
              <a:rPr lang="en-US" sz="2400" spc="-4" dirty="0">
                <a:latin typeface="Times New Roman"/>
                <a:cs typeface="Times New Roman"/>
              </a:rPr>
              <a:t> </a:t>
            </a:r>
            <a:r>
              <a:rPr lang="en-US" sz="2400" spc="-50" dirty="0">
                <a:latin typeface="Times New Roman"/>
                <a:cs typeface="Times New Roman"/>
              </a:rPr>
              <a:t>that</a:t>
            </a:r>
            <a:r>
              <a:rPr lang="en-US" sz="2400" dirty="0" smtClean="0">
                <a:latin typeface="Times New Roman"/>
                <a:cs typeface="Times New Roman"/>
              </a:rPr>
              <a:t> </a:t>
            </a:r>
            <a:r>
              <a:rPr lang="en-US" sz="2400" spc="-55" dirty="0">
                <a:solidFill>
                  <a:srgbClr val="C00000"/>
                </a:solidFill>
                <a:latin typeface="Times New Roman"/>
                <a:cs typeface="Times New Roman"/>
              </a:rPr>
              <a:t>iron</a:t>
            </a:r>
            <a:r>
              <a:rPr lang="en-US" sz="2400" spc="-4" dirty="0">
                <a:solidFill>
                  <a:srgbClr val="C00000"/>
                </a:solidFill>
                <a:latin typeface="Times New Roman"/>
                <a:cs typeface="Times New Roman"/>
              </a:rPr>
              <a:t> </a:t>
            </a:r>
            <a:r>
              <a:rPr lang="en-US" sz="2400" spc="-45" dirty="0">
                <a:solidFill>
                  <a:srgbClr val="C00000"/>
                </a:solidFill>
                <a:latin typeface="Times New Roman"/>
                <a:cs typeface="Times New Roman"/>
              </a:rPr>
              <a:t>was</a:t>
            </a:r>
            <a:r>
              <a:rPr lang="en-US" sz="2400" spc="10" dirty="0">
                <a:solidFill>
                  <a:srgbClr val="C00000"/>
                </a:solidFill>
                <a:latin typeface="Times New Roman"/>
                <a:cs typeface="Times New Roman"/>
              </a:rPr>
              <a:t> </a:t>
            </a:r>
            <a:r>
              <a:rPr lang="en-US" sz="2400" spc="-45" dirty="0">
                <a:solidFill>
                  <a:srgbClr val="C00000"/>
                </a:solidFill>
                <a:latin typeface="Times New Roman"/>
                <a:cs typeface="Times New Roman"/>
              </a:rPr>
              <a:t>produced</a:t>
            </a:r>
            <a:r>
              <a:rPr lang="en-US" sz="2400" spc="-4" dirty="0">
                <a:solidFill>
                  <a:srgbClr val="C00000"/>
                </a:solidFill>
                <a:latin typeface="Times New Roman"/>
                <a:cs typeface="Times New Roman"/>
              </a:rPr>
              <a:t> </a:t>
            </a:r>
            <a:r>
              <a:rPr lang="en-US" sz="2400" spc="-55" dirty="0">
                <a:solidFill>
                  <a:srgbClr val="C00000"/>
                </a:solidFill>
                <a:latin typeface="Times New Roman"/>
                <a:cs typeface="Times New Roman"/>
              </a:rPr>
              <a:t>there</a:t>
            </a:r>
            <a:r>
              <a:rPr lang="en-US" sz="2400" spc="-10" dirty="0">
                <a:solidFill>
                  <a:srgbClr val="C00000"/>
                </a:solidFill>
                <a:latin typeface="Times New Roman"/>
                <a:cs typeface="Times New Roman"/>
              </a:rPr>
              <a:t> possibly as</a:t>
            </a:r>
            <a:r>
              <a:rPr lang="en-US" sz="2400" spc="-65" dirty="0">
                <a:solidFill>
                  <a:srgbClr val="C00000"/>
                </a:solidFill>
                <a:latin typeface="Times New Roman"/>
                <a:cs typeface="Times New Roman"/>
              </a:rPr>
              <a:t> </a:t>
            </a:r>
            <a:r>
              <a:rPr lang="en-US" sz="2400" spc="-50" dirty="0">
                <a:solidFill>
                  <a:srgbClr val="C00000"/>
                </a:solidFill>
                <a:latin typeface="Times New Roman"/>
                <a:cs typeface="Times New Roman"/>
              </a:rPr>
              <a:t>early</a:t>
            </a:r>
            <a:r>
              <a:rPr lang="en-US" sz="2400" spc="-25" dirty="0">
                <a:solidFill>
                  <a:srgbClr val="C00000"/>
                </a:solidFill>
                <a:latin typeface="Times New Roman"/>
                <a:cs typeface="Times New Roman"/>
              </a:rPr>
              <a:t> </a:t>
            </a:r>
            <a:r>
              <a:rPr lang="en-US" sz="2400" spc="-10" dirty="0">
                <a:solidFill>
                  <a:srgbClr val="C00000"/>
                </a:solidFill>
                <a:latin typeface="Times New Roman"/>
                <a:cs typeface="Times New Roman"/>
              </a:rPr>
              <a:t>as</a:t>
            </a:r>
            <a:r>
              <a:rPr lang="en-US" sz="2400" spc="-30" dirty="0">
                <a:solidFill>
                  <a:srgbClr val="C00000"/>
                </a:solidFill>
                <a:latin typeface="Times New Roman"/>
                <a:cs typeface="Times New Roman"/>
              </a:rPr>
              <a:t> </a:t>
            </a:r>
            <a:r>
              <a:rPr lang="en-US" sz="2400" dirty="0" smtClean="0">
                <a:solidFill>
                  <a:srgbClr val="C00000"/>
                </a:solidFill>
                <a:latin typeface="Times New Roman"/>
                <a:cs typeface="Times New Roman"/>
              </a:rPr>
              <a:t>in</a:t>
            </a:r>
            <a:r>
              <a:rPr lang="en-US" sz="2400" spc="-25" dirty="0">
                <a:solidFill>
                  <a:srgbClr val="C00000"/>
                </a:solidFill>
                <a:latin typeface="Times New Roman"/>
                <a:cs typeface="Times New Roman"/>
              </a:rPr>
              <a:t> 1800 </a:t>
            </a:r>
            <a:r>
              <a:rPr lang="en-US" sz="2400" spc="-40" dirty="0">
                <a:solidFill>
                  <a:srgbClr val="C00000"/>
                </a:solidFill>
                <a:latin typeface="Times New Roman"/>
                <a:cs typeface="Times New Roman"/>
              </a:rPr>
              <a:t>BCE</a:t>
            </a:r>
            <a:r>
              <a:rPr lang="en-US" sz="2400" spc="-40" dirty="0">
                <a:latin typeface="Times New Roman"/>
                <a:cs typeface="Times New Roman"/>
              </a:rPr>
              <a:t>.</a:t>
            </a:r>
            <a:r>
              <a:rPr lang="en-US" sz="2400" spc="-25" dirty="0">
                <a:latin typeface="Times New Roman"/>
                <a:cs typeface="Times New Roman"/>
              </a:rPr>
              <a:t> </a:t>
            </a:r>
            <a:endParaRPr lang="en-US" sz="2400" spc="-25" dirty="0" smtClean="0">
              <a:latin typeface="Times New Roman"/>
              <a:cs typeface="Times New Roman"/>
            </a:endParaRPr>
          </a:p>
          <a:p>
            <a:pPr marL="355591" marR="5080" indent="-342900" algn="just">
              <a:lnSpc>
                <a:spcPct val="150000"/>
              </a:lnSpc>
              <a:spcBef>
                <a:spcPts val="20"/>
              </a:spcBef>
              <a:buFont typeface="Arial" panose="020B0604020202020204" pitchFamily="34" charset="0"/>
              <a:buChar char="•"/>
            </a:pPr>
            <a:r>
              <a:rPr lang="en-US" sz="2400" spc="-35" dirty="0" smtClean="0">
                <a:latin typeface="Times New Roman"/>
                <a:cs typeface="Times New Roman"/>
              </a:rPr>
              <a:t>Its</a:t>
            </a:r>
            <a:r>
              <a:rPr lang="en-US" sz="2400" spc="-20" dirty="0" smtClean="0">
                <a:latin typeface="Times New Roman"/>
                <a:cs typeface="Times New Roman"/>
              </a:rPr>
              <a:t> </a:t>
            </a:r>
            <a:r>
              <a:rPr lang="en-US" sz="2400" spc="-20" dirty="0">
                <a:latin typeface="Times New Roman"/>
                <a:cs typeface="Times New Roman"/>
              </a:rPr>
              <a:t>use</a:t>
            </a:r>
            <a:r>
              <a:rPr lang="en-US" sz="2400" spc="-25" dirty="0">
                <a:latin typeface="Times New Roman"/>
                <a:cs typeface="Times New Roman"/>
              </a:rPr>
              <a:t> </a:t>
            </a:r>
            <a:r>
              <a:rPr lang="en-US" sz="2400" spc="-50" dirty="0">
                <a:latin typeface="Times New Roman"/>
                <a:cs typeface="Times New Roman"/>
              </a:rPr>
              <a:t>appears</a:t>
            </a:r>
            <a:r>
              <a:rPr lang="en-US" sz="2400" spc="-20" dirty="0">
                <a:latin typeface="Times New Roman"/>
                <a:cs typeface="Times New Roman"/>
              </a:rPr>
              <a:t> to</a:t>
            </a:r>
            <a:r>
              <a:rPr lang="en-US" sz="2400" spc="-25" dirty="0">
                <a:latin typeface="Times New Roman"/>
                <a:cs typeface="Times New Roman"/>
              </a:rPr>
              <a:t> </a:t>
            </a:r>
            <a:r>
              <a:rPr lang="en-US" sz="2400" spc="-40" dirty="0">
                <a:latin typeface="Times New Roman"/>
                <a:cs typeface="Times New Roman"/>
              </a:rPr>
              <a:t>have</a:t>
            </a:r>
            <a:r>
              <a:rPr lang="en-US" sz="2400" spc="-25" dirty="0">
                <a:latin typeface="Times New Roman"/>
                <a:cs typeface="Times New Roman"/>
              </a:rPr>
              <a:t> </a:t>
            </a:r>
            <a:r>
              <a:rPr lang="en-US" sz="2400" spc="-40" dirty="0">
                <a:latin typeface="Times New Roman"/>
                <a:cs typeface="Times New Roman"/>
              </a:rPr>
              <a:t>become</a:t>
            </a:r>
            <a:r>
              <a:rPr lang="en-US" sz="2400" spc="-25" dirty="0">
                <a:latin typeface="Times New Roman"/>
                <a:cs typeface="Times New Roman"/>
              </a:rPr>
              <a:t> </a:t>
            </a:r>
            <a:r>
              <a:rPr lang="en-US" sz="2400" spc="-45" dirty="0">
                <a:latin typeface="Times New Roman"/>
                <a:cs typeface="Times New Roman"/>
              </a:rPr>
              <a:t>widespread</a:t>
            </a:r>
            <a:r>
              <a:rPr lang="en-US" sz="2400" spc="-25" dirty="0">
                <a:latin typeface="Times New Roman"/>
                <a:cs typeface="Times New Roman"/>
              </a:rPr>
              <a:t> </a:t>
            </a:r>
            <a:r>
              <a:rPr lang="en-US" sz="2400" spc="-35" dirty="0">
                <a:latin typeface="Times New Roman"/>
                <a:cs typeface="Times New Roman"/>
              </a:rPr>
              <a:t>from</a:t>
            </a:r>
            <a:r>
              <a:rPr lang="en-US" sz="2400" spc="-20" dirty="0">
                <a:latin typeface="Times New Roman"/>
                <a:cs typeface="Times New Roman"/>
              </a:rPr>
              <a:t> </a:t>
            </a:r>
            <a:r>
              <a:rPr lang="en-US" sz="2400" spc="-45" dirty="0">
                <a:latin typeface="Times New Roman"/>
                <a:cs typeface="Times New Roman"/>
              </a:rPr>
              <a:t>about</a:t>
            </a:r>
            <a:r>
              <a:rPr lang="en-US" sz="2400" spc="-30" dirty="0">
                <a:latin typeface="Times New Roman"/>
                <a:cs typeface="Times New Roman"/>
              </a:rPr>
              <a:t> </a:t>
            </a:r>
            <a:r>
              <a:rPr lang="en-US" sz="2400" spc="-25" dirty="0">
                <a:latin typeface="Times New Roman"/>
                <a:cs typeface="Times New Roman"/>
              </a:rPr>
              <a:t>1000 </a:t>
            </a:r>
            <a:r>
              <a:rPr lang="en-US" sz="2400" spc="-40" dirty="0">
                <a:latin typeface="Times New Roman"/>
                <a:cs typeface="Times New Roman"/>
              </a:rPr>
              <a:t>BCE,</a:t>
            </a:r>
            <a:r>
              <a:rPr lang="en-US" sz="2400" spc="-25" dirty="0">
                <a:latin typeface="Times New Roman"/>
                <a:cs typeface="Times New Roman"/>
              </a:rPr>
              <a:t> and </a:t>
            </a:r>
            <a:r>
              <a:rPr lang="en-US" sz="2400" spc="-10" dirty="0">
                <a:latin typeface="Times New Roman"/>
                <a:cs typeface="Times New Roman"/>
              </a:rPr>
              <a:t>we</a:t>
            </a:r>
            <a:r>
              <a:rPr lang="en-US" sz="2400" spc="-25" dirty="0">
                <a:latin typeface="Times New Roman"/>
                <a:cs typeface="Times New Roman"/>
              </a:rPr>
              <a:t> </a:t>
            </a:r>
            <a:r>
              <a:rPr lang="en-US" sz="2400" spc="-45" dirty="0">
                <a:latin typeface="Times New Roman"/>
                <a:cs typeface="Times New Roman"/>
              </a:rPr>
              <a:t>find</a:t>
            </a:r>
            <a:r>
              <a:rPr lang="en-US" sz="2400" spc="-30" dirty="0">
                <a:latin typeface="Times New Roman"/>
                <a:cs typeface="Times New Roman"/>
              </a:rPr>
              <a:t> </a:t>
            </a:r>
            <a:r>
              <a:rPr lang="en-US" sz="2400" spc="-25" dirty="0">
                <a:latin typeface="Times New Roman"/>
                <a:cs typeface="Times New Roman"/>
              </a:rPr>
              <a:t>in </a:t>
            </a:r>
            <a:r>
              <a:rPr lang="en-US" sz="2400" spc="-50" dirty="0">
                <a:latin typeface="Times New Roman"/>
                <a:cs typeface="Times New Roman"/>
              </a:rPr>
              <a:t>late</a:t>
            </a:r>
            <a:r>
              <a:rPr lang="en-US" sz="2400" spc="-25" dirty="0">
                <a:latin typeface="Times New Roman"/>
                <a:cs typeface="Times New Roman"/>
              </a:rPr>
              <a:t> </a:t>
            </a:r>
            <a:r>
              <a:rPr lang="en-US" sz="2400" spc="-50" dirty="0">
                <a:latin typeface="Times New Roman"/>
                <a:cs typeface="Times New Roman"/>
              </a:rPr>
              <a:t>Vedic</a:t>
            </a:r>
            <a:r>
              <a:rPr lang="en-US" sz="2400" spc="-25" dirty="0">
                <a:latin typeface="Times New Roman"/>
                <a:cs typeface="Times New Roman"/>
              </a:rPr>
              <a:t> </a:t>
            </a:r>
            <a:r>
              <a:rPr lang="en-US" sz="2400" spc="-50" dirty="0">
                <a:latin typeface="Times New Roman"/>
                <a:cs typeface="Times New Roman"/>
              </a:rPr>
              <a:t>texts</a:t>
            </a:r>
            <a:r>
              <a:rPr lang="en-US" sz="2400" spc="-4" dirty="0">
                <a:latin typeface="Times New Roman"/>
                <a:cs typeface="Times New Roman"/>
              </a:rPr>
              <a:t> </a:t>
            </a:r>
            <a:r>
              <a:rPr lang="en-US" sz="2400" spc="-55" dirty="0">
                <a:latin typeface="Times New Roman"/>
                <a:cs typeface="Times New Roman"/>
              </a:rPr>
              <a:t>mentions</a:t>
            </a:r>
            <a:r>
              <a:rPr lang="en-US" sz="2400" dirty="0" smtClean="0">
                <a:latin typeface="Times New Roman"/>
                <a:cs typeface="Times New Roman"/>
              </a:rPr>
              <a:t> </a:t>
            </a:r>
            <a:r>
              <a:rPr lang="en-US" sz="2400" spc="-35" dirty="0">
                <a:latin typeface="Times New Roman"/>
                <a:cs typeface="Times New Roman"/>
              </a:rPr>
              <a:t>of</a:t>
            </a:r>
            <a:r>
              <a:rPr lang="en-US" sz="2400" spc="4" dirty="0">
                <a:latin typeface="Times New Roman"/>
                <a:cs typeface="Times New Roman"/>
              </a:rPr>
              <a:t> </a:t>
            </a:r>
            <a:r>
              <a:rPr lang="en-US" sz="2400" dirty="0" smtClean="0">
                <a:solidFill>
                  <a:srgbClr val="C00000"/>
                </a:solidFill>
                <a:latin typeface="Times New Roman"/>
                <a:cs typeface="Times New Roman"/>
              </a:rPr>
              <a:t>a </a:t>
            </a:r>
            <a:r>
              <a:rPr lang="en-US" sz="2400" b="1" spc="-95" dirty="0" smtClean="0">
                <a:solidFill>
                  <a:srgbClr val="C00000"/>
                </a:solidFill>
                <a:latin typeface="Times New Roman"/>
                <a:cs typeface="Times New Roman"/>
              </a:rPr>
              <a:t>‘DARK</a:t>
            </a:r>
            <a:r>
              <a:rPr lang="en-US" sz="2400" b="1" spc="20" dirty="0" smtClean="0">
                <a:solidFill>
                  <a:srgbClr val="C00000"/>
                </a:solidFill>
                <a:latin typeface="Times New Roman"/>
                <a:cs typeface="Times New Roman"/>
              </a:rPr>
              <a:t> </a:t>
            </a:r>
            <a:r>
              <a:rPr lang="en-US" sz="2400" b="1" spc="-55" dirty="0" smtClean="0">
                <a:solidFill>
                  <a:srgbClr val="C00000"/>
                </a:solidFill>
                <a:latin typeface="Times New Roman"/>
                <a:cs typeface="Times New Roman"/>
              </a:rPr>
              <a:t>METAL’</a:t>
            </a:r>
            <a:r>
              <a:rPr lang="en-US" sz="2400" b="1" spc="-4" dirty="0" smtClean="0">
                <a:solidFill>
                  <a:srgbClr val="C00000"/>
                </a:solidFill>
                <a:latin typeface="Times New Roman"/>
                <a:cs typeface="Times New Roman"/>
              </a:rPr>
              <a:t> </a:t>
            </a:r>
            <a:r>
              <a:rPr lang="en-US" sz="2400" spc="-45" dirty="0" smtClean="0">
                <a:solidFill>
                  <a:srgbClr val="C00000"/>
                </a:solidFill>
                <a:latin typeface="Times New Roman"/>
                <a:cs typeface="Times New Roman"/>
              </a:rPr>
              <a:t>(</a:t>
            </a:r>
            <a:r>
              <a:rPr lang="en-US" sz="2400" spc="-45" dirty="0" err="1">
                <a:solidFill>
                  <a:srgbClr val="C00000"/>
                </a:solidFill>
                <a:latin typeface="Times New Roman"/>
                <a:cs typeface="Times New Roman"/>
              </a:rPr>
              <a:t>krṣnāyas</a:t>
            </a:r>
            <a:r>
              <a:rPr lang="en-US" sz="2400" spc="-45" dirty="0">
                <a:solidFill>
                  <a:srgbClr val="C00000"/>
                </a:solidFill>
                <a:latin typeface="Times New Roman"/>
                <a:cs typeface="Times New Roman"/>
              </a:rPr>
              <a:t>),</a:t>
            </a:r>
            <a:r>
              <a:rPr lang="en-US" sz="2400" spc="4" dirty="0">
                <a:solidFill>
                  <a:srgbClr val="C00000"/>
                </a:solidFill>
                <a:latin typeface="Times New Roman"/>
                <a:cs typeface="Times New Roman"/>
              </a:rPr>
              <a:t> </a:t>
            </a:r>
            <a:r>
              <a:rPr lang="en-US" sz="2400" spc="-50" dirty="0">
                <a:latin typeface="Times New Roman"/>
                <a:cs typeface="Times New Roman"/>
              </a:rPr>
              <a:t>while</a:t>
            </a:r>
            <a:r>
              <a:rPr lang="en-US" sz="2400" spc="4" dirty="0">
                <a:latin typeface="Times New Roman"/>
                <a:cs typeface="Times New Roman"/>
              </a:rPr>
              <a:t> </a:t>
            </a:r>
            <a:r>
              <a:rPr lang="en-US" sz="2400" spc="-50" dirty="0">
                <a:latin typeface="Times New Roman"/>
                <a:cs typeface="Times New Roman"/>
              </a:rPr>
              <a:t>earliest</a:t>
            </a:r>
            <a:r>
              <a:rPr lang="en-US" sz="2400" dirty="0" smtClean="0">
                <a:latin typeface="Times New Roman"/>
                <a:cs typeface="Times New Roman"/>
              </a:rPr>
              <a:t> </a:t>
            </a:r>
            <a:r>
              <a:rPr lang="en-US" sz="2400" spc="-50" dirty="0">
                <a:latin typeface="Times New Roman"/>
                <a:cs typeface="Times New Roman"/>
              </a:rPr>
              <a:t>texts</a:t>
            </a:r>
            <a:r>
              <a:rPr lang="en-US" sz="2400" spc="-4" dirty="0">
                <a:latin typeface="Times New Roman"/>
                <a:cs typeface="Times New Roman"/>
              </a:rPr>
              <a:t> </a:t>
            </a:r>
            <a:r>
              <a:rPr lang="en-US" sz="2400" spc="-40" dirty="0">
                <a:latin typeface="Times New Roman"/>
                <a:cs typeface="Times New Roman"/>
              </a:rPr>
              <a:t>(such</a:t>
            </a:r>
            <a:r>
              <a:rPr lang="en-US" sz="2400" spc="10" dirty="0">
                <a:latin typeface="Times New Roman"/>
                <a:cs typeface="Times New Roman"/>
              </a:rPr>
              <a:t> </a:t>
            </a:r>
            <a:r>
              <a:rPr lang="en-US" sz="2400" spc="-45" dirty="0">
                <a:latin typeface="Times New Roman"/>
                <a:cs typeface="Times New Roman"/>
              </a:rPr>
              <a:t>as</a:t>
            </a:r>
            <a:r>
              <a:rPr lang="en-US" sz="2400" spc="10" dirty="0">
                <a:latin typeface="Times New Roman"/>
                <a:cs typeface="Times New Roman"/>
              </a:rPr>
              <a:t> </a:t>
            </a:r>
            <a:r>
              <a:rPr lang="en-US" sz="2400" spc="-50" dirty="0">
                <a:latin typeface="Times New Roman"/>
                <a:cs typeface="Times New Roman"/>
              </a:rPr>
              <a:t>the</a:t>
            </a:r>
            <a:r>
              <a:rPr lang="en-US" sz="2400" spc="-10" dirty="0">
                <a:latin typeface="Times New Roman"/>
                <a:cs typeface="Times New Roman"/>
              </a:rPr>
              <a:t> </a:t>
            </a:r>
            <a:r>
              <a:rPr lang="en-US" sz="2400" spc="-50" dirty="0">
                <a:latin typeface="Times New Roman"/>
                <a:cs typeface="Times New Roman"/>
              </a:rPr>
              <a:t>Rig-</a:t>
            </a:r>
            <a:r>
              <a:rPr lang="en-US" sz="2400" spc="-45" dirty="0">
                <a:latin typeface="Times New Roman"/>
                <a:cs typeface="Times New Roman"/>
              </a:rPr>
              <a:t>Veda)</a:t>
            </a:r>
            <a:r>
              <a:rPr lang="en-US" sz="2400" spc="-4" dirty="0">
                <a:latin typeface="Times New Roman"/>
                <a:cs typeface="Times New Roman"/>
              </a:rPr>
              <a:t> </a:t>
            </a:r>
            <a:r>
              <a:rPr lang="en-US" sz="2400" spc="-50" dirty="0">
                <a:latin typeface="Times New Roman"/>
                <a:cs typeface="Times New Roman"/>
              </a:rPr>
              <a:t>only</a:t>
            </a:r>
            <a:r>
              <a:rPr lang="en-US" sz="2400" spc="-25" dirty="0">
                <a:latin typeface="Times New Roman"/>
                <a:cs typeface="Times New Roman"/>
              </a:rPr>
              <a:t> </a:t>
            </a:r>
            <a:r>
              <a:rPr lang="en-US" sz="2400" spc="-10" dirty="0">
                <a:latin typeface="Times New Roman"/>
                <a:cs typeface="Times New Roman"/>
              </a:rPr>
              <a:t>spoke </a:t>
            </a:r>
            <a:r>
              <a:rPr lang="en-US" sz="2400" dirty="0" smtClean="0">
                <a:latin typeface="Times New Roman"/>
                <a:cs typeface="Times New Roman"/>
              </a:rPr>
              <a:t>of</a:t>
            </a:r>
            <a:r>
              <a:rPr lang="en-US" sz="2400" spc="-20" dirty="0">
                <a:latin typeface="Times New Roman"/>
                <a:cs typeface="Times New Roman"/>
              </a:rPr>
              <a:t> </a:t>
            </a:r>
            <a:r>
              <a:rPr lang="en-US" sz="2400" b="1" i="1" spc="-25" dirty="0" smtClean="0">
                <a:solidFill>
                  <a:srgbClr val="C00000"/>
                </a:solidFill>
                <a:latin typeface="Times New Roman"/>
                <a:cs typeface="Times New Roman"/>
              </a:rPr>
              <a:t>AYAS</a:t>
            </a:r>
            <a:r>
              <a:rPr lang="en-US" sz="2400" b="1" spc="-25" dirty="0" smtClean="0">
                <a:solidFill>
                  <a:srgbClr val="C00000"/>
                </a:solidFill>
                <a:latin typeface="Times New Roman"/>
                <a:cs typeface="Times New Roman"/>
              </a:rPr>
              <a:t>,</a:t>
            </a:r>
            <a:r>
              <a:rPr lang="en-US" sz="2400" spc="-30" dirty="0" smtClean="0">
                <a:solidFill>
                  <a:srgbClr val="C00000"/>
                </a:solidFill>
                <a:latin typeface="Times New Roman"/>
                <a:cs typeface="Times New Roman"/>
              </a:rPr>
              <a:t> </a:t>
            </a:r>
            <a:r>
              <a:rPr lang="en-US" sz="2400" spc="-30" dirty="0">
                <a:solidFill>
                  <a:srgbClr val="C00000"/>
                </a:solidFill>
                <a:latin typeface="Times New Roman"/>
                <a:cs typeface="Times New Roman"/>
              </a:rPr>
              <a:t>which,</a:t>
            </a:r>
            <a:r>
              <a:rPr lang="en-US" sz="2400" spc="-25" dirty="0">
                <a:solidFill>
                  <a:srgbClr val="C00000"/>
                </a:solidFill>
                <a:latin typeface="Times New Roman"/>
                <a:cs typeface="Times New Roman"/>
              </a:rPr>
              <a:t> </a:t>
            </a:r>
            <a:r>
              <a:rPr lang="en-US" sz="2400" dirty="0" smtClean="0">
                <a:solidFill>
                  <a:srgbClr val="C00000"/>
                </a:solidFill>
                <a:latin typeface="Times New Roman"/>
                <a:cs typeface="Times New Roman"/>
              </a:rPr>
              <a:t>it</a:t>
            </a:r>
            <a:r>
              <a:rPr lang="en-US" sz="2400" spc="-20" dirty="0">
                <a:solidFill>
                  <a:srgbClr val="C00000"/>
                </a:solidFill>
                <a:latin typeface="Times New Roman"/>
                <a:cs typeface="Times New Roman"/>
              </a:rPr>
              <a:t> </a:t>
            </a:r>
            <a:r>
              <a:rPr lang="en-US" sz="2400" dirty="0" smtClean="0">
                <a:solidFill>
                  <a:srgbClr val="C00000"/>
                </a:solidFill>
                <a:latin typeface="Times New Roman"/>
                <a:cs typeface="Times New Roman"/>
              </a:rPr>
              <a:t>is</a:t>
            </a:r>
            <a:r>
              <a:rPr lang="en-US" sz="2400" spc="-14" dirty="0">
                <a:solidFill>
                  <a:srgbClr val="C00000"/>
                </a:solidFill>
                <a:latin typeface="Times New Roman"/>
                <a:cs typeface="Times New Roman"/>
              </a:rPr>
              <a:t> </a:t>
            </a:r>
            <a:r>
              <a:rPr lang="en-US" sz="2400" dirty="0" smtClean="0">
                <a:solidFill>
                  <a:srgbClr val="C00000"/>
                </a:solidFill>
                <a:latin typeface="Times New Roman"/>
                <a:cs typeface="Times New Roman"/>
              </a:rPr>
              <a:t>now</a:t>
            </a:r>
            <a:r>
              <a:rPr lang="en-US" sz="2400" spc="-20" dirty="0">
                <a:solidFill>
                  <a:srgbClr val="C00000"/>
                </a:solidFill>
                <a:latin typeface="Times New Roman"/>
                <a:cs typeface="Times New Roman"/>
              </a:rPr>
              <a:t> </a:t>
            </a:r>
            <a:r>
              <a:rPr lang="en-US" sz="2400" spc="-40" dirty="0">
                <a:solidFill>
                  <a:srgbClr val="C00000"/>
                </a:solidFill>
                <a:latin typeface="Times New Roman"/>
                <a:cs typeface="Times New Roman"/>
              </a:rPr>
              <a:t>accepted,</a:t>
            </a:r>
            <a:r>
              <a:rPr lang="en-US" sz="2400" spc="-25" dirty="0">
                <a:solidFill>
                  <a:srgbClr val="C00000"/>
                </a:solidFill>
                <a:latin typeface="Times New Roman"/>
                <a:cs typeface="Times New Roman"/>
              </a:rPr>
              <a:t> </a:t>
            </a:r>
            <a:r>
              <a:rPr lang="en-US" sz="2400" spc="-35" dirty="0">
                <a:solidFill>
                  <a:srgbClr val="C00000"/>
                </a:solidFill>
                <a:latin typeface="Times New Roman"/>
                <a:cs typeface="Times New Roman"/>
              </a:rPr>
              <a:t>referred</a:t>
            </a:r>
            <a:r>
              <a:rPr lang="en-US" sz="2400" spc="-30" dirty="0">
                <a:solidFill>
                  <a:srgbClr val="C00000"/>
                </a:solidFill>
                <a:latin typeface="Times New Roman"/>
                <a:cs typeface="Times New Roman"/>
              </a:rPr>
              <a:t> </a:t>
            </a:r>
            <a:r>
              <a:rPr lang="en-US" sz="2400" dirty="0" smtClean="0">
                <a:solidFill>
                  <a:srgbClr val="C00000"/>
                </a:solidFill>
                <a:latin typeface="Times New Roman"/>
                <a:cs typeface="Times New Roman"/>
              </a:rPr>
              <a:t>to</a:t>
            </a:r>
            <a:r>
              <a:rPr lang="en-US" sz="2400" spc="-25" dirty="0">
                <a:solidFill>
                  <a:srgbClr val="C00000"/>
                </a:solidFill>
                <a:latin typeface="Times New Roman"/>
                <a:cs typeface="Times New Roman"/>
              </a:rPr>
              <a:t> </a:t>
            </a:r>
            <a:r>
              <a:rPr lang="en-US" sz="2400" spc="-30" dirty="0">
                <a:solidFill>
                  <a:srgbClr val="C00000"/>
                </a:solidFill>
                <a:latin typeface="Times New Roman"/>
                <a:cs typeface="Times New Roman"/>
              </a:rPr>
              <a:t>copper </a:t>
            </a:r>
            <a:r>
              <a:rPr lang="en-US" sz="2400" dirty="0" smtClean="0">
                <a:solidFill>
                  <a:srgbClr val="C00000"/>
                </a:solidFill>
                <a:latin typeface="Times New Roman"/>
                <a:cs typeface="Times New Roman"/>
              </a:rPr>
              <a:t>or</a:t>
            </a:r>
            <a:r>
              <a:rPr lang="en-US" sz="2400" spc="-20" dirty="0">
                <a:solidFill>
                  <a:srgbClr val="C00000"/>
                </a:solidFill>
                <a:latin typeface="Times New Roman"/>
                <a:cs typeface="Times New Roman"/>
              </a:rPr>
              <a:t> </a:t>
            </a:r>
            <a:r>
              <a:rPr lang="en-US" sz="2400" spc="-35" dirty="0">
                <a:solidFill>
                  <a:srgbClr val="C00000"/>
                </a:solidFill>
                <a:latin typeface="Times New Roman"/>
                <a:cs typeface="Times New Roman"/>
              </a:rPr>
              <a:t>bronze</a:t>
            </a:r>
            <a:r>
              <a:rPr lang="en-US" sz="2400" spc="-35" dirty="0">
                <a:latin typeface="Times New Roman"/>
                <a:cs typeface="Times New Roman"/>
              </a:rPr>
              <a:t>. </a:t>
            </a:r>
          </a:p>
          <a:p>
            <a:pPr marL="12691" marR="5080" indent="456244" algn="just">
              <a:spcBef>
                <a:spcPts val="20"/>
              </a:spcBef>
            </a:pPr>
            <a:endParaRPr lang="en-US" sz="2400" dirty="0">
              <a:solidFill>
                <a:srgbClr val="00B0F0"/>
              </a:solidFill>
              <a:latin typeface="Times New Roman" pitchFamily="18" charset="0"/>
              <a:cs typeface="Times New Roman" pitchFamily="18" charset="0"/>
            </a:endParaRPr>
          </a:p>
        </p:txBody>
      </p:sp>
    </p:spTree>
    <p:extLst>
      <p:ext uri="{BB962C8B-B14F-4D97-AF65-F5344CB8AC3E}">
        <p14:creationId xmlns:p14="http://schemas.microsoft.com/office/powerpoint/2010/main" val="204600431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753865" y="700987"/>
            <a:ext cx="8550672" cy="289613"/>
          </a:xfrm>
        </p:spPr>
        <p:txBody>
          <a:bodyPr>
            <a:normAutofit fontScale="90000"/>
          </a:bodyPr>
          <a:lstStyle/>
          <a:p>
            <a:r>
              <a:rPr lang="en-US" dirty="0" smtClean="0"/>
              <a:t>    </a:t>
            </a:r>
            <a:endParaRPr lang="en-US" dirty="0"/>
          </a:p>
        </p:txBody>
      </p:sp>
      <p:sp>
        <p:nvSpPr>
          <p:cNvPr id="3" name="Content Placeholder 2"/>
          <p:cNvSpPr>
            <a:spLocks noGrp="1"/>
          </p:cNvSpPr>
          <p:nvPr>
            <p:ph sz="quarter" idx="13"/>
          </p:nvPr>
        </p:nvSpPr>
        <p:spPr>
          <a:xfrm>
            <a:off x="1295400" y="1447800"/>
            <a:ext cx="7772400" cy="5115562"/>
          </a:xfrm>
        </p:spPr>
        <p:txBody>
          <a:bodyPr>
            <a:normAutofit/>
          </a:bodyPr>
          <a:lstStyle/>
          <a:p>
            <a:pPr marL="12691" marR="5080" indent="456244" algn="just">
              <a:lnSpc>
                <a:spcPct val="150000"/>
              </a:lnSpc>
              <a:spcBef>
                <a:spcPts val="20"/>
              </a:spcBef>
            </a:pPr>
            <a:r>
              <a:rPr lang="en-US" sz="2400" cap="none" spc="-35" dirty="0" smtClean="0">
                <a:latin typeface="Times New Roman"/>
                <a:cs typeface="Times New Roman"/>
              </a:rPr>
              <a:t>Whether</a:t>
            </a:r>
            <a:r>
              <a:rPr lang="en-US" sz="2400" cap="none" spc="-20" dirty="0" smtClean="0">
                <a:latin typeface="Times New Roman"/>
                <a:cs typeface="Times New Roman"/>
              </a:rPr>
              <a:t> </a:t>
            </a:r>
            <a:r>
              <a:rPr lang="en-US" sz="2400" cap="none" spc="-30" dirty="0" smtClean="0">
                <a:latin typeface="Times New Roman"/>
                <a:cs typeface="Times New Roman"/>
              </a:rPr>
              <a:t>other</a:t>
            </a:r>
            <a:r>
              <a:rPr lang="en-US" sz="2400" cap="none" spc="-35" dirty="0" smtClean="0">
                <a:latin typeface="Times New Roman"/>
                <a:cs typeface="Times New Roman"/>
              </a:rPr>
              <a:t> </a:t>
            </a:r>
            <a:r>
              <a:rPr lang="en-US" sz="2400" cap="none" spc="-25" dirty="0" smtClean="0">
                <a:latin typeface="Times New Roman"/>
                <a:cs typeface="Times New Roman"/>
              </a:rPr>
              <a:t>parts</a:t>
            </a:r>
            <a:r>
              <a:rPr lang="en-US" sz="2400" cap="none" spc="-30" dirty="0" smtClean="0">
                <a:latin typeface="Times New Roman"/>
                <a:cs typeface="Times New Roman"/>
              </a:rPr>
              <a:t> </a:t>
            </a:r>
            <a:r>
              <a:rPr lang="en-US" sz="2400" cap="none" dirty="0" smtClean="0">
                <a:latin typeface="Times New Roman"/>
                <a:cs typeface="Times New Roman"/>
              </a:rPr>
              <a:t>of</a:t>
            </a:r>
            <a:r>
              <a:rPr lang="en-US" sz="2400" cap="none" spc="-14" dirty="0" smtClean="0">
                <a:latin typeface="Times New Roman"/>
                <a:cs typeface="Times New Roman"/>
              </a:rPr>
              <a:t> </a:t>
            </a:r>
            <a:r>
              <a:rPr lang="en-US" sz="2400" cap="none" spc="-25" dirty="0" err="1" smtClean="0">
                <a:latin typeface="Times New Roman"/>
                <a:cs typeface="Times New Roman"/>
              </a:rPr>
              <a:t>india</a:t>
            </a:r>
            <a:r>
              <a:rPr lang="en-US" sz="2400" cap="none" spc="-20" dirty="0" smtClean="0">
                <a:latin typeface="Times New Roman"/>
                <a:cs typeface="Times New Roman"/>
              </a:rPr>
              <a:t> </a:t>
            </a:r>
            <a:r>
              <a:rPr lang="en-US" sz="2400" cap="none" spc="-35" dirty="0" smtClean="0">
                <a:latin typeface="Times New Roman"/>
                <a:cs typeface="Times New Roman"/>
              </a:rPr>
              <a:t>learned</a:t>
            </a:r>
            <a:r>
              <a:rPr lang="en-US" sz="2400" cap="none" spc="-25" dirty="0" smtClean="0">
                <a:latin typeface="Times New Roman"/>
                <a:cs typeface="Times New Roman"/>
              </a:rPr>
              <a:t> </a:t>
            </a:r>
            <a:r>
              <a:rPr lang="en-US" sz="2400" cap="none" spc="-20" dirty="0" smtClean="0">
                <a:latin typeface="Times New Roman"/>
                <a:cs typeface="Times New Roman"/>
              </a:rPr>
              <a:t>iron </a:t>
            </a:r>
            <a:r>
              <a:rPr lang="en-US" sz="2400" cap="none" spc="-45" dirty="0" smtClean="0">
                <a:latin typeface="Times New Roman"/>
                <a:cs typeface="Times New Roman"/>
              </a:rPr>
              <a:t>technology</a:t>
            </a:r>
            <a:r>
              <a:rPr lang="en-US" sz="2400" cap="none" spc="-30" dirty="0" smtClean="0">
                <a:latin typeface="Times New Roman"/>
                <a:cs typeface="Times New Roman"/>
              </a:rPr>
              <a:t> </a:t>
            </a:r>
            <a:r>
              <a:rPr lang="en-US" sz="2400" cap="none" spc="-45" dirty="0" smtClean="0">
                <a:latin typeface="Times New Roman"/>
                <a:cs typeface="Times New Roman"/>
              </a:rPr>
              <a:t>from</a:t>
            </a:r>
            <a:r>
              <a:rPr lang="en-US" sz="2400" cap="none" spc="-30" dirty="0" smtClean="0">
                <a:latin typeface="Times New Roman"/>
                <a:cs typeface="Times New Roman"/>
              </a:rPr>
              <a:t> </a:t>
            </a:r>
            <a:r>
              <a:rPr lang="en-US" sz="2400" cap="none" spc="-40" dirty="0" smtClean="0">
                <a:latin typeface="Times New Roman"/>
                <a:cs typeface="Times New Roman"/>
              </a:rPr>
              <a:t>the</a:t>
            </a:r>
            <a:r>
              <a:rPr lang="en-US" sz="2400" cap="none" spc="-25" dirty="0" smtClean="0">
                <a:latin typeface="Times New Roman"/>
                <a:cs typeface="Times New Roman"/>
              </a:rPr>
              <a:t> </a:t>
            </a:r>
            <a:r>
              <a:rPr lang="en-US" sz="2400" cap="none" spc="-45" dirty="0" err="1" smtClean="0">
                <a:latin typeface="Times New Roman"/>
                <a:cs typeface="Times New Roman"/>
              </a:rPr>
              <a:t>gangetic</a:t>
            </a:r>
            <a:r>
              <a:rPr lang="en-US" sz="2400" cap="none" spc="-14" dirty="0" smtClean="0">
                <a:latin typeface="Times New Roman"/>
                <a:cs typeface="Times New Roman"/>
              </a:rPr>
              <a:t> </a:t>
            </a:r>
            <a:r>
              <a:rPr lang="en-US" sz="2400" cap="none" spc="-50" dirty="0" smtClean="0">
                <a:latin typeface="Times New Roman"/>
                <a:cs typeface="Times New Roman"/>
              </a:rPr>
              <a:t>region</a:t>
            </a:r>
            <a:r>
              <a:rPr lang="en-US" sz="2400" cap="none" spc="-10" dirty="0" smtClean="0">
                <a:latin typeface="Times New Roman"/>
                <a:cs typeface="Times New Roman"/>
              </a:rPr>
              <a:t> </a:t>
            </a:r>
            <a:r>
              <a:rPr lang="en-US" sz="2400" cap="none" spc="-30" dirty="0" smtClean="0">
                <a:latin typeface="Times New Roman"/>
                <a:cs typeface="Times New Roman"/>
              </a:rPr>
              <a:t>or</a:t>
            </a:r>
            <a:r>
              <a:rPr lang="en-US" sz="2400" cap="none" spc="-20" dirty="0" smtClean="0">
                <a:latin typeface="Times New Roman"/>
                <a:cs typeface="Times New Roman"/>
              </a:rPr>
              <a:t> </a:t>
            </a:r>
            <a:r>
              <a:rPr lang="en-US" sz="2400" cap="none" spc="-50" dirty="0" smtClean="0">
                <a:latin typeface="Times New Roman"/>
                <a:cs typeface="Times New Roman"/>
              </a:rPr>
              <a:t>came</a:t>
            </a:r>
            <a:r>
              <a:rPr lang="en-US" sz="2400" cap="none" spc="-14" dirty="0" smtClean="0">
                <a:latin typeface="Times New Roman"/>
                <a:cs typeface="Times New Roman"/>
              </a:rPr>
              <a:t> </a:t>
            </a:r>
            <a:r>
              <a:rPr lang="en-US" sz="2400" cap="none" spc="-20" dirty="0" smtClean="0">
                <a:latin typeface="Times New Roman"/>
                <a:cs typeface="Times New Roman"/>
              </a:rPr>
              <a:t>up</a:t>
            </a:r>
            <a:r>
              <a:rPr lang="en-US" sz="2400" cap="none" spc="-10" dirty="0" smtClean="0">
                <a:latin typeface="Times New Roman"/>
                <a:cs typeface="Times New Roman"/>
              </a:rPr>
              <a:t> </a:t>
            </a:r>
            <a:r>
              <a:rPr lang="en-US" sz="2400" cap="none" spc="-50" dirty="0" smtClean="0">
                <a:latin typeface="Times New Roman"/>
                <a:cs typeface="Times New Roman"/>
              </a:rPr>
              <a:t>with</a:t>
            </a:r>
            <a:r>
              <a:rPr lang="en-US" sz="2400" cap="none" spc="-25" dirty="0" smtClean="0">
                <a:latin typeface="Times New Roman"/>
                <a:cs typeface="Times New Roman"/>
              </a:rPr>
              <a:t> </a:t>
            </a:r>
            <a:r>
              <a:rPr lang="en-US" sz="2400" cap="none" spc="-30" dirty="0" smtClean="0">
                <a:latin typeface="Times New Roman"/>
                <a:cs typeface="Times New Roman"/>
              </a:rPr>
              <a:t>it</a:t>
            </a:r>
            <a:r>
              <a:rPr lang="en-US" sz="2400" cap="none" spc="-10" dirty="0" smtClean="0">
                <a:latin typeface="Times New Roman"/>
                <a:cs typeface="Times New Roman"/>
              </a:rPr>
              <a:t> </a:t>
            </a:r>
            <a:r>
              <a:rPr lang="en-US" sz="2400" cap="none" spc="-50" dirty="0" smtClean="0">
                <a:latin typeface="Times New Roman"/>
                <a:cs typeface="Times New Roman"/>
              </a:rPr>
              <a:t>independently</a:t>
            </a:r>
            <a:r>
              <a:rPr lang="en-US" sz="2400" cap="none" spc="-25" dirty="0" smtClean="0">
                <a:latin typeface="Times New Roman"/>
                <a:cs typeface="Times New Roman"/>
              </a:rPr>
              <a:t> </a:t>
            </a:r>
            <a:r>
              <a:rPr lang="en-US" sz="2400" cap="none" spc="-20" dirty="0" smtClean="0">
                <a:latin typeface="Times New Roman"/>
                <a:cs typeface="Times New Roman"/>
              </a:rPr>
              <a:t>is</a:t>
            </a:r>
            <a:r>
              <a:rPr lang="en-US" sz="2400" cap="none" spc="-10" dirty="0" smtClean="0">
                <a:latin typeface="Times New Roman"/>
                <a:cs typeface="Times New Roman"/>
              </a:rPr>
              <a:t> </a:t>
            </a:r>
            <a:r>
              <a:rPr lang="en-US" sz="2400" cap="none" spc="-35" dirty="0" smtClean="0">
                <a:latin typeface="Times New Roman"/>
                <a:cs typeface="Times New Roman"/>
              </a:rPr>
              <a:t>not</a:t>
            </a:r>
            <a:r>
              <a:rPr lang="en-US" sz="2400" cap="none" spc="4" dirty="0" smtClean="0">
                <a:latin typeface="Times New Roman"/>
                <a:cs typeface="Times New Roman"/>
              </a:rPr>
              <a:t> </a:t>
            </a:r>
            <a:r>
              <a:rPr lang="en-US" sz="2400" cap="none" spc="-50" dirty="0" smtClean="0">
                <a:latin typeface="Times New Roman"/>
                <a:cs typeface="Times New Roman"/>
              </a:rPr>
              <a:t>easy</a:t>
            </a:r>
            <a:r>
              <a:rPr lang="en-US" sz="2400" cap="none" spc="-20" dirty="0" smtClean="0">
                <a:latin typeface="Times New Roman"/>
                <a:cs typeface="Times New Roman"/>
              </a:rPr>
              <a:t> to</a:t>
            </a:r>
            <a:r>
              <a:rPr lang="en-US" sz="2400" cap="none" spc="-14" dirty="0" smtClean="0">
                <a:latin typeface="Times New Roman"/>
                <a:cs typeface="Times New Roman"/>
              </a:rPr>
              <a:t> </a:t>
            </a:r>
            <a:r>
              <a:rPr lang="en-US" sz="2400" cap="none" spc="-45" dirty="0" smtClean="0">
                <a:latin typeface="Times New Roman"/>
                <a:cs typeface="Times New Roman"/>
              </a:rPr>
              <a:t>figure</a:t>
            </a:r>
            <a:r>
              <a:rPr lang="en-US" sz="2400" cap="none" spc="-4" dirty="0" smtClean="0">
                <a:latin typeface="Times New Roman"/>
                <a:cs typeface="Times New Roman"/>
              </a:rPr>
              <a:t> </a:t>
            </a:r>
            <a:r>
              <a:rPr lang="en-US" sz="2400" cap="none" spc="-45" dirty="0" smtClean="0">
                <a:latin typeface="Times New Roman"/>
                <a:cs typeface="Times New Roman"/>
              </a:rPr>
              <a:t>out.</a:t>
            </a:r>
            <a:r>
              <a:rPr lang="en-US" sz="2400" cap="none" spc="-20" dirty="0" smtClean="0">
                <a:latin typeface="Times New Roman"/>
                <a:cs typeface="Times New Roman"/>
              </a:rPr>
              <a:t> </a:t>
            </a:r>
          </a:p>
          <a:p>
            <a:pPr marL="12691" marR="5080" indent="456244" algn="just">
              <a:lnSpc>
                <a:spcPct val="150000"/>
              </a:lnSpc>
              <a:spcBef>
                <a:spcPts val="20"/>
              </a:spcBef>
            </a:pPr>
            <a:r>
              <a:rPr lang="en-US" sz="2400" cap="none" spc="-50" dirty="0" smtClean="0">
                <a:latin typeface="Times New Roman"/>
                <a:cs typeface="Times New Roman"/>
              </a:rPr>
              <a:t>What</a:t>
            </a:r>
            <a:r>
              <a:rPr lang="en-US" sz="2400" cap="none" spc="-10" dirty="0" smtClean="0">
                <a:latin typeface="Times New Roman"/>
                <a:cs typeface="Times New Roman"/>
              </a:rPr>
              <a:t> seems </a:t>
            </a:r>
            <a:r>
              <a:rPr lang="en-US" sz="2400" cap="none" spc="-25" dirty="0" smtClean="0">
                <a:latin typeface="Times New Roman"/>
                <a:cs typeface="Times New Roman"/>
              </a:rPr>
              <a:t>clear, </a:t>
            </a:r>
            <a:r>
              <a:rPr lang="en-US" sz="2400" cap="none" spc="-35" dirty="0" smtClean="0">
                <a:latin typeface="Times New Roman"/>
                <a:cs typeface="Times New Roman"/>
              </a:rPr>
              <a:t>however,</a:t>
            </a:r>
            <a:r>
              <a:rPr lang="en-US" sz="2400" cap="none" spc="-20" dirty="0" smtClean="0">
                <a:latin typeface="Times New Roman"/>
                <a:cs typeface="Times New Roman"/>
              </a:rPr>
              <a:t> </a:t>
            </a:r>
            <a:r>
              <a:rPr lang="en-US" sz="2400" cap="none" dirty="0" smtClean="0">
                <a:latin typeface="Times New Roman"/>
                <a:cs typeface="Times New Roman"/>
              </a:rPr>
              <a:t>is</a:t>
            </a:r>
            <a:r>
              <a:rPr lang="en-US" sz="2400" cap="none" spc="-30" dirty="0" smtClean="0">
                <a:latin typeface="Times New Roman"/>
                <a:cs typeface="Times New Roman"/>
              </a:rPr>
              <a:t> </a:t>
            </a:r>
            <a:r>
              <a:rPr lang="en-US" sz="2400" cap="none" spc="-10" dirty="0" smtClean="0">
                <a:latin typeface="Times New Roman"/>
                <a:cs typeface="Times New Roman"/>
              </a:rPr>
              <a:t>that</a:t>
            </a:r>
            <a:r>
              <a:rPr lang="en-US" sz="2400" cap="none" spc="-30" dirty="0" smtClean="0">
                <a:latin typeface="Times New Roman"/>
                <a:cs typeface="Times New Roman"/>
              </a:rPr>
              <a:t> </a:t>
            </a:r>
            <a:r>
              <a:rPr lang="en-US" sz="2400" cap="none" dirty="0" smtClean="0">
                <a:latin typeface="Times New Roman"/>
                <a:cs typeface="Times New Roman"/>
              </a:rPr>
              <a:t>the</a:t>
            </a:r>
            <a:r>
              <a:rPr lang="en-US" sz="2400" cap="none" spc="-30" dirty="0" smtClean="0">
                <a:latin typeface="Times New Roman"/>
                <a:cs typeface="Times New Roman"/>
              </a:rPr>
              <a:t> </a:t>
            </a:r>
            <a:r>
              <a:rPr lang="en-US" sz="2400" cap="none" spc="-35" dirty="0" smtClean="0">
                <a:latin typeface="Times New Roman"/>
                <a:cs typeface="Times New Roman"/>
              </a:rPr>
              <a:t>beginnings</a:t>
            </a:r>
            <a:r>
              <a:rPr lang="en-US" sz="2400" cap="none" spc="-10" dirty="0" smtClean="0">
                <a:latin typeface="Times New Roman"/>
                <a:cs typeface="Times New Roman"/>
              </a:rPr>
              <a:t> </a:t>
            </a:r>
            <a:r>
              <a:rPr lang="en-US" sz="2400" cap="none" dirty="0" smtClean="0">
                <a:latin typeface="Times New Roman"/>
                <a:cs typeface="Times New Roman"/>
              </a:rPr>
              <a:t>of</a:t>
            </a:r>
            <a:r>
              <a:rPr lang="en-US" sz="2400" cap="none" spc="-25" dirty="0" smtClean="0">
                <a:latin typeface="Times New Roman"/>
                <a:cs typeface="Times New Roman"/>
              </a:rPr>
              <a:t> </a:t>
            </a:r>
            <a:r>
              <a:rPr lang="en-US" sz="2400" cap="none" spc="-50" dirty="0" smtClean="0">
                <a:solidFill>
                  <a:srgbClr val="00B0F0"/>
                </a:solidFill>
                <a:latin typeface="Times New Roman"/>
                <a:cs typeface="Times New Roman"/>
              </a:rPr>
              <a:t>copper-</a:t>
            </a:r>
            <a:r>
              <a:rPr lang="en-US" sz="2400" cap="none" spc="-25" dirty="0" smtClean="0">
                <a:solidFill>
                  <a:srgbClr val="00B0F0"/>
                </a:solidFill>
                <a:latin typeface="Times New Roman"/>
                <a:cs typeface="Times New Roman"/>
              </a:rPr>
              <a:t>bronze </a:t>
            </a:r>
            <a:r>
              <a:rPr lang="en-US" sz="2400" cap="none" dirty="0" smtClean="0">
                <a:solidFill>
                  <a:srgbClr val="00B0F0"/>
                </a:solidFill>
                <a:latin typeface="Times New Roman"/>
                <a:cs typeface="Times New Roman"/>
              </a:rPr>
              <a:t>and</a:t>
            </a:r>
            <a:r>
              <a:rPr lang="en-US" sz="2400" cap="none" spc="-20" dirty="0" smtClean="0">
                <a:solidFill>
                  <a:srgbClr val="00B0F0"/>
                </a:solidFill>
                <a:latin typeface="Times New Roman"/>
                <a:cs typeface="Times New Roman"/>
              </a:rPr>
              <a:t> </a:t>
            </a:r>
            <a:r>
              <a:rPr lang="en-US" sz="2400" cap="none" spc="-10" dirty="0" smtClean="0">
                <a:solidFill>
                  <a:srgbClr val="00B0F0"/>
                </a:solidFill>
                <a:latin typeface="Times New Roman"/>
                <a:cs typeface="Times New Roman"/>
              </a:rPr>
              <a:t>iron</a:t>
            </a:r>
            <a:r>
              <a:rPr lang="en-US" sz="2400" cap="none" spc="-20" dirty="0" smtClean="0">
                <a:solidFill>
                  <a:srgbClr val="00B0F0"/>
                </a:solidFill>
                <a:latin typeface="Times New Roman"/>
                <a:cs typeface="Times New Roman"/>
              </a:rPr>
              <a:t> </a:t>
            </a:r>
            <a:r>
              <a:rPr lang="en-US" sz="2400" cap="none" spc="-40" dirty="0" smtClean="0">
                <a:solidFill>
                  <a:srgbClr val="00B0F0"/>
                </a:solidFill>
                <a:latin typeface="Times New Roman"/>
                <a:cs typeface="Times New Roman"/>
              </a:rPr>
              <a:t>technologies</a:t>
            </a:r>
            <a:r>
              <a:rPr lang="en-US" sz="2400" cap="none" spc="-30" dirty="0" smtClean="0">
                <a:solidFill>
                  <a:srgbClr val="00B0F0"/>
                </a:solidFill>
                <a:latin typeface="Times New Roman"/>
                <a:cs typeface="Times New Roman"/>
              </a:rPr>
              <a:t> </a:t>
            </a:r>
            <a:r>
              <a:rPr lang="en-US" sz="2400" cap="none" dirty="0" smtClean="0">
                <a:solidFill>
                  <a:srgbClr val="00B0F0"/>
                </a:solidFill>
                <a:latin typeface="Times New Roman"/>
                <a:cs typeface="Times New Roman"/>
              </a:rPr>
              <a:t>in</a:t>
            </a:r>
            <a:r>
              <a:rPr lang="en-US" sz="2400" cap="none" spc="-14" dirty="0" smtClean="0">
                <a:solidFill>
                  <a:srgbClr val="00B0F0"/>
                </a:solidFill>
                <a:latin typeface="Times New Roman"/>
                <a:cs typeface="Times New Roman"/>
              </a:rPr>
              <a:t> </a:t>
            </a:r>
            <a:r>
              <a:rPr lang="en-US" sz="2400" cap="none" spc="-20" dirty="0" err="1" smtClean="0">
                <a:solidFill>
                  <a:srgbClr val="00B0F0"/>
                </a:solidFill>
                <a:latin typeface="Times New Roman"/>
                <a:cs typeface="Times New Roman"/>
              </a:rPr>
              <a:t>india</a:t>
            </a:r>
            <a:r>
              <a:rPr lang="en-US" sz="2400" cap="none" spc="-14" dirty="0" smtClean="0">
                <a:solidFill>
                  <a:srgbClr val="00B0F0"/>
                </a:solidFill>
                <a:latin typeface="Times New Roman"/>
                <a:cs typeface="Times New Roman"/>
              </a:rPr>
              <a:t> </a:t>
            </a:r>
            <a:r>
              <a:rPr lang="en-US" sz="2400" cap="none" spc="-35" dirty="0" smtClean="0">
                <a:solidFill>
                  <a:srgbClr val="00B0F0"/>
                </a:solidFill>
                <a:latin typeface="Times New Roman"/>
                <a:cs typeface="Times New Roman"/>
              </a:rPr>
              <a:t>correspond</a:t>
            </a:r>
            <a:r>
              <a:rPr lang="en-US" sz="2400" cap="none" spc="-20" dirty="0" smtClean="0">
                <a:solidFill>
                  <a:srgbClr val="00B0F0"/>
                </a:solidFill>
                <a:latin typeface="Times New Roman"/>
                <a:cs typeface="Times New Roman"/>
              </a:rPr>
              <a:t> </a:t>
            </a:r>
            <a:r>
              <a:rPr lang="en-US" sz="2400" cap="none" spc="-10" dirty="0" smtClean="0">
                <a:solidFill>
                  <a:srgbClr val="00B0F0"/>
                </a:solidFill>
                <a:latin typeface="Times New Roman"/>
                <a:cs typeface="Times New Roman"/>
              </a:rPr>
              <a:t>broadly </a:t>
            </a:r>
            <a:r>
              <a:rPr lang="en-US" sz="2400" cap="none" spc="-35" dirty="0" smtClean="0">
                <a:solidFill>
                  <a:srgbClr val="00B0F0"/>
                </a:solidFill>
                <a:latin typeface="Times New Roman"/>
                <a:cs typeface="Times New Roman"/>
              </a:rPr>
              <a:t>with</a:t>
            </a:r>
            <a:r>
              <a:rPr lang="en-US" sz="2400" cap="none" spc="-25" dirty="0" smtClean="0">
                <a:solidFill>
                  <a:srgbClr val="00B0F0"/>
                </a:solidFill>
                <a:latin typeface="Times New Roman"/>
                <a:cs typeface="Times New Roman"/>
              </a:rPr>
              <a:t> </a:t>
            </a:r>
            <a:r>
              <a:rPr lang="en-US" sz="2400" cap="none" spc="-45" dirty="0" smtClean="0">
                <a:solidFill>
                  <a:srgbClr val="00B0F0"/>
                </a:solidFill>
                <a:latin typeface="Times New Roman"/>
                <a:cs typeface="Times New Roman"/>
              </a:rPr>
              <a:t>those</a:t>
            </a:r>
            <a:r>
              <a:rPr lang="en-US" sz="2400" cap="none" spc="-30" dirty="0" smtClean="0">
                <a:solidFill>
                  <a:srgbClr val="00B0F0"/>
                </a:solidFill>
                <a:latin typeface="Times New Roman"/>
                <a:cs typeface="Times New Roman"/>
              </a:rPr>
              <a:t> </a:t>
            </a:r>
            <a:r>
              <a:rPr lang="en-US" sz="2400" cap="none" spc="-10" dirty="0" smtClean="0">
                <a:solidFill>
                  <a:srgbClr val="00B0F0"/>
                </a:solidFill>
                <a:latin typeface="Times New Roman"/>
                <a:cs typeface="Times New Roman"/>
              </a:rPr>
              <a:t>in</a:t>
            </a:r>
            <a:r>
              <a:rPr lang="en-US" sz="2400" cap="none" spc="-20" dirty="0" smtClean="0">
                <a:solidFill>
                  <a:srgbClr val="00B0F0"/>
                </a:solidFill>
                <a:latin typeface="Times New Roman"/>
                <a:cs typeface="Times New Roman"/>
              </a:rPr>
              <a:t> </a:t>
            </a:r>
            <a:r>
              <a:rPr lang="en-US" sz="2400" cap="none" spc="-40" dirty="0" err="1" smtClean="0">
                <a:solidFill>
                  <a:srgbClr val="00B0F0"/>
                </a:solidFill>
                <a:latin typeface="Times New Roman"/>
                <a:cs typeface="Times New Roman"/>
              </a:rPr>
              <a:t>asia</a:t>
            </a:r>
            <a:r>
              <a:rPr lang="en-US" sz="2400" cap="none" spc="-10" dirty="0" smtClean="0">
                <a:solidFill>
                  <a:srgbClr val="00B0F0"/>
                </a:solidFill>
                <a:latin typeface="Times New Roman"/>
                <a:cs typeface="Times New Roman"/>
              </a:rPr>
              <a:t> </a:t>
            </a:r>
            <a:r>
              <a:rPr lang="en-US" sz="2400" cap="none" spc="-45" dirty="0" smtClean="0">
                <a:solidFill>
                  <a:srgbClr val="00B0F0"/>
                </a:solidFill>
                <a:latin typeface="Times New Roman"/>
                <a:cs typeface="Times New Roman"/>
              </a:rPr>
              <a:t>minor</a:t>
            </a:r>
            <a:r>
              <a:rPr lang="en-US" sz="2400" cap="none" spc="-14" dirty="0" smtClean="0">
                <a:latin typeface="Times New Roman"/>
                <a:cs typeface="Times New Roman"/>
              </a:rPr>
              <a:t> </a:t>
            </a:r>
            <a:r>
              <a:rPr lang="en-US" sz="2400" cap="none" spc="-45" dirty="0" smtClean="0">
                <a:latin typeface="Times New Roman"/>
                <a:cs typeface="Times New Roman"/>
              </a:rPr>
              <a:t>(modern</a:t>
            </a:r>
            <a:r>
              <a:rPr lang="en-US" sz="2400" cap="none" spc="-10" dirty="0" smtClean="0">
                <a:latin typeface="Times New Roman"/>
                <a:cs typeface="Times New Roman"/>
              </a:rPr>
              <a:t> </a:t>
            </a:r>
            <a:r>
              <a:rPr lang="en-US" sz="2400" cap="none" spc="-45" dirty="0" smtClean="0">
                <a:latin typeface="Times New Roman"/>
                <a:cs typeface="Times New Roman"/>
              </a:rPr>
              <a:t>turkey)</a:t>
            </a:r>
            <a:r>
              <a:rPr lang="en-US" sz="2400" cap="none" spc="-10" dirty="0" smtClean="0">
                <a:latin typeface="Times New Roman"/>
                <a:cs typeface="Times New Roman"/>
              </a:rPr>
              <a:t> </a:t>
            </a:r>
            <a:r>
              <a:rPr lang="en-US" sz="2400" cap="none" spc="-25" dirty="0" smtClean="0">
                <a:latin typeface="Times New Roman"/>
                <a:cs typeface="Times New Roman"/>
              </a:rPr>
              <a:t>and</a:t>
            </a:r>
            <a:r>
              <a:rPr lang="en-US" sz="2400" cap="none" spc="-14" dirty="0" smtClean="0">
                <a:latin typeface="Times New Roman"/>
                <a:cs typeface="Times New Roman"/>
              </a:rPr>
              <a:t> </a:t>
            </a:r>
            <a:r>
              <a:rPr lang="en-US" sz="2400" cap="none" spc="-40" dirty="0" smtClean="0">
                <a:latin typeface="Times New Roman"/>
                <a:cs typeface="Times New Roman"/>
              </a:rPr>
              <a:t>the</a:t>
            </a:r>
            <a:r>
              <a:rPr lang="en-US" sz="2400" cap="none" spc="-25" dirty="0" smtClean="0">
                <a:latin typeface="Times New Roman"/>
                <a:cs typeface="Times New Roman"/>
              </a:rPr>
              <a:t> </a:t>
            </a:r>
            <a:r>
              <a:rPr lang="en-US" sz="2400" cap="none" spc="-45" dirty="0" err="1" smtClean="0">
                <a:latin typeface="Times New Roman"/>
                <a:cs typeface="Times New Roman"/>
              </a:rPr>
              <a:t>caucasus</a:t>
            </a:r>
            <a:r>
              <a:rPr lang="en-US" sz="2400" cap="none" spc="-45" dirty="0" smtClean="0">
                <a:latin typeface="Times New Roman"/>
                <a:cs typeface="Times New Roman"/>
              </a:rPr>
              <a:t>,</a:t>
            </a:r>
            <a:r>
              <a:rPr lang="en-US" sz="2400" cap="none" spc="-14" dirty="0" smtClean="0">
                <a:latin typeface="Times New Roman"/>
                <a:cs typeface="Times New Roman"/>
              </a:rPr>
              <a:t> </a:t>
            </a:r>
            <a:r>
              <a:rPr lang="en-US" sz="2400" cap="none" spc="-35" dirty="0" smtClean="0">
                <a:latin typeface="Times New Roman"/>
                <a:cs typeface="Times New Roman"/>
              </a:rPr>
              <a:t>but</a:t>
            </a:r>
            <a:r>
              <a:rPr lang="en-US" sz="2400" cap="none" spc="-14" dirty="0" smtClean="0">
                <a:latin typeface="Times New Roman"/>
                <a:cs typeface="Times New Roman"/>
              </a:rPr>
              <a:t> </a:t>
            </a:r>
            <a:r>
              <a:rPr lang="en-US" sz="2400" cap="none" spc="-40" dirty="0" smtClean="0">
                <a:latin typeface="Times New Roman"/>
                <a:cs typeface="Times New Roman"/>
              </a:rPr>
              <a:t>were</a:t>
            </a:r>
            <a:r>
              <a:rPr lang="en-US" sz="2400" cap="none" spc="-14" dirty="0" smtClean="0">
                <a:latin typeface="Times New Roman"/>
                <a:cs typeface="Times New Roman"/>
              </a:rPr>
              <a:t> </a:t>
            </a:r>
            <a:r>
              <a:rPr lang="en-US" sz="2400" cap="none" spc="-30" dirty="0" smtClean="0">
                <a:latin typeface="Times New Roman"/>
                <a:cs typeface="Times New Roman"/>
              </a:rPr>
              <a:t>an</a:t>
            </a:r>
            <a:r>
              <a:rPr lang="en-US" sz="2400" cap="none" spc="-20" dirty="0" smtClean="0">
                <a:latin typeface="Times New Roman"/>
                <a:cs typeface="Times New Roman"/>
              </a:rPr>
              <a:t> </a:t>
            </a:r>
            <a:r>
              <a:rPr lang="en-US" sz="2400" cap="none" spc="-45" dirty="0" smtClean="0">
                <a:solidFill>
                  <a:srgbClr val="00B050"/>
                </a:solidFill>
                <a:latin typeface="Times New Roman"/>
                <a:cs typeface="Times New Roman"/>
              </a:rPr>
              <a:t>independent</a:t>
            </a:r>
            <a:r>
              <a:rPr lang="en-US" sz="2400" cap="none" spc="-14" dirty="0" smtClean="0">
                <a:solidFill>
                  <a:srgbClr val="00B050"/>
                </a:solidFill>
                <a:latin typeface="Times New Roman"/>
                <a:cs typeface="Times New Roman"/>
              </a:rPr>
              <a:t> </a:t>
            </a:r>
            <a:r>
              <a:rPr lang="en-US" sz="2400" cap="none" spc="-45" dirty="0" smtClean="0">
                <a:solidFill>
                  <a:srgbClr val="00B050"/>
                </a:solidFill>
                <a:latin typeface="Times New Roman"/>
                <a:cs typeface="Times New Roman"/>
              </a:rPr>
              <a:t>development,</a:t>
            </a:r>
            <a:r>
              <a:rPr lang="en-US" sz="2400" cap="none" spc="-25" dirty="0" smtClean="0">
                <a:solidFill>
                  <a:srgbClr val="00B050"/>
                </a:solidFill>
                <a:latin typeface="Times New Roman"/>
                <a:cs typeface="Times New Roman"/>
              </a:rPr>
              <a:t> </a:t>
            </a:r>
            <a:r>
              <a:rPr lang="en-US" sz="2400" cap="none" spc="-35" dirty="0" smtClean="0">
                <a:solidFill>
                  <a:srgbClr val="00B050"/>
                </a:solidFill>
                <a:latin typeface="Times New Roman"/>
                <a:cs typeface="Times New Roman"/>
              </a:rPr>
              <a:t>not</a:t>
            </a:r>
            <a:r>
              <a:rPr lang="en-US" sz="2400" cap="none" spc="-14" dirty="0" smtClean="0">
                <a:solidFill>
                  <a:srgbClr val="00B050"/>
                </a:solidFill>
                <a:latin typeface="Times New Roman"/>
                <a:cs typeface="Times New Roman"/>
              </a:rPr>
              <a:t> </a:t>
            </a:r>
            <a:r>
              <a:rPr lang="en-US" sz="2400" cap="none" spc="-25" dirty="0" smtClean="0">
                <a:solidFill>
                  <a:srgbClr val="00B050"/>
                </a:solidFill>
                <a:latin typeface="Times New Roman"/>
                <a:cs typeface="Times New Roman"/>
              </a:rPr>
              <a:t>an </a:t>
            </a:r>
            <a:r>
              <a:rPr lang="en-US" sz="2400" cap="none" spc="-10" dirty="0" smtClean="0">
                <a:solidFill>
                  <a:srgbClr val="00B050"/>
                </a:solidFill>
                <a:latin typeface="Times New Roman"/>
                <a:cs typeface="Times New Roman"/>
              </a:rPr>
              <a:t>import.</a:t>
            </a:r>
            <a:endParaRPr lang="en-US" sz="2400" cap="none" dirty="0"/>
          </a:p>
        </p:txBody>
      </p:sp>
    </p:spTree>
    <p:extLst>
      <p:ext uri="{BB962C8B-B14F-4D97-AF65-F5344CB8AC3E}">
        <p14:creationId xmlns:p14="http://schemas.microsoft.com/office/powerpoint/2010/main" val="270564568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914400" y="1371600"/>
            <a:ext cx="8382000" cy="5645070"/>
          </a:xfrm>
          <a:prstGeom prst="rect">
            <a:avLst/>
          </a:prstGeom>
        </p:spPr>
        <p:txBody>
          <a:bodyPr wrap="square" lIns="91378" tIns="45688" rIns="91378" bIns="45688">
            <a:spAutoFit/>
          </a:bodyPr>
          <a:lstStyle/>
          <a:p>
            <a:pPr marL="12691" lvl="3" algn="just">
              <a:buSzPct val="95833"/>
              <a:tabLst>
                <a:tab pos="466397" algn="l"/>
              </a:tabLst>
            </a:pPr>
            <a:r>
              <a:rPr lang="en-US" sz="2400" b="1" u="sng" spc="-40" dirty="0" err="1" smtClean="0">
                <a:solidFill>
                  <a:srgbClr val="0070C0"/>
                </a:solidFill>
                <a:latin typeface="Times New Roman"/>
                <a:cs typeface="Times New Roman"/>
              </a:rPr>
              <a:t>Wootz</a:t>
            </a:r>
            <a:r>
              <a:rPr lang="en-US" sz="2400" b="1" u="sng" spc="-60" dirty="0" smtClean="0">
                <a:solidFill>
                  <a:srgbClr val="0070C0"/>
                </a:solidFill>
                <a:latin typeface="Times New Roman"/>
                <a:cs typeface="Times New Roman"/>
              </a:rPr>
              <a:t> </a:t>
            </a:r>
            <a:r>
              <a:rPr lang="en-US" sz="2400" b="1" u="sng" spc="-10" dirty="0" smtClean="0">
                <a:solidFill>
                  <a:srgbClr val="0070C0"/>
                </a:solidFill>
                <a:latin typeface="Times New Roman"/>
                <a:cs typeface="Times New Roman"/>
              </a:rPr>
              <a:t>Steel</a:t>
            </a:r>
          </a:p>
          <a:p>
            <a:pPr marL="12691" lvl="3" algn="just">
              <a:buSzPct val="95833"/>
              <a:tabLst>
                <a:tab pos="466397" algn="l"/>
              </a:tabLst>
            </a:pPr>
            <a:endParaRPr lang="en-US" sz="2400" b="1" u="sng" dirty="0" smtClean="0">
              <a:solidFill>
                <a:srgbClr val="0070C0"/>
              </a:solidFill>
              <a:latin typeface="Times New Roman"/>
              <a:cs typeface="Times New Roman"/>
            </a:endParaRPr>
          </a:p>
          <a:p>
            <a:pPr marL="12691" marR="5715" indent="456244" algn="just">
              <a:lnSpc>
                <a:spcPct val="150000"/>
              </a:lnSpc>
              <a:spcBef>
                <a:spcPts val="50"/>
              </a:spcBef>
            </a:pPr>
            <a:r>
              <a:rPr lang="en-US" sz="2400" spc="-40" dirty="0">
                <a:latin typeface="Times New Roman"/>
                <a:cs typeface="Times New Roman"/>
              </a:rPr>
              <a:t>Instead,</a:t>
            </a:r>
            <a:r>
              <a:rPr lang="en-US" sz="2400" spc="-35" dirty="0">
                <a:latin typeface="Times New Roman"/>
                <a:cs typeface="Times New Roman"/>
              </a:rPr>
              <a:t> </a:t>
            </a:r>
            <a:r>
              <a:rPr lang="en-US" sz="2400" spc="-45" dirty="0">
                <a:latin typeface="Times New Roman"/>
                <a:cs typeface="Times New Roman"/>
              </a:rPr>
              <a:t>India</a:t>
            </a:r>
            <a:r>
              <a:rPr lang="en-US" sz="2400" spc="-30" dirty="0">
                <a:latin typeface="Times New Roman"/>
                <a:cs typeface="Times New Roman"/>
              </a:rPr>
              <a:t> </a:t>
            </a:r>
            <a:r>
              <a:rPr lang="en-US" sz="2400" spc="-20" dirty="0">
                <a:latin typeface="Times New Roman"/>
                <a:cs typeface="Times New Roman"/>
              </a:rPr>
              <a:t>was </a:t>
            </a:r>
            <a:r>
              <a:rPr lang="en-US" sz="2400" dirty="0" smtClean="0">
                <a:latin typeface="Times New Roman"/>
                <a:cs typeface="Times New Roman"/>
              </a:rPr>
              <a:t>a</a:t>
            </a:r>
            <a:r>
              <a:rPr lang="en-US" sz="2400" spc="-35" dirty="0">
                <a:latin typeface="Times New Roman"/>
                <a:cs typeface="Times New Roman"/>
              </a:rPr>
              <a:t> </a:t>
            </a:r>
            <a:r>
              <a:rPr lang="en-US" sz="2400" spc="-40" dirty="0">
                <a:latin typeface="Times New Roman"/>
                <a:cs typeface="Times New Roman"/>
              </a:rPr>
              <a:t>major</a:t>
            </a:r>
            <a:r>
              <a:rPr lang="en-US" sz="2400" spc="-35" dirty="0">
                <a:latin typeface="Times New Roman"/>
                <a:cs typeface="Times New Roman"/>
              </a:rPr>
              <a:t> </a:t>
            </a:r>
            <a:r>
              <a:rPr lang="en-US" sz="2400" spc="-40" dirty="0">
                <a:latin typeface="Times New Roman"/>
                <a:cs typeface="Times New Roman"/>
              </a:rPr>
              <a:t>innovator</a:t>
            </a:r>
            <a:r>
              <a:rPr lang="en-US" sz="2400" spc="-25" dirty="0">
                <a:latin typeface="Times New Roman"/>
                <a:cs typeface="Times New Roman"/>
              </a:rPr>
              <a:t> </a:t>
            </a:r>
            <a:r>
              <a:rPr lang="en-US" sz="2400" spc="-20" dirty="0">
                <a:latin typeface="Times New Roman"/>
                <a:cs typeface="Times New Roman"/>
              </a:rPr>
              <a:t>in</a:t>
            </a:r>
            <a:r>
              <a:rPr lang="en-US" sz="2400" spc="-35" dirty="0">
                <a:latin typeface="Times New Roman"/>
                <a:cs typeface="Times New Roman"/>
              </a:rPr>
              <a:t> </a:t>
            </a:r>
            <a:r>
              <a:rPr lang="en-US" sz="2400" spc="-20" dirty="0">
                <a:latin typeface="Times New Roman"/>
                <a:cs typeface="Times New Roman"/>
              </a:rPr>
              <a:t>the </a:t>
            </a:r>
            <a:r>
              <a:rPr lang="en-US" sz="2400" spc="-40" dirty="0">
                <a:latin typeface="Times New Roman"/>
                <a:cs typeface="Times New Roman"/>
              </a:rPr>
              <a:t>field,</a:t>
            </a:r>
            <a:r>
              <a:rPr lang="en-US" sz="2400" spc="-20" dirty="0">
                <a:latin typeface="Times New Roman"/>
                <a:cs typeface="Times New Roman"/>
              </a:rPr>
              <a:t> </a:t>
            </a:r>
            <a:r>
              <a:rPr lang="en-US" sz="2400" spc="-45" dirty="0">
                <a:latin typeface="Times New Roman"/>
                <a:cs typeface="Times New Roman"/>
              </a:rPr>
              <a:t>producing</a:t>
            </a:r>
            <a:r>
              <a:rPr lang="en-US" sz="2400" spc="-30" dirty="0">
                <a:latin typeface="Times New Roman"/>
                <a:cs typeface="Times New Roman"/>
              </a:rPr>
              <a:t> </a:t>
            </a:r>
            <a:r>
              <a:rPr lang="en-US" sz="2400" spc="-20" dirty="0">
                <a:solidFill>
                  <a:srgbClr val="C00000"/>
                </a:solidFill>
                <a:latin typeface="Times New Roman"/>
                <a:cs typeface="Times New Roman"/>
              </a:rPr>
              <a:t>two </a:t>
            </a:r>
            <a:r>
              <a:rPr lang="en-US" sz="2400" spc="-40" dirty="0">
                <a:solidFill>
                  <a:srgbClr val="C00000"/>
                </a:solidFill>
                <a:latin typeface="Times New Roman"/>
                <a:cs typeface="Times New Roman"/>
              </a:rPr>
              <a:t>highly</a:t>
            </a:r>
            <a:r>
              <a:rPr lang="en-US" sz="2400" spc="-35" dirty="0">
                <a:solidFill>
                  <a:srgbClr val="C00000"/>
                </a:solidFill>
                <a:latin typeface="Times New Roman"/>
                <a:cs typeface="Times New Roman"/>
              </a:rPr>
              <a:t> </a:t>
            </a:r>
            <a:r>
              <a:rPr lang="en-US" sz="2400" spc="-40" dirty="0">
                <a:solidFill>
                  <a:srgbClr val="C00000"/>
                </a:solidFill>
                <a:latin typeface="Times New Roman"/>
                <a:cs typeface="Times New Roman"/>
              </a:rPr>
              <a:t>advanced</a:t>
            </a:r>
            <a:r>
              <a:rPr lang="en-US" sz="2400" spc="-35" dirty="0">
                <a:solidFill>
                  <a:srgbClr val="C00000"/>
                </a:solidFill>
                <a:latin typeface="Times New Roman"/>
                <a:cs typeface="Times New Roman"/>
              </a:rPr>
              <a:t> types</a:t>
            </a:r>
            <a:r>
              <a:rPr lang="en-US" sz="2400" spc="-20" dirty="0">
                <a:solidFill>
                  <a:srgbClr val="C00000"/>
                </a:solidFill>
                <a:latin typeface="Times New Roman"/>
                <a:cs typeface="Times New Roman"/>
              </a:rPr>
              <a:t> </a:t>
            </a:r>
            <a:r>
              <a:rPr lang="en-US" sz="2400" dirty="0" smtClean="0">
                <a:solidFill>
                  <a:srgbClr val="C00000"/>
                </a:solidFill>
                <a:latin typeface="Times New Roman"/>
                <a:cs typeface="Times New Roman"/>
              </a:rPr>
              <a:t>of</a:t>
            </a:r>
            <a:r>
              <a:rPr lang="en-US" sz="2400" spc="-20" dirty="0">
                <a:solidFill>
                  <a:srgbClr val="C00000"/>
                </a:solidFill>
                <a:latin typeface="Times New Roman"/>
                <a:cs typeface="Times New Roman"/>
              </a:rPr>
              <a:t> </a:t>
            </a:r>
            <a:r>
              <a:rPr lang="en-US" sz="2400" spc="-35" dirty="0">
                <a:solidFill>
                  <a:srgbClr val="C00000"/>
                </a:solidFill>
                <a:latin typeface="Times New Roman"/>
                <a:cs typeface="Times New Roman"/>
              </a:rPr>
              <a:t>iron. </a:t>
            </a:r>
          </a:p>
          <a:p>
            <a:pPr marL="342900" indent="-342900" algn="just">
              <a:lnSpc>
                <a:spcPct val="150000"/>
              </a:lnSpc>
              <a:buFont typeface="Wingdings" pitchFamily="2" charset="2"/>
              <a:buChar char="§"/>
            </a:pPr>
            <a:r>
              <a:rPr lang="en-US" sz="2400" spc="-25" dirty="0">
                <a:latin typeface="Times New Roman"/>
                <a:cs typeface="Times New Roman"/>
              </a:rPr>
              <a:t>The </a:t>
            </a:r>
            <a:r>
              <a:rPr lang="en-US" sz="2400" dirty="0" smtClean="0">
                <a:latin typeface="Times New Roman"/>
                <a:cs typeface="Times New Roman"/>
              </a:rPr>
              <a:t>first,</a:t>
            </a:r>
            <a:r>
              <a:rPr lang="en-US" sz="2400" spc="4" dirty="0">
                <a:latin typeface="Times New Roman"/>
                <a:cs typeface="Times New Roman"/>
              </a:rPr>
              <a:t> </a:t>
            </a:r>
            <a:r>
              <a:rPr lang="en-US" sz="2400" dirty="0" err="1" smtClean="0">
                <a:latin typeface="Times New Roman"/>
                <a:cs typeface="Times New Roman"/>
              </a:rPr>
              <a:t>wootz</a:t>
            </a:r>
            <a:r>
              <a:rPr lang="en-US" sz="2400" spc="14" dirty="0">
                <a:latin typeface="Times New Roman"/>
                <a:cs typeface="Times New Roman"/>
              </a:rPr>
              <a:t> </a:t>
            </a:r>
            <a:r>
              <a:rPr lang="en-US" sz="2400" dirty="0" smtClean="0">
                <a:latin typeface="Times New Roman"/>
                <a:cs typeface="Times New Roman"/>
              </a:rPr>
              <a:t>steel,</a:t>
            </a:r>
            <a:r>
              <a:rPr lang="en-US" sz="2400" spc="4" dirty="0">
                <a:latin typeface="Times New Roman"/>
                <a:cs typeface="Times New Roman"/>
              </a:rPr>
              <a:t> </a:t>
            </a:r>
            <a:r>
              <a:rPr lang="en-US" sz="2400" spc="-20" dirty="0">
                <a:latin typeface="Times New Roman"/>
                <a:cs typeface="Times New Roman"/>
              </a:rPr>
              <a:t>produced</a:t>
            </a:r>
            <a:r>
              <a:rPr lang="en-US" sz="2400" spc="10" dirty="0">
                <a:latin typeface="Times New Roman"/>
                <a:cs typeface="Times New Roman"/>
              </a:rPr>
              <a:t> </a:t>
            </a:r>
            <a:r>
              <a:rPr lang="en-US" sz="2400" dirty="0" smtClean="0">
                <a:latin typeface="Times New Roman"/>
                <a:cs typeface="Times New Roman"/>
              </a:rPr>
              <a:t>in</a:t>
            </a:r>
            <a:r>
              <a:rPr lang="en-US" sz="2400" spc="10" dirty="0">
                <a:latin typeface="Times New Roman"/>
                <a:cs typeface="Times New Roman"/>
              </a:rPr>
              <a:t> </a:t>
            </a:r>
            <a:r>
              <a:rPr lang="en-US" sz="2400" dirty="0" smtClean="0">
                <a:latin typeface="Times New Roman"/>
                <a:cs typeface="Times New Roman"/>
              </a:rPr>
              <a:t>south</a:t>
            </a:r>
            <a:r>
              <a:rPr lang="en-US" sz="2400" spc="4" dirty="0">
                <a:latin typeface="Times New Roman"/>
                <a:cs typeface="Times New Roman"/>
              </a:rPr>
              <a:t> </a:t>
            </a:r>
            <a:r>
              <a:rPr lang="en-US" sz="2400" dirty="0" smtClean="0">
                <a:latin typeface="Times New Roman"/>
                <a:cs typeface="Times New Roman"/>
              </a:rPr>
              <a:t>India</a:t>
            </a:r>
            <a:r>
              <a:rPr lang="en-US" sz="2400" spc="14" dirty="0">
                <a:latin typeface="Times New Roman"/>
                <a:cs typeface="Times New Roman"/>
              </a:rPr>
              <a:t> </a:t>
            </a:r>
            <a:r>
              <a:rPr lang="en-US" sz="2400" dirty="0" smtClean="0">
                <a:latin typeface="Times New Roman"/>
                <a:cs typeface="Times New Roman"/>
              </a:rPr>
              <a:t>from</a:t>
            </a:r>
            <a:r>
              <a:rPr lang="en-US" sz="2400" spc="4" dirty="0">
                <a:latin typeface="Times New Roman"/>
                <a:cs typeface="Times New Roman"/>
              </a:rPr>
              <a:t> </a:t>
            </a:r>
            <a:r>
              <a:rPr lang="en-US" sz="2400" dirty="0" smtClean="0">
                <a:latin typeface="Times New Roman"/>
                <a:cs typeface="Times New Roman"/>
              </a:rPr>
              <a:t>about</a:t>
            </a:r>
            <a:r>
              <a:rPr lang="en-US" sz="2400" spc="10" dirty="0">
                <a:latin typeface="Times New Roman"/>
                <a:cs typeface="Times New Roman"/>
              </a:rPr>
              <a:t> </a:t>
            </a:r>
            <a:r>
              <a:rPr lang="en-US" sz="2400" dirty="0" smtClean="0">
                <a:latin typeface="Times New Roman"/>
                <a:cs typeface="Times New Roman"/>
              </a:rPr>
              <a:t>300</a:t>
            </a:r>
            <a:r>
              <a:rPr lang="en-US" sz="2400" spc="10" dirty="0">
                <a:latin typeface="Times New Roman"/>
                <a:cs typeface="Times New Roman"/>
              </a:rPr>
              <a:t> </a:t>
            </a:r>
            <a:r>
              <a:rPr lang="en-US" sz="2400" dirty="0" smtClean="0">
                <a:latin typeface="Times New Roman"/>
                <a:cs typeface="Times New Roman"/>
              </a:rPr>
              <a:t>BCE,</a:t>
            </a:r>
            <a:r>
              <a:rPr lang="en-US" sz="2400" spc="4" dirty="0">
                <a:latin typeface="Times New Roman"/>
                <a:cs typeface="Times New Roman"/>
              </a:rPr>
              <a:t> </a:t>
            </a:r>
            <a:r>
              <a:rPr lang="en-US" sz="2400" dirty="0" smtClean="0">
                <a:latin typeface="Times New Roman"/>
                <a:cs typeface="Times New Roman"/>
              </a:rPr>
              <a:t>was</a:t>
            </a:r>
            <a:r>
              <a:rPr lang="en-US" sz="2400" spc="10" dirty="0">
                <a:latin typeface="Times New Roman"/>
                <a:cs typeface="Times New Roman"/>
              </a:rPr>
              <a:t> </a:t>
            </a:r>
            <a:r>
              <a:rPr lang="en-US" sz="2400" dirty="0" smtClean="0">
                <a:latin typeface="Times New Roman"/>
                <a:cs typeface="Times New Roman"/>
              </a:rPr>
              <a:t>iron</a:t>
            </a:r>
            <a:r>
              <a:rPr lang="en-US" sz="2400" spc="10" dirty="0">
                <a:latin typeface="Times New Roman"/>
                <a:cs typeface="Times New Roman"/>
              </a:rPr>
              <a:t> </a:t>
            </a:r>
            <a:r>
              <a:rPr lang="en-US" sz="2400" spc="-25" dirty="0">
                <a:latin typeface="Times New Roman"/>
                <a:cs typeface="Times New Roman"/>
              </a:rPr>
              <a:t>carburized</a:t>
            </a:r>
            <a:r>
              <a:rPr lang="en-US" sz="2400" spc="4" dirty="0">
                <a:latin typeface="Times New Roman"/>
                <a:cs typeface="Times New Roman"/>
              </a:rPr>
              <a:t> </a:t>
            </a:r>
            <a:r>
              <a:rPr lang="en-US" sz="2400" dirty="0" smtClean="0">
                <a:latin typeface="Times New Roman"/>
                <a:cs typeface="Times New Roman"/>
              </a:rPr>
              <a:t>under</a:t>
            </a:r>
            <a:r>
              <a:rPr lang="en-US" sz="2400" spc="4" dirty="0">
                <a:latin typeface="Times New Roman"/>
                <a:cs typeface="Times New Roman"/>
              </a:rPr>
              <a:t> </a:t>
            </a:r>
            <a:r>
              <a:rPr lang="en-US" sz="2400" spc="-10" dirty="0">
                <a:latin typeface="Times New Roman"/>
                <a:cs typeface="Times New Roman"/>
              </a:rPr>
              <a:t>controlled </a:t>
            </a:r>
            <a:r>
              <a:rPr lang="en-US" sz="2400" spc="-35" dirty="0">
                <a:latin typeface="Times New Roman"/>
                <a:cs typeface="Times New Roman"/>
              </a:rPr>
              <a:t>conditions.</a:t>
            </a:r>
            <a:r>
              <a:rPr lang="en-US" sz="2400" spc="-20" dirty="0">
                <a:latin typeface="Times New Roman"/>
                <a:cs typeface="Times New Roman"/>
              </a:rPr>
              <a:t> </a:t>
            </a:r>
            <a:endParaRPr lang="en-US" sz="2400" spc="-20" dirty="0" smtClean="0">
              <a:latin typeface="Times New Roman"/>
              <a:cs typeface="Times New Roman"/>
            </a:endParaRPr>
          </a:p>
          <a:p>
            <a:pPr marL="342900" indent="-342900" algn="just">
              <a:lnSpc>
                <a:spcPct val="150000"/>
              </a:lnSpc>
              <a:buFont typeface="Wingdings" pitchFamily="2" charset="2"/>
              <a:buChar char="§"/>
            </a:pPr>
            <a:r>
              <a:rPr lang="en-US" sz="2400" spc="-25" dirty="0" smtClean="0">
                <a:latin typeface="Times New Roman"/>
                <a:cs typeface="Times New Roman"/>
              </a:rPr>
              <a:t>Exported</a:t>
            </a:r>
            <a:r>
              <a:rPr lang="en-US" sz="2400" spc="-20" dirty="0" smtClean="0">
                <a:latin typeface="Times New Roman"/>
                <a:cs typeface="Times New Roman"/>
              </a:rPr>
              <a:t> </a:t>
            </a:r>
            <a:r>
              <a:rPr lang="en-US" sz="2400" dirty="0" smtClean="0">
                <a:latin typeface="Times New Roman"/>
                <a:cs typeface="Times New Roman"/>
              </a:rPr>
              <a:t>from</a:t>
            </a:r>
            <a:r>
              <a:rPr lang="en-US" sz="2400" spc="-14" dirty="0">
                <a:latin typeface="Times New Roman"/>
                <a:cs typeface="Times New Roman"/>
              </a:rPr>
              <a:t> </a:t>
            </a:r>
            <a:r>
              <a:rPr lang="en-US" sz="2400" dirty="0" smtClean="0">
                <a:latin typeface="Times New Roman"/>
                <a:cs typeface="Times New Roman"/>
              </a:rPr>
              <a:t>the</a:t>
            </a:r>
            <a:r>
              <a:rPr lang="en-US" sz="2400" spc="-20" dirty="0">
                <a:latin typeface="Times New Roman"/>
                <a:cs typeface="Times New Roman"/>
              </a:rPr>
              <a:t> Deccan</a:t>
            </a:r>
            <a:r>
              <a:rPr lang="en-US" sz="2400" spc="-10" dirty="0">
                <a:latin typeface="Times New Roman"/>
                <a:cs typeface="Times New Roman"/>
              </a:rPr>
              <a:t> </a:t>
            </a:r>
            <a:r>
              <a:rPr lang="en-US" sz="2400" dirty="0" smtClean="0">
                <a:latin typeface="Times New Roman"/>
                <a:cs typeface="Times New Roman"/>
              </a:rPr>
              <a:t>all</a:t>
            </a:r>
            <a:r>
              <a:rPr lang="en-US" sz="2400" spc="-14" dirty="0">
                <a:latin typeface="Times New Roman"/>
                <a:cs typeface="Times New Roman"/>
              </a:rPr>
              <a:t> </a:t>
            </a:r>
            <a:r>
              <a:rPr lang="en-US" sz="2400" dirty="0" smtClean="0">
                <a:latin typeface="Times New Roman"/>
                <a:cs typeface="Times New Roman"/>
              </a:rPr>
              <a:t>the</a:t>
            </a:r>
            <a:r>
              <a:rPr lang="en-US" sz="2400" spc="-25" dirty="0">
                <a:latin typeface="Times New Roman"/>
                <a:cs typeface="Times New Roman"/>
              </a:rPr>
              <a:t> </a:t>
            </a:r>
            <a:r>
              <a:rPr lang="en-US" sz="2400" dirty="0" smtClean="0">
                <a:latin typeface="Times New Roman"/>
                <a:cs typeface="Times New Roman"/>
              </a:rPr>
              <a:t>way</a:t>
            </a:r>
            <a:r>
              <a:rPr lang="en-US" sz="2400" spc="-35" dirty="0">
                <a:latin typeface="Times New Roman"/>
                <a:cs typeface="Times New Roman"/>
              </a:rPr>
              <a:t> </a:t>
            </a:r>
            <a:r>
              <a:rPr lang="en-US" sz="2400" dirty="0" smtClean="0">
                <a:latin typeface="Times New Roman"/>
                <a:cs typeface="Times New Roman"/>
              </a:rPr>
              <a:t>to</a:t>
            </a:r>
            <a:r>
              <a:rPr lang="en-US" sz="2400" spc="-10" dirty="0">
                <a:latin typeface="Times New Roman"/>
                <a:cs typeface="Times New Roman"/>
              </a:rPr>
              <a:t> </a:t>
            </a:r>
            <a:r>
              <a:rPr lang="en-US" sz="2400" spc="-20" dirty="0">
                <a:latin typeface="Times New Roman"/>
                <a:cs typeface="Times New Roman"/>
              </a:rPr>
              <a:t>Syria,</a:t>
            </a:r>
            <a:r>
              <a:rPr lang="en-US" sz="2400" spc="-14" dirty="0">
                <a:latin typeface="Times New Roman"/>
                <a:cs typeface="Times New Roman"/>
              </a:rPr>
              <a:t> </a:t>
            </a:r>
            <a:r>
              <a:rPr lang="en-US" sz="2400" dirty="0" smtClean="0">
                <a:latin typeface="Times New Roman"/>
                <a:cs typeface="Times New Roman"/>
              </a:rPr>
              <a:t>it</a:t>
            </a:r>
            <a:r>
              <a:rPr lang="en-US" sz="2400" spc="-4" dirty="0">
                <a:latin typeface="Times New Roman"/>
                <a:cs typeface="Times New Roman"/>
              </a:rPr>
              <a:t> </a:t>
            </a:r>
            <a:r>
              <a:rPr lang="en-US" sz="2400" dirty="0" smtClean="0">
                <a:latin typeface="Times New Roman"/>
                <a:cs typeface="Times New Roman"/>
              </a:rPr>
              <a:t>was</a:t>
            </a:r>
            <a:r>
              <a:rPr lang="en-US" sz="2400" spc="-4" dirty="0">
                <a:latin typeface="Times New Roman"/>
                <a:cs typeface="Times New Roman"/>
              </a:rPr>
              <a:t> </a:t>
            </a:r>
            <a:r>
              <a:rPr lang="en-US" sz="2400" spc="-20" dirty="0">
                <a:latin typeface="Times New Roman"/>
                <a:cs typeface="Times New Roman"/>
              </a:rPr>
              <a:t>shaped </a:t>
            </a:r>
            <a:r>
              <a:rPr lang="en-US" sz="2400" spc="-10" dirty="0">
                <a:latin typeface="Times New Roman"/>
                <a:cs typeface="Times New Roman"/>
              </a:rPr>
              <a:t>there </a:t>
            </a:r>
            <a:r>
              <a:rPr lang="en-US" sz="2400" dirty="0" smtClean="0">
                <a:latin typeface="Times New Roman"/>
                <a:cs typeface="Times New Roman"/>
              </a:rPr>
              <a:t>into</a:t>
            </a:r>
            <a:r>
              <a:rPr lang="en-US" sz="2400" spc="-14" dirty="0">
                <a:latin typeface="Times New Roman"/>
                <a:cs typeface="Times New Roman"/>
              </a:rPr>
              <a:t> </a:t>
            </a:r>
            <a:r>
              <a:rPr lang="en-US" sz="2400" spc="-55" dirty="0">
                <a:solidFill>
                  <a:srgbClr val="C00000"/>
                </a:solidFill>
                <a:latin typeface="Times New Roman"/>
                <a:cs typeface="Times New Roman"/>
              </a:rPr>
              <a:t>‘Damascus</a:t>
            </a:r>
            <a:r>
              <a:rPr lang="en-US" sz="2400" spc="-14" dirty="0">
                <a:solidFill>
                  <a:srgbClr val="C00000"/>
                </a:solidFill>
                <a:latin typeface="Times New Roman"/>
                <a:cs typeface="Times New Roman"/>
              </a:rPr>
              <a:t> </a:t>
            </a:r>
            <a:r>
              <a:rPr lang="en-US" sz="2400" spc="-10" dirty="0">
                <a:solidFill>
                  <a:srgbClr val="C00000"/>
                </a:solidFill>
                <a:latin typeface="Times New Roman"/>
                <a:cs typeface="Times New Roman"/>
              </a:rPr>
              <a:t>swords’ </a:t>
            </a:r>
            <a:r>
              <a:rPr lang="en-US" sz="2400" spc="-30" dirty="0">
                <a:latin typeface="Times New Roman"/>
                <a:cs typeface="Times New Roman"/>
              </a:rPr>
              <a:t>renowned</a:t>
            </a:r>
            <a:r>
              <a:rPr lang="en-US" sz="2400" spc="10" dirty="0">
                <a:latin typeface="Times New Roman"/>
                <a:cs typeface="Times New Roman"/>
              </a:rPr>
              <a:t> </a:t>
            </a:r>
            <a:r>
              <a:rPr lang="en-US" sz="2400" dirty="0" smtClean="0">
                <a:latin typeface="Times New Roman"/>
                <a:cs typeface="Times New Roman"/>
              </a:rPr>
              <a:t>for</a:t>
            </a:r>
            <a:r>
              <a:rPr lang="en-US" sz="2400" spc="4" dirty="0">
                <a:latin typeface="Times New Roman"/>
                <a:cs typeface="Times New Roman"/>
              </a:rPr>
              <a:t> </a:t>
            </a:r>
            <a:r>
              <a:rPr lang="en-US" sz="2400" spc="-10" dirty="0">
                <a:latin typeface="Times New Roman"/>
                <a:cs typeface="Times New Roman"/>
              </a:rPr>
              <a:t>their</a:t>
            </a:r>
            <a:r>
              <a:rPr lang="en-US" sz="2400" spc="20" dirty="0">
                <a:latin typeface="Times New Roman"/>
                <a:cs typeface="Times New Roman"/>
              </a:rPr>
              <a:t> </a:t>
            </a:r>
            <a:r>
              <a:rPr lang="en-US" sz="2400" spc="-30" dirty="0">
                <a:latin typeface="Times New Roman"/>
                <a:cs typeface="Times New Roman"/>
              </a:rPr>
              <a:t>sharpness</a:t>
            </a:r>
            <a:r>
              <a:rPr lang="en-US" sz="2400" spc="20" dirty="0">
                <a:latin typeface="Times New Roman"/>
                <a:cs typeface="Times New Roman"/>
              </a:rPr>
              <a:t> </a:t>
            </a:r>
            <a:r>
              <a:rPr lang="en-US" sz="2400" dirty="0" smtClean="0">
                <a:latin typeface="Times New Roman"/>
                <a:cs typeface="Times New Roman"/>
              </a:rPr>
              <a:t>and</a:t>
            </a:r>
            <a:r>
              <a:rPr lang="en-US" sz="2400" spc="14" dirty="0">
                <a:latin typeface="Times New Roman"/>
                <a:cs typeface="Times New Roman"/>
              </a:rPr>
              <a:t> </a:t>
            </a:r>
            <a:r>
              <a:rPr lang="en-US" sz="2400" spc="-35" dirty="0">
                <a:latin typeface="Times New Roman"/>
                <a:cs typeface="Times New Roman"/>
              </a:rPr>
              <a:t>toughness.</a:t>
            </a:r>
            <a:r>
              <a:rPr lang="en-US" sz="2400" spc="20" dirty="0">
                <a:latin typeface="Times New Roman"/>
                <a:cs typeface="Times New Roman"/>
              </a:rPr>
              <a:t> </a:t>
            </a:r>
          </a:p>
          <a:p>
            <a:pPr algn="just">
              <a:lnSpc>
                <a:spcPct val="150000"/>
              </a:lnSpc>
            </a:pPr>
            <a:r>
              <a:rPr lang="en-US" sz="2400" dirty="0">
                <a:latin typeface="Times New Roman" pitchFamily="18" charset="0"/>
                <a:cs typeface="Times New Roman" pitchFamily="18" charset="0"/>
              </a:rPr>
              <a:t>T</a:t>
            </a:r>
            <a:r>
              <a:rPr lang="en-US" sz="2400" dirty="0" smtClean="0">
                <a:latin typeface="Times New Roman" pitchFamily="18" charset="0"/>
                <a:cs typeface="Times New Roman" pitchFamily="18" charset="0"/>
              </a:rPr>
              <a:t>his </a:t>
            </a:r>
            <a:r>
              <a:rPr lang="en-US" sz="2400" dirty="0">
                <a:latin typeface="Times New Roman" pitchFamily="18" charset="0"/>
                <a:cs typeface="Times New Roman" pitchFamily="18" charset="0"/>
              </a:rPr>
              <a:t>Indian steel was called </a:t>
            </a:r>
            <a:r>
              <a:rPr lang="en-US" sz="2400" dirty="0" smtClean="0">
                <a:solidFill>
                  <a:srgbClr val="C00000"/>
                </a:solidFill>
                <a:latin typeface="Times New Roman" pitchFamily="18" charset="0"/>
                <a:cs typeface="Times New Roman" pitchFamily="18" charset="0"/>
              </a:rPr>
              <a:t>‘the </a:t>
            </a:r>
            <a:r>
              <a:rPr lang="en-US" sz="2400" dirty="0">
                <a:solidFill>
                  <a:srgbClr val="C00000"/>
                </a:solidFill>
                <a:latin typeface="Times New Roman" pitchFamily="18" charset="0"/>
                <a:cs typeface="Times New Roman" pitchFamily="18" charset="0"/>
              </a:rPr>
              <a:t>wonder material of the </a:t>
            </a:r>
            <a:r>
              <a:rPr lang="en-US" sz="2400" dirty="0" smtClean="0">
                <a:solidFill>
                  <a:srgbClr val="C00000"/>
                </a:solidFill>
                <a:latin typeface="Times New Roman" pitchFamily="18" charset="0"/>
                <a:cs typeface="Times New Roman" pitchFamily="18" charset="0"/>
              </a:rPr>
              <a:t>Orient’. </a:t>
            </a:r>
          </a:p>
          <a:p>
            <a:pPr algn="just"/>
            <a:r>
              <a:rPr lang="en-US" sz="2400" dirty="0" smtClean="0">
                <a:latin typeface="Times New Roman" pitchFamily="18" charset="0"/>
                <a:cs typeface="Times New Roman" pitchFamily="18" charset="0"/>
              </a:rPr>
              <a:t>       </a:t>
            </a:r>
            <a:endParaRPr lang="en-US" sz="2400" dirty="0">
              <a:solidFill>
                <a:srgbClr val="00B0F0"/>
              </a:solidFill>
              <a:latin typeface="Times New Roman" pitchFamily="18" charset="0"/>
              <a:cs typeface="Times New Roman" pitchFamily="18" charset="0"/>
            </a:endParaRPr>
          </a:p>
        </p:txBody>
      </p:sp>
    </p:spTree>
    <p:extLst>
      <p:ext uri="{BB962C8B-B14F-4D97-AF65-F5344CB8AC3E}">
        <p14:creationId xmlns:p14="http://schemas.microsoft.com/office/powerpoint/2010/main" val="350261811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753865" y="700987"/>
            <a:ext cx="8550672" cy="213413"/>
          </a:xfrm>
        </p:spPr>
        <p:txBody>
          <a:bodyPr>
            <a:normAutofit fontScale="90000"/>
          </a:bodyPr>
          <a:lstStyle/>
          <a:p>
            <a:r>
              <a:rPr lang="en-US" dirty="0" smtClean="0"/>
              <a:t>    </a:t>
            </a:r>
            <a:endParaRPr lang="en-US" dirty="0"/>
          </a:p>
        </p:txBody>
      </p:sp>
      <p:sp>
        <p:nvSpPr>
          <p:cNvPr id="3" name="Content Placeholder 2"/>
          <p:cNvSpPr>
            <a:spLocks noGrp="1"/>
          </p:cNvSpPr>
          <p:nvPr>
            <p:ph sz="quarter" idx="13"/>
          </p:nvPr>
        </p:nvSpPr>
        <p:spPr>
          <a:xfrm>
            <a:off x="753863" y="914400"/>
            <a:ext cx="8550157" cy="5943600"/>
          </a:xfrm>
        </p:spPr>
        <p:txBody>
          <a:bodyPr/>
          <a:lstStyle/>
          <a:p>
            <a:pPr algn="just" defTabSz="457200">
              <a:lnSpc>
                <a:spcPct val="150000"/>
              </a:lnSpc>
              <a:spcBef>
                <a:spcPts val="0"/>
              </a:spcBef>
              <a:buClrTx/>
            </a:pPr>
            <a:r>
              <a:rPr lang="en-US" sz="2400" cap="none" dirty="0">
                <a:solidFill>
                  <a:prstClr val="black"/>
                </a:solidFill>
                <a:latin typeface="Times New Roman" pitchFamily="18" charset="0"/>
                <a:cs typeface="Times New Roman" pitchFamily="18" charset="0"/>
              </a:rPr>
              <a:t>A Roman historian, </a:t>
            </a:r>
            <a:r>
              <a:rPr lang="en-US" sz="2400" cap="none" dirty="0" err="1">
                <a:solidFill>
                  <a:prstClr val="black"/>
                </a:solidFill>
                <a:latin typeface="Times New Roman" pitchFamily="18" charset="0"/>
                <a:cs typeface="Times New Roman" pitchFamily="18" charset="0"/>
              </a:rPr>
              <a:t>Quintius</a:t>
            </a:r>
            <a:r>
              <a:rPr lang="en-US" sz="2400" cap="none" dirty="0">
                <a:solidFill>
                  <a:prstClr val="black"/>
                </a:solidFill>
                <a:latin typeface="Times New Roman" pitchFamily="18" charset="0"/>
                <a:cs typeface="Times New Roman" pitchFamily="18" charset="0"/>
              </a:rPr>
              <a:t> </a:t>
            </a:r>
            <a:r>
              <a:rPr lang="en-US" sz="2400" cap="none" dirty="0" err="1">
                <a:solidFill>
                  <a:prstClr val="black"/>
                </a:solidFill>
                <a:latin typeface="Times New Roman" pitchFamily="18" charset="0"/>
                <a:cs typeface="Times New Roman" pitchFamily="18" charset="0"/>
              </a:rPr>
              <a:t>Curtius</a:t>
            </a:r>
            <a:r>
              <a:rPr lang="en-US" sz="2400" cap="none" dirty="0">
                <a:solidFill>
                  <a:prstClr val="black"/>
                </a:solidFill>
                <a:latin typeface="Times New Roman" pitchFamily="18" charset="0"/>
                <a:cs typeface="Times New Roman" pitchFamily="18" charset="0"/>
              </a:rPr>
              <a:t>, recorded the gifts which </a:t>
            </a:r>
            <a:r>
              <a:rPr lang="en-US" sz="2400" u="sng" cap="none" dirty="0">
                <a:solidFill>
                  <a:srgbClr val="7030A0"/>
                </a:solidFill>
                <a:latin typeface="Times New Roman" pitchFamily="18" charset="0"/>
                <a:cs typeface="Times New Roman" pitchFamily="18" charset="0"/>
              </a:rPr>
              <a:t>Alexander the Great received from </a:t>
            </a:r>
            <a:r>
              <a:rPr lang="en-US" sz="2400" u="sng" cap="none" dirty="0" err="1">
                <a:solidFill>
                  <a:srgbClr val="7030A0"/>
                </a:solidFill>
                <a:latin typeface="Times New Roman" pitchFamily="18" charset="0"/>
                <a:cs typeface="Times New Roman" pitchFamily="18" charset="0"/>
              </a:rPr>
              <a:t>Porus</a:t>
            </a:r>
            <a:r>
              <a:rPr lang="en-US" sz="2400" u="sng" cap="none" dirty="0">
                <a:solidFill>
                  <a:srgbClr val="7030A0"/>
                </a:solidFill>
                <a:latin typeface="Times New Roman" pitchFamily="18" charset="0"/>
                <a:cs typeface="Times New Roman" pitchFamily="18" charset="0"/>
              </a:rPr>
              <a:t> of </a:t>
            </a:r>
            <a:r>
              <a:rPr lang="en-US" sz="2400" u="sng" cap="none" dirty="0" err="1">
                <a:solidFill>
                  <a:srgbClr val="7030A0"/>
                </a:solidFill>
                <a:latin typeface="Times New Roman" pitchFamily="18" charset="0"/>
                <a:cs typeface="Times New Roman" pitchFamily="18" charset="0"/>
              </a:rPr>
              <a:t>Taxila</a:t>
            </a:r>
            <a:r>
              <a:rPr lang="en-US" sz="2400" u="sng" cap="none" dirty="0">
                <a:solidFill>
                  <a:srgbClr val="7030A0"/>
                </a:solidFill>
                <a:latin typeface="Times New Roman" pitchFamily="18" charset="0"/>
                <a:cs typeface="Times New Roman" pitchFamily="18" charset="0"/>
              </a:rPr>
              <a:t> </a:t>
            </a:r>
            <a:r>
              <a:rPr lang="en-US" sz="2400" cap="none" dirty="0">
                <a:solidFill>
                  <a:prstClr val="black"/>
                </a:solidFill>
                <a:latin typeface="Times New Roman" pitchFamily="18" charset="0"/>
                <a:cs typeface="Times New Roman" pitchFamily="18" charset="0"/>
              </a:rPr>
              <a:t>(in 326 BCE), there was some two-and-a-half tons of </a:t>
            </a:r>
            <a:r>
              <a:rPr lang="en-US" sz="2400" cap="none" dirty="0" err="1">
                <a:solidFill>
                  <a:prstClr val="black"/>
                </a:solidFill>
                <a:latin typeface="Times New Roman" pitchFamily="18" charset="0"/>
                <a:cs typeface="Times New Roman" pitchFamily="18" charset="0"/>
              </a:rPr>
              <a:t>wootz</a:t>
            </a:r>
            <a:r>
              <a:rPr lang="en-US" sz="2400" cap="none" dirty="0">
                <a:solidFill>
                  <a:prstClr val="black"/>
                </a:solidFill>
                <a:latin typeface="Times New Roman" pitchFamily="18" charset="0"/>
                <a:cs typeface="Times New Roman" pitchFamily="18" charset="0"/>
              </a:rPr>
              <a:t> steel-it was evidently </a:t>
            </a:r>
            <a:r>
              <a:rPr lang="en-US" sz="2400" cap="none" dirty="0">
                <a:solidFill>
                  <a:srgbClr val="00B0F0"/>
                </a:solidFill>
                <a:latin typeface="Times New Roman" pitchFamily="18" charset="0"/>
                <a:cs typeface="Times New Roman" pitchFamily="18" charset="0"/>
              </a:rPr>
              <a:t>more highly prized than gold or jewels</a:t>
            </a:r>
            <a:r>
              <a:rPr lang="en-US" sz="2400" cap="none" dirty="0">
                <a:solidFill>
                  <a:prstClr val="black"/>
                </a:solidFill>
                <a:latin typeface="Times New Roman" pitchFamily="18" charset="0"/>
                <a:cs typeface="Times New Roman" pitchFamily="18" charset="0"/>
              </a:rPr>
              <a:t>. </a:t>
            </a:r>
          </a:p>
          <a:p>
            <a:pPr algn="just" defTabSz="457200">
              <a:lnSpc>
                <a:spcPct val="150000"/>
              </a:lnSpc>
              <a:spcBef>
                <a:spcPts val="0"/>
              </a:spcBef>
              <a:buClrTx/>
            </a:pPr>
            <a:r>
              <a:rPr lang="en-US" sz="2400" cap="none" dirty="0">
                <a:solidFill>
                  <a:prstClr val="black"/>
                </a:solidFill>
                <a:latin typeface="Times New Roman" pitchFamily="18" charset="0"/>
                <a:cs typeface="Times New Roman" pitchFamily="18" charset="0"/>
              </a:rPr>
              <a:t>  </a:t>
            </a:r>
            <a:r>
              <a:rPr lang="en-US" sz="2400" cap="none" dirty="0" smtClean="0">
                <a:solidFill>
                  <a:prstClr val="black"/>
                </a:solidFill>
                <a:latin typeface="Times New Roman" pitchFamily="18" charset="0"/>
                <a:cs typeface="Times New Roman" pitchFamily="18" charset="0"/>
              </a:rPr>
              <a:t>Later</a:t>
            </a:r>
            <a:r>
              <a:rPr lang="en-US" sz="2400" cap="none" dirty="0">
                <a:solidFill>
                  <a:prstClr val="black"/>
                </a:solidFill>
                <a:latin typeface="Times New Roman" pitchFamily="18" charset="0"/>
                <a:cs typeface="Times New Roman" pitchFamily="18" charset="0"/>
              </a:rPr>
              <a:t>, the </a:t>
            </a:r>
            <a:r>
              <a:rPr lang="en-US" sz="2400" u="sng" cap="none" dirty="0">
                <a:solidFill>
                  <a:srgbClr val="7030A0"/>
                </a:solidFill>
                <a:latin typeface="Times New Roman" pitchFamily="18" charset="0"/>
                <a:cs typeface="Times New Roman" pitchFamily="18" charset="0"/>
              </a:rPr>
              <a:t>Arabs fashioned </a:t>
            </a:r>
            <a:r>
              <a:rPr lang="en-US" sz="2400" cap="none" dirty="0">
                <a:solidFill>
                  <a:prstClr val="black"/>
                </a:solidFill>
                <a:latin typeface="Times New Roman" pitchFamily="18" charset="0"/>
                <a:cs typeface="Times New Roman" pitchFamily="18" charset="0"/>
              </a:rPr>
              <a:t>it into swords and other weapons, and during the Crusades, Europeans were overawed by the superior Damascus swords. </a:t>
            </a:r>
          </a:p>
          <a:p>
            <a:pPr algn="just" defTabSz="457200">
              <a:lnSpc>
                <a:spcPct val="150000"/>
              </a:lnSpc>
              <a:spcBef>
                <a:spcPts val="0"/>
              </a:spcBef>
              <a:buClrTx/>
            </a:pPr>
            <a:r>
              <a:rPr lang="en-US" sz="2400" cap="none" dirty="0" smtClean="0">
                <a:solidFill>
                  <a:prstClr val="black"/>
                </a:solidFill>
                <a:latin typeface="Times New Roman" pitchFamily="18" charset="0"/>
                <a:cs typeface="Times New Roman" pitchFamily="18" charset="0"/>
              </a:rPr>
              <a:t>It </a:t>
            </a:r>
            <a:r>
              <a:rPr lang="en-US" sz="2400" cap="none" dirty="0">
                <a:solidFill>
                  <a:prstClr val="black"/>
                </a:solidFill>
                <a:latin typeface="Times New Roman" pitchFamily="18" charset="0"/>
                <a:cs typeface="Times New Roman" pitchFamily="18" charset="0"/>
              </a:rPr>
              <a:t>remained a </a:t>
            </a:r>
            <a:r>
              <a:rPr lang="en-US" sz="2400" cap="none" dirty="0" err="1">
                <a:solidFill>
                  <a:prstClr val="black"/>
                </a:solidFill>
                <a:latin typeface="Times New Roman" pitchFamily="18" charset="0"/>
                <a:cs typeface="Times New Roman" pitchFamily="18" charset="0"/>
              </a:rPr>
              <a:t>favoured</a:t>
            </a:r>
            <a:r>
              <a:rPr lang="en-US" sz="2400" cap="none" dirty="0">
                <a:solidFill>
                  <a:prstClr val="black"/>
                </a:solidFill>
                <a:latin typeface="Times New Roman" pitchFamily="18" charset="0"/>
                <a:cs typeface="Times New Roman" pitchFamily="18" charset="0"/>
              </a:rPr>
              <a:t> metal for weapons through the </a:t>
            </a:r>
            <a:r>
              <a:rPr lang="en-US" sz="2400" u="sng" cap="none" dirty="0">
                <a:solidFill>
                  <a:srgbClr val="7030A0"/>
                </a:solidFill>
                <a:latin typeface="Times New Roman" pitchFamily="18" charset="0"/>
                <a:cs typeface="Times New Roman" pitchFamily="18" charset="0"/>
              </a:rPr>
              <a:t>Moghul era,</a:t>
            </a:r>
            <a:r>
              <a:rPr lang="en-US" sz="2400" cap="none" dirty="0">
                <a:solidFill>
                  <a:prstClr val="black"/>
                </a:solidFill>
                <a:latin typeface="Times New Roman" pitchFamily="18" charset="0"/>
                <a:cs typeface="Times New Roman" pitchFamily="18" charset="0"/>
              </a:rPr>
              <a:t> when </a:t>
            </a:r>
            <a:r>
              <a:rPr lang="en-US" sz="2400" cap="none" dirty="0" err="1">
                <a:solidFill>
                  <a:prstClr val="black"/>
                </a:solidFill>
                <a:latin typeface="Times New Roman" pitchFamily="18" charset="0"/>
                <a:cs typeface="Times New Roman" pitchFamily="18" charset="0"/>
              </a:rPr>
              <a:t>wootz</a:t>
            </a:r>
            <a:r>
              <a:rPr lang="en-US" sz="2400" cap="none" dirty="0">
                <a:solidFill>
                  <a:prstClr val="black"/>
                </a:solidFill>
                <a:latin typeface="Times New Roman" pitchFamily="18" charset="0"/>
                <a:cs typeface="Times New Roman" pitchFamily="18" charset="0"/>
              </a:rPr>
              <a:t> swords, </a:t>
            </a:r>
            <a:r>
              <a:rPr lang="en-US" sz="2400" cap="none" dirty="0">
                <a:solidFill>
                  <a:srgbClr val="00B0F0"/>
                </a:solidFill>
                <a:latin typeface="Times New Roman" pitchFamily="18" charset="0"/>
                <a:cs typeface="Times New Roman" pitchFamily="18" charset="0"/>
              </a:rPr>
              <a:t>knives and </a:t>
            </a:r>
            <a:r>
              <a:rPr lang="en-US" sz="2400" cap="none" dirty="0" err="1">
                <a:solidFill>
                  <a:srgbClr val="00B0F0"/>
                </a:solidFill>
                <a:latin typeface="Times New Roman" pitchFamily="18" charset="0"/>
                <a:cs typeface="Times New Roman" pitchFamily="18" charset="0"/>
              </a:rPr>
              <a:t>armours</a:t>
            </a:r>
            <a:r>
              <a:rPr lang="en-US" sz="2400" cap="none" dirty="0">
                <a:solidFill>
                  <a:srgbClr val="00B0F0"/>
                </a:solidFill>
                <a:latin typeface="Times New Roman" pitchFamily="18" charset="0"/>
                <a:cs typeface="Times New Roman" pitchFamily="18" charset="0"/>
              </a:rPr>
              <a:t> were artistically embellished with carvings and inlays of brass, silver and gold. </a:t>
            </a:r>
          </a:p>
        </p:txBody>
      </p:sp>
    </p:spTree>
    <p:extLst>
      <p:ext uri="{BB962C8B-B14F-4D97-AF65-F5344CB8AC3E}">
        <p14:creationId xmlns:p14="http://schemas.microsoft.com/office/powerpoint/2010/main" val="299070882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90600" y="1447800"/>
            <a:ext cx="7972762" cy="5560481"/>
          </a:xfrm>
          <a:prstGeom prst="rect">
            <a:avLst/>
          </a:prstGeom>
        </p:spPr>
        <p:txBody>
          <a:bodyPr vert="horz" wrap="square" lIns="0" tIns="20305" rIns="0" bIns="0" rtlCol="0">
            <a:spAutoFit/>
          </a:bodyPr>
          <a:lstStyle/>
          <a:p>
            <a:pPr marL="355591" marR="6983" indent="-342900" algn="just">
              <a:lnSpc>
                <a:spcPct val="150000"/>
              </a:lnSpc>
              <a:spcBef>
                <a:spcPts val="35"/>
              </a:spcBef>
              <a:buFont typeface="Arial" panose="020B0604020202020204" pitchFamily="34" charset="0"/>
              <a:buChar char="•"/>
            </a:pPr>
            <a:r>
              <a:rPr sz="2400" dirty="0" err="1" smtClean="0">
                <a:latin typeface="Times New Roman"/>
                <a:cs typeface="Times New Roman"/>
              </a:rPr>
              <a:t>Wootz</a:t>
            </a:r>
            <a:r>
              <a:rPr sz="2400" spc="10" dirty="0">
                <a:latin typeface="Times New Roman"/>
                <a:cs typeface="Times New Roman"/>
              </a:rPr>
              <a:t> </a:t>
            </a:r>
            <a:r>
              <a:rPr sz="2400" dirty="0">
                <a:latin typeface="Times New Roman"/>
                <a:cs typeface="Times New Roman"/>
              </a:rPr>
              <a:t>steel</a:t>
            </a:r>
            <a:r>
              <a:rPr sz="2400" spc="10" dirty="0">
                <a:latin typeface="Times New Roman"/>
                <a:cs typeface="Times New Roman"/>
              </a:rPr>
              <a:t> </a:t>
            </a:r>
            <a:r>
              <a:rPr sz="2400" dirty="0">
                <a:latin typeface="Times New Roman"/>
                <a:cs typeface="Times New Roman"/>
              </a:rPr>
              <a:t>is</a:t>
            </a:r>
            <a:r>
              <a:rPr sz="2400" spc="10" dirty="0">
                <a:latin typeface="Times New Roman"/>
                <a:cs typeface="Times New Roman"/>
              </a:rPr>
              <a:t> </a:t>
            </a:r>
            <a:r>
              <a:rPr sz="2400" spc="-30" dirty="0">
                <a:latin typeface="Times New Roman"/>
                <a:cs typeface="Times New Roman"/>
              </a:rPr>
              <a:t>primarily</a:t>
            </a:r>
            <a:r>
              <a:rPr sz="2400" spc="-10" dirty="0">
                <a:latin typeface="Times New Roman"/>
                <a:cs typeface="Times New Roman"/>
              </a:rPr>
              <a:t> </a:t>
            </a:r>
            <a:r>
              <a:rPr sz="2400" dirty="0">
                <a:latin typeface="Times New Roman"/>
                <a:cs typeface="Times New Roman"/>
              </a:rPr>
              <a:t>iron</a:t>
            </a:r>
            <a:r>
              <a:rPr sz="2400" spc="20" dirty="0">
                <a:latin typeface="Times New Roman"/>
                <a:cs typeface="Times New Roman"/>
              </a:rPr>
              <a:t> </a:t>
            </a:r>
            <a:r>
              <a:rPr sz="2400" spc="-30" dirty="0">
                <a:latin typeface="Times New Roman"/>
                <a:cs typeface="Times New Roman"/>
              </a:rPr>
              <a:t>containing</a:t>
            </a:r>
            <a:r>
              <a:rPr sz="2400" spc="10" dirty="0">
                <a:latin typeface="Times New Roman"/>
                <a:cs typeface="Times New Roman"/>
              </a:rPr>
              <a:t> </a:t>
            </a:r>
            <a:r>
              <a:rPr sz="2400" dirty="0">
                <a:latin typeface="Times New Roman"/>
                <a:cs typeface="Times New Roman"/>
              </a:rPr>
              <a:t>a</a:t>
            </a:r>
            <a:r>
              <a:rPr sz="2400" spc="4" dirty="0">
                <a:latin typeface="Times New Roman"/>
                <a:cs typeface="Times New Roman"/>
              </a:rPr>
              <a:t> </a:t>
            </a:r>
            <a:r>
              <a:rPr sz="2400" dirty="0">
                <a:latin typeface="Times New Roman"/>
                <a:cs typeface="Times New Roman"/>
              </a:rPr>
              <a:t>high</a:t>
            </a:r>
            <a:r>
              <a:rPr sz="2400" spc="14" dirty="0">
                <a:latin typeface="Times New Roman"/>
                <a:cs typeface="Times New Roman"/>
              </a:rPr>
              <a:t> </a:t>
            </a:r>
            <a:r>
              <a:rPr sz="2400" spc="-25" dirty="0">
                <a:latin typeface="Times New Roman"/>
                <a:cs typeface="Times New Roman"/>
              </a:rPr>
              <a:t>proportion</a:t>
            </a:r>
            <a:r>
              <a:rPr sz="2400" spc="10" dirty="0">
                <a:latin typeface="Times New Roman"/>
                <a:cs typeface="Times New Roman"/>
              </a:rPr>
              <a:t> </a:t>
            </a:r>
            <a:r>
              <a:rPr sz="2400" dirty="0">
                <a:latin typeface="Times New Roman"/>
                <a:cs typeface="Times New Roman"/>
              </a:rPr>
              <a:t>of</a:t>
            </a:r>
            <a:r>
              <a:rPr sz="2400" spc="4" dirty="0">
                <a:latin typeface="Times New Roman"/>
                <a:cs typeface="Times New Roman"/>
              </a:rPr>
              <a:t> </a:t>
            </a:r>
            <a:r>
              <a:rPr sz="2400" spc="-10" dirty="0">
                <a:latin typeface="Times New Roman"/>
                <a:cs typeface="Times New Roman"/>
              </a:rPr>
              <a:t>carbon</a:t>
            </a:r>
            <a:r>
              <a:rPr sz="2400" spc="10" dirty="0">
                <a:latin typeface="Times New Roman"/>
                <a:cs typeface="Times New Roman"/>
              </a:rPr>
              <a:t> </a:t>
            </a:r>
            <a:r>
              <a:rPr sz="2400" spc="-45" dirty="0">
                <a:latin typeface="Times New Roman"/>
                <a:cs typeface="Times New Roman"/>
              </a:rPr>
              <a:t>(1.0-</a:t>
            </a:r>
            <a:r>
              <a:rPr sz="2400" spc="-10" dirty="0">
                <a:latin typeface="Times New Roman"/>
                <a:cs typeface="Times New Roman"/>
              </a:rPr>
              <a:t>1.9%).</a:t>
            </a:r>
            <a:r>
              <a:rPr sz="2400" spc="20" dirty="0">
                <a:latin typeface="Times New Roman"/>
                <a:cs typeface="Times New Roman"/>
              </a:rPr>
              <a:t> </a:t>
            </a:r>
            <a:r>
              <a:rPr sz="2400" dirty="0" smtClean="0">
                <a:latin typeface="Times New Roman"/>
                <a:cs typeface="Times New Roman"/>
              </a:rPr>
              <a:t>The</a:t>
            </a:r>
            <a:r>
              <a:rPr sz="2400" spc="10" dirty="0">
                <a:latin typeface="Times New Roman"/>
                <a:cs typeface="Times New Roman"/>
              </a:rPr>
              <a:t> </a:t>
            </a:r>
            <a:r>
              <a:rPr sz="2400" dirty="0">
                <a:latin typeface="Times New Roman"/>
                <a:cs typeface="Times New Roman"/>
              </a:rPr>
              <a:t>basic</a:t>
            </a:r>
            <a:r>
              <a:rPr sz="2400" spc="14" dirty="0">
                <a:latin typeface="Times New Roman"/>
                <a:cs typeface="Times New Roman"/>
              </a:rPr>
              <a:t> </a:t>
            </a:r>
            <a:r>
              <a:rPr sz="2400" spc="-20" dirty="0">
                <a:latin typeface="Times New Roman"/>
                <a:cs typeface="Times New Roman"/>
              </a:rPr>
              <a:t>process</a:t>
            </a:r>
            <a:r>
              <a:rPr sz="2400" spc="10" dirty="0">
                <a:latin typeface="Times New Roman"/>
                <a:cs typeface="Times New Roman"/>
              </a:rPr>
              <a:t> </a:t>
            </a:r>
            <a:r>
              <a:rPr sz="2400" spc="-25" dirty="0">
                <a:latin typeface="Times New Roman"/>
                <a:cs typeface="Times New Roman"/>
              </a:rPr>
              <a:t>consisted</a:t>
            </a:r>
            <a:r>
              <a:rPr sz="2400" spc="30" dirty="0">
                <a:latin typeface="Times New Roman"/>
                <a:cs typeface="Times New Roman"/>
              </a:rPr>
              <a:t> </a:t>
            </a:r>
            <a:r>
              <a:rPr sz="2400" dirty="0">
                <a:latin typeface="Times New Roman"/>
                <a:cs typeface="Times New Roman"/>
              </a:rPr>
              <a:t>in</a:t>
            </a:r>
            <a:r>
              <a:rPr sz="2400" spc="10" dirty="0">
                <a:latin typeface="Times New Roman"/>
                <a:cs typeface="Times New Roman"/>
              </a:rPr>
              <a:t> </a:t>
            </a:r>
            <a:r>
              <a:rPr sz="2400" u="sng" spc="-10" dirty="0">
                <a:solidFill>
                  <a:srgbClr val="7030A0"/>
                </a:solidFill>
                <a:latin typeface="Times New Roman"/>
                <a:cs typeface="Times New Roman"/>
              </a:rPr>
              <a:t>first </a:t>
            </a:r>
            <a:r>
              <a:rPr sz="2400" u="sng" spc="-30" dirty="0">
                <a:solidFill>
                  <a:srgbClr val="7030A0"/>
                </a:solidFill>
                <a:latin typeface="Times New Roman"/>
                <a:cs typeface="Times New Roman"/>
              </a:rPr>
              <a:t>preparing</a:t>
            </a:r>
            <a:endParaRPr lang="en-US" sz="2400" u="sng" spc="-30" dirty="0">
              <a:solidFill>
                <a:srgbClr val="7030A0"/>
              </a:solidFill>
              <a:latin typeface="Times New Roman"/>
              <a:cs typeface="Times New Roman"/>
            </a:endParaRPr>
          </a:p>
          <a:p>
            <a:pPr marL="12691" marR="6983" algn="just">
              <a:lnSpc>
                <a:spcPct val="150000"/>
              </a:lnSpc>
              <a:spcBef>
                <a:spcPts val="35"/>
              </a:spcBef>
            </a:pPr>
            <a:r>
              <a:rPr lang="en-US" sz="2400" b="1" u="sng" spc="-20" dirty="0" smtClean="0">
                <a:solidFill>
                  <a:srgbClr val="7030A0"/>
                </a:solidFill>
                <a:latin typeface="Times New Roman"/>
                <a:cs typeface="Times New Roman"/>
              </a:rPr>
              <a:t>Sponge</a:t>
            </a:r>
            <a:r>
              <a:rPr lang="en-US" sz="2400" b="1" u="sng" spc="-25" dirty="0" smtClean="0">
                <a:solidFill>
                  <a:srgbClr val="7030A0"/>
                </a:solidFill>
                <a:latin typeface="Times New Roman"/>
                <a:cs typeface="Times New Roman"/>
              </a:rPr>
              <a:t> </a:t>
            </a:r>
            <a:r>
              <a:rPr lang="en-US" sz="2400" b="1" u="sng" spc="-20" dirty="0">
                <a:solidFill>
                  <a:srgbClr val="7030A0"/>
                </a:solidFill>
                <a:latin typeface="Times New Roman"/>
                <a:cs typeface="Times New Roman"/>
              </a:rPr>
              <a:t>Iron</a:t>
            </a:r>
            <a:r>
              <a:rPr lang="en-US" sz="2400" b="1" u="sng" spc="-20" dirty="0">
                <a:latin typeface="Times New Roman"/>
                <a:cs typeface="Times New Roman"/>
              </a:rPr>
              <a:t> </a:t>
            </a:r>
          </a:p>
          <a:p>
            <a:pPr marL="812791" marR="6983" lvl="1" indent="-342900" algn="just">
              <a:lnSpc>
                <a:spcPct val="150000"/>
              </a:lnSpc>
              <a:spcBef>
                <a:spcPts val="35"/>
              </a:spcBef>
              <a:buFont typeface="Arial" panose="020B0604020202020204" pitchFamily="34" charset="0"/>
              <a:buChar char="•"/>
            </a:pPr>
            <a:r>
              <a:rPr lang="en-US" sz="2400" dirty="0" smtClean="0">
                <a:latin typeface="Times New Roman"/>
                <a:cs typeface="Times New Roman"/>
              </a:rPr>
              <a:t>I</a:t>
            </a:r>
            <a:r>
              <a:rPr sz="2400" dirty="0" smtClean="0">
                <a:latin typeface="Times New Roman"/>
                <a:cs typeface="Times New Roman"/>
              </a:rPr>
              <a:t>t</a:t>
            </a:r>
            <a:r>
              <a:rPr sz="2400" spc="-35" dirty="0">
                <a:latin typeface="Times New Roman"/>
                <a:cs typeface="Times New Roman"/>
              </a:rPr>
              <a:t> </a:t>
            </a:r>
            <a:r>
              <a:rPr sz="2400" dirty="0">
                <a:latin typeface="Times New Roman"/>
                <a:cs typeface="Times New Roman"/>
              </a:rPr>
              <a:t>was</a:t>
            </a:r>
            <a:r>
              <a:rPr sz="2400" spc="-30" dirty="0">
                <a:latin typeface="Times New Roman"/>
                <a:cs typeface="Times New Roman"/>
              </a:rPr>
              <a:t> </a:t>
            </a:r>
            <a:r>
              <a:rPr sz="2400" dirty="0">
                <a:latin typeface="Times New Roman"/>
                <a:cs typeface="Times New Roman"/>
              </a:rPr>
              <a:t>then</a:t>
            </a:r>
            <a:r>
              <a:rPr sz="2400" spc="-30" dirty="0">
                <a:latin typeface="Times New Roman"/>
                <a:cs typeface="Times New Roman"/>
              </a:rPr>
              <a:t> hammered </a:t>
            </a:r>
            <a:r>
              <a:rPr sz="2400" spc="-20" dirty="0">
                <a:latin typeface="Times New Roman"/>
                <a:cs typeface="Times New Roman"/>
              </a:rPr>
              <a:t>while</a:t>
            </a:r>
            <a:r>
              <a:rPr sz="2400" spc="-35" dirty="0">
                <a:latin typeface="Times New Roman"/>
                <a:cs typeface="Times New Roman"/>
              </a:rPr>
              <a:t> </a:t>
            </a:r>
            <a:r>
              <a:rPr sz="2400" dirty="0">
                <a:latin typeface="Times New Roman"/>
                <a:cs typeface="Times New Roman"/>
              </a:rPr>
              <a:t>hot</a:t>
            </a:r>
            <a:r>
              <a:rPr sz="2400" spc="-30" dirty="0">
                <a:latin typeface="Times New Roman"/>
                <a:cs typeface="Times New Roman"/>
              </a:rPr>
              <a:t> </a:t>
            </a:r>
            <a:r>
              <a:rPr sz="2400" dirty="0">
                <a:latin typeface="Times New Roman"/>
                <a:cs typeface="Times New Roman"/>
              </a:rPr>
              <a:t>to</a:t>
            </a:r>
            <a:r>
              <a:rPr sz="2400" spc="-30" dirty="0">
                <a:latin typeface="Times New Roman"/>
                <a:cs typeface="Times New Roman"/>
              </a:rPr>
              <a:t> </a:t>
            </a:r>
            <a:r>
              <a:rPr sz="2400" spc="-20" dirty="0">
                <a:latin typeface="Times New Roman"/>
                <a:cs typeface="Times New Roman"/>
              </a:rPr>
              <a:t>expel</a:t>
            </a:r>
            <a:r>
              <a:rPr sz="2400" spc="-30" dirty="0">
                <a:latin typeface="Times New Roman"/>
                <a:cs typeface="Times New Roman"/>
              </a:rPr>
              <a:t> </a:t>
            </a:r>
            <a:r>
              <a:rPr sz="2400" spc="-10" dirty="0">
                <a:latin typeface="Times New Roman"/>
                <a:cs typeface="Times New Roman"/>
              </a:rPr>
              <a:t>slag,</a:t>
            </a:r>
            <a:r>
              <a:rPr sz="2400" spc="-20" dirty="0">
                <a:latin typeface="Times New Roman"/>
                <a:cs typeface="Times New Roman"/>
              </a:rPr>
              <a:t> </a:t>
            </a:r>
            <a:endParaRPr lang="en-US" sz="2400" spc="-20" dirty="0" smtClean="0">
              <a:latin typeface="Times New Roman"/>
              <a:cs typeface="Times New Roman"/>
            </a:endParaRPr>
          </a:p>
          <a:p>
            <a:pPr marL="812791" marR="6983" lvl="1" indent="-342900" algn="just">
              <a:lnSpc>
                <a:spcPct val="150000"/>
              </a:lnSpc>
              <a:spcBef>
                <a:spcPts val="35"/>
              </a:spcBef>
              <a:buFont typeface="Arial" panose="020B0604020202020204" pitchFamily="34" charset="0"/>
              <a:buChar char="•"/>
            </a:pPr>
            <a:r>
              <a:rPr sz="2400" spc="-25" dirty="0" smtClean="0">
                <a:latin typeface="Times New Roman"/>
                <a:cs typeface="Times New Roman"/>
              </a:rPr>
              <a:t>broken</a:t>
            </a:r>
            <a:r>
              <a:rPr sz="2400" spc="-40" dirty="0" smtClean="0">
                <a:latin typeface="Times New Roman"/>
                <a:cs typeface="Times New Roman"/>
              </a:rPr>
              <a:t> </a:t>
            </a:r>
            <a:r>
              <a:rPr sz="2400" dirty="0">
                <a:latin typeface="Times New Roman"/>
                <a:cs typeface="Times New Roman"/>
              </a:rPr>
              <a:t>up,</a:t>
            </a:r>
            <a:r>
              <a:rPr sz="2400" spc="-30" dirty="0">
                <a:latin typeface="Times New Roman"/>
                <a:cs typeface="Times New Roman"/>
              </a:rPr>
              <a:t> </a:t>
            </a:r>
            <a:r>
              <a:rPr sz="2400" dirty="0" smtClean="0">
                <a:latin typeface="Times New Roman"/>
                <a:cs typeface="Times New Roman"/>
              </a:rPr>
              <a:t>then</a:t>
            </a:r>
            <a:r>
              <a:rPr sz="2400" spc="-30" dirty="0" smtClean="0">
                <a:latin typeface="Times New Roman"/>
                <a:cs typeface="Times New Roman"/>
              </a:rPr>
              <a:t> </a:t>
            </a:r>
            <a:r>
              <a:rPr sz="2400" spc="-20" dirty="0">
                <a:latin typeface="Times New Roman"/>
                <a:cs typeface="Times New Roman"/>
              </a:rPr>
              <a:t>sealed</a:t>
            </a:r>
            <a:r>
              <a:rPr sz="2400" spc="-25" dirty="0">
                <a:latin typeface="Times New Roman"/>
                <a:cs typeface="Times New Roman"/>
              </a:rPr>
              <a:t> </a:t>
            </a:r>
            <a:r>
              <a:rPr sz="2400" dirty="0">
                <a:latin typeface="Times New Roman"/>
                <a:cs typeface="Times New Roman"/>
              </a:rPr>
              <a:t>with</a:t>
            </a:r>
            <a:r>
              <a:rPr sz="2400" spc="-20" dirty="0">
                <a:latin typeface="Times New Roman"/>
                <a:cs typeface="Times New Roman"/>
              </a:rPr>
              <a:t> wood </a:t>
            </a:r>
            <a:r>
              <a:rPr sz="2400" spc="-10" dirty="0">
                <a:latin typeface="Times New Roman"/>
                <a:cs typeface="Times New Roman"/>
              </a:rPr>
              <a:t>chips</a:t>
            </a:r>
            <a:r>
              <a:rPr sz="2400" spc="-20" dirty="0">
                <a:latin typeface="Times New Roman"/>
                <a:cs typeface="Times New Roman"/>
              </a:rPr>
              <a:t> </a:t>
            </a:r>
            <a:r>
              <a:rPr sz="2400" dirty="0">
                <a:latin typeface="Times New Roman"/>
                <a:cs typeface="Times New Roman"/>
              </a:rPr>
              <a:t>or</a:t>
            </a:r>
            <a:r>
              <a:rPr sz="2400" spc="-14" dirty="0">
                <a:latin typeface="Times New Roman"/>
                <a:cs typeface="Times New Roman"/>
              </a:rPr>
              <a:t> </a:t>
            </a:r>
            <a:r>
              <a:rPr sz="2400" spc="-35" dirty="0">
                <a:latin typeface="Times New Roman"/>
                <a:cs typeface="Times New Roman"/>
              </a:rPr>
              <a:t>charcoal</a:t>
            </a:r>
            <a:r>
              <a:rPr sz="2400" spc="-25" dirty="0">
                <a:latin typeface="Times New Roman"/>
                <a:cs typeface="Times New Roman"/>
              </a:rPr>
              <a:t> </a:t>
            </a:r>
            <a:r>
              <a:rPr sz="2400" dirty="0">
                <a:latin typeface="Times New Roman"/>
                <a:cs typeface="Times New Roman"/>
              </a:rPr>
              <a:t>in</a:t>
            </a:r>
            <a:r>
              <a:rPr sz="2400" spc="-14" dirty="0">
                <a:latin typeface="Times New Roman"/>
                <a:cs typeface="Times New Roman"/>
              </a:rPr>
              <a:t> </a:t>
            </a:r>
            <a:r>
              <a:rPr sz="2400" spc="-25" dirty="0" smtClean="0">
                <a:latin typeface="Times New Roman"/>
                <a:cs typeface="Times New Roman"/>
              </a:rPr>
              <a:t>closed</a:t>
            </a:r>
            <a:r>
              <a:rPr sz="2400" spc="-14" dirty="0" smtClean="0">
                <a:latin typeface="Times New Roman"/>
                <a:cs typeface="Times New Roman"/>
              </a:rPr>
              <a:t> </a:t>
            </a:r>
            <a:r>
              <a:rPr sz="2400" spc="-35" dirty="0" smtClean="0">
                <a:latin typeface="Times New Roman"/>
                <a:cs typeface="Times New Roman"/>
              </a:rPr>
              <a:t>crucibles</a:t>
            </a:r>
            <a:r>
              <a:rPr lang="en-US" sz="2400" spc="-20" dirty="0">
                <a:latin typeface="Times New Roman"/>
                <a:cs typeface="Times New Roman"/>
              </a:rPr>
              <a:t>,</a:t>
            </a:r>
            <a:endParaRPr lang="en-US" sz="2400" spc="-20" dirty="0" smtClean="0">
              <a:latin typeface="Times New Roman"/>
              <a:cs typeface="Times New Roman"/>
            </a:endParaRPr>
          </a:p>
          <a:p>
            <a:pPr marL="812791" marR="6983" lvl="1" indent="-342900" algn="just">
              <a:lnSpc>
                <a:spcPct val="150000"/>
              </a:lnSpc>
              <a:spcBef>
                <a:spcPts val="35"/>
              </a:spcBef>
              <a:buFont typeface="Arial" panose="020B0604020202020204" pitchFamily="34" charset="0"/>
              <a:buChar char="•"/>
            </a:pPr>
            <a:r>
              <a:rPr sz="2400" spc="-10" dirty="0" smtClean="0">
                <a:latin typeface="Times New Roman"/>
                <a:cs typeface="Times New Roman"/>
              </a:rPr>
              <a:t>that</a:t>
            </a:r>
            <a:r>
              <a:rPr sz="2400" spc="-14" dirty="0" smtClean="0">
                <a:latin typeface="Times New Roman"/>
                <a:cs typeface="Times New Roman"/>
              </a:rPr>
              <a:t> </a:t>
            </a:r>
            <a:r>
              <a:rPr sz="2400" dirty="0">
                <a:latin typeface="Times New Roman"/>
                <a:cs typeface="Times New Roman"/>
              </a:rPr>
              <a:t>were</a:t>
            </a:r>
            <a:r>
              <a:rPr sz="2400" spc="-20" dirty="0">
                <a:latin typeface="Times New Roman"/>
                <a:cs typeface="Times New Roman"/>
              </a:rPr>
              <a:t> </a:t>
            </a:r>
            <a:r>
              <a:rPr sz="2400" spc="-30" dirty="0">
                <a:latin typeface="Times New Roman"/>
                <a:cs typeface="Times New Roman"/>
              </a:rPr>
              <a:t>heated,</a:t>
            </a:r>
            <a:r>
              <a:rPr sz="2400" spc="-14" dirty="0">
                <a:latin typeface="Times New Roman"/>
                <a:cs typeface="Times New Roman"/>
              </a:rPr>
              <a:t> </a:t>
            </a:r>
            <a:r>
              <a:rPr sz="2400" spc="-30" dirty="0">
                <a:latin typeface="Times New Roman"/>
                <a:cs typeface="Times New Roman"/>
              </a:rPr>
              <a:t>causing </a:t>
            </a:r>
            <a:r>
              <a:rPr sz="2400" dirty="0">
                <a:latin typeface="Times New Roman"/>
                <a:cs typeface="Times New Roman"/>
              </a:rPr>
              <a:t>the</a:t>
            </a:r>
            <a:r>
              <a:rPr sz="2400" spc="-30" dirty="0">
                <a:latin typeface="Times New Roman"/>
                <a:cs typeface="Times New Roman"/>
              </a:rPr>
              <a:t> </a:t>
            </a:r>
            <a:r>
              <a:rPr sz="2400" dirty="0">
                <a:latin typeface="Times New Roman"/>
                <a:cs typeface="Times New Roman"/>
              </a:rPr>
              <a:t>iron</a:t>
            </a:r>
            <a:r>
              <a:rPr sz="2400" spc="-14" dirty="0">
                <a:latin typeface="Times New Roman"/>
                <a:cs typeface="Times New Roman"/>
              </a:rPr>
              <a:t> </a:t>
            </a:r>
            <a:r>
              <a:rPr sz="2400" dirty="0">
                <a:latin typeface="Times New Roman"/>
                <a:cs typeface="Times New Roman"/>
              </a:rPr>
              <a:t>to</a:t>
            </a:r>
            <a:r>
              <a:rPr sz="2400" spc="-14" dirty="0">
                <a:latin typeface="Times New Roman"/>
                <a:cs typeface="Times New Roman"/>
              </a:rPr>
              <a:t> </a:t>
            </a:r>
            <a:r>
              <a:rPr sz="2400" spc="-20" dirty="0">
                <a:latin typeface="Times New Roman"/>
                <a:cs typeface="Times New Roman"/>
              </a:rPr>
              <a:t>absorb</a:t>
            </a:r>
            <a:r>
              <a:rPr sz="2400" spc="-14" dirty="0">
                <a:latin typeface="Times New Roman"/>
                <a:cs typeface="Times New Roman"/>
              </a:rPr>
              <a:t> </a:t>
            </a:r>
            <a:r>
              <a:rPr sz="2400" spc="-45" dirty="0" smtClean="0">
                <a:latin typeface="Times New Roman"/>
                <a:cs typeface="Times New Roman"/>
              </a:rPr>
              <a:t>carbon;</a:t>
            </a:r>
            <a:endParaRPr lang="en-US" sz="2400" spc="-45" dirty="0" smtClean="0">
              <a:latin typeface="Times New Roman"/>
              <a:cs typeface="Times New Roman"/>
            </a:endParaRPr>
          </a:p>
          <a:p>
            <a:pPr marL="812791" marR="6983" lvl="1" indent="-342900" algn="just">
              <a:lnSpc>
                <a:spcPct val="150000"/>
              </a:lnSpc>
              <a:spcBef>
                <a:spcPts val="35"/>
              </a:spcBef>
              <a:buFont typeface="Arial" panose="020B0604020202020204" pitchFamily="34" charset="0"/>
              <a:buChar char="•"/>
            </a:pPr>
            <a:r>
              <a:rPr sz="2400" spc="-40" dirty="0" smtClean="0">
                <a:latin typeface="Times New Roman"/>
                <a:cs typeface="Times New Roman"/>
              </a:rPr>
              <a:t>the</a:t>
            </a:r>
            <a:r>
              <a:rPr sz="2400" spc="-45" dirty="0" smtClean="0">
                <a:latin typeface="Times New Roman"/>
                <a:cs typeface="Times New Roman"/>
              </a:rPr>
              <a:t> </a:t>
            </a:r>
            <a:r>
              <a:rPr sz="2400" spc="-50" dirty="0">
                <a:latin typeface="Times New Roman"/>
                <a:cs typeface="Times New Roman"/>
              </a:rPr>
              <a:t>crucibles</a:t>
            </a:r>
            <a:r>
              <a:rPr sz="2400" spc="-35" dirty="0">
                <a:latin typeface="Times New Roman"/>
                <a:cs typeface="Times New Roman"/>
              </a:rPr>
              <a:t> </a:t>
            </a:r>
            <a:r>
              <a:rPr sz="2400" spc="-40" dirty="0">
                <a:latin typeface="Times New Roman"/>
                <a:cs typeface="Times New Roman"/>
              </a:rPr>
              <a:t>were</a:t>
            </a:r>
            <a:r>
              <a:rPr sz="2400" spc="-55" dirty="0">
                <a:latin typeface="Times New Roman"/>
                <a:cs typeface="Times New Roman"/>
              </a:rPr>
              <a:t> </a:t>
            </a:r>
            <a:r>
              <a:rPr sz="2400" spc="-45" dirty="0">
                <a:latin typeface="Times New Roman"/>
                <a:cs typeface="Times New Roman"/>
              </a:rPr>
              <a:t>then</a:t>
            </a:r>
            <a:r>
              <a:rPr sz="2400" spc="-40" dirty="0">
                <a:latin typeface="Times New Roman"/>
                <a:cs typeface="Times New Roman"/>
              </a:rPr>
              <a:t> </a:t>
            </a:r>
            <a:r>
              <a:rPr sz="2400" spc="-45" dirty="0">
                <a:latin typeface="Times New Roman"/>
                <a:cs typeface="Times New Roman"/>
              </a:rPr>
              <a:t>cooled,</a:t>
            </a:r>
            <a:r>
              <a:rPr sz="2400" spc="-35" dirty="0">
                <a:latin typeface="Times New Roman"/>
                <a:cs typeface="Times New Roman"/>
              </a:rPr>
              <a:t> </a:t>
            </a:r>
            <a:endParaRPr lang="en-US" sz="2400" spc="-35" dirty="0" smtClean="0">
              <a:latin typeface="Times New Roman"/>
              <a:cs typeface="Times New Roman"/>
            </a:endParaRPr>
          </a:p>
          <a:p>
            <a:pPr marL="812791" marR="6983" lvl="1" indent="-342900" algn="just">
              <a:lnSpc>
                <a:spcPct val="150000"/>
              </a:lnSpc>
              <a:spcBef>
                <a:spcPts val="35"/>
              </a:spcBef>
              <a:buFont typeface="Arial" panose="020B0604020202020204" pitchFamily="34" charset="0"/>
              <a:buChar char="•"/>
            </a:pPr>
            <a:r>
              <a:rPr sz="2400" spc="-45" dirty="0" smtClean="0">
                <a:latin typeface="Times New Roman"/>
                <a:cs typeface="Times New Roman"/>
              </a:rPr>
              <a:t>with</a:t>
            </a:r>
            <a:r>
              <a:rPr sz="2400" spc="-40" dirty="0" smtClean="0">
                <a:latin typeface="Times New Roman"/>
                <a:cs typeface="Times New Roman"/>
              </a:rPr>
              <a:t> </a:t>
            </a:r>
            <a:r>
              <a:rPr sz="2400" spc="-50" dirty="0">
                <a:latin typeface="Times New Roman"/>
                <a:cs typeface="Times New Roman"/>
              </a:rPr>
              <a:t>solidified</a:t>
            </a:r>
            <a:r>
              <a:rPr sz="2400" spc="-45" dirty="0">
                <a:latin typeface="Times New Roman"/>
                <a:cs typeface="Times New Roman"/>
              </a:rPr>
              <a:t> ingot</a:t>
            </a:r>
            <a:r>
              <a:rPr sz="2400" spc="-35" dirty="0">
                <a:latin typeface="Times New Roman"/>
                <a:cs typeface="Times New Roman"/>
              </a:rPr>
              <a:t> </a:t>
            </a:r>
            <a:r>
              <a:rPr sz="2400" spc="-30" dirty="0">
                <a:latin typeface="Times New Roman"/>
                <a:cs typeface="Times New Roman"/>
              </a:rPr>
              <a:t>of</a:t>
            </a:r>
            <a:r>
              <a:rPr sz="2400" spc="-55" dirty="0">
                <a:latin typeface="Times New Roman"/>
                <a:cs typeface="Times New Roman"/>
              </a:rPr>
              <a:t> </a:t>
            </a:r>
            <a:r>
              <a:rPr sz="2400" spc="-45" dirty="0">
                <a:latin typeface="Times New Roman"/>
                <a:cs typeface="Times New Roman"/>
              </a:rPr>
              <a:t>wootz</a:t>
            </a:r>
            <a:r>
              <a:rPr sz="2400" spc="-40" dirty="0">
                <a:latin typeface="Times New Roman"/>
                <a:cs typeface="Times New Roman"/>
              </a:rPr>
              <a:t> </a:t>
            </a:r>
            <a:r>
              <a:rPr sz="2400" spc="-45" dirty="0">
                <a:latin typeface="Times New Roman"/>
                <a:cs typeface="Times New Roman"/>
              </a:rPr>
              <a:t>steel</a:t>
            </a:r>
            <a:r>
              <a:rPr sz="2400" spc="-35" dirty="0">
                <a:latin typeface="Times New Roman"/>
                <a:cs typeface="Times New Roman"/>
              </a:rPr>
              <a:t> </a:t>
            </a:r>
            <a:r>
              <a:rPr sz="2400" spc="-10" dirty="0">
                <a:latin typeface="Times New Roman"/>
                <a:cs typeface="Times New Roman"/>
              </a:rPr>
              <a:t>remaining</a:t>
            </a:r>
            <a:r>
              <a:rPr sz="2400" spc="-10" dirty="0" smtClean="0">
                <a:latin typeface="Times New Roman"/>
                <a:cs typeface="Times New Roman"/>
              </a:rPr>
              <a:t>.</a:t>
            </a:r>
            <a:endParaRPr sz="2400" dirty="0">
              <a:latin typeface="Times New Roman"/>
              <a:cs typeface="Times New Roman"/>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Content Placeholder 3"/>
          <p:cNvSpPr>
            <a:spLocks noGrp="1"/>
          </p:cNvSpPr>
          <p:nvPr>
            <p:ph sz="quarter" idx="13"/>
          </p:nvPr>
        </p:nvSpPr>
        <p:spPr>
          <a:xfrm>
            <a:off x="753863" y="1066800"/>
            <a:ext cx="8550157" cy="5496561"/>
          </a:xfrm>
        </p:spPr>
        <p:txBody>
          <a:bodyPr/>
          <a:lstStyle/>
          <a:p>
            <a:pPr marL="355591" marR="5080" indent="-342900" algn="just" defTabSz="457200">
              <a:lnSpc>
                <a:spcPct val="150000"/>
              </a:lnSpc>
              <a:spcBef>
                <a:spcPts val="0"/>
              </a:spcBef>
              <a:buClrTx/>
            </a:pPr>
            <a:r>
              <a:rPr lang="en-US" sz="2400" cap="none" spc="-25" dirty="0">
                <a:solidFill>
                  <a:prstClr val="black"/>
                </a:solidFill>
                <a:latin typeface="Times New Roman"/>
                <a:cs typeface="Times New Roman"/>
              </a:rPr>
              <a:t>Right</a:t>
            </a:r>
            <a:r>
              <a:rPr lang="en-US" sz="2400" cap="none" spc="-14" dirty="0">
                <a:solidFill>
                  <a:prstClr val="black"/>
                </a:solidFill>
                <a:latin typeface="Times New Roman"/>
                <a:cs typeface="Times New Roman"/>
              </a:rPr>
              <a:t> </a:t>
            </a:r>
            <a:r>
              <a:rPr lang="en-US" sz="2400" cap="none" spc="-40" dirty="0">
                <a:solidFill>
                  <a:prstClr val="black"/>
                </a:solidFill>
                <a:latin typeface="Times New Roman"/>
                <a:cs typeface="Times New Roman"/>
              </a:rPr>
              <a:t>from</a:t>
            </a:r>
            <a:r>
              <a:rPr lang="en-US" sz="2400" cap="none" spc="-25" dirty="0">
                <a:solidFill>
                  <a:prstClr val="black"/>
                </a:solidFill>
                <a:latin typeface="Times New Roman"/>
                <a:cs typeface="Times New Roman"/>
              </a:rPr>
              <a:t> </a:t>
            </a:r>
            <a:r>
              <a:rPr lang="en-US" sz="2400" cap="none" spc="-20" dirty="0">
                <a:solidFill>
                  <a:prstClr val="black"/>
                </a:solidFill>
                <a:latin typeface="Times New Roman"/>
                <a:cs typeface="Times New Roman"/>
              </a:rPr>
              <a:t>the</a:t>
            </a:r>
            <a:r>
              <a:rPr lang="en-US" sz="2400" cap="none" spc="-35" dirty="0">
                <a:solidFill>
                  <a:prstClr val="black"/>
                </a:solidFill>
                <a:latin typeface="Times New Roman"/>
                <a:cs typeface="Times New Roman"/>
              </a:rPr>
              <a:t> </a:t>
            </a:r>
            <a:r>
              <a:rPr lang="en-US" sz="2400" cap="none" spc="-25" dirty="0">
                <a:solidFill>
                  <a:prstClr val="black"/>
                </a:solidFill>
                <a:latin typeface="Times New Roman"/>
                <a:cs typeface="Times New Roman"/>
              </a:rPr>
              <a:t>17th</a:t>
            </a:r>
            <a:r>
              <a:rPr lang="en-US" sz="2400" cap="none" spc="-14" dirty="0">
                <a:solidFill>
                  <a:prstClr val="black"/>
                </a:solidFill>
                <a:latin typeface="Times New Roman"/>
                <a:cs typeface="Times New Roman"/>
              </a:rPr>
              <a:t> </a:t>
            </a:r>
            <a:r>
              <a:rPr lang="en-US" sz="2400" cap="none" spc="-45" dirty="0">
                <a:solidFill>
                  <a:prstClr val="black"/>
                </a:solidFill>
                <a:latin typeface="Times New Roman"/>
                <a:cs typeface="Times New Roman"/>
              </a:rPr>
              <a:t>century,</a:t>
            </a:r>
            <a:r>
              <a:rPr lang="en-US" sz="2400" cap="none" spc="-20" dirty="0">
                <a:solidFill>
                  <a:prstClr val="black"/>
                </a:solidFill>
                <a:latin typeface="Times New Roman"/>
                <a:cs typeface="Times New Roman"/>
              </a:rPr>
              <a:t> </a:t>
            </a:r>
            <a:r>
              <a:rPr lang="en-US" sz="2400" cap="none" spc="-35" dirty="0">
                <a:solidFill>
                  <a:prstClr val="black"/>
                </a:solidFill>
                <a:latin typeface="Times New Roman"/>
                <a:cs typeface="Times New Roman"/>
              </a:rPr>
              <a:t>several</a:t>
            </a:r>
            <a:r>
              <a:rPr lang="en-US" sz="2400" cap="none" spc="-10" dirty="0">
                <a:solidFill>
                  <a:prstClr val="black"/>
                </a:solidFill>
                <a:latin typeface="Times New Roman"/>
                <a:cs typeface="Times New Roman"/>
              </a:rPr>
              <a:t> </a:t>
            </a:r>
            <a:r>
              <a:rPr lang="en-US" sz="2400" cap="none" spc="-40" dirty="0">
                <a:solidFill>
                  <a:prstClr val="black"/>
                </a:solidFill>
                <a:latin typeface="Times New Roman"/>
                <a:cs typeface="Times New Roman"/>
              </a:rPr>
              <a:t>European</a:t>
            </a:r>
            <a:r>
              <a:rPr lang="en-US" sz="2400" cap="none" spc="-25" dirty="0">
                <a:solidFill>
                  <a:prstClr val="black"/>
                </a:solidFill>
                <a:latin typeface="Times New Roman"/>
                <a:cs typeface="Times New Roman"/>
              </a:rPr>
              <a:t> </a:t>
            </a:r>
            <a:r>
              <a:rPr lang="en-US" sz="2400" cap="none" spc="-45" dirty="0" err="1">
                <a:solidFill>
                  <a:prstClr val="black"/>
                </a:solidFill>
                <a:latin typeface="Times New Roman"/>
                <a:cs typeface="Times New Roman"/>
              </a:rPr>
              <a:t>travellers</a:t>
            </a:r>
            <a:r>
              <a:rPr lang="en-US" sz="2400" cap="none" spc="-20" dirty="0">
                <a:solidFill>
                  <a:prstClr val="black"/>
                </a:solidFill>
                <a:latin typeface="Times New Roman"/>
                <a:cs typeface="Times New Roman"/>
              </a:rPr>
              <a:t> </a:t>
            </a:r>
            <a:r>
              <a:rPr lang="en-US" sz="2400" cap="none" spc="-40" dirty="0">
                <a:solidFill>
                  <a:srgbClr val="C00000"/>
                </a:solidFill>
                <a:latin typeface="Times New Roman"/>
                <a:cs typeface="Times New Roman"/>
              </a:rPr>
              <a:t>documented</a:t>
            </a:r>
            <a:r>
              <a:rPr lang="en-US" sz="2400" cap="none" spc="-14" dirty="0">
                <a:solidFill>
                  <a:srgbClr val="C00000"/>
                </a:solidFill>
                <a:latin typeface="Times New Roman"/>
                <a:cs typeface="Times New Roman"/>
              </a:rPr>
              <a:t> </a:t>
            </a:r>
            <a:r>
              <a:rPr lang="en-US" sz="2400" cap="none" spc="-40" dirty="0">
                <a:solidFill>
                  <a:srgbClr val="C00000"/>
                </a:solidFill>
                <a:latin typeface="Times New Roman"/>
                <a:cs typeface="Times New Roman"/>
              </a:rPr>
              <a:t>India‘s</a:t>
            </a:r>
            <a:r>
              <a:rPr lang="en-US" sz="2400" cap="none" spc="-20" dirty="0">
                <a:solidFill>
                  <a:srgbClr val="C00000"/>
                </a:solidFill>
                <a:latin typeface="Times New Roman"/>
                <a:cs typeface="Times New Roman"/>
              </a:rPr>
              <a:t> </a:t>
            </a:r>
            <a:r>
              <a:rPr lang="en-US" sz="2400" cap="none" spc="-30" dirty="0">
                <a:solidFill>
                  <a:srgbClr val="C00000"/>
                </a:solidFill>
                <a:latin typeface="Times New Roman"/>
                <a:cs typeface="Times New Roman"/>
              </a:rPr>
              <a:t>iron</a:t>
            </a:r>
            <a:r>
              <a:rPr lang="en-US" sz="2400" cap="none" spc="-14" dirty="0">
                <a:solidFill>
                  <a:srgbClr val="C00000"/>
                </a:solidFill>
                <a:latin typeface="Times New Roman"/>
                <a:cs typeface="Times New Roman"/>
              </a:rPr>
              <a:t> </a:t>
            </a:r>
            <a:r>
              <a:rPr lang="en-US" sz="2400" cap="none" spc="-20" dirty="0">
                <a:solidFill>
                  <a:srgbClr val="C00000"/>
                </a:solidFill>
                <a:latin typeface="Times New Roman"/>
                <a:cs typeface="Times New Roman"/>
              </a:rPr>
              <a:t>and </a:t>
            </a:r>
            <a:r>
              <a:rPr lang="en-US" sz="2400" cap="none" spc="-50" dirty="0">
                <a:solidFill>
                  <a:srgbClr val="C00000"/>
                </a:solidFill>
                <a:latin typeface="Times New Roman"/>
                <a:cs typeface="Times New Roman"/>
              </a:rPr>
              <a:t>steel-</a:t>
            </a:r>
            <a:r>
              <a:rPr lang="en-US" sz="2400" cap="none" spc="-10" dirty="0">
                <a:solidFill>
                  <a:srgbClr val="C00000"/>
                </a:solidFill>
                <a:latin typeface="Times New Roman"/>
                <a:cs typeface="Times New Roman"/>
              </a:rPr>
              <a:t>making </a:t>
            </a:r>
            <a:r>
              <a:rPr lang="en-US" sz="2400" cap="none" spc="-45" dirty="0">
                <a:solidFill>
                  <a:srgbClr val="C00000"/>
                </a:solidFill>
                <a:latin typeface="Times New Roman"/>
                <a:cs typeface="Times New Roman"/>
              </a:rPr>
              <a:t>furnaces</a:t>
            </a:r>
            <a:r>
              <a:rPr lang="en-US" sz="2400" cap="none" spc="-45" dirty="0">
                <a:solidFill>
                  <a:prstClr val="black"/>
                </a:solidFill>
                <a:latin typeface="Times New Roman"/>
                <a:cs typeface="Times New Roman"/>
              </a:rPr>
              <a:t>.</a:t>
            </a:r>
            <a:r>
              <a:rPr lang="en-US" sz="2400" cap="none" spc="-30" dirty="0">
                <a:solidFill>
                  <a:prstClr val="black"/>
                </a:solidFill>
                <a:latin typeface="Times New Roman"/>
                <a:cs typeface="Times New Roman"/>
              </a:rPr>
              <a:t> </a:t>
            </a:r>
          </a:p>
          <a:p>
            <a:pPr marL="355591" marR="5080" indent="-342900" algn="just" defTabSz="457200">
              <a:lnSpc>
                <a:spcPct val="150000"/>
              </a:lnSpc>
              <a:spcBef>
                <a:spcPts val="0"/>
              </a:spcBef>
              <a:buClrTx/>
            </a:pPr>
            <a:r>
              <a:rPr lang="en-US" sz="2400" cap="none" spc="-55" dirty="0">
                <a:solidFill>
                  <a:prstClr val="black"/>
                </a:solidFill>
                <a:latin typeface="Times New Roman"/>
                <a:cs typeface="Times New Roman"/>
              </a:rPr>
              <a:t>From</a:t>
            </a:r>
            <a:r>
              <a:rPr lang="en-US" sz="2400" cap="none" spc="-20" dirty="0">
                <a:solidFill>
                  <a:prstClr val="black"/>
                </a:solidFill>
                <a:latin typeface="Times New Roman"/>
                <a:cs typeface="Times New Roman"/>
              </a:rPr>
              <a:t> </a:t>
            </a:r>
            <a:r>
              <a:rPr lang="en-US" sz="2400" cap="none" spc="-50" dirty="0">
                <a:solidFill>
                  <a:prstClr val="black"/>
                </a:solidFill>
                <a:latin typeface="Times New Roman"/>
                <a:cs typeface="Times New Roman"/>
              </a:rPr>
              <a:t>the</a:t>
            </a:r>
            <a:r>
              <a:rPr lang="en-US" sz="2400" cap="none" spc="-4" dirty="0">
                <a:solidFill>
                  <a:prstClr val="black"/>
                </a:solidFill>
                <a:latin typeface="Times New Roman"/>
                <a:cs typeface="Times New Roman"/>
              </a:rPr>
              <a:t> </a:t>
            </a:r>
            <a:r>
              <a:rPr lang="en-US" sz="2400" cap="none" spc="-50" dirty="0">
                <a:solidFill>
                  <a:prstClr val="black"/>
                </a:solidFill>
                <a:latin typeface="Times New Roman"/>
                <a:cs typeface="Times New Roman"/>
              </a:rPr>
              <a:t>18th</a:t>
            </a:r>
            <a:r>
              <a:rPr lang="en-US" sz="2400" cap="none" dirty="0">
                <a:solidFill>
                  <a:prstClr val="black"/>
                </a:solidFill>
                <a:latin typeface="Times New Roman"/>
                <a:cs typeface="Times New Roman"/>
              </a:rPr>
              <a:t> </a:t>
            </a:r>
            <a:r>
              <a:rPr lang="en-US" sz="2400" cap="none" spc="-60" dirty="0">
                <a:solidFill>
                  <a:prstClr val="black"/>
                </a:solidFill>
                <a:latin typeface="Times New Roman"/>
                <a:cs typeface="Times New Roman"/>
              </a:rPr>
              <a:t>century,</a:t>
            </a:r>
            <a:r>
              <a:rPr lang="en-US" sz="2400" cap="none" spc="-4" dirty="0">
                <a:solidFill>
                  <a:prstClr val="black"/>
                </a:solidFill>
                <a:latin typeface="Times New Roman"/>
                <a:cs typeface="Times New Roman"/>
              </a:rPr>
              <a:t> </a:t>
            </a:r>
            <a:r>
              <a:rPr lang="en-US" sz="2400" cap="none" spc="-45" dirty="0">
                <a:solidFill>
                  <a:prstClr val="black"/>
                </a:solidFill>
                <a:latin typeface="Times New Roman"/>
                <a:cs typeface="Times New Roman"/>
              </a:rPr>
              <a:t>savants</a:t>
            </a:r>
            <a:r>
              <a:rPr lang="en-US" sz="2400" cap="none" dirty="0">
                <a:solidFill>
                  <a:prstClr val="black"/>
                </a:solidFill>
                <a:latin typeface="Times New Roman"/>
                <a:cs typeface="Times New Roman"/>
              </a:rPr>
              <a:t> </a:t>
            </a:r>
            <a:r>
              <a:rPr lang="en-US" sz="2400" cap="none" spc="-60" dirty="0">
                <a:solidFill>
                  <a:prstClr val="black"/>
                </a:solidFill>
                <a:latin typeface="Times New Roman"/>
                <a:cs typeface="Times New Roman"/>
              </a:rPr>
              <a:t>in</a:t>
            </a:r>
            <a:r>
              <a:rPr lang="en-US" sz="2400" cap="none" dirty="0">
                <a:solidFill>
                  <a:prstClr val="black"/>
                </a:solidFill>
                <a:latin typeface="Times New Roman"/>
                <a:cs typeface="Times New Roman"/>
              </a:rPr>
              <a:t> </a:t>
            </a:r>
            <a:r>
              <a:rPr lang="en-US" sz="2400" cap="none" spc="-50" dirty="0">
                <a:solidFill>
                  <a:prstClr val="black"/>
                </a:solidFill>
                <a:latin typeface="Times New Roman"/>
                <a:cs typeface="Times New Roman"/>
              </a:rPr>
              <a:t>England,</a:t>
            </a:r>
            <a:r>
              <a:rPr lang="en-US" sz="2400" cap="none" spc="-14" dirty="0">
                <a:solidFill>
                  <a:prstClr val="black"/>
                </a:solidFill>
                <a:latin typeface="Times New Roman"/>
                <a:cs typeface="Times New Roman"/>
              </a:rPr>
              <a:t> </a:t>
            </a:r>
            <a:r>
              <a:rPr lang="en-US" sz="2400" cap="none" spc="-50" dirty="0">
                <a:solidFill>
                  <a:prstClr val="black"/>
                </a:solidFill>
                <a:latin typeface="Times New Roman"/>
                <a:cs typeface="Times New Roman"/>
              </a:rPr>
              <a:t>France</a:t>
            </a:r>
            <a:r>
              <a:rPr lang="en-US" sz="2400" cap="none" spc="-4" dirty="0">
                <a:solidFill>
                  <a:prstClr val="black"/>
                </a:solidFill>
                <a:latin typeface="Times New Roman"/>
                <a:cs typeface="Times New Roman"/>
              </a:rPr>
              <a:t> </a:t>
            </a:r>
            <a:r>
              <a:rPr lang="en-US" sz="2400" cap="none" spc="-50" dirty="0">
                <a:solidFill>
                  <a:prstClr val="black"/>
                </a:solidFill>
                <a:latin typeface="Times New Roman"/>
                <a:cs typeface="Times New Roman"/>
              </a:rPr>
              <a:t>and</a:t>
            </a:r>
            <a:r>
              <a:rPr lang="en-US" sz="2400" cap="none" dirty="0">
                <a:solidFill>
                  <a:prstClr val="black"/>
                </a:solidFill>
                <a:latin typeface="Times New Roman"/>
                <a:cs typeface="Times New Roman"/>
              </a:rPr>
              <a:t> </a:t>
            </a:r>
            <a:r>
              <a:rPr lang="en-US" sz="2400" cap="none" spc="-60" dirty="0">
                <a:solidFill>
                  <a:prstClr val="black"/>
                </a:solidFill>
                <a:latin typeface="Times New Roman"/>
                <a:cs typeface="Times New Roman"/>
              </a:rPr>
              <a:t>Italy</a:t>
            </a:r>
            <a:r>
              <a:rPr lang="en-US" sz="2400" cap="none" spc="-14" dirty="0">
                <a:solidFill>
                  <a:prstClr val="black"/>
                </a:solidFill>
                <a:latin typeface="Times New Roman"/>
                <a:cs typeface="Times New Roman"/>
              </a:rPr>
              <a:t> </a:t>
            </a:r>
            <a:r>
              <a:rPr lang="en-US" sz="2400" cap="none" spc="-45" dirty="0">
                <a:solidFill>
                  <a:srgbClr val="C00000"/>
                </a:solidFill>
                <a:latin typeface="Times New Roman"/>
                <a:cs typeface="Times New Roman"/>
              </a:rPr>
              <a:t>tried</a:t>
            </a:r>
            <a:r>
              <a:rPr lang="en-US" sz="2400" cap="none" spc="-4" dirty="0">
                <a:solidFill>
                  <a:srgbClr val="C00000"/>
                </a:solidFill>
                <a:latin typeface="Times New Roman"/>
                <a:cs typeface="Times New Roman"/>
              </a:rPr>
              <a:t> </a:t>
            </a:r>
            <a:r>
              <a:rPr lang="en-US" sz="2400" cap="none" spc="-55" dirty="0">
                <a:solidFill>
                  <a:srgbClr val="C00000"/>
                </a:solidFill>
                <a:latin typeface="Times New Roman"/>
                <a:cs typeface="Times New Roman"/>
              </a:rPr>
              <a:t>to</a:t>
            </a:r>
            <a:r>
              <a:rPr lang="en-US" sz="2400" cap="none" spc="-10" dirty="0">
                <a:solidFill>
                  <a:srgbClr val="C00000"/>
                </a:solidFill>
                <a:latin typeface="Times New Roman"/>
                <a:cs typeface="Times New Roman"/>
              </a:rPr>
              <a:t> </a:t>
            </a:r>
            <a:r>
              <a:rPr lang="en-US" sz="2400" cap="none" spc="-60" dirty="0">
                <a:solidFill>
                  <a:srgbClr val="C00000"/>
                </a:solidFill>
                <a:latin typeface="Times New Roman"/>
                <a:cs typeface="Times New Roman"/>
              </a:rPr>
              <a:t>master</a:t>
            </a:r>
            <a:r>
              <a:rPr lang="en-US" sz="2400" cap="none" spc="-14" dirty="0">
                <a:solidFill>
                  <a:srgbClr val="C00000"/>
                </a:solidFill>
                <a:latin typeface="Times New Roman"/>
                <a:cs typeface="Times New Roman"/>
              </a:rPr>
              <a:t> </a:t>
            </a:r>
            <a:r>
              <a:rPr lang="en-US" sz="2400" cap="none" spc="-50" dirty="0">
                <a:solidFill>
                  <a:srgbClr val="C00000"/>
                </a:solidFill>
                <a:latin typeface="Times New Roman"/>
                <a:cs typeface="Times New Roman"/>
              </a:rPr>
              <a:t>the</a:t>
            </a:r>
            <a:r>
              <a:rPr lang="en-US" sz="2400" cap="none" spc="-10" dirty="0">
                <a:solidFill>
                  <a:srgbClr val="C00000"/>
                </a:solidFill>
                <a:latin typeface="Times New Roman"/>
                <a:cs typeface="Times New Roman"/>
              </a:rPr>
              <a:t> </a:t>
            </a:r>
            <a:r>
              <a:rPr lang="en-US" sz="2400" cap="none" spc="-50" dirty="0">
                <a:solidFill>
                  <a:srgbClr val="C00000"/>
                </a:solidFill>
                <a:latin typeface="Times New Roman"/>
                <a:cs typeface="Times New Roman"/>
              </a:rPr>
              <a:t>secrets</a:t>
            </a:r>
            <a:r>
              <a:rPr lang="en-US" sz="2400" cap="none" dirty="0">
                <a:solidFill>
                  <a:srgbClr val="C00000"/>
                </a:solidFill>
                <a:latin typeface="Times New Roman"/>
                <a:cs typeface="Times New Roman"/>
              </a:rPr>
              <a:t> </a:t>
            </a:r>
            <a:r>
              <a:rPr lang="en-US" sz="2400" cap="none" spc="-60" dirty="0">
                <a:solidFill>
                  <a:srgbClr val="C00000"/>
                </a:solidFill>
                <a:latin typeface="Times New Roman"/>
                <a:cs typeface="Times New Roman"/>
              </a:rPr>
              <a:t>of</a:t>
            </a:r>
            <a:r>
              <a:rPr lang="en-US" sz="2400" cap="none" spc="-14" dirty="0">
                <a:solidFill>
                  <a:srgbClr val="C00000"/>
                </a:solidFill>
                <a:latin typeface="Times New Roman"/>
                <a:cs typeface="Times New Roman"/>
              </a:rPr>
              <a:t> </a:t>
            </a:r>
            <a:r>
              <a:rPr lang="en-US" sz="2400" cap="none" spc="-45" dirty="0" err="1" smtClean="0">
                <a:solidFill>
                  <a:srgbClr val="C00000"/>
                </a:solidFill>
                <a:latin typeface="Times New Roman"/>
                <a:cs typeface="Times New Roman"/>
              </a:rPr>
              <a:t>wootz</a:t>
            </a:r>
            <a:r>
              <a:rPr lang="en-US" sz="2400" cap="none" spc="-45" dirty="0" smtClean="0">
                <a:solidFill>
                  <a:prstClr val="black"/>
                </a:solidFill>
                <a:latin typeface="Times New Roman"/>
                <a:cs typeface="Times New Roman"/>
              </a:rPr>
              <a:t>.</a:t>
            </a:r>
            <a:endParaRPr lang="en-US" sz="2400" cap="none" spc="-45" dirty="0">
              <a:solidFill>
                <a:prstClr val="black"/>
              </a:solidFill>
              <a:latin typeface="Times New Roman"/>
              <a:cs typeface="Times New Roman"/>
            </a:endParaRPr>
          </a:p>
          <a:p>
            <a:pPr marL="355591" marR="5080" indent="-342900" algn="just" defTabSz="457200">
              <a:lnSpc>
                <a:spcPct val="150000"/>
              </a:lnSpc>
              <a:spcBef>
                <a:spcPts val="0"/>
              </a:spcBef>
              <a:buClrTx/>
            </a:pPr>
            <a:r>
              <a:rPr lang="en-US" sz="2400" cap="none" spc="-40" dirty="0">
                <a:solidFill>
                  <a:prstClr val="black"/>
                </a:solidFill>
                <a:latin typeface="Times New Roman"/>
                <a:cs typeface="Times New Roman"/>
              </a:rPr>
              <a:t>French</a:t>
            </a:r>
            <a:r>
              <a:rPr lang="en-US" sz="2400" cap="none" spc="-30" dirty="0">
                <a:solidFill>
                  <a:prstClr val="black"/>
                </a:solidFill>
                <a:latin typeface="Times New Roman"/>
                <a:cs typeface="Times New Roman"/>
              </a:rPr>
              <a:t> </a:t>
            </a:r>
            <a:r>
              <a:rPr lang="en-US" sz="2400" cap="none" spc="-50" dirty="0">
                <a:solidFill>
                  <a:srgbClr val="C00000"/>
                </a:solidFill>
                <a:latin typeface="Times New Roman"/>
                <a:cs typeface="Times New Roman"/>
              </a:rPr>
              <a:t>Jean-</a:t>
            </a:r>
            <a:r>
              <a:rPr lang="en-US" sz="2400" cap="none" spc="-40" dirty="0">
                <a:solidFill>
                  <a:srgbClr val="C00000"/>
                </a:solidFill>
                <a:latin typeface="Times New Roman"/>
                <a:cs typeface="Times New Roman"/>
              </a:rPr>
              <a:t>Robert</a:t>
            </a:r>
            <a:r>
              <a:rPr lang="en-US" sz="2400" cap="none" spc="-10" dirty="0">
                <a:solidFill>
                  <a:srgbClr val="C00000"/>
                </a:solidFill>
                <a:latin typeface="Times New Roman"/>
                <a:cs typeface="Times New Roman"/>
              </a:rPr>
              <a:t> </a:t>
            </a:r>
            <a:r>
              <a:rPr lang="en-US" sz="2400" cap="none" spc="-40" dirty="0" err="1">
                <a:solidFill>
                  <a:srgbClr val="C00000"/>
                </a:solidFill>
                <a:latin typeface="Times New Roman"/>
                <a:cs typeface="Times New Roman"/>
              </a:rPr>
              <a:t>Bréant</a:t>
            </a:r>
            <a:r>
              <a:rPr lang="en-US" sz="2400" cap="none" spc="-40" dirty="0">
                <a:solidFill>
                  <a:prstClr val="black"/>
                </a:solidFill>
                <a:latin typeface="Times New Roman"/>
                <a:cs typeface="Times New Roman"/>
              </a:rPr>
              <a:t>,</a:t>
            </a:r>
            <a:r>
              <a:rPr lang="en-US" sz="2400" cap="none" spc="-10" dirty="0">
                <a:solidFill>
                  <a:prstClr val="black"/>
                </a:solidFill>
                <a:latin typeface="Times New Roman"/>
                <a:cs typeface="Times New Roman"/>
              </a:rPr>
              <a:t> </a:t>
            </a:r>
            <a:r>
              <a:rPr lang="en-US" sz="2400" cap="none" spc="-45" dirty="0">
                <a:solidFill>
                  <a:prstClr val="black"/>
                </a:solidFill>
                <a:latin typeface="Times New Roman"/>
                <a:cs typeface="Times New Roman"/>
              </a:rPr>
              <a:t>conducting</a:t>
            </a:r>
            <a:r>
              <a:rPr lang="en-US" sz="2400" cap="none" spc="-30" dirty="0">
                <a:solidFill>
                  <a:prstClr val="black"/>
                </a:solidFill>
                <a:latin typeface="Times New Roman"/>
                <a:cs typeface="Times New Roman"/>
              </a:rPr>
              <a:t> </a:t>
            </a:r>
            <a:r>
              <a:rPr lang="en-US" sz="2400" cap="none" spc="-35" dirty="0">
                <a:solidFill>
                  <a:prstClr val="black"/>
                </a:solidFill>
                <a:latin typeface="Times New Roman"/>
                <a:cs typeface="Times New Roman"/>
              </a:rPr>
              <a:t>over</a:t>
            </a:r>
            <a:r>
              <a:rPr lang="en-US" sz="2400" cap="none" spc="-14" dirty="0">
                <a:solidFill>
                  <a:prstClr val="black"/>
                </a:solidFill>
                <a:latin typeface="Times New Roman"/>
                <a:cs typeface="Times New Roman"/>
              </a:rPr>
              <a:t> </a:t>
            </a:r>
            <a:r>
              <a:rPr lang="en-US" sz="2400" cap="none" spc="-20" dirty="0">
                <a:solidFill>
                  <a:prstClr val="black"/>
                </a:solidFill>
                <a:latin typeface="Times New Roman"/>
                <a:cs typeface="Times New Roman"/>
              </a:rPr>
              <a:t>300</a:t>
            </a:r>
            <a:r>
              <a:rPr lang="en-US" sz="2400" cap="none" spc="-10" dirty="0">
                <a:solidFill>
                  <a:prstClr val="black"/>
                </a:solidFill>
                <a:latin typeface="Times New Roman"/>
                <a:cs typeface="Times New Roman"/>
              </a:rPr>
              <a:t> </a:t>
            </a:r>
            <a:r>
              <a:rPr lang="en-US" sz="2400" cap="none" spc="-45" dirty="0">
                <a:solidFill>
                  <a:prstClr val="black"/>
                </a:solidFill>
                <a:latin typeface="Times New Roman"/>
                <a:cs typeface="Times New Roman"/>
              </a:rPr>
              <a:t>experiments</a:t>
            </a:r>
            <a:r>
              <a:rPr lang="en-US" sz="2400" cap="none" spc="-25" dirty="0">
                <a:solidFill>
                  <a:prstClr val="black"/>
                </a:solidFill>
                <a:latin typeface="Times New Roman"/>
                <a:cs typeface="Times New Roman"/>
              </a:rPr>
              <a:t> </a:t>
            </a:r>
            <a:r>
              <a:rPr lang="en-US" sz="2400" cap="none" dirty="0">
                <a:solidFill>
                  <a:prstClr val="black"/>
                </a:solidFill>
                <a:latin typeface="Times New Roman"/>
                <a:cs typeface="Times New Roman"/>
              </a:rPr>
              <a:t>by</a:t>
            </a:r>
            <a:r>
              <a:rPr lang="en-US" sz="2400" cap="none" spc="-45" dirty="0">
                <a:solidFill>
                  <a:prstClr val="black"/>
                </a:solidFill>
                <a:latin typeface="Times New Roman"/>
                <a:cs typeface="Times New Roman"/>
              </a:rPr>
              <a:t> </a:t>
            </a:r>
            <a:r>
              <a:rPr lang="en-US" sz="2400" cap="none" spc="-35" dirty="0">
                <a:solidFill>
                  <a:prstClr val="black"/>
                </a:solidFill>
                <a:latin typeface="Times New Roman"/>
                <a:cs typeface="Times New Roman"/>
              </a:rPr>
              <a:t>adding</a:t>
            </a:r>
            <a:r>
              <a:rPr lang="en-US" sz="2400" cap="none" spc="-30" dirty="0">
                <a:solidFill>
                  <a:prstClr val="black"/>
                </a:solidFill>
                <a:latin typeface="Times New Roman"/>
                <a:cs typeface="Times New Roman"/>
              </a:rPr>
              <a:t> </a:t>
            </a:r>
            <a:r>
              <a:rPr lang="en-US" sz="2400" cap="none" spc="-35" dirty="0">
                <a:solidFill>
                  <a:prstClr val="black"/>
                </a:solidFill>
                <a:latin typeface="Times New Roman"/>
                <a:cs typeface="Times New Roman"/>
              </a:rPr>
              <a:t>various</a:t>
            </a:r>
            <a:r>
              <a:rPr lang="en-US" sz="2400" cap="none" spc="-20" dirty="0">
                <a:solidFill>
                  <a:prstClr val="black"/>
                </a:solidFill>
                <a:latin typeface="Times New Roman"/>
                <a:cs typeface="Times New Roman"/>
              </a:rPr>
              <a:t> </a:t>
            </a:r>
            <a:r>
              <a:rPr lang="en-US" sz="2400" cap="none" spc="-45" dirty="0">
                <a:solidFill>
                  <a:prstClr val="black"/>
                </a:solidFill>
                <a:latin typeface="Times New Roman"/>
                <a:cs typeface="Times New Roman"/>
              </a:rPr>
              <a:t>metals</a:t>
            </a:r>
            <a:r>
              <a:rPr lang="en-US" sz="2400" cap="none" spc="-10" dirty="0">
                <a:solidFill>
                  <a:prstClr val="black"/>
                </a:solidFill>
                <a:latin typeface="Times New Roman"/>
                <a:cs typeface="Times New Roman"/>
              </a:rPr>
              <a:t> </a:t>
            </a:r>
            <a:r>
              <a:rPr lang="en-US" sz="2400" cap="none" dirty="0">
                <a:solidFill>
                  <a:prstClr val="black"/>
                </a:solidFill>
                <a:latin typeface="Times New Roman"/>
                <a:cs typeface="Times New Roman"/>
              </a:rPr>
              <a:t>to</a:t>
            </a:r>
            <a:r>
              <a:rPr lang="en-US" sz="2400" cap="none" spc="-10" dirty="0">
                <a:solidFill>
                  <a:prstClr val="black"/>
                </a:solidFill>
                <a:latin typeface="Times New Roman"/>
                <a:cs typeface="Times New Roman"/>
              </a:rPr>
              <a:t> </a:t>
            </a:r>
            <a:r>
              <a:rPr lang="en-US" sz="2400" cap="none" spc="-40" dirty="0">
                <a:solidFill>
                  <a:prstClr val="black"/>
                </a:solidFill>
                <a:latin typeface="Times New Roman"/>
                <a:cs typeface="Times New Roman"/>
              </a:rPr>
              <a:t>steel,</a:t>
            </a:r>
            <a:r>
              <a:rPr lang="en-US" sz="2400" cap="none" spc="-30" dirty="0">
                <a:solidFill>
                  <a:prstClr val="black"/>
                </a:solidFill>
                <a:latin typeface="Times New Roman"/>
                <a:cs typeface="Times New Roman"/>
              </a:rPr>
              <a:t> </a:t>
            </a:r>
            <a:r>
              <a:rPr lang="en-US" sz="2400" cap="none" spc="-10" dirty="0">
                <a:solidFill>
                  <a:prstClr val="black"/>
                </a:solidFill>
                <a:latin typeface="Times New Roman"/>
                <a:cs typeface="Times New Roman"/>
              </a:rPr>
              <a:t>understood </a:t>
            </a:r>
            <a:r>
              <a:rPr lang="en-US" sz="2400" cap="none" spc="-30" dirty="0">
                <a:solidFill>
                  <a:prstClr val="black"/>
                </a:solidFill>
                <a:latin typeface="Times New Roman"/>
                <a:cs typeface="Times New Roman"/>
              </a:rPr>
              <a:t>the</a:t>
            </a:r>
            <a:r>
              <a:rPr lang="en-US" sz="2400" cap="none" spc="-45" dirty="0">
                <a:solidFill>
                  <a:prstClr val="black"/>
                </a:solidFill>
                <a:latin typeface="Times New Roman"/>
                <a:cs typeface="Times New Roman"/>
              </a:rPr>
              <a:t> role</a:t>
            </a:r>
            <a:r>
              <a:rPr lang="en-US" sz="2400" cap="none" spc="-30" dirty="0">
                <a:solidFill>
                  <a:prstClr val="black"/>
                </a:solidFill>
                <a:latin typeface="Times New Roman"/>
                <a:cs typeface="Times New Roman"/>
              </a:rPr>
              <a:t> </a:t>
            </a:r>
            <a:r>
              <a:rPr lang="en-US" sz="2400" cap="none" spc="-10" dirty="0">
                <a:solidFill>
                  <a:prstClr val="black"/>
                </a:solidFill>
                <a:latin typeface="Times New Roman"/>
                <a:cs typeface="Times New Roman"/>
              </a:rPr>
              <a:t>of</a:t>
            </a:r>
            <a:r>
              <a:rPr lang="en-US" sz="2400" cap="none" spc="-40" dirty="0">
                <a:solidFill>
                  <a:prstClr val="black"/>
                </a:solidFill>
                <a:latin typeface="Times New Roman"/>
                <a:cs typeface="Times New Roman"/>
              </a:rPr>
              <a:t> </a:t>
            </a:r>
            <a:r>
              <a:rPr lang="en-US" sz="2400" cap="none" spc="-35" dirty="0">
                <a:solidFill>
                  <a:prstClr val="black"/>
                </a:solidFill>
                <a:latin typeface="Times New Roman"/>
                <a:cs typeface="Times New Roman"/>
              </a:rPr>
              <a:t>the </a:t>
            </a:r>
            <a:r>
              <a:rPr lang="en-US" sz="2400" cap="none" spc="-30" dirty="0">
                <a:solidFill>
                  <a:prstClr val="black"/>
                </a:solidFill>
                <a:latin typeface="Times New Roman"/>
                <a:cs typeface="Times New Roman"/>
              </a:rPr>
              <a:t>high</a:t>
            </a:r>
            <a:r>
              <a:rPr lang="en-US" sz="2400" cap="none" spc="-14" dirty="0">
                <a:solidFill>
                  <a:prstClr val="black"/>
                </a:solidFill>
                <a:latin typeface="Times New Roman"/>
                <a:cs typeface="Times New Roman"/>
              </a:rPr>
              <a:t> </a:t>
            </a:r>
            <a:r>
              <a:rPr lang="en-US" sz="2400" cap="none" spc="-45" dirty="0">
                <a:solidFill>
                  <a:prstClr val="black"/>
                </a:solidFill>
                <a:latin typeface="Times New Roman"/>
                <a:cs typeface="Times New Roman"/>
              </a:rPr>
              <a:t>carbon</a:t>
            </a:r>
            <a:r>
              <a:rPr lang="en-US" sz="2400" cap="none" spc="-30" dirty="0">
                <a:solidFill>
                  <a:prstClr val="black"/>
                </a:solidFill>
                <a:latin typeface="Times New Roman"/>
                <a:cs typeface="Times New Roman"/>
              </a:rPr>
              <a:t> </a:t>
            </a:r>
            <a:r>
              <a:rPr lang="en-US" sz="2400" cap="none" spc="-45" dirty="0">
                <a:solidFill>
                  <a:prstClr val="black"/>
                </a:solidFill>
                <a:latin typeface="Times New Roman"/>
                <a:cs typeface="Times New Roman"/>
              </a:rPr>
              <a:t>proportion</a:t>
            </a:r>
            <a:r>
              <a:rPr lang="en-US" sz="2400" cap="none" spc="-30" dirty="0">
                <a:solidFill>
                  <a:prstClr val="black"/>
                </a:solidFill>
                <a:latin typeface="Times New Roman"/>
                <a:cs typeface="Times New Roman"/>
              </a:rPr>
              <a:t> </a:t>
            </a:r>
            <a:r>
              <a:rPr lang="en-US" sz="2400" cap="none" spc="-10" dirty="0">
                <a:solidFill>
                  <a:prstClr val="black"/>
                </a:solidFill>
                <a:latin typeface="Times New Roman"/>
                <a:cs typeface="Times New Roman"/>
              </a:rPr>
              <a:t>in</a:t>
            </a:r>
            <a:r>
              <a:rPr lang="en-US" sz="2400" cap="none" spc="-30" dirty="0">
                <a:solidFill>
                  <a:prstClr val="black"/>
                </a:solidFill>
                <a:latin typeface="Times New Roman"/>
                <a:cs typeface="Times New Roman"/>
              </a:rPr>
              <a:t> </a:t>
            </a:r>
            <a:r>
              <a:rPr lang="en-US" sz="2400" cap="none" spc="-40" dirty="0" err="1" smtClean="0">
                <a:solidFill>
                  <a:prstClr val="black"/>
                </a:solidFill>
                <a:latin typeface="Times New Roman"/>
                <a:cs typeface="Times New Roman"/>
              </a:rPr>
              <a:t>wootz</a:t>
            </a:r>
            <a:r>
              <a:rPr lang="en-US" sz="2400" cap="none" spc="-40" dirty="0" smtClean="0">
                <a:solidFill>
                  <a:prstClr val="black"/>
                </a:solidFill>
                <a:latin typeface="Times New Roman"/>
                <a:cs typeface="Times New Roman"/>
              </a:rPr>
              <a:t>.</a:t>
            </a:r>
            <a:endParaRPr lang="en-US" sz="2400" cap="none" spc="-25" dirty="0">
              <a:solidFill>
                <a:prstClr val="black"/>
              </a:solidFill>
              <a:latin typeface="Times New Roman"/>
              <a:cs typeface="Times New Roman"/>
            </a:endParaRPr>
          </a:p>
          <a:p>
            <a:pPr marL="355591" marR="5080" indent="-342900" algn="just" defTabSz="457200">
              <a:lnSpc>
                <a:spcPct val="150000"/>
              </a:lnSpc>
              <a:spcBef>
                <a:spcPts val="0"/>
              </a:spcBef>
              <a:buClrTx/>
            </a:pPr>
            <a:r>
              <a:rPr lang="en-US" sz="2400" cap="none" spc="-35" dirty="0" smtClean="0">
                <a:solidFill>
                  <a:prstClr val="black"/>
                </a:solidFill>
                <a:latin typeface="Times New Roman"/>
                <a:cs typeface="Times New Roman"/>
              </a:rPr>
              <a:t>was</a:t>
            </a:r>
            <a:r>
              <a:rPr lang="en-US" sz="2400" cap="none" spc="-14" dirty="0" smtClean="0">
                <a:solidFill>
                  <a:prstClr val="black"/>
                </a:solidFill>
                <a:latin typeface="Times New Roman"/>
                <a:cs typeface="Times New Roman"/>
              </a:rPr>
              <a:t> </a:t>
            </a:r>
            <a:r>
              <a:rPr lang="en-US" sz="2400" cap="none" spc="-35" dirty="0">
                <a:solidFill>
                  <a:prstClr val="black"/>
                </a:solidFill>
                <a:latin typeface="Times New Roman"/>
                <a:cs typeface="Times New Roman"/>
              </a:rPr>
              <a:t>the</a:t>
            </a:r>
            <a:r>
              <a:rPr lang="en-US" sz="2400" cap="none" spc="-14" dirty="0">
                <a:solidFill>
                  <a:prstClr val="black"/>
                </a:solidFill>
                <a:latin typeface="Times New Roman"/>
                <a:cs typeface="Times New Roman"/>
              </a:rPr>
              <a:t> </a:t>
            </a:r>
            <a:r>
              <a:rPr lang="en-US" sz="2400" cap="none" spc="-40" dirty="0">
                <a:solidFill>
                  <a:srgbClr val="C00000"/>
                </a:solidFill>
                <a:latin typeface="Times New Roman"/>
                <a:cs typeface="Times New Roman"/>
              </a:rPr>
              <a:t>first</a:t>
            </a:r>
            <a:r>
              <a:rPr lang="en-US" sz="2400" cap="none" spc="-14" dirty="0">
                <a:solidFill>
                  <a:srgbClr val="C00000"/>
                </a:solidFill>
                <a:latin typeface="Times New Roman"/>
                <a:cs typeface="Times New Roman"/>
              </a:rPr>
              <a:t> </a:t>
            </a:r>
            <a:r>
              <a:rPr lang="en-US" sz="2400" cap="none" spc="-45" dirty="0">
                <a:solidFill>
                  <a:srgbClr val="C00000"/>
                </a:solidFill>
                <a:latin typeface="Times New Roman"/>
                <a:cs typeface="Times New Roman"/>
              </a:rPr>
              <a:t>European</a:t>
            </a:r>
            <a:r>
              <a:rPr lang="en-US" sz="2400" cap="none" spc="-25" dirty="0">
                <a:solidFill>
                  <a:srgbClr val="C00000"/>
                </a:solidFill>
                <a:latin typeface="Times New Roman"/>
                <a:cs typeface="Times New Roman"/>
              </a:rPr>
              <a:t> who</a:t>
            </a:r>
            <a:r>
              <a:rPr lang="en-US" sz="2400" cap="none" spc="-20" dirty="0">
                <a:solidFill>
                  <a:srgbClr val="C00000"/>
                </a:solidFill>
                <a:latin typeface="Times New Roman"/>
                <a:cs typeface="Times New Roman"/>
              </a:rPr>
              <a:t> </a:t>
            </a:r>
            <a:r>
              <a:rPr lang="en-US" sz="2400" cap="none" spc="-45" dirty="0">
                <a:solidFill>
                  <a:srgbClr val="C00000"/>
                </a:solidFill>
                <a:latin typeface="Times New Roman"/>
                <a:cs typeface="Times New Roman"/>
              </a:rPr>
              <a:t>successfully</a:t>
            </a:r>
            <a:r>
              <a:rPr lang="en-US" sz="2400" cap="none" spc="-30" dirty="0">
                <a:solidFill>
                  <a:srgbClr val="C00000"/>
                </a:solidFill>
                <a:latin typeface="Times New Roman"/>
                <a:cs typeface="Times New Roman"/>
              </a:rPr>
              <a:t> </a:t>
            </a:r>
            <a:r>
              <a:rPr lang="en-US" sz="2400" cap="none" spc="-40" dirty="0">
                <a:solidFill>
                  <a:srgbClr val="C00000"/>
                </a:solidFill>
                <a:latin typeface="Times New Roman"/>
                <a:cs typeface="Times New Roman"/>
              </a:rPr>
              <a:t>produced</a:t>
            </a:r>
            <a:r>
              <a:rPr lang="en-US" sz="2400" cap="none" spc="-30" dirty="0">
                <a:solidFill>
                  <a:srgbClr val="C00000"/>
                </a:solidFill>
                <a:latin typeface="Times New Roman"/>
                <a:cs typeface="Times New Roman"/>
              </a:rPr>
              <a:t> </a:t>
            </a:r>
            <a:r>
              <a:rPr lang="en-US" sz="2400" cap="none" spc="-10" dirty="0">
                <a:solidFill>
                  <a:srgbClr val="C00000"/>
                </a:solidFill>
                <a:latin typeface="Times New Roman"/>
                <a:cs typeface="Times New Roman"/>
              </a:rPr>
              <a:t>steel </a:t>
            </a:r>
            <a:r>
              <a:rPr lang="en-US" sz="2400" cap="none" spc="-40" dirty="0">
                <a:solidFill>
                  <a:srgbClr val="C00000"/>
                </a:solidFill>
                <a:latin typeface="Times New Roman"/>
                <a:cs typeface="Times New Roman"/>
              </a:rPr>
              <a:t>blades</a:t>
            </a:r>
            <a:r>
              <a:rPr lang="en-US" sz="2400" cap="none" spc="-4" dirty="0">
                <a:solidFill>
                  <a:srgbClr val="C00000"/>
                </a:solidFill>
                <a:latin typeface="Times New Roman"/>
                <a:cs typeface="Times New Roman"/>
              </a:rPr>
              <a:t> </a:t>
            </a:r>
            <a:r>
              <a:rPr lang="en-US" sz="2400" cap="none" spc="-50" dirty="0">
                <a:solidFill>
                  <a:srgbClr val="C00000"/>
                </a:solidFill>
                <a:latin typeface="Times New Roman"/>
                <a:cs typeface="Times New Roman"/>
              </a:rPr>
              <a:t>comparable</a:t>
            </a:r>
            <a:r>
              <a:rPr lang="en-US" sz="2400" cap="none" spc="-25" dirty="0">
                <a:solidFill>
                  <a:srgbClr val="C00000"/>
                </a:solidFill>
                <a:latin typeface="Times New Roman"/>
                <a:cs typeface="Times New Roman"/>
              </a:rPr>
              <a:t> </a:t>
            </a:r>
            <a:r>
              <a:rPr lang="en-US" sz="2400" cap="none" spc="-20" dirty="0">
                <a:solidFill>
                  <a:srgbClr val="C00000"/>
                </a:solidFill>
                <a:latin typeface="Times New Roman"/>
                <a:cs typeface="Times New Roman"/>
              </a:rPr>
              <a:t>to </a:t>
            </a:r>
            <a:r>
              <a:rPr lang="en-US" sz="2400" cap="none" spc="-35" dirty="0">
                <a:solidFill>
                  <a:srgbClr val="C00000"/>
                </a:solidFill>
                <a:latin typeface="Times New Roman"/>
                <a:cs typeface="Times New Roman"/>
              </a:rPr>
              <a:t>the</a:t>
            </a:r>
            <a:r>
              <a:rPr lang="en-US" sz="2400" cap="none" spc="-14" dirty="0">
                <a:solidFill>
                  <a:srgbClr val="C00000"/>
                </a:solidFill>
                <a:latin typeface="Times New Roman"/>
                <a:cs typeface="Times New Roman"/>
              </a:rPr>
              <a:t> </a:t>
            </a:r>
            <a:r>
              <a:rPr lang="en-US" sz="2400" cap="none" spc="-50" dirty="0">
                <a:solidFill>
                  <a:srgbClr val="C00000"/>
                </a:solidFill>
                <a:latin typeface="Times New Roman"/>
                <a:cs typeface="Times New Roman"/>
              </a:rPr>
              <a:t>Indian</a:t>
            </a:r>
            <a:r>
              <a:rPr lang="en-US" sz="2400" cap="none" spc="-20" dirty="0">
                <a:solidFill>
                  <a:srgbClr val="C00000"/>
                </a:solidFill>
                <a:latin typeface="Times New Roman"/>
                <a:cs typeface="Times New Roman"/>
              </a:rPr>
              <a:t> </a:t>
            </a:r>
            <a:r>
              <a:rPr lang="en-US" sz="2400" cap="none" spc="-45" dirty="0">
                <a:solidFill>
                  <a:srgbClr val="C00000"/>
                </a:solidFill>
                <a:latin typeface="Times New Roman"/>
                <a:cs typeface="Times New Roman"/>
              </a:rPr>
              <a:t>ones.</a:t>
            </a:r>
            <a:endParaRPr lang="en-US" dirty="0">
              <a:solidFill>
                <a:srgbClr val="C00000"/>
              </a:solidFill>
            </a:endParaRPr>
          </a:p>
        </p:txBody>
      </p:sp>
    </p:spTree>
    <p:extLst>
      <p:ext uri="{BB962C8B-B14F-4D97-AF65-F5344CB8AC3E}">
        <p14:creationId xmlns:p14="http://schemas.microsoft.com/office/powerpoint/2010/main" val="158356447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4400" y="1524000"/>
            <a:ext cx="7972762" cy="4452486"/>
          </a:xfrm>
          <a:prstGeom prst="rect">
            <a:avLst/>
          </a:prstGeom>
        </p:spPr>
        <p:txBody>
          <a:bodyPr vert="horz" wrap="square" lIns="0" tIns="20305" rIns="0" bIns="0" rtlCol="0">
            <a:spAutoFit/>
          </a:bodyPr>
          <a:lstStyle/>
          <a:p>
            <a:pPr marL="355591" marR="6983" indent="-342900" algn="just">
              <a:lnSpc>
                <a:spcPct val="150000"/>
              </a:lnSpc>
              <a:spcBef>
                <a:spcPts val="35"/>
              </a:spcBef>
              <a:buFont typeface="Arial" panose="020B0604020202020204" pitchFamily="34" charset="0"/>
              <a:buChar char="•"/>
            </a:pPr>
            <a:r>
              <a:rPr lang="en-US" sz="2400" spc="-45" dirty="0" smtClean="0">
                <a:latin typeface="Times New Roman"/>
                <a:cs typeface="Times New Roman"/>
              </a:rPr>
              <a:t>   </a:t>
            </a:r>
            <a:r>
              <a:rPr sz="2400" spc="-45" dirty="0" smtClean="0">
                <a:latin typeface="Times New Roman"/>
                <a:cs typeface="Times New Roman"/>
              </a:rPr>
              <a:t>Together</a:t>
            </a:r>
            <a:r>
              <a:rPr sz="2400" spc="-45" dirty="0">
                <a:latin typeface="Times New Roman"/>
                <a:cs typeface="Times New Roman"/>
              </a:rPr>
              <a:t>,</a:t>
            </a:r>
            <a:r>
              <a:rPr sz="2400" spc="-4" dirty="0">
                <a:latin typeface="Times New Roman"/>
                <a:cs typeface="Times New Roman"/>
              </a:rPr>
              <a:t> </a:t>
            </a:r>
            <a:r>
              <a:rPr sz="2400" spc="-45" dirty="0">
                <a:latin typeface="Times New Roman"/>
                <a:cs typeface="Times New Roman"/>
              </a:rPr>
              <a:t>such</a:t>
            </a:r>
            <a:r>
              <a:rPr sz="2400" spc="-20" dirty="0">
                <a:latin typeface="Times New Roman"/>
                <a:cs typeface="Times New Roman"/>
              </a:rPr>
              <a:t> </a:t>
            </a:r>
            <a:r>
              <a:rPr sz="2400" spc="-45" dirty="0">
                <a:latin typeface="Times New Roman"/>
                <a:cs typeface="Times New Roman"/>
              </a:rPr>
              <a:t>researches</a:t>
            </a:r>
            <a:r>
              <a:rPr sz="2400" spc="-4" dirty="0">
                <a:latin typeface="Times New Roman"/>
                <a:cs typeface="Times New Roman"/>
              </a:rPr>
              <a:t> </a:t>
            </a:r>
            <a:r>
              <a:rPr sz="2400" spc="-50" dirty="0">
                <a:latin typeface="Times New Roman"/>
                <a:cs typeface="Times New Roman"/>
              </a:rPr>
              <a:t>contributed</a:t>
            </a:r>
            <a:r>
              <a:rPr sz="2400" spc="-20" dirty="0">
                <a:latin typeface="Times New Roman"/>
                <a:cs typeface="Times New Roman"/>
              </a:rPr>
              <a:t> </a:t>
            </a:r>
            <a:r>
              <a:rPr sz="2400" spc="-10" dirty="0">
                <a:latin typeface="Times New Roman"/>
                <a:cs typeface="Times New Roman"/>
              </a:rPr>
              <a:t>to </a:t>
            </a:r>
            <a:r>
              <a:rPr sz="2400" spc="-45" dirty="0">
                <a:latin typeface="Times New Roman"/>
                <a:cs typeface="Times New Roman"/>
              </a:rPr>
              <a:t>the</a:t>
            </a:r>
            <a:r>
              <a:rPr sz="2400" spc="-10" dirty="0">
                <a:latin typeface="Times New Roman"/>
                <a:cs typeface="Times New Roman"/>
              </a:rPr>
              <a:t> </a:t>
            </a:r>
            <a:r>
              <a:rPr sz="2400" spc="-45" dirty="0">
                <a:latin typeface="Times New Roman"/>
                <a:cs typeface="Times New Roman"/>
              </a:rPr>
              <a:t>understanding</a:t>
            </a:r>
            <a:r>
              <a:rPr sz="2400" spc="-20" dirty="0">
                <a:latin typeface="Times New Roman"/>
                <a:cs typeface="Times New Roman"/>
              </a:rPr>
              <a:t> </a:t>
            </a:r>
            <a:r>
              <a:rPr sz="2400" spc="-10" dirty="0">
                <a:latin typeface="Times New Roman"/>
                <a:cs typeface="Times New Roman"/>
              </a:rPr>
              <a:t>of </a:t>
            </a:r>
            <a:r>
              <a:rPr sz="2400" spc="-40" dirty="0">
                <a:latin typeface="Times New Roman"/>
                <a:cs typeface="Times New Roman"/>
              </a:rPr>
              <a:t>the</a:t>
            </a:r>
            <a:r>
              <a:rPr sz="2400" spc="-14" dirty="0">
                <a:latin typeface="Times New Roman"/>
                <a:cs typeface="Times New Roman"/>
              </a:rPr>
              <a:t> </a:t>
            </a:r>
            <a:r>
              <a:rPr sz="2400" spc="-20" dirty="0">
                <a:solidFill>
                  <a:srgbClr val="0070C0"/>
                </a:solidFill>
                <a:latin typeface="Times New Roman"/>
                <a:cs typeface="Times New Roman"/>
              </a:rPr>
              <a:t>role </a:t>
            </a:r>
            <a:r>
              <a:rPr sz="2400" spc="-30" dirty="0">
                <a:solidFill>
                  <a:srgbClr val="0070C0"/>
                </a:solidFill>
                <a:latin typeface="Times New Roman"/>
                <a:cs typeface="Times New Roman"/>
              </a:rPr>
              <a:t>of</a:t>
            </a:r>
            <a:r>
              <a:rPr sz="2400" spc="-50" dirty="0">
                <a:solidFill>
                  <a:srgbClr val="0070C0"/>
                </a:solidFill>
                <a:latin typeface="Times New Roman"/>
                <a:cs typeface="Times New Roman"/>
              </a:rPr>
              <a:t> </a:t>
            </a:r>
            <a:r>
              <a:rPr sz="2400" spc="-45" dirty="0">
                <a:solidFill>
                  <a:srgbClr val="0070C0"/>
                </a:solidFill>
                <a:latin typeface="Times New Roman"/>
                <a:cs typeface="Times New Roman"/>
              </a:rPr>
              <a:t>carbon</a:t>
            </a:r>
            <a:r>
              <a:rPr sz="2400" spc="-40" dirty="0">
                <a:solidFill>
                  <a:srgbClr val="0070C0"/>
                </a:solidFill>
                <a:latin typeface="Times New Roman"/>
                <a:cs typeface="Times New Roman"/>
              </a:rPr>
              <a:t> </a:t>
            </a:r>
            <a:r>
              <a:rPr sz="2400" spc="-35" dirty="0">
                <a:solidFill>
                  <a:srgbClr val="0070C0"/>
                </a:solidFill>
                <a:latin typeface="Times New Roman"/>
                <a:cs typeface="Times New Roman"/>
              </a:rPr>
              <a:t>in</a:t>
            </a:r>
            <a:r>
              <a:rPr sz="2400" spc="-50" dirty="0">
                <a:solidFill>
                  <a:srgbClr val="0070C0"/>
                </a:solidFill>
                <a:latin typeface="Times New Roman"/>
                <a:cs typeface="Times New Roman"/>
              </a:rPr>
              <a:t> </a:t>
            </a:r>
            <a:r>
              <a:rPr sz="2400" spc="-45" dirty="0">
                <a:solidFill>
                  <a:srgbClr val="0070C0"/>
                </a:solidFill>
                <a:latin typeface="Times New Roman"/>
                <a:cs typeface="Times New Roman"/>
              </a:rPr>
              <a:t>steel</a:t>
            </a:r>
            <a:r>
              <a:rPr sz="2400" spc="-35" dirty="0">
                <a:solidFill>
                  <a:srgbClr val="0070C0"/>
                </a:solidFill>
                <a:latin typeface="Times New Roman"/>
                <a:cs typeface="Times New Roman"/>
              </a:rPr>
              <a:t> </a:t>
            </a:r>
            <a:r>
              <a:rPr sz="2400" spc="-40" dirty="0">
                <a:solidFill>
                  <a:srgbClr val="0070C0"/>
                </a:solidFill>
                <a:latin typeface="Times New Roman"/>
                <a:cs typeface="Times New Roman"/>
              </a:rPr>
              <a:t>and</a:t>
            </a:r>
            <a:r>
              <a:rPr sz="2400" spc="-55" dirty="0">
                <a:solidFill>
                  <a:srgbClr val="0070C0"/>
                </a:solidFill>
                <a:latin typeface="Times New Roman"/>
                <a:cs typeface="Times New Roman"/>
              </a:rPr>
              <a:t> </a:t>
            </a:r>
            <a:r>
              <a:rPr sz="2400" spc="-35" dirty="0">
                <a:solidFill>
                  <a:srgbClr val="0070C0"/>
                </a:solidFill>
                <a:latin typeface="Times New Roman"/>
                <a:cs typeface="Times New Roman"/>
              </a:rPr>
              <a:t>to</a:t>
            </a:r>
            <a:r>
              <a:rPr sz="2400" spc="-40" dirty="0">
                <a:solidFill>
                  <a:srgbClr val="0070C0"/>
                </a:solidFill>
                <a:latin typeface="Times New Roman"/>
                <a:cs typeface="Times New Roman"/>
              </a:rPr>
              <a:t> new </a:t>
            </a:r>
            <a:r>
              <a:rPr sz="2400" spc="-50" dirty="0">
                <a:solidFill>
                  <a:srgbClr val="0070C0"/>
                </a:solidFill>
                <a:latin typeface="Times New Roman"/>
                <a:cs typeface="Times New Roman"/>
              </a:rPr>
              <a:t>techniques </a:t>
            </a:r>
            <a:r>
              <a:rPr sz="2400" spc="-30" dirty="0">
                <a:solidFill>
                  <a:srgbClr val="0070C0"/>
                </a:solidFill>
                <a:latin typeface="Times New Roman"/>
                <a:cs typeface="Times New Roman"/>
              </a:rPr>
              <a:t>in</a:t>
            </a:r>
            <a:r>
              <a:rPr sz="2400" spc="-55" dirty="0">
                <a:solidFill>
                  <a:srgbClr val="0070C0"/>
                </a:solidFill>
                <a:latin typeface="Times New Roman"/>
                <a:cs typeface="Times New Roman"/>
              </a:rPr>
              <a:t> steel-</a:t>
            </a:r>
            <a:r>
              <a:rPr sz="2400" spc="-10" dirty="0">
                <a:solidFill>
                  <a:srgbClr val="0070C0"/>
                </a:solidFill>
                <a:latin typeface="Times New Roman"/>
                <a:cs typeface="Times New Roman"/>
              </a:rPr>
              <a:t>making</a:t>
            </a:r>
            <a:r>
              <a:rPr sz="2400" spc="-10" dirty="0">
                <a:latin typeface="Times New Roman"/>
                <a:cs typeface="Times New Roman"/>
              </a:rPr>
              <a:t>.</a:t>
            </a:r>
            <a:endParaRPr sz="2400" dirty="0">
              <a:latin typeface="Times New Roman"/>
              <a:cs typeface="Times New Roman"/>
            </a:endParaRPr>
          </a:p>
          <a:p>
            <a:pPr marL="355591" marR="5715" indent="-342900" algn="just">
              <a:lnSpc>
                <a:spcPct val="150000"/>
              </a:lnSpc>
              <a:buFont typeface="Arial" panose="020B0604020202020204" pitchFamily="34" charset="0"/>
              <a:buChar char="•"/>
            </a:pPr>
            <a:r>
              <a:rPr lang="en-US" sz="2400" spc="-35" dirty="0" smtClean="0">
                <a:solidFill>
                  <a:srgbClr val="00823B"/>
                </a:solidFill>
                <a:latin typeface="Times New Roman"/>
                <a:cs typeface="Times New Roman"/>
              </a:rPr>
              <a:t>   </a:t>
            </a:r>
            <a:r>
              <a:rPr sz="2400" spc="-35" dirty="0" smtClean="0">
                <a:solidFill>
                  <a:srgbClr val="00823B"/>
                </a:solidFill>
                <a:latin typeface="Times New Roman"/>
                <a:cs typeface="Times New Roman"/>
              </a:rPr>
              <a:t>The</a:t>
            </a:r>
            <a:r>
              <a:rPr sz="2400" spc="-55" dirty="0" smtClean="0">
                <a:solidFill>
                  <a:srgbClr val="00823B"/>
                </a:solidFill>
                <a:latin typeface="Times New Roman"/>
                <a:cs typeface="Times New Roman"/>
              </a:rPr>
              <a:t> </a:t>
            </a:r>
            <a:r>
              <a:rPr sz="2400" spc="-40" dirty="0">
                <a:solidFill>
                  <a:srgbClr val="00823B"/>
                </a:solidFill>
                <a:latin typeface="Times New Roman"/>
                <a:cs typeface="Times New Roman"/>
              </a:rPr>
              <a:t>second</a:t>
            </a:r>
            <a:r>
              <a:rPr sz="2400" spc="-50" dirty="0">
                <a:solidFill>
                  <a:srgbClr val="00823B"/>
                </a:solidFill>
                <a:latin typeface="Times New Roman"/>
                <a:cs typeface="Times New Roman"/>
              </a:rPr>
              <a:t> </a:t>
            </a:r>
            <a:r>
              <a:rPr sz="2400" spc="-45" dirty="0">
                <a:solidFill>
                  <a:srgbClr val="00823B"/>
                </a:solidFill>
                <a:latin typeface="Times New Roman"/>
                <a:cs typeface="Times New Roman"/>
              </a:rPr>
              <a:t>advanced</a:t>
            </a:r>
            <a:r>
              <a:rPr sz="2400" spc="-60" dirty="0">
                <a:solidFill>
                  <a:srgbClr val="00823B"/>
                </a:solidFill>
                <a:latin typeface="Times New Roman"/>
                <a:cs typeface="Times New Roman"/>
              </a:rPr>
              <a:t> </a:t>
            </a:r>
            <a:r>
              <a:rPr sz="2400" spc="-35" dirty="0">
                <a:solidFill>
                  <a:srgbClr val="00823B"/>
                </a:solidFill>
                <a:latin typeface="Times New Roman"/>
                <a:cs typeface="Times New Roman"/>
              </a:rPr>
              <a:t>iron</a:t>
            </a:r>
            <a:r>
              <a:rPr sz="2400" spc="-60" dirty="0">
                <a:solidFill>
                  <a:srgbClr val="00823B"/>
                </a:solidFill>
                <a:latin typeface="Times New Roman"/>
                <a:cs typeface="Times New Roman"/>
              </a:rPr>
              <a:t> </a:t>
            </a:r>
            <a:r>
              <a:rPr sz="2400" spc="-30" dirty="0">
                <a:solidFill>
                  <a:srgbClr val="00823B"/>
                </a:solidFill>
                <a:latin typeface="Times New Roman"/>
                <a:cs typeface="Times New Roman"/>
              </a:rPr>
              <a:t>is</a:t>
            </a:r>
            <a:r>
              <a:rPr sz="2400" spc="-50" dirty="0">
                <a:solidFill>
                  <a:srgbClr val="00823B"/>
                </a:solidFill>
                <a:latin typeface="Times New Roman"/>
                <a:cs typeface="Times New Roman"/>
              </a:rPr>
              <a:t> </a:t>
            </a:r>
            <a:r>
              <a:rPr sz="2400" spc="-30" dirty="0">
                <a:solidFill>
                  <a:srgbClr val="00823B"/>
                </a:solidFill>
                <a:latin typeface="Times New Roman"/>
                <a:cs typeface="Times New Roman"/>
              </a:rPr>
              <a:t>the</a:t>
            </a:r>
            <a:r>
              <a:rPr sz="2400" spc="-65" dirty="0">
                <a:solidFill>
                  <a:srgbClr val="00823B"/>
                </a:solidFill>
                <a:latin typeface="Times New Roman"/>
                <a:cs typeface="Times New Roman"/>
              </a:rPr>
              <a:t> </a:t>
            </a:r>
            <a:r>
              <a:rPr sz="2400" spc="-30" dirty="0">
                <a:solidFill>
                  <a:srgbClr val="00823B"/>
                </a:solidFill>
                <a:latin typeface="Times New Roman"/>
                <a:cs typeface="Times New Roman"/>
              </a:rPr>
              <a:t>one</a:t>
            </a:r>
            <a:r>
              <a:rPr sz="2400" spc="-55" dirty="0">
                <a:solidFill>
                  <a:srgbClr val="00823B"/>
                </a:solidFill>
                <a:latin typeface="Times New Roman"/>
                <a:cs typeface="Times New Roman"/>
              </a:rPr>
              <a:t> </a:t>
            </a:r>
            <a:r>
              <a:rPr sz="2400" spc="-35" dirty="0">
                <a:solidFill>
                  <a:srgbClr val="00823B"/>
                </a:solidFill>
                <a:latin typeface="Times New Roman"/>
                <a:cs typeface="Times New Roman"/>
              </a:rPr>
              <a:t>used</a:t>
            </a:r>
            <a:r>
              <a:rPr sz="2400" spc="-60" dirty="0">
                <a:solidFill>
                  <a:srgbClr val="00823B"/>
                </a:solidFill>
                <a:latin typeface="Times New Roman"/>
                <a:cs typeface="Times New Roman"/>
              </a:rPr>
              <a:t> </a:t>
            </a:r>
            <a:r>
              <a:rPr sz="2400" spc="-25" dirty="0">
                <a:solidFill>
                  <a:srgbClr val="00823B"/>
                </a:solidFill>
                <a:latin typeface="Times New Roman"/>
                <a:cs typeface="Times New Roman"/>
              </a:rPr>
              <a:t>in</a:t>
            </a:r>
            <a:r>
              <a:rPr sz="2400" spc="-60" dirty="0">
                <a:solidFill>
                  <a:srgbClr val="00823B"/>
                </a:solidFill>
                <a:latin typeface="Times New Roman"/>
                <a:cs typeface="Times New Roman"/>
              </a:rPr>
              <a:t> </a:t>
            </a:r>
            <a:r>
              <a:rPr sz="2400" spc="-30" dirty="0">
                <a:solidFill>
                  <a:srgbClr val="00823B"/>
                </a:solidFill>
                <a:latin typeface="Times New Roman"/>
                <a:cs typeface="Times New Roman"/>
              </a:rPr>
              <a:t>the</a:t>
            </a:r>
            <a:r>
              <a:rPr sz="2400" spc="-55" dirty="0">
                <a:solidFill>
                  <a:srgbClr val="00823B"/>
                </a:solidFill>
                <a:latin typeface="Times New Roman"/>
                <a:cs typeface="Times New Roman"/>
              </a:rPr>
              <a:t> </a:t>
            </a:r>
            <a:r>
              <a:rPr sz="2400" spc="-40" dirty="0">
                <a:solidFill>
                  <a:srgbClr val="00823B"/>
                </a:solidFill>
                <a:latin typeface="Times New Roman"/>
                <a:cs typeface="Times New Roman"/>
              </a:rPr>
              <a:t>famous</a:t>
            </a:r>
            <a:r>
              <a:rPr sz="2400" spc="-50" dirty="0">
                <a:solidFill>
                  <a:srgbClr val="00823B"/>
                </a:solidFill>
                <a:latin typeface="Times New Roman"/>
                <a:cs typeface="Times New Roman"/>
              </a:rPr>
              <a:t> </a:t>
            </a:r>
            <a:r>
              <a:rPr sz="2400" spc="-45" dirty="0" smtClean="0">
                <a:solidFill>
                  <a:srgbClr val="00823B"/>
                </a:solidFill>
                <a:latin typeface="Times New Roman"/>
                <a:cs typeface="Times New Roman"/>
              </a:rPr>
              <a:t>1,600-</a:t>
            </a:r>
            <a:r>
              <a:rPr sz="2400" spc="-50" dirty="0" smtClean="0">
                <a:solidFill>
                  <a:srgbClr val="00823B"/>
                </a:solidFill>
                <a:latin typeface="Times New Roman"/>
                <a:cs typeface="Times New Roman"/>
              </a:rPr>
              <a:t>year-</a:t>
            </a:r>
            <a:r>
              <a:rPr sz="2400" spc="-30" dirty="0" smtClean="0">
                <a:solidFill>
                  <a:srgbClr val="00823B"/>
                </a:solidFill>
                <a:latin typeface="Times New Roman"/>
                <a:cs typeface="Times New Roman"/>
              </a:rPr>
              <a:t>old</a:t>
            </a:r>
            <a:r>
              <a:rPr sz="2400" spc="-50" dirty="0" smtClean="0">
                <a:solidFill>
                  <a:srgbClr val="00823B"/>
                </a:solidFill>
                <a:latin typeface="Times New Roman"/>
                <a:cs typeface="Times New Roman"/>
              </a:rPr>
              <a:t> </a:t>
            </a:r>
            <a:r>
              <a:rPr sz="2400" b="1" u="sng" spc="-40" dirty="0">
                <a:solidFill>
                  <a:srgbClr val="00823B"/>
                </a:solidFill>
                <a:latin typeface="Times New Roman"/>
                <a:cs typeface="Times New Roman"/>
              </a:rPr>
              <a:t>Delhi</a:t>
            </a:r>
            <a:r>
              <a:rPr sz="2400" b="1" u="sng" spc="-50" dirty="0">
                <a:solidFill>
                  <a:srgbClr val="00823B"/>
                </a:solidFill>
                <a:latin typeface="Times New Roman"/>
                <a:cs typeface="Times New Roman"/>
              </a:rPr>
              <a:t> </a:t>
            </a:r>
            <a:r>
              <a:rPr sz="2400" b="1" u="sng" spc="-40" dirty="0">
                <a:solidFill>
                  <a:srgbClr val="00823B"/>
                </a:solidFill>
                <a:latin typeface="Times New Roman"/>
                <a:cs typeface="Times New Roman"/>
              </a:rPr>
              <a:t>Iron</a:t>
            </a:r>
            <a:r>
              <a:rPr sz="2400" b="1" u="sng" spc="-50" dirty="0">
                <a:solidFill>
                  <a:srgbClr val="00823B"/>
                </a:solidFill>
                <a:latin typeface="Times New Roman"/>
                <a:cs typeface="Times New Roman"/>
              </a:rPr>
              <a:t> </a:t>
            </a:r>
            <a:r>
              <a:rPr sz="2400" b="1" u="sng" spc="-45" dirty="0">
                <a:solidFill>
                  <a:srgbClr val="00823B"/>
                </a:solidFill>
                <a:latin typeface="Times New Roman"/>
                <a:cs typeface="Times New Roman"/>
              </a:rPr>
              <a:t>Pillar</a:t>
            </a:r>
            <a:r>
              <a:rPr sz="2400" spc="-45" dirty="0">
                <a:solidFill>
                  <a:srgbClr val="00823B"/>
                </a:solidFill>
                <a:latin typeface="Times New Roman"/>
                <a:cs typeface="Times New Roman"/>
              </a:rPr>
              <a:t>,</a:t>
            </a:r>
            <a:r>
              <a:rPr sz="2400" spc="-50" dirty="0">
                <a:solidFill>
                  <a:srgbClr val="00823B"/>
                </a:solidFill>
                <a:latin typeface="Times New Roman"/>
                <a:cs typeface="Times New Roman"/>
              </a:rPr>
              <a:t> </a:t>
            </a:r>
            <a:r>
              <a:rPr sz="2400" spc="-40" dirty="0">
                <a:solidFill>
                  <a:srgbClr val="00823B"/>
                </a:solidFill>
                <a:latin typeface="Times New Roman"/>
                <a:cs typeface="Times New Roman"/>
              </a:rPr>
              <a:t>which,</a:t>
            </a:r>
            <a:r>
              <a:rPr sz="2400" spc="-60" dirty="0">
                <a:solidFill>
                  <a:srgbClr val="00823B"/>
                </a:solidFill>
                <a:latin typeface="Times New Roman"/>
                <a:cs typeface="Times New Roman"/>
              </a:rPr>
              <a:t> </a:t>
            </a:r>
            <a:r>
              <a:rPr sz="2400" spc="-30" dirty="0">
                <a:solidFill>
                  <a:srgbClr val="00823B"/>
                </a:solidFill>
                <a:latin typeface="Times New Roman"/>
                <a:cs typeface="Times New Roman"/>
              </a:rPr>
              <a:t>at</a:t>
            </a:r>
            <a:r>
              <a:rPr sz="2400" spc="-60" dirty="0">
                <a:solidFill>
                  <a:srgbClr val="00823B"/>
                </a:solidFill>
                <a:latin typeface="Times New Roman"/>
                <a:cs typeface="Times New Roman"/>
              </a:rPr>
              <a:t> </a:t>
            </a:r>
            <a:r>
              <a:rPr sz="2400" spc="-10" dirty="0">
                <a:solidFill>
                  <a:srgbClr val="00823B"/>
                </a:solidFill>
                <a:latin typeface="Times New Roman"/>
                <a:cs typeface="Times New Roman"/>
              </a:rPr>
              <a:t>a</a:t>
            </a:r>
            <a:r>
              <a:rPr sz="2400" spc="-4" dirty="0">
                <a:solidFill>
                  <a:srgbClr val="00823B"/>
                </a:solidFill>
                <a:latin typeface="Times New Roman"/>
                <a:cs typeface="Times New Roman"/>
              </a:rPr>
              <a:t> </a:t>
            </a:r>
            <a:r>
              <a:rPr sz="2400" spc="-40" dirty="0">
                <a:solidFill>
                  <a:srgbClr val="00823B"/>
                </a:solidFill>
                <a:latin typeface="Times New Roman"/>
                <a:cs typeface="Times New Roman"/>
              </a:rPr>
              <a:t>height</a:t>
            </a:r>
            <a:r>
              <a:rPr sz="2400" spc="-70" dirty="0">
                <a:solidFill>
                  <a:srgbClr val="00823B"/>
                </a:solidFill>
                <a:latin typeface="Times New Roman"/>
                <a:cs typeface="Times New Roman"/>
              </a:rPr>
              <a:t> </a:t>
            </a:r>
            <a:r>
              <a:rPr sz="2400" spc="-25" dirty="0">
                <a:solidFill>
                  <a:srgbClr val="00823B"/>
                </a:solidFill>
                <a:latin typeface="Times New Roman"/>
                <a:cs typeface="Times New Roman"/>
              </a:rPr>
              <a:t>of</a:t>
            </a:r>
            <a:r>
              <a:rPr sz="2400" spc="-65" dirty="0">
                <a:solidFill>
                  <a:srgbClr val="00823B"/>
                </a:solidFill>
                <a:latin typeface="Times New Roman"/>
                <a:cs typeface="Times New Roman"/>
              </a:rPr>
              <a:t> </a:t>
            </a:r>
            <a:r>
              <a:rPr sz="2400" spc="-50" dirty="0">
                <a:solidFill>
                  <a:srgbClr val="00823B"/>
                </a:solidFill>
                <a:latin typeface="Times New Roman"/>
                <a:cs typeface="Times New Roman"/>
              </a:rPr>
              <a:t>7</a:t>
            </a:r>
            <a:r>
              <a:rPr sz="2400" spc="-40" dirty="0">
                <a:solidFill>
                  <a:srgbClr val="00823B"/>
                </a:solidFill>
                <a:latin typeface="Times New Roman"/>
                <a:cs typeface="Times New Roman"/>
              </a:rPr>
              <a:t>.6</a:t>
            </a:r>
            <a:r>
              <a:rPr sz="2400" dirty="0">
                <a:solidFill>
                  <a:srgbClr val="00823B"/>
                </a:solidFill>
                <a:latin typeface="Times New Roman"/>
                <a:cs typeface="Times New Roman"/>
              </a:rPr>
              <a:t>7</a:t>
            </a:r>
            <a:r>
              <a:rPr sz="2400" spc="-75" dirty="0">
                <a:solidFill>
                  <a:srgbClr val="00823B"/>
                </a:solidFill>
                <a:latin typeface="Times New Roman"/>
                <a:cs typeface="Times New Roman"/>
              </a:rPr>
              <a:t> </a:t>
            </a:r>
            <a:r>
              <a:rPr sz="2400" spc="-30" dirty="0">
                <a:solidFill>
                  <a:srgbClr val="00823B"/>
                </a:solidFill>
                <a:latin typeface="Times New Roman"/>
                <a:cs typeface="Times New Roman"/>
              </a:rPr>
              <a:t>m,</a:t>
            </a:r>
            <a:r>
              <a:rPr sz="2400" spc="-60" dirty="0">
                <a:solidFill>
                  <a:srgbClr val="00823B"/>
                </a:solidFill>
                <a:latin typeface="Times New Roman"/>
                <a:cs typeface="Times New Roman"/>
              </a:rPr>
              <a:t> </a:t>
            </a:r>
            <a:r>
              <a:rPr sz="2400" spc="-45" dirty="0">
                <a:solidFill>
                  <a:srgbClr val="00823B"/>
                </a:solidFill>
                <a:latin typeface="Times New Roman"/>
                <a:cs typeface="Times New Roman"/>
              </a:rPr>
              <a:t>consists</a:t>
            </a:r>
            <a:r>
              <a:rPr sz="2400" spc="-70" dirty="0">
                <a:solidFill>
                  <a:srgbClr val="00823B"/>
                </a:solidFill>
                <a:latin typeface="Times New Roman"/>
                <a:cs typeface="Times New Roman"/>
              </a:rPr>
              <a:t> </a:t>
            </a:r>
            <a:r>
              <a:rPr sz="2400" spc="-30" dirty="0">
                <a:solidFill>
                  <a:srgbClr val="00823B"/>
                </a:solidFill>
                <a:latin typeface="Times New Roman"/>
                <a:cs typeface="Times New Roman"/>
              </a:rPr>
              <a:t>of</a:t>
            </a:r>
            <a:r>
              <a:rPr sz="2400" spc="-65" dirty="0">
                <a:solidFill>
                  <a:srgbClr val="00823B"/>
                </a:solidFill>
                <a:latin typeface="Times New Roman"/>
                <a:cs typeface="Times New Roman"/>
              </a:rPr>
              <a:t> </a:t>
            </a:r>
            <a:r>
              <a:rPr sz="2400" spc="-40" dirty="0">
                <a:solidFill>
                  <a:srgbClr val="00823B"/>
                </a:solidFill>
                <a:latin typeface="Times New Roman"/>
                <a:cs typeface="Times New Roman"/>
              </a:rPr>
              <a:t>about</a:t>
            </a:r>
            <a:r>
              <a:rPr sz="2400" spc="-70" dirty="0">
                <a:solidFill>
                  <a:srgbClr val="00823B"/>
                </a:solidFill>
                <a:latin typeface="Times New Roman"/>
                <a:cs typeface="Times New Roman"/>
              </a:rPr>
              <a:t> </a:t>
            </a:r>
            <a:r>
              <a:rPr sz="2400" spc="-35" dirty="0">
                <a:solidFill>
                  <a:srgbClr val="00823B"/>
                </a:solidFill>
                <a:latin typeface="Times New Roman"/>
                <a:cs typeface="Times New Roman"/>
              </a:rPr>
              <a:t>six</a:t>
            </a:r>
            <a:r>
              <a:rPr sz="2400" spc="-60" dirty="0">
                <a:solidFill>
                  <a:srgbClr val="00823B"/>
                </a:solidFill>
                <a:latin typeface="Times New Roman"/>
                <a:cs typeface="Times New Roman"/>
              </a:rPr>
              <a:t> </a:t>
            </a:r>
            <a:r>
              <a:rPr sz="2400" spc="-40" dirty="0">
                <a:solidFill>
                  <a:srgbClr val="00823B"/>
                </a:solidFill>
                <a:latin typeface="Times New Roman"/>
                <a:cs typeface="Times New Roman"/>
              </a:rPr>
              <a:t>tons</a:t>
            </a:r>
            <a:r>
              <a:rPr sz="2400" spc="-60" dirty="0">
                <a:solidFill>
                  <a:srgbClr val="00823B"/>
                </a:solidFill>
                <a:latin typeface="Times New Roman"/>
                <a:cs typeface="Times New Roman"/>
              </a:rPr>
              <a:t> </a:t>
            </a:r>
            <a:r>
              <a:rPr sz="2400" spc="-25" dirty="0">
                <a:solidFill>
                  <a:srgbClr val="00823B"/>
                </a:solidFill>
                <a:latin typeface="Times New Roman"/>
                <a:cs typeface="Times New Roman"/>
              </a:rPr>
              <a:t>of</a:t>
            </a:r>
            <a:r>
              <a:rPr sz="2400" spc="-80" dirty="0">
                <a:solidFill>
                  <a:srgbClr val="00823B"/>
                </a:solidFill>
                <a:latin typeface="Times New Roman"/>
                <a:cs typeface="Times New Roman"/>
              </a:rPr>
              <a:t> </a:t>
            </a:r>
            <a:r>
              <a:rPr sz="2400" spc="-40" dirty="0">
                <a:solidFill>
                  <a:srgbClr val="00823B"/>
                </a:solidFill>
                <a:latin typeface="Times New Roman"/>
                <a:cs typeface="Times New Roman"/>
              </a:rPr>
              <a:t>wrought</a:t>
            </a:r>
            <a:r>
              <a:rPr sz="2400" spc="-70" dirty="0">
                <a:solidFill>
                  <a:srgbClr val="00823B"/>
                </a:solidFill>
                <a:latin typeface="Times New Roman"/>
                <a:cs typeface="Times New Roman"/>
              </a:rPr>
              <a:t> </a:t>
            </a:r>
            <a:r>
              <a:rPr sz="2400" spc="-40" dirty="0">
                <a:solidFill>
                  <a:srgbClr val="00823B"/>
                </a:solidFill>
                <a:latin typeface="Times New Roman"/>
                <a:cs typeface="Times New Roman"/>
              </a:rPr>
              <a:t>iron.</a:t>
            </a:r>
            <a:r>
              <a:rPr sz="2400" spc="-60" dirty="0">
                <a:solidFill>
                  <a:srgbClr val="00823B"/>
                </a:solidFill>
                <a:latin typeface="Times New Roman"/>
                <a:cs typeface="Times New Roman"/>
              </a:rPr>
              <a:t> </a:t>
            </a:r>
            <a:endParaRPr lang="en-US" sz="2400" spc="-60" dirty="0">
              <a:solidFill>
                <a:srgbClr val="00823B"/>
              </a:solidFill>
              <a:latin typeface="Times New Roman"/>
              <a:cs typeface="Times New Roman"/>
            </a:endParaRPr>
          </a:p>
          <a:p>
            <a:pPr marL="355591" marR="5715" indent="-342900" algn="just">
              <a:lnSpc>
                <a:spcPct val="150000"/>
              </a:lnSpc>
              <a:buFont typeface="Arial" panose="020B0604020202020204" pitchFamily="34" charset="0"/>
              <a:buChar char="•"/>
            </a:pPr>
            <a:r>
              <a:rPr lang="en-US" sz="2400" spc="-40" dirty="0" smtClean="0">
                <a:latin typeface="Times New Roman"/>
                <a:cs typeface="Times New Roman"/>
              </a:rPr>
              <a:t> </a:t>
            </a:r>
            <a:r>
              <a:rPr sz="2400" spc="-40" dirty="0" smtClean="0">
                <a:latin typeface="Times New Roman"/>
                <a:cs typeface="Times New Roman"/>
              </a:rPr>
              <a:t>It</a:t>
            </a:r>
            <a:r>
              <a:rPr sz="2400" spc="-60" dirty="0" smtClean="0">
                <a:latin typeface="Times New Roman"/>
                <a:cs typeface="Times New Roman"/>
              </a:rPr>
              <a:t> </a:t>
            </a:r>
            <a:r>
              <a:rPr sz="2400" spc="-35" dirty="0">
                <a:latin typeface="Times New Roman"/>
                <a:cs typeface="Times New Roman"/>
              </a:rPr>
              <a:t>was</a:t>
            </a:r>
            <a:r>
              <a:rPr sz="2400" spc="-60" dirty="0">
                <a:latin typeface="Times New Roman"/>
                <a:cs typeface="Times New Roman"/>
              </a:rPr>
              <a:t> </a:t>
            </a:r>
            <a:r>
              <a:rPr sz="2400" spc="-45" dirty="0">
                <a:latin typeface="Times New Roman"/>
                <a:cs typeface="Times New Roman"/>
              </a:rPr>
              <a:t>initially</a:t>
            </a:r>
            <a:r>
              <a:rPr sz="2400" spc="-100" dirty="0">
                <a:latin typeface="Times New Roman"/>
                <a:cs typeface="Times New Roman"/>
              </a:rPr>
              <a:t> </a:t>
            </a:r>
            <a:r>
              <a:rPr sz="2400" spc="-45" dirty="0">
                <a:latin typeface="Times New Roman"/>
                <a:cs typeface="Times New Roman"/>
              </a:rPr>
              <a:t>erected</a:t>
            </a:r>
            <a:r>
              <a:rPr sz="2400" spc="-60" dirty="0">
                <a:latin typeface="Times New Roman"/>
                <a:cs typeface="Times New Roman"/>
              </a:rPr>
              <a:t> </a:t>
            </a:r>
            <a:r>
              <a:rPr sz="2400" spc="-90" dirty="0">
                <a:latin typeface="Times New Roman"/>
                <a:cs typeface="Times New Roman"/>
              </a:rPr>
              <a:t>by</a:t>
            </a:r>
            <a:r>
              <a:rPr sz="2400" spc="-100" dirty="0">
                <a:latin typeface="Times New Roman"/>
                <a:cs typeface="Times New Roman"/>
              </a:rPr>
              <a:t> </a:t>
            </a:r>
            <a:r>
              <a:rPr sz="2400" b="1" u="sng" spc="-40" dirty="0">
                <a:solidFill>
                  <a:srgbClr val="00B0F0"/>
                </a:solidFill>
                <a:latin typeface="Times New Roman"/>
                <a:cs typeface="Times New Roman"/>
              </a:rPr>
              <a:t>Chandra</a:t>
            </a:r>
            <a:r>
              <a:rPr sz="2400" b="1" u="sng" spc="-65" dirty="0">
                <a:solidFill>
                  <a:srgbClr val="00B0F0"/>
                </a:solidFill>
                <a:latin typeface="Times New Roman"/>
                <a:cs typeface="Times New Roman"/>
              </a:rPr>
              <a:t> </a:t>
            </a:r>
            <a:r>
              <a:rPr sz="2400" b="1" u="sng" spc="-35" dirty="0">
                <a:solidFill>
                  <a:srgbClr val="00B0F0"/>
                </a:solidFill>
                <a:latin typeface="Times New Roman"/>
                <a:cs typeface="Times New Roman"/>
              </a:rPr>
              <a:t>as</a:t>
            </a:r>
            <a:r>
              <a:rPr sz="2400" b="1" u="sng" spc="-60" dirty="0">
                <a:solidFill>
                  <a:srgbClr val="00B0F0"/>
                </a:solidFill>
                <a:latin typeface="Times New Roman"/>
                <a:cs typeface="Times New Roman"/>
              </a:rPr>
              <a:t> </a:t>
            </a:r>
            <a:r>
              <a:rPr sz="2400" b="1" u="sng" spc="-10" dirty="0">
                <a:solidFill>
                  <a:srgbClr val="00B0F0"/>
                </a:solidFill>
                <a:latin typeface="Times New Roman"/>
                <a:cs typeface="Times New Roman"/>
              </a:rPr>
              <a:t>a</a:t>
            </a:r>
            <a:r>
              <a:rPr sz="2400" b="1" u="sng" spc="-80" dirty="0">
                <a:solidFill>
                  <a:srgbClr val="00B0F0"/>
                </a:solidFill>
                <a:latin typeface="Times New Roman"/>
                <a:cs typeface="Times New Roman"/>
              </a:rPr>
              <a:t> </a:t>
            </a:r>
            <a:r>
              <a:rPr sz="2400" b="1" u="sng" spc="-40" dirty="0">
                <a:solidFill>
                  <a:srgbClr val="00B0F0"/>
                </a:solidFill>
                <a:latin typeface="Times New Roman"/>
                <a:cs typeface="Times New Roman"/>
              </a:rPr>
              <a:t>standard</a:t>
            </a:r>
            <a:r>
              <a:rPr sz="2400" b="1" u="sng" dirty="0">
                <a:solidFill>
                  <a:srgbClr val="00B0F0"/>
                </a:solidFill>
                <a:latin typeface="Times New Roman"/>
                <a:cs typeface="Times New Roman"/>
              </a:rPr>
              <a:t> </a:t>
            </a:r>
            <a:r>
              <a:rPr sz="2400" b="1" u="sng" spc="-25" dirty="0">
                <a:solidFill>
                  <a:srgbClr val="00B0F0"/>
                </a:solidFill>
                <a:latin typeface="Times New Roman"/>
                <a:cs typeface="Times New Roman"/>
              </a:rPr>
              <a:t>of</a:t>
            </a:r>
            <a:r>
              <a:rPr sz="2400" b="1" u="sng" spc="-55" dirty="0">
                <a:solidFill>
                  <a:srgbClr val="00B0F0"/>
                </a:solidFill>
                <a:latin typeface="Times New Roman"/>
                <a:cs typeface="Times New Roman"/>
              </a:rPr>
              <a:t> </a:t>
            </a:r>
            <a:r>
              <a:rPr sz="2400" b="1" u="sng" spc="-40" dirty="0">
                <a:solidFill>
                  <a:srgbClr val="00B0F0"/>
                </a:solidFill>
                <a:latin typeface="Times New Roman"/>
                <a:cs typeface="Times New Roman"/>
              </a:rPr>
              <a:t>Vishnu</a:t>
            </a:r>
            <a:r>
              <a:rPr sz="2400" b="1" u="sng" spc="-60" dirty="0">
                <a:solidFill>
                  <a:srgbClr val="00B0F0"/>
                </a:solidFill>
                <a:latin typeface="Times New Roman"/>
                <a:cs typeface="Times New Roman"/>
              </a:rPr>
              <a:t> </a:t>
            </a:r>
            <a:r>
              <a:rPr sz="2400" spc="-30" dirty="0">
                <a:solidFill>
                  <a:srgbClr val="00B0F0"/>
                </a:solidFill>
                <a:latin typeface="Times New Roman"/>
                <a:cs typeface="Times New Roman"/>
              </a:rPr>
              <a:t>at</a:t>
            </a:r>
            <a:r>
              <a:rPr sz="2400" spc="-60" dirty="0">
                <a:solidFill>
                  <a:srgbClr val="00B0F0"/>
                </a:solidFill>
                <a:latin typeface="Times New Roman"/>
                <a:cs typeface="Times New Roman"/>
              </a:rPr>
              <a:t> </a:t>
            </a:r>
            <a:r>
              <a:rPr lang="en-US" sz="2400" spc="-60" dirty="0">
                <a:solidFill>
                  <a:srgbClr val="00B0F0"/>
                </a:solidFill>
                <a:latin typeface="Times New Roman"/>
                <a:cs typeface="Times New Roman"/>
              </a:rPr>
              <a:t>'</a:t>
            </a:r>
            <a:r>
              <a:rPr sz="2400" spc="-45" dirty="0" err="1" smtClean="0">
                <a:solidFill>
                  <a:srgbClr val="00B0F0"/>
                </a:solidFill>
                <a:latin typeface="Times New Roman"/>
                <a:cs typeface="Times New Roman"/>
              </a:rPr>
              <a:t>Vishnupadagiri</a:t>
            </a:r>
            <a:r>
              <a:rPr lang="en-US" sz="2400" spc="-45" dirty="0" smtClean="0">
                <a:solidFill>
                  <a:srgbClr val="00B0F0"/>
                </a:solidFill>
                <a:latin typeface="Times New Roman"/>
                <a:cs typeface="Times New Roman"/>
              </a:rPr>
              <a:t>'</a:t>
            </a:r>
            <a:r>
              <a:rPr sz="2400" spc="-45" dirty="0" smtClean="0">
                <a:latin typeface="Times New Roman"/>
                <a:cs typeface="Times New Roman"/>
              </a:rPr>
              <a:t>,</a:t>
            </a:r>
            <a:r>
              <a:rPr sz="2400" spc="-60" dirty="0" smtClean="0">
                <a:latin typeface="Times New Roman"/>
                <a:cs typeface="Times New Roman"/>
              </a:rPr>
              <a:t> </a:t>
            </a:r>
            <a:r>
              <a:rPr sz="2400" spc="-45" dirty="0">
                <a:latin typeface="Times New Roman"/>
                <a:cs typeface="Times New Roman"/>
              </a:rPr>
              <a:t>according</a:t>
            </a:r>
            <a:r>
              <a:rPr sz="2400" spc="-60" dirty="0">
                <a:latin typeface="Times New Roman"/>
                <a:cs typeface="Times New Roman"/>
              </a:rPr>
              <a:t> </a:t>
            </a:r>
            <a:r>
              <a:rPr sz="2400" spc="-30" dirty="0">
                <a:latin typeface="Times New Roman"/>
                <a:cs typeface="Times New Roman"/>
              </a:rPr>
              <a:t>to</a:t>
            </a:r>
            <a:r>
              <a:rPr sz="2400" spc="-50" dirty="0">
                <a:latin typeface="Times New Roman"/>
                <a:cs typeface="Times New Roman"/>
              </a:rPr>
              <a:t> </a:t>
            </a:r>
            <a:r>
              <a:rPr sz="2400" spc="-10" dirty="0">
                <a:latin typeface="Times New Roman"/>
                <a:cs typeface="Times New Roman"/>
              </a:rPr>
              <a:t>a</a:t>
            </a:r>
            <a:r>
              <a:rPr sz="2400" spc="-65" dirty="0">
                <a:latin typeface="Times New Roman"/>
                <a:cs typeface="Times New Roman"/>
              </a:rPr>
              <a:t> </a:t>
            </a:r>
            <a:r>
              <a:rPr sz="2400" spc="-50" dirty="0">
                <a:latin typeface="Times New Roman"/>
                <a:cs typeface="Times New Roman"/>
              </a:rPr>
              <a:t>six-</a:t>
            </a:r>
            <a:r>
              <a:rPr sz="2400" spc="-40" dirty="0">
                <a:latin typeface="Times New Roman"/>
                <a:cs typeface="Times New Roman"/>
              </a:rPr>
              <a:t>line</a:t>
            </a:r>
            <a:r>
              <a:rPr sz="2400" spc="-65" dirty="0">
                <a:latin typeface="Times New Roman"/>
                <a:cs typeface="Times New Roman"/>
              </a:rPr>
              <a:t> </a:t>
            </a:r>
            <a:r>
              <a:rPr sz="2400" spc="-45" dirty="0">
                <a:latin typeface="Times New Roman"/>
                <a:cs typeface="Times New Roman"/>
              </a:rPr>
              <a:t>Sanskrit</a:t>
            </a:r>
            <a:r>
              <a:rPr sz="2400" spc="-60" dirty="0">
                <a:latin typeface="Times New Roman"/>
                <a:cs typeface="Times New Roman"/>
              </a:rPr>
              <a:t> </a:t>
            </a:r>
            <a:r>
              <a:rPr sz="2400" spc="-45" dirty="0">
                <a:latin typeface="Times New Roman"/>
                <a:cs typeface="Times New Roman"/>
              </a:rPr>
              <a:t>inscription</a:t>
            </a:r>
            <a:r>
              <a:rPr sz="2400" spc="-60" dirty="0">
                <a:latin typeface="Times New Roman"/>
                <a:cs typeface="Times New Roman"/>
              </a:rPr>
              <a:t> </a:t>
            </a:r>
            <a:r>
              <a:rPr sz="2400" spc="-50" dirty="0">
                <a:latin typeface="Times New Roman"/>
                <a:cs typeface="Times New Roman"/>
              </a:rPr>
              <a:t>o</a:t>
            </a:r>
            <a:r>
              <a:rPr sz="2400" dirty="0">
                <a:latin typeface="Times New Roman"/>
                <a:cs typeface="Times New Roman"/>
              </a:rPr>
              <a:t>n</a:t>
            </a:r>
            <a:r>
              <a:rPr sz="2400" spc="-60" dirty="0">
                <a:latin typeface="Times New Roman"/>
                <a:cs typeface="Times New Roman"/>
              </a:rPr>
              <a:t> </a:t>
            </a:r>
            <a:r>
              <a:rPr sz="2400" spc="-35" dirty="0">
                <a:latin typeface="Times New Roman"/>
                <a:cs typeface="Times New Roman"/>
              </a:rPr>
              <a:t>its</a:t>
            </a:r>
            <a:r>
              <a:rPr sz="2400" spc="-60" dirty="0">
                <a:latin typeface="Times New Roman"/>
                <a:cs typeface="Times New Roman"/>
              </a:rPr>
              <a:t> </a:t>
            </a:r>
            <a:r>
              <a:rPr sz="2400" spc="-45" dirty="0">
                <a:latin typeface="Times New Roman"/>
                <a:cs typeface="Times New Roman"/>
              </a:rPr>
              <a:t>surface.</a:t>
            </a:r>
            <a:r>
              <a:rPr sz="2400" spc="-50" dirty="0">
                <a:latin typeface="Times New Roman"/>
                <a:cs typeface="Times New Roman"/>
              </a:rPr>
              <a:t> </a:t>
            </a:r>
            <a:endParaRPr lang="en-US" sz="2400" spc="-50" dirty="0" smtClean="0">
              <a:latin typeface="Times New Roman"/>
              <a:cs typeface="Times New Roman"/>
            </a:endParaRPr>
          </a:p>
        </p:txBody>
      </p:sp>
    </p:spTree>
    <p:extLst>
      <p:ext uri="{BB962C8B-B14F-4D97-AF65-F5344CB8AC3E}">
        <p14:creationId xmlns:p14="http://schemas.microsoft.com/office/powerpoint/2010/main" val="342904007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Content Placeholder 3"/>
          <p:cNvSpPr>
            <a:spLocks noGrp="1"/>
          </p:cNvSpPr>
          <p:nvPr>
            <p:ph sz="quarter" idx="13"/>
          </p:nvPr>
        </p:nvSpPr>
        <p:spPr>
          <a:xfrm>
            <a:off x="753863" y="1066800"/>
            <a:ext cx="8550157" cy="5496561"/>
          </a:xfrm>
        </p:spPr>
        <p:txBody>
          <a:bodyPr>
            <a:normAutofit/>
          </a:bodyPr>
          <a:lstStyle/>
          <a:p>
            <a:pPr marL="355591" marR="5715" indent="-342900" algn="just" defTabSz="457200">
              <a:lnSpc>
                <a:spcPct val="150000"/>
              </a:lnSpc>
              <a:spcBef>
                <a:spcPts val="0"/>
              </a:spcBef>
              <a:buClrTx/>
            </a:pPr>
            <a:r>
              <a:rPr lang="en-US" sz="2400" cap="none" spc="-60" dirty="0">
                <a:solidFill>
                  <a:srgbClr val="FF0000"/>
                </a:solidFill>
                <a:latin typeface="Times New Roman"/>
                <a:cs typeface="Times New Roman"/>
              </a:rPr>
              <a:t>‘</a:t>
            </a:r>
            <a:r>
              <a:rPr lang="en-US" sz="2400" cap="none" spc="-60" dirty="0" err="1">
                <a:solidFill>
                  <a:srgbClr val="FF0000"/>
                </a:solidFill>
                <a:latin typeface="Times New Roman"/>
                <a:cs typeface="Times New Roman"/>
              </a:rPr>
              <a:t>Vishnupadagiri</a:t>
            </a:r>
            <a:r>
              <a:rPr lang="en-US" sz="2400" cap="none" spc="-60" dirty="0">
                <a:solidFill>
                  <a:prstClr val="black"/>
                </a:solidFill>
                <a:latin typeface="Times New Roman"/>
                <a:cs typeface="Times New Roman"/>
              </a:rPr>
              <a:t>'</a:t>
            </a:r>
            <a:r>
              <a:rPr lang="en-US" sz="2400" cap="none" spc="-65" dirty="0">
                <a:solidFill>
                  <a:prstClr val="black"/>
                </a:solidFill>
                <a:latin typeface="Times New Roman"/>
                <a:cs typeface="Times New Roman"/>
              </a:rPr>
              <a:t> </a:t>
            </a:r>
            <a:r>
              <a:rPr lang="en-US" sz="2400" cap="none" spc="-35" dirty="0">
                <a:solidFill>
                  <a:prstClr val="black"/>
                </a:solidFill>
                <a:latin typeface="Times New Roman"/>
                <a:cs typeface="Times New Roman"/>
              </a:rPr>
              <a:t>has</a:t>
            </a:r>
            <a:r>
              <a:rPr lang="en-US" sz="2400" cap="none" dirty="0">
                <a:solidFill>
                  <a:prstClr val="black"/>
                </a:solidFill>
                <a:latin typeface="Times New Roman"/>
                <a:cs typeface="Times New Roman"/>
              </a:rPr>
              <a:t> </a:t>
            </a:r>
            <a:r>
              <a:rPr lang="en-US" sz="2400" cap="none" spc="-40" dirty="0">
                <a:solidFill>
                  <a:prstClr val="black"/>
                </a:solidFill>
                <a:latin typeface="Times New Roman"/>
                <a:cs typeface="Times New Roman"/>
              </a:rPr>
              <a:t>been</a:t>
            </a:r>
            <a:r>
              <a:rPr lang="en-US" sz="2400" cap="none" spc="140" dirty="0">
                <a:solidFill>
                  <a:prstClr val="black"/>
                </a:solidFill>
                <a:latin typeface="Times New Roman"/>
                <a:cs typeface="Times New Roman"/>
              </a:rPr>
              <a:t> </a:t>
            </a:r>
            <a:r>
              <a:rPr lang="en-US" sz="2400" cap="none" spc="-45" dirty="0">
                <a:solidFill>
                  <a:prstClr val="black"/>
                </a:solidFill>
                <a:latin typeface="Times New Roman"/>
                <a:cs typeface="Times New Roman"/>
              </a:rPr>
              <a:t>identified</a:t>
            </a:r>
            <a:r>
              <a:rPr lang="en-US" sz="2400" cap="none" spc="140" dirty="0">
                <a:solidFill>
                  <a:prstClr val="black"/>
                </a:solidFill>
                <a:latin typeface="Times New Roman"/>
                <a:cs typeface="Times New Roman"/>
              </a:rPr>
              <a:t> </a:t>
            </a:r>
            <a:r>
              <a:rPr lang="en-US" sz="2400" cap="none" spc="-40" dirty="0">
                <a:solidFill>
                  <a:prstClr val="black"/>
                </a:solidFill>
                <a:latin typeface="Times New Roman"/>
                <a:cs typeface="Times New Roman"/>
              </a:rPr>
              <a:t>with</a:t>
            </a:r>
            <a:r>
              <a:rPr lang="en-US" sz="2400" cap="none" spc="130" dirty="0">
                <a:solidFill>
                  <a:prstClr val="black"/>
                </a:solidFill>
                <a:latin typeface="Times New Roman"/>
                <a:cs typeface="Times New Roman"/>
              </a:rPr>
              <a:t> </a:t>
            </a:r>
            <a:r>
              <a:rPr lang="en-US" sz="2400" cap="none" spc="-40" dirty="0">
                <a:solidFill>
                  <a:prstClr val="black"/>
                </a:solidFill>
                <a:latin typeface="Times New Roman"/>
                <a:cs typeface="Times New Roman"/>
              </a:rPr>
              <a:t>modern</a:t>
            </a:r>
            <a:r>
              <a:rPr lang="en-US" sz="2400" cap="none" spc="140" dirty="0">
                <a:solidFill>
                  <a:prstClr val="black"/>
                </a:solidFill>
                <a:latin typeface="Times New Roman"/>
                <a:cs typeface="Times New Roman"/>
              </a:rPr>
              <a:t> </a:t>
            </a:r>
            <a:r>
              <a:rPr lang="en-US" sz="2400" cap="none" spc="-45" dirty="0" err="1">
                <a:solidFill>
                  <a:prstClr val="black"/>
                </a:solidFill>
                <a:latin typeface="Times New Roman"/>
                <a:cs typeface="Times New Roman"/>
              </a:rPr>
              <a:t>Udayagiri</a:t>
            </a:r>
            <a:r>
              <a:rPr lang="en-US" sz="2400" cap="none" spc="145" dirty="0">
                <a:solidFill>
                  <a:prstClr val="black"/>
                </a:solidFill>
                <a:latin typeface="Times New Roman"/>
                <a:cs typeface="Times New Roman"/>
              </a:rPr>
              <a:t> </a:t>
            </a:r>
            <a:r>
              <a:rPr lang="en-US" sz="2400" cap="none" spc="-40" dirty="0">
                <a:solidFill>
                  <a:prstClr val="black"/>
                </a:solidFill>
                <a:latin typeface="Times New Roman"/>
                <a:cs typeface="Times New Roman"/>
              </a:rPr>
              <a:t>near</a:t>
            </a:r>
            <a:r>
              <a:rPr lang="en-US" sz="2400" cap="none" spc="135" dirty="0">
                <a:solidFill>
                  <a:prstClr val="black"/>
                </a:solidFill>
                <a:latin typeface="Times New Roman"/>
                <a:cs typeface="Times New Roman"/>
              </a:rPr>
              <a:t> </a:t>
            </a:r>
            <a:r>
              <a:rPr lang="en-US" sz="2400" cap="none" spc="-40" dirty="0" err="1">
                <a:solidFill>
                  <a:prstClr val="black"/>
                </a:solidFill>
                <a:latin typeface="Times New Roman"/>
                <a:cs typeface="Times New Roman"/>
              </a:rPr>
              <a:t>Sanchi</a:t>
            </a:r>
            <a:r>
              <a:rPr lang="en-US" sz="2400" cap="none" spc="120" dirty="0">
                <a:solidFill>
                  <a:prstClr val="black"/>
                </a:solidFill>
                <a:latin typeface="Times New Roman"/>
                <a:cs typeface="Times New Roman"/>
              </a:rPr>
              <a:t> </a:t>
            </a:r>
            <a:r>
              <a:rPr lang="en-US" sz="2400" cap="none" spc="-25" dirty="0">
                <a:solidFill>
                  <a:prstClr val="black"/>
                </a:solidFill>
                <a:latin typeface="Times New Roman"/>
                <a:cs typeface="Times New Roman"/>
              </a:rPr>
              <a:t>in</a:t>
            </a:r>
            <a:r>
              <a:rPr lang="en-US" sz="2400" cap="none" spc="130" dirty="0">
                <a:solidFill>
                  <a:prstClr val="black"/>
                </a:solidFill>
                <a:latin typeface="Times New Roman"/>
                <a:cs typeface="Times New Roman"/>
              </a:rPr>
              <a:t> </a:t>
            </a:r>
            <a:r>
              <a:rPr lang="en-US" sz="2400" cap="none" spc="-40" dirty="0">
                <a:solidFill>
                  <a:prstClr val="black"/>
                </a:solidFill>
                <a:latin typeface="Times New Roman"/>
                <a:cs typeface="Times New Roman"/>
              </a:rPr>
              <a:t>Madhya</a:t>
            </a:r>
            <a:r>
              <a:rPr lang="en-US" sz="2400" cap="none" spc="135" dirty="0">
                <a:solidFill>
                  <a:prstClr val="black"/>
                </a:solidFill>
                <a:latin typeface="Times New Roman"/>
                <a:cs typeface="Times New Roman"/>
              </a:rPr>
              <a:t> </a:t>
            </a:r>
            <a:r>
              <a:rPr lang="en-US" sz="2400" cap="none" spc="-40" dirty="0">
                <a:solidFill>
                  <a:prstClr val="black"/>
                </a:solidFill>
                <a:latin typeface="Times New Roman"/>
                <a:cs typeface="Times New Roman"/>
              </a:rPr>
              <a:t>Pradesh,</a:t>
            </a:r>
            <a:r>
              <a:rPr lang="en-US" sz="2400" cap="none" spc="140" dirty="0">
                <a:solidFill>
                  <a:prstClr val="black"/>
                </a:solidFill>
                <a:latin typeface="Times New Roman"/>
                <a:cs typeface="Times New Roman"/>
              </a:rPr>
              <a:t> </a:t>
            </a:r>
            <a:r>
              <a:rPr lang="en-US" sz="2400" cap="none" spc="-35" dirty="0">
                <a:solidFill>
                  <a:prstClr val="black"/>
                </a:solidFill>
                <a:latin typeface="Times New Roman"/>
                <a:cs typeface="Times New Roman"/>
              </a:rPr>
              <a:t>and</a:t>
            </a:r>
            <a:r>
              <a:rPr lang="en-US" sz="2400" cap="none" spc="140" dirty="0">
                <a:solidFill>
                  <a:prstClr val="black"/>
                </a:solidFill>
                <a:latin typeface="Times New Roman"/>
                <a:cs typeface="Times New Roman"/>
              </a:rPr>
              <a:t> </a:t>
            </a:r>
            <a:r>
              <a:rPr lang="en-US" sz="2400" cap="none" spc="-65" dirty="0">
                <a:solidFill>
                  <a:srgbClr val="FF0000"/>
                </a:solidFill>
                <a:latin typeface="Times New Roman"/>
                <a:cs typeface="Times New Roman"/>
              </a:rPr>
              <a:t>'Chandra'</a:t>
            </a:r>
            <a:r>
              <a:rPr lang="en-US" sz="2400" cap="none" spc="135" dirty="0">
                <a:solidFill>
                  <a:srgbClr val="FF0000"/>
                </a:solidFill>
                <a:latin typeface="Times New Roman"/>
                <a:cs typeface="Times New Roman"/>
              </a:rPr>
              <a:t> </a:t>
            </a:r>
            <a:r>
              <a:rPr lang="en-US" sz="2400" cap="none" spc="-35" dirty="0">
                <a:solidFill>
                  <a:prstClr val="black"/>
                </a:solidFill>
                <a:latin typeface="Times New Roman"/>
                <a:cs typeface="Times New Roman"/>
              </a:rPr>
              <a:t>with</a:t>
            </a:r>
            <a:r>
              <a:rPr lang="en-US" sz="2400" cap="none" spc="130" dirty="0">
                <a:solidFill>
                  <a:prstClr val="black"/>
                </a:solidFill>
                <a:latin typeface="Times New Roman"/>
                <a:cs typeface="Times New Roman"/>
              </a:rPr>
              <a:t> </a:t>
            </a:r>
            <a:r>
              <a:rPr lang="en-US" sz="2400" cap="none" spc="-35" dirty="0">
                <a:solidFill>
                  <a:prstClr val="black"/>
                </a:solidFill>
                <a:latin typeface="Times New Roman"/>
                <a:cs typeface="Times New Roman"/>
              </a:rPr>
              <a:t>the</a:t>
            </a:r>
            <a:r>
              <a:rPr lang="en-US" sz="2400" cap="none" spc="135" dirty="0">
                <a:solidFill>
                  <a:prstClr val="black"/>
                </a:solidFill>
                <a:latin typeface="Times New Roman"/>
                <a:cs typeface="Times New Roman"/>
              </a:rPr>
              <a:t> </a:t>
            </a:r>
            <a:r>
              <a:rPr lang="en-US" sz="2400" cap="none" spc="-40" dirty="0">
                <a:solidFill>
                  <a:prstClr val="black"/>
                </a:solidFill>
                <a:latin typeface="Times New Roman"/>
                <a:cs typeface="Times New Roman"/>
              </a:rPr>
              <a:t>Gupta</a:t>
            </a:r>
            <a:r>
              <a:rPr lang="en-US" sz="2400" cap="none" spc="-4" dirty="0">
                <a:solidFill>
                  <a:prstClr val="black"/>
                </a:solidFill>
                <a:latin typeface="Times New Roman"/>
                <a:cs typeface="Times New Roman"/>
              </a:rPr>
              <a:t> </a:t>
            </a:r>
            <a:r>
              <a:rPr lang="en-US" sz="2400" cap="none" spc="-40" dirty="0">
                <a:solidFill>
                  <a:prstClr val="black"/>
                </a:solidFill>
                <a:latin typeface="Times New Roman"/>
                <a:cs typeface="Times New Roman"/>
              </a:rPr>
              <a:t>emperor,</a:t>
            </a:r>
            <a:r>
              <a:rPr lang="en-US" sz="2400" cap="none" spc="-75" dirty="0">
                <a:solidFill>
                  <a:prstClr val="black"/>
                </a:solidFill>
                <a:latin typeface="Times New Roman"/>
                <a:cs typeface="Times New Roman"/>
              </a:rPr>
              <a:t> </a:t>
            </a:r>
            <a:r>
              <a:rPr lang="en-US" sz="2400" cap="none" spc="-45" dirty="0">
                <a:solidFill>
                  <a:prstClr val="black"/>
                </a:solidFill>
                <a:latin typeface="Times New Roman"/>
                <a:cs typeface="Times New Roman"/>
              </a:rPr>
              <a:t>Chandragupta</a:t>
            </a:r>
            <a:r>
              <a:rPr lang="en-US" sz="2400" cap="none" spc="-55" dirty="0">
                <a:solidFill>
                  <a:prstClr val="black"/>
                </a:solidFill>
                <a:latin typeface="Times New Roman"/>
                <a:cs typeface="Times New Roman"/>
              </a:rPr>
              <a:t> </a:t>
            </a:r>
            <a:r>
              <a:rPr lang="en-US" sz="2400" cap="none" spc="-35" dirty="0">
                <a:solidFill>
                  <a:prstClr val="black"/>
                </a:solidFill>
                <a:latin typeface="Times New Roman"/>
                <a:cs typeface="Times New Roman"/>
              </a:rPr>
              <a:t>II</a:t>
            </a:r>
            <a:r>
              <a:rPr lang="en-US" sz="2400" cap="none" spc="-65" dirty="0">
                <a:solidFill>
                  <a:prstClr val="black"/>
                </a:solidFill>
                <a:latin typeface="Times New Roman"/>
                <a:cs typeface="Times New Roman"/>
              </a:rPr>
              <a:t> </a:t>
            </a:r>
            <a:r>
              <a:rPr lang="en-US" sz="2400" cap="none" spc="-45" dirty="0" err="1">
                <a:solidFill>
                  <a:prstClr val="black"/>
                </a:solidFill>
                <a:latin typeface="Times New Roman"/>
                <a:cs typeface="Times New Roman"/>
              </a:rPr>
              <a:t>Vikramaditya</a:t>
            </a:r>
            <a:r>
              <a:rPr lang="en-US" sz="2400" cap="none" spc="-55" dirty="0">
                <a:solidFill>
                  <a:prstClr val="black"/>
                </a:solidFill>
                <a:latin typeface="Times New Roman"/>
                <a:cs typeface="Times New Roman"/>
              </a:rPr>
              <a:t> </a:t>
            </a:r>
            <a:r>
              <a:rPr lang="en-US" sz="2400" cap="none" spc="-45" dirty="0">
                <a:solidFill>
                  <a:prstClr val="black"/>
                </a:solidFill>
                <a:latin typeface="Times New Roman"/>
                <a:cs typeface="Times New Roman"/>
              </a:rPr>
              <a:t>(375-</a:t>
            </a:r>
            <a:r>
              <a:rPr lang="en-US" sz="2400" cap="none" spc="-40" dirty="0">
                <a:solidFill>
                  <a:prstClr val="black"/>
                </a:solidFill>
                <a:latin typeface="Times New Roman"/>
                <a:cs typeface="Times New Roman"/>
              </a:rPr>
              <a:t>4</a:t>
            </a:r>
            <a:r>
              <a:rPr lang="en-US" sz="2400" cap="none" spc="-50" dirty="0">
                <a:solidFill>
                  <a:prstClr val="black"/>
                </a:solidFill>
                <a:latin typeface="Times New Roman"/>
                <a:cs typeface="Times New Roman"/>
              </a:rPr>
              <a:t>1</a:t>
            </a:r>
            <a:r>
              <a:rPr lang="en-US" sz="2400" cap="none" dirty="0">
                <a:solidFill>
                  <a:prstClr val="black"/>
                </a:solidFill>
                <a:latin typeface="Times New Roman"/>
                <a:cs typeface="Times New Roman"/>
              </a:rPr>
              <a:t>4</a:t>
            </a:r>
            <a:r>
              <a:rPr lang="en-US" sz="2400" cap="none" spc="-60" dirty="0">
                <a:solidFill>
                  <a:prstClr val="black"/>
                </a:solidFill>
                <a:latin typeface="Times New Roman"/>
                <a:cs typeface="Times New Roman"/>
              </a:rPr>
              <a:t> </a:t>
            </a:r>
            <a:r>
              <a:rPr lang="en-US" sz="2400" cap="none" spc="-35" dirty="0">
                <a:solidFill>
                  <a:prstClr val="black"/>
                </a:solidFill>
                <a:latin typeface="Times New Roman"/>
                <a:cs typeface="Times New Roman"/>
              </a:rPr>
              <a:t>CE).</a:t>
            </a:r>
            <a:r>
              <a:rPr lang="en-US" sz="2400" cap="none" spc="-50" dirty="0">
                <a:solidFill>
                  <a:prstClr val="black"/>
                </a:solidFill>
                <a:latin typeface="Times New Roman"/>
                <a:cs typeface="Times New Roman"/>
              </a:rPr>
              <a:t> </a:t>
            </a:r>
          </a:p>
          <a:p>
            <a:pPr marL="355591" marR="5715" indent="-342900" algn="just" defTabSz="457200">
              <a:lnSpc>
                <a:spcPct val="150000"/>
              </a:lnSpc>
              <a:spcBef>
                <a:spcPts val="0"/>
              </a:spcBef>
              <a:buClrTx/>
            </a:pPr>
            <a:r>
              <a:rPr lang="en-US" sz="2400" cap="none" spc="-35" dirty="0">
                <a:solidFill>
                  <a:prstClr val="black"/>
                </a:solidFill>
                <a:latin typeface="Times New Roman"/>
                <a:cs typeface="Times New Roman"/>
              </a:rPr>
              <a:t> In</a:t>
            </a:r>
            <a:r>
              <a:rPr lang="en-US" sz="2400" cap="none" spc="-50" dirty="0">
                <a:solidFill>
                  <a:prstClr val="black"/>
                </a:solidFill>
                <a:latin typeface="Times New Roman"/>
                <a:cs typeface="Times New Roman"/>
              </a:rPr>
              <a:t> </a:t>
            </a:r>
            <a:r>
              <a:rPr lang="en-US" sz="2400" cap="none" spc="-40" dirty="0">
                <a:solidFill>
                  <a:prstClr val="black"/>
                </a:solidFill>
                <a:latin typeface="Times New Roman"/>
                <a:cs typeface="Times New Roman"/>
              </a:rPr>
              <a:t>1233</a:t>
            </a:r>
            <a:r>
              <a:rPr lang="en-US" sz="2400" cap="none" dirty="0">
                <a:solidFill>
                  <a:prstClr val="black"/>
                </a:solidFill>
                <a:latin typeface="Times New Roman"/>
                <a:cs typeface="Times New Roman"/>
              </a:rPr>
              <a:t>,</a:t>
            </a:r>
            <a:r>
              <a:rPr lang="en-US" sz="2400" cap="none" spc="-60" dirty="0">
                <a:solidFill>
                  <a:prstClr val="black"/>
                </a:solidFill>
                <a:latin typeface="Times New Roman"/>
                <a:cs typeface="Times New Roman"/>
              </a:rPr>
              <a:t> </a:t>
            </a:r>
            <a:r>
              <a:rPr lang="en-US" sz="2400" cap="none" spc="-35" dirty="0">
                <a:solidFill>
                  <a:prstClr val="black"/>
                </a:solidFill>
                <a:latin typeface="Times New Roman"/>
                <a:cs typeface="Times New Roman"/>
              </a:rPr>
              <a:t>the</a:t>
            </a:r>
            <a:r>
              <a:rPr lang="en-US" sz="2400" cap="none" spc="-55" dirty="0">
                <a:solidFill>
                  <a:prstClr val="black"/>
                </a:solidFill>
                <a:latin typeface="Times New Roman"/>
                <a:cs typeface="Times New Roman"/>
              </a:rPr>
              <a:t> </a:t>
            </a:r>
            <a:r>
              <a:rPr lang="en-US" sz="2400" cap="none" spc="-45" dirty="0">
                <a:solidFill>
                  <a:prstClr val="black"/>
                </a:solidFill>
                <a:latin typeface="Times New Roman"/>
                <a:cs typeface="Times New Roman"/>
              </a:rPr>
              <a:t>pillar</a:t>
            </a:r>
            <a:r>
              <a:rPr lang="en-US" sz="2400" cap="none" spc="-65" dirty="0">
                <a:solidFill>
                  <a:prstClr val="black"/>
                </a:solidFill>
                <a:latin typeface="Times New Roman"/>
                <a:cs typeface="Times New Roman"/>
              </a:rPr>
              <a:t> </a:t>
            </a:r>
            <a:r>
              <a:rPr lang="en-US" sz="2400" cap="none" spc="-35" dirty="0">
                <a:solidFill>
                  <a:prstClr val="black"/>
                </a:solidFill>
                <a:latin typeface="Times New Roman"/>
                <a:cs typeface="Times New Roman"/>
              </a:rPr>
              <a:t>was</a:t>
            </a:r>
            <a:r>
              <a:rPr lang="en-US" sz="2400" cap="none" spc="-60" dirty="0">
                <a:solidFill>
                  <a:prstClr val="black"/>
                </a:solidFill>
                <a:latin typeface="Times New Roman"/>
                <a:cs typeface="Times New Roman"/>
              </a:rPr>
              <a:t> </a:t>
            </a:r>
            <a:r>
              <a:rPr lang="en-US" sz="2400" cap="none" spc="-40" dirty="0">
                <a:solidFill>
                  <a:prstClr val="black"/>
                </a:solidFill>
                <a:latin typeface="Times New Roman"/>
                <a:cs typeface="Times New Roman"/>
              </a:rPr>
              <a:t>brought</a:t>
            </a:r>
            <a:r>
              <a:rPr lang="en-US" sz="2400" cap="none" spc="-60" dirty="0">
                <a:solidFill>
                  <a:prstClr val="black"/>
                </a:solidFill>
                <a:latin typeface="Times New Roman"/>
                <a:cs typeface="Times New Roman"/>
              </a:rPr>
              <a:t> </a:t>
            </a:r>
            <a:r>
              <a:rPr lang="en-US" sz="2400" cap="none" spc="-25" dirty="0">
                <a:solidFill>
                  <a:prstClr val="black"/>
                </a:solidFill>
                <a:latin typeface="Times New Roman"/>
                <a:cs typeface="Times New Roman"/>
              </a:rPr>
              <a:t>to</a:t>
            </a:r>
            <a:r>
              <a:rPr lang="en-US" sz="2400" cap="none" spc="-60" dirty="0">
                <a:solidFill>
                  <a:prstClr val="black"/>
                </a:solidFill>
                <a:latin typeface="Times New Roman"/>
                <a:cs typeface="Times New Roman"/>
              </a:rPr>
              <a:t> </a:t>
            </a:r>
            <a:r>
              <a:rPr lang="en-US" sz="2400" cap="none" spc="-35" dirty="0">
                <a:solidFill>
                  <a:prstClr val="black"/>
                </a:solidFill>
                <a:latin typeface="Times New Roman"/>
                <a:cs typeface="Times New Roman"/>
              </a:rPr>
              <a:t>its</a:t>
            </a:r>
            <a:r>
              <a:rPr lang="en-US" sz="2400" cap="none" spc="-60" dirty="0">
                <a:solidFill>
                  <a:prstClr val="black"/>
                </a:solidFill>
                <a:latin typeface="Times New Roman"/>
                <a:cs typeface="Times New Roman"/>
              </a:rPr>
              <a:t> </a:t>
            </a:r>
            <a:r>
              <a:rPr lang="en-US" sz="2400" cap="none" spc="-45" dirty="0">
                <a:solidFill>
                  <a:prstClr val="black"/>
                </a:solidFill>
                <a:latin typeface="Times New Roman"/>
                <a:cs typeface="Times New Roman"/>
              </a:rPr>
              <a:t>current</a:t>
            </a:r>
            <a:r>
              <a:rPr lang="en-US" sz="2400" cap="none" spc="-60" dirty="0">
                <a:solidFill>
                  <a:prstClr val="black"/>
                </a:solidFill>
                <a:latin typeface="Times New Roman"/>
                <a:cs typeface="Times New Roman"/>
              </a:rPr>
              <a:t> </a:t>
            </a:r>
            <a:r>
              <a:rPr lang="en-US" sz="2400" cap="none" spc="-45" dirty="0">
                <a:solidFill>
                  <a:prstClr val="black"/>
                </a:solidFill>
                <a:latin typeface="Times New Roman"/>
                <a:cs typeface="Times New Roman"/>
              </a:rPr>
              <a:t>location</a:t>
            </a:r>
            <a:r>
              <a:rPr lang="en-US" sz="2400" cap="none" dirty="0">
                <a:solidFill>
                  <a:prstClr val="black"/>
                </a:solidFill>
                <a:latin typeface="Times New Roman"/>
                <a:cs typeface="Times New Roman"/>
              </a:rPr>
              <a:t> </a:t>
            </a:r>
            <a:r>
              <a:rPr lang="en-US" sz="2400" cap="none" spc="-25" dirty="0">
                <a:solidFill>
                  <a:prstClr val="black"/>
                </a:solidFill>
                <a:latin typeface="Times New Roman"/>
                <a:cs typeface="Times New Roman"/>
              </a:rPr>
              <a:t>in</a:t>
            </a:r>
            <a:r>
              <a:rPr lang="en-US" sz="2400" cap="none" spc="-85" dirty="0">
                <a:solidFill>
                  <a:prstClr val="black"/>
                </a:solidFill>
                <a:latin typeface="Times New Roman"/>
                <a:cs typeface="Times New Roman"/>
              </a:rPr>
              <a:t> </a:t>
            </a:r>
            <a:r>
              <a:rPr lang="en-US" sz="2400" cap="none" spc="-30" dirty="0">
                <a:solidFill>
                  <a:prstClr val="black"/>
                </a:solidFill>
                <a:latin typeface="Times New Roman"/>
                <a:cs typeface="Times New Roman"/>
              </a:rPr>
              <a:t>the</a:t>
            </a:r>
            <a:r>
              <a:rPr lang="en-US" sz="2400" cap="none" spc="-80" dirty="0">
                <a:solidFill>
                  <a:prstClr val="black"/>
                </a:solidFill>
                <a:latin typeface="Times New Roman"/>
                <a:cs typeface="Times New Roman"/>
              </a:rPr>
              <a:t> </a:t>
            </a:r>
            <a:r>
              <a:rPr lang="en-US" sz="2400" cap="none" spc="-35" dirty="0">
                <a:solidFill>
                  <a:srgbClr val="00B050"/>
                </a:solidFill>
                <a:latin typeface="Times New Roman"/>
                <a:cs typeface="Times New Roman"/>
              </a:rPr>
              <a:t>New</a:t>
            </a:r>
            <a:r>
              <a:rPr lang="en-US" sz="2400" cap="none" spc="-75" dirty="0">
                <a:solidFill>
                  <a:srgbClr val="00B050"/>
                </a:solidFill>
                <a:latin typeface="Times New Roman"/>
                <a:cs typeface="Times New Roman"/>
              </a:rPr>
              <a:t> </a:t>
            </a:r>
            <a:r>
              <a:rPr lang="en-US" sz="2400" cap="none" spc="-45" dirty="0" smtClean="0">
                <a:solidFill>
                  <a:srgbClr val="00B050"/>
                </a:solidFill>
                <a:latin typeface="Times New Roman"/>
                <a:cs typeface="Times New Roman"/>
              </a:rPr>
              <a:t>Delhi’s</a:t>
            </a:r>
            <a:r>
              <a:rPr lang="en-US" sz="2400" cap="none" spc="-75" dirty="0" smtClean="0">
                <a:solidFill>
                  <a:srgbClr val="00B050"/>
                </a:solidFill>
                <a:latin typeface="Times New Roman"/>
                <a:cs typeface="Times New Roman"/>
              </a:rPr>
              <a:t> </a:t>
            </a:r>
            <a:r>
              <a:rPr lang="en-US" sz="2400" cap="none" spc="-40" dirty="0" err="1">
                <a:solidFill>
                  <a:srgbClr val="00B050"/>
                </a:solidFill>
                <a:latin typeface="Times New Roman"/>
                <a:cs typeface="Times New Roman"/>
              </a:rPr>
              <a:t>Qutub</a:t>
            </a:r>
            <a:r>
              <a:rPr lang="en-US" sz="2400" cap="none" spc="-75" dirty="0">
                <a:solidFill>
                  <a:srgbClr val="00B050"/>
                </a:solidFill>
                <a:latin typeface="Times New Roman"/>
                <a:cs typeface="Times New Roman"/>
              </a:rPr>
              <a:t> </a:t>
            </a:r>
            <a:r>
              <a:rPr lang="en-US" sz="2400" cap="none" spc="-45" dirty="0">
                <a:solidFill>
                  <a:srgbClr val="00B050"/>
                </a:solidFill>
                <a:latin typeface="Times New Roman"/>
                <a:cs typeface="Times New Roman"/>
              </a:rPr>
              <a:t>complex</a:t>
            </a:r>
            <a:r>
              <a:rPr lang="en-US" sz="2400" cap="none" spc="-45" dirty="0">
                <a:solidFill>
                  <a:prstClr val="black"/>
                </a:solidFill>
                <a:latin typeface="Times New Roman"/>
                <a:cs typeface="Times New Roman"/>
              </a:rPr>
              <a:t>,</a:t>
            </a:r>
            <a:r>
              <a:rPr lang="en-US" sz="2400" cap="none" spc="-85" dirty="0">
                <a:solidFill>
                  <a:prstClr val="black"/>
                </a:solidFill>
                <a:latin typeface="Times New Roman"/>
                <a:cs typeface="Times New Roman"/>
              </a:rPr>
              <a:t> </a:t>
            </a:r>
            <a:r>
              <a:rPr lang="en-US" sz="2400" cap="none" spc="-40" dirty="0">
                <a:solidFill>
                  <a:prstClr val="black"/>
                </a:solidFill>
                <a:latin typeface="Times New Roman"/>
                <a:cs typeface="Times New Roman"/>
              </a:rPr>
              <a:t>where</a:t>
            </a:r>
            <a:r>
              <a:rPr lang="en-US" sz="2400" cap="none" spc="-90" dirty="0">
                <a:solidFill>
                  <a:prstClr val="black"/>
                </a:solidFill>
                <a:latin typeface="Times New Roman"/>
                <a:cs typeface="Times New Roman"/>
              </a:rPr>
              <a:t> </a:t>
            </a:r>
            <a:r>
              <a:rPr lang="en-US" sz="2400" cap="none" spc="-45" dirty="0">
                <a:solidFill>
                  <a:prstClr val="black"/>
                </a:solidFill>
                <a:latin typeface="Times New Roman"/>
                <a:cs typeface="Times New Roman"/>
              </a:rPr>
              <a:t>millions</a:t>
            </a:r>
            <a:r>
              <a:rPr lang="en-US" sz="2400" cap="none" spc="-85" dirty="0">
                <a:solidFill>
                  <a:prstClr val="black"/>
                </a:solidFill>
                <a:latin typeface="Times New Roman"/>
                <a:cs typeface="Times New Roman"/>
              </a:rPr>
              <a:t> </a:t>
            </a:r>
            <a:r>
              <a:rPr lang="en-US" sz="2400" cap="none" spc="-45" dirty="0">
                <a:solidFill>
                  <a:prstClr val="black"/>
                </a:solidFill>
                <a:latin typeface="Times New Roman"/>
                <a:cs typeface="Times New Roman"/>
              </a:rPr>
              <a:t>continue</a:t>
            </a:r>
            <a:r>
              <a:rPr lang="en-US" sz="2400" cap="none" spc="-90" dirty="0">
                <a:solidFill>
                  <a:prstClr val="black"/>
                </a:solidFill>
                <a:latin typeface="Times New Roman"/>
                <a:cs typeface="Times New Roman"/>
              </a:rPr>
              <a:t> </a:t>
            </a:r>
            <a:r>
              <a:rPr lang="en-US" sz="2400" cap="none" spc="-25" dirty="0">
                <a:solidFill>
                  <a:prstClr val="black"/>
                </a:solidFill>
                <a:latin typeface="Times New Roman"/>
                <a:cs typeface="Times New Roman"/>
              </a:rPr>
              <a:t>to</a:t>
            </a:r>
            <a:r>
              <a:rPr lang="en-US" sz="2400" cap="none" spc="-85" dirty="0">
                <a:solidFill>
                  <a:prstClr val="black"/>
                </a:solidFill>
                <a:latin typeface="Times New Roman"/>
                <a:cs typeface="Times New Roman"/>
              </a:rPr>
              <a:t> </a:t>
            </a:r>
            <a:r>
              <a:rPr lang="en-US" sz="2400" cap="none" spc="-35" dirty="0">
                <a:solidFill>
                  <a:prstClr val="black"/>
                </a:solidFill>
                <a:latin typeface="Times New Roman"/>
                <a:cs typeface="Times New Roman"/>
              </a:rPr>
              <a:t>come</a:t>
            </a:r>
            <a:r>
              <a:rPr lang="en-US" sz="2400" cap="none" spc="-90" dirty="0">
                <a:solidFill>
                  <a:prstClr val="black"/>
                </a:solidFill>
                <a:latin typeface="Times New Roman"/>
                <a:cs typeface="Times New Roman"/>
              </a:rPr>
              <a:t> </a:t>
            </a:r>
            <a:r>
              <a:rPr lang="en-US" sz="2400" cap="none" spc="-35" dirty="0">
                <a:solidFill>
                  <a:prstClr val="black"/>
                </a:solidFill>
                <a:latin typeface="Times New Roman"/>
                <a:cs typeface="Times New Roman"/>
              </a:rPr>
              <a:t>and</a:t>
            </a:r>
            <a:r>
              <a:rPr lang="en-US" sz="2400" cap="none" spc="-85" dirty="0">
                <a:solidFill>
                  <a:prstClr val="black"/>
                </a:solidFill>
                <a:latin typeface="Times New Roman"/>
                <a:cs typeface="Times New Roman"/>
              </a:rPr>
              <a:t> </a:t>
            </a:r>
            <a:r>
              <a:rPr lang="en-US" sz="2400" cap="none" spc="-35" dirty="0">
                <a:solidFill>
                  <a:prstClr val="black"/>
                </a:solidFill>
                <a:latin typeface="Times New Roman"/>
                <a:cs typeface="Times New Roman"/>
              </a:rPr>
              <a:t>see</a:t>
            </a:r>
            <a:r>
              <a:rPr lang="en-US" sz="2400" cap="none" spc="-90" dirty="0">
                <a:solidFill>
                  <a:prstClr val="black"/>
                </a:solidFill>
                <a:latin typeface="Times New Roman"/>
                <a:cs typeface="Times New Roman"/>
              </a:rPr>
              <a:t> </a:t>
            </a:r>
            <a:r>
              <a:rPr lang="en-US" sz="2400" cap="none" spc="-35" dirty="0">
                <a:solidFill>
                  <a:srgbClr val="00B050"/>
                </a:solidFill>
                <a:latin typeface="Times New Roman"/>
                <a:cs typeface="Times New Roman"/>
              </a:rPr>
              <a:t>this</a:t>
            </a:r>
            <a:r>
              <a:rPr lang="en-US" sz="2400" cap="none" spc="-85" dirty="0">
                <a:solidFill>
                  <a:srgbClr val="00B050"/>
                </a:solidFill>
                <a:latin typeface="Times New Roman"/>
                <a:cs typeface="Times New Roman"/>
              </a:rPr>
              <a:t> </a:t>
            </a:r>
            <a:r>
              <a:rPr lang="en-US" sz="2400" cap="none" spc="-65" dirty="0">
                <a:solidFill>
                  <a:srgbClr val="00B050"/>
                </a:solidFill>
                <a:latin typeface="Times New Roman"/>
                <a:cs typeface="Times New Roman"/>
              </a:rPr>
              <a:t>'RUSTLESS</a:t>
            </a:r>
            <a:r>
              <a:rPr lang="en-US" sz="2400" cap="none" spc="-75" dirty="0">
                <a:solidFill>
                  <a:srgbClr val="00B050"/>
                </a:solidFill>
                <a:latin typeface="Times New Roman"/>
                <a:cs typeface="Times New Roman"/>
              </a:rPr>
              <a:t> </a:t>
            </a:r>
            <a:r>
              <a:rPr lang="en-US" sz="2400" cap="none" spc="-40" dirty="0">
                <a:solidFill>
                  <a:srgbClr val="00B050"/>
                </a:solidFill>
                <a:latin typeface="Times New Roman"/>
                <a:cs typeface="Times New Roman"/>
              </a:rPr>
              <a:t>WONDER'.</a:t>
            </a:r>
            <a:endParaRPr lang="en-US" sz="2400" cap="none" dirty="0">
              <a:solidFill>
                <a:srgbClr val="00B050"/>
              </a:solidFill>
              <a:latin typeface="Times New Roman"/>
              <a:cs typeface="Times New Roman"/>
            </a:endParaRPr>
          </a:p>
          <a:p>
            <a:pPr marL="355591" marR="6983" indent="-342900" algn="just" defTabSz="457200">
              <a:lnSpc>
                <a:spcPct val="150000"/>
              </a:lnSpc>
              <a:spcBef>
                <a:spcPts val="4"/>
              </a:spcBef>
              <a:buClrTx/>
            </a:pPr>
            <a:r>
              <a:rPr lang="en-US" sz="2400" cap="none" spc="-35" dirty="0">
                <a:solidFill>
                  <a:srgbClr val="C00000"/>
                </a:solidFill>
                <a:latin typeface="Times New Roman"/>
                <a:cs typeface="Times New Roman"/>
              </a:rPr>
              <a:t>But</a:t>
            </a:r>
            <a:r>
              <a:rPr lang="en-US" sz="2400" cap="none" spc="-70" dirty="0">
                <a:solidFill>
                  <a:srgbClr val="C00000"/>
                </a:solidFill>
                <a:latin typeface="Times New Roman"/>
                <a:cs typeface="Times New Roman"/>
              </a:rPr>
              <a:t> </a:t>
            </a:r>
            <a:r>
              <a:rPr lang="en-US" sz="2400" cap="none" spc="-40" dirty="0">
                <a:solidFill>
                  <a:srgbClr val="C00000"/>
                </a:solidFill>
                <a:latin typeface="Times New Roman"/>
                <a:cs typeface="Times New Roman"/>
              </a:rPr>
              <a:t>w</a:t>
            </a:r>
            <a:r>
              <a:rPr lang="en-US" sz="2400" cap="none" spc="-25" dirty="0">
                <a:solidFill>
                  <a:srgbClr val="C00000"/>
                </a:solidFill>
                <a:latin typeface="Times New Roman"/>
                <a:cs typeface="Times New Roman"/>
              </a:rPr>
              <a:t>h</a:t>
            </a:r>
            <a:r>
              <a:rPr lang="en-US" sz="2400" cap="none" dirty="0">
                <a:solidFill>
                  <a:srgbClr val="C00000"/>
                </a:solidFill>
                <a:latin typeface="Times New Roman"/>
                <a:cs typeface="Times New Roman"/>
              </a:rPr>
              <a:t>y</a:t>
            </a:r>
            <a:r>
              <a:rPr lang="en-US" sz="2400" cap="none" spc="-110" dirty="0">
                <a:solidFill>
                  <a:srgbClr val="C00000"/>
                </a:solidFill>
                <a:latin typeface="Times New Roman"/>
                <a:cs typeface="Times New Roman"/>
              </a:rPr>
              <a:t> </a:t>
            </a:r>
            <a:r>
              <a:rPr lang="en-US" sz="2400" cap="none" spc="-25" dirty="0">
                <a:solidFill>
                  <a:srgbClr val="C00000"/>
                </a:solidFill>
                <a:latin typeface="Times New Roman"/>
                <a:cs typeface="Times New Roman"/>
              </a:rPr>
              <a:t>is</a:t>
            </a:r>
            <a:r>
              <a:rPr lang="en-US" sz="2400" cap="none" spc="-75" dirty="0">
                <a:solidFill>
                  <a:srgbClr val="C00000"/>
                </a:solidFill>
                <a:latin typeface="Times New Roman"/>
                <a:cs typeface="Times New Roman"/>
              </a:rPr>
              <a:t> </a:t>
            </a:r>
            <a:r>
              <a:rPr lang="en-US" sz="2400" cap="none" spc="-25" dirty="0">
                <a:solidFill>
                  <a:srgbClr val="C00000"/>
                </a:solidFill>
                <a:latin typeface="Times New Roman"/>
                <a:cs typeface="Times New Roman"/>
              </a:rPr>
              <a:t>it</a:t>
            </a:r>
            <a:r>
              <a:rPr lang="en-US" sz="2400" cap="none" spc="-85" dirty="0">
                <a:solidFill>
                  <a:srgbClr val="C00000"/>
                </a:solidFill>
                <a:latin typeface="Times New Roman"/>
                <a:cs typeface="Times New Roman"/>
              </a:rPr>
              <a:t> </a:t>
            </a:r>
            <a:r>
              <a:rPr lang="en-US" sz="2400" cap="none" spc="-40" dirty="0" err="1">
                <a:solidFill>
                  <a:srgbClr val="C00000"/>
                </a:solidFill>
                <a:latin typeface="Times New Roman"/>
                <a:cs typeface="Times New Roman"/>
              </a:rPr>
              <a:t>rustless</a:t>
            </a:r>
            <a:r>
              <a:rPr lang="en-US" sz="2400" cap="none" spc="-40" dirty="0">
                <a:solidFill>
                  <a:srgbClr val="C00000"/>
                </a:solidFill>
                <a:latin typeface="Times New Roman"/>
                <a:cs typeface="Times New Roman"/>
              </a:rPr>
              <a:t>,</a:t>
            </a:r>
            <a:r>
              <a:rPr lang="en-US" sz="2400" cap="none" spc="-85" dirty="0">
                <a:solidFill>
                  <a:srgbClr val="C00000"/>
                </a:solidFill>
                <a:latin typeface="Times New Roman"/>
                <a:cs typeface="Times New Roman"/>
              </a:rPr>
              <a:t> </a:t>
            </a:r>
            <a:r>
              <a:rPr lang="en-US" sz="2400" cap="none" spc="-30" dirty="0">
                <a:solidFill>
                  <a:srgbClr val="C00000"/>
                </a:solidFill>
                <a:latin typeface="Times New Roman"/>
                <a:cs typeface="Times New Roman"/>
              </a:rPr>
              <a:t>or,</a:t>
            </a:r>
            <a:r>
              <a:rPr lang="en-US" sz="2400" cap="none" spc="-85" dirty="0">
                <a:solidFill>
                  <a:srgbClr val="C00000"/>
                </a:solidFill>
                <a:latin typeface="Times New Roman"/>
                <a:cs typeface="Times New Roman"/>
              </a:rPr>
              <a:t> </a:t>
            </a:r>
            <a:r>
              <a:rPr lang="en-US" sz="2400" cap="none" spc="-40" dirty="0">
                <a:solidFill>
                  <a:srgbClr val="C00000"/>
                </a:solidFill>
                <a:latin typeface="Times New Roman"/>
                <a:cs typeface="Times New Roman"/>
              </a:rPr>
              <a:t>more</a:t>
            </a:r>
            <a:r>
              <a:rPr lang="en-US" sz="2400" cap="none" spc="-80" dirty="0">
                <a:solidFill>
                  <a:srgbClr val="C00000"/>
                </a:solidFill>
                <a:latin typeface="Times New Roman"/>
                <a:cs typeface="Times New Roman"/>
              </a:rPr>
              <a:t> </a:t>
            </a:r>
            <a:r>
              <a:rPr lang="en-US" sz="2400" cap="none" spc="-45" dirty="0">
                <a:solidFill>
                  <a:srgbClr val="C00000"/>
                </a:solidFill>
                <a:latin typeface="Times New Roman"/>
                <a:cs typeface="Times New Roman"/>
              </a:rPr>
              <a:t>precisely,</a:t>
            </a:r>
            <a:r>
              <a:rPr lang="en-US" sz="2400" cap="none" spc="-75" dirty="0">
                <a:solidFill>
                  <a:srgbClr val="C00000"/>
                </a:solidFill>
                <a:latin typeface="Times New Roman"/>
                <a:cs typeface="Times New Roman"/>
              </a:rPr>
              <a:t> </a:t>
            </a:r>
            <a:r>
              <a:rPr lang="en-US" sz="2400" cap="none" spc="-40" dirty="0">
                <a:solidFill>
                  <a:srgbClr val="C00000"/>
                </a:solidFill>
                <a:latin typeface="Times New Roman"/>
                <a:cs typeface="Times New Roman"/>
              </a:rPr>
              <a:t>rust-</a:t>
            </a:r>
            <a:r>
              <a:rPr lang="en-US" sz="2400" cap="none" spc="-45" dirty="0">
                <a:solidFill>
                  <a:srgbClr val="C00000"/>
                </a:solidFill>
                <a:latin typeface="Times New Roman"/>
                <a:cs typeface="Times New Roman"/>
              </a:rPr>
              <a:t>resistant</a:t>
            </a:r>
            <a:r>
              <a:rPr lang="en-US" sz="2400" cap="none" spc="-85" dirty="0">
                <a:solidFill>
                  <a:srgbClr val="C00000"/>
                </a:solidFill>
                <a:latin typeface="Times New Roman"/>
                <a:cs typeface="Times New Roman"/>
              </a:rPr>
              <a:t> </a:t>
            </a:r>
            <a:r>
              <a:rPr lang="en-US" sz="2400" cap="none" spc="-25" dirty="0">
                <a:solidFill>
                  <a:srgbClr val="C00000"/>
                </a:solidFill>
                <a:latin typeface="Times New Roman"/>
                <a:cs typeface="Times New Roman"/>
              </a:rPr>
              <a:t>is</a:t>
            </a:r>
            <a:r>
              <a:rPr lang="en-US" sz="2400" cap="none" spc="-75" dirty="0">
                <a:solidFill>
                  <a:srgbClr val="C00000"/>
                </a:solidFill>
                <a:latin typeface="Times New Roman"/>
                <a:cs typeface="Times New Roman"/>
              </a:rPr>
              <a:t> </a:t>
            </a:r>
            <a:r>
              <a:rPr lang="en-US" sz="2400" cap="none" spc="-45" dirty="0">
                <a:solidFill>
                  <a:srgbClr val="C00000"/>
                </a:solidFill>
                <a:latin typeface="Times New Roman"/>
                <a:cs typeface="Times New Roman"/>
              </a:rPr>
              <a:t>still</a:t>
            </a:r>
            <a:r>
              <a:rPr lang="en-US" sz="2400" cap="none" spc="-70" dirty="0">
                <a:solidFill>
                  <a:srgbClr val="C00000"/>
                </a:solidFill>
                <a:latin typeface="Times New Roman"/>
                <a:cs typeface="Times New Roman"/>
              </a:rPr>
              <a:t> </a:t>
            </a:r>
            <a:r>
              <a:rPr lang="en-US" sz="2400" cap="none" spc="-10" dirty="0">
                <a:solidFill>
                  <a:srgbClr val="C00000"/>
                </a:solidFill>
                <a:latin typeface="Times New Roman"/>
                <a:cs typeface="Times New Roman"/>
              </a:rPr>
              <a:t>a</a:t>
            </a:r>
            <a:r>
              <a:rPr lang="en-US" sz="2400" cap="none" spc="-80" dirty="0">
                <a:solidFill>
                  <a:srgbClr val="C00000"/>
                </a:solidFill>
                <a:latin typeface="Times New Roman"/>
                <a:cs typeface="Times New Roman"/>
              </a:rPr>
              <a:t> </a:t>
            </a:r>
            <a:r>
              <a:rPr lang="en-US" sz="2400" cap="none" spc="-40" dirty="0">
                <a:solidFill>
                  <a:srgbClr val="C00000"/>
                </a:solidFill>
                <a:latin typeface="Times New Roman"/>
                <a:cs typeface="Times New Roman"/>
              </a:rPr>
              <a:t>major</a:t>
            </a:r>
            <a:r>
              <a:rPr lang="en-US" sz="2400" cap="none" spc="-80" dirty="0">
                <a:solidFill>
                  <a:srgbClr val="C00000"/>
                </a:solidFill>
                <a:latin typeface="Times New Roman"/>
                <a:cs typeface="Times New Roman"/>
              </a:rPr>
              <a:t> </a:t>
            </a:r>
            <a:r>
              <a:rPr lang="en-US" sz="2400" cap="none" spc="-45" dirty="0">
                <a:solidFill>
                  <a:srgbClr val="C00000"/>
                </a:solidFill>
                <a:latin typeface="Times New Roman"/>
                <a:cs typeface="Times New Roman"/>
              </a:rPr>
              <a:t>question.</a:t>
            </a:r>
            <a:r>
              <a:rPr lang="en-US" sz="2400" cap="none" spc="-75" dirty="0">
                <a:solidFill>
                  <a:srgbClr val="C00000"/>
                </a:solidFill>
                <a:latin typeface="Times New Roman"/>
                <a:cs typeface="Times New Roman"/>
              </a:rPr>
              <a:t> </a:t>
            </a:r>
            <a:endParaRPr lang="en-US" sz="2400" cap="none" dirty="0">
              <a:solidFill>
                <a:prstClr val="black"/>
              </a:solidFill>
              <a:latin typeface="Times New Roman"/>
              <a:cs typeface="Times New Roman"/>
            </a:endParaRPr>
          </a:p>
          <a:p>
            <a:pPr marL="355591" marR="5080" indent="-342900" algn="just" defTabSz="457200">
              <a:lnSpc>
                <a:spcPct val="150000"/>
              </a:lnSpc>
              <a:spcBef>
                <a:spcPts val="0"/>
              </a:spcBef>
              <a:buClrTx/>
            </a:pPr>
            <a:endParaRPr lang="en-US" sz="2400" dirty="0">
              <a:solidFill>
                <a:srgbClr val="C00000"/>
              </a:solidFill>
            </a:endParaRPr>
          </a:p>
        </p:txBody>
      </p:sp>
    </p:spTree>
    <p:extLst>
      <p:ext uri="{BB962C8B-B14F-4D97-AF65-F5344CB8AC3E}">
        <p14:creationId xmlns:p14="http://schemas.microsoft.com/office/powerpoint/2010/main" val="286252862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1281953" y="756795"/>
            <a:ext cx="7987553" cy="5078249"/>
          </a:xfrm>
          <a:prstGeom prst="rect">
            <a:avLst/>
          </a:prstGeom>
        </p:spPr>
        <p:txBody>
          <a:bodyPr wrap="square" lIns="91378" tIns="45688" rIns="91378" bIns="45688">
            <a:spAutoFit/>
          </a:bodyPr>
          <a:lstStyle/>
          <a:p>
            <a:pPr marL="12691" marR="6983" algn="just">
              <a:lnSpc>
                <a:spcPct val="150000"/>
              </a:lnSpc>
              <a:spcBef>
                <a:spcPts val="4"/>
              </a:spcBef>
            </a:pPr>
            <a:r>
              <a:rPr lang="en-US" sz="2400" spc="-35" dirty="0">
                <a:latin typeface="Times New Roman"/>
                <a:cs typeface="Times New Roman"/>
              </a:rPr>
              <a:t>R</a:t>
            </a:r>
            <a:r>
              <a:rPr lang="en-US" sz="2400" spc="-40" dirty="0" smtClean="0">
                <a:latin typeface="Times New Roman"/>
                <a:cs typeface="Times New Roman"/>
              </a:rPr>
              <a:t>ecently</a:t>
            </a:r>
            <a:r>
              <a:rPr lang="en-US" sz="2400" spc="-65" dirty="0" smtClean="0">
                <a:latin typeface="Times New Roman"/>
                <a:cs typeface="Times New Roman"/>
              </a:rPr>
              <a:t> </a:t>
            </a:r>
            <a:r>
              <a:rPr lang="en-US" sz="2400" spc="-35" dirty="0" smtClean="0">
                <a:latin typeface="Times New Roman"/>
                <a:cs typeface="Times New Roman"/>
              </a:rPr>
              <a:t>have</a:t>
            </a:r>
            <a:r>
              <a:rPr lang="en-US" sz="2400" spc="-45" dirty="0" smtClean="0">
                <a:latin typeface="Times New Roman"/>
                <a:cs typeface="Times New Roman"/>
              </a:rPr>
              <a:t> </a:t>
            </a:r>
            <a:r>
              <a:rPr lang="en-US" sz="2400" spc="-35" dirty="0" smtClean="0">
                <a:latin typeface="Times New Roman"/>
                <a:cs typeface="Times New Roman"/>
              </a:rPr>
              <a:t>its</a:t>
            </a:r>
            <a:r>
              <a:rPr lang="en-US" sz="2400" dirty="0" smtClean="0">
                <a:latin typeface="Times New Roman"/>
                <a:cs typeface="Times New Roman"/>
              </a:rPr>
              <a:t> </a:t>
            </a:r>
            <a:r>
              <a:rPr lang="en-US" sz="2400" spc="-45" dirty="0" smtClean="0">
                <a:latin typeface="Times New Roman"/>
                <a:cs typeface="Times New Roman"/>
              </a:rPr>
              <a:t>rust-resistant</a:t>
            </a:r>
            <a:r>
              <a:rPr lang="en-US" sz="2400" spc="-50" dirty="0" smtClean="0">
                <a:latin typeface="Times New Roman"/>
                <a:cs typeface="Times New Roman"/>
              </a:rPr>
              <a:t> </a:t>
            </a:r>
            <a:r>
              <a:rPr lang="en-US" sz="2400" spc="-45" dirty="0" smtClean="0">
                <a:latin typeface="Times New Roman"/>
                <a:cs typeface="Times New Roman"/>
              </a:rPr>
              <a:t>properties</a:t>
            </a:r>
            <a:r>
              <a:rPr lang="en-US" sz="2400" spc="-35" dirty="0" smtClean="0">
                <a:latin typeface="Times New Roman"/>
                <a:cs typeface="Times New Roman"/>
              </a:rPr>
              <a:t> </a:t>
            </a:r>
            <a:r>
              <a:rPr lang="en-US" sz="2400" spc="-40" dirty="0" smtClean="0">
                <a:latin typeface="Times New Roman"/>
                <a:cs typeface="Times New Roman"/>
              </a:rPr>
              <a:t>been </a:t>
            </a:r>
            <a:r>
              <a:rPr lang="en-US" sz="2400" spc="-35" dirty="0" smtClean="0">
                <a:latin typeface="Times New Roman"/>
                <a:cs typeface="Times New Roman"/>
              </a:rPr>
              <a:t>fully</a:t>
            </a:r>
            <a:r>
              <a:rPr lang="en-US" sz="2400" spc="-75" dirty="0" smtClean="0">
                <a:latin typeface="Times New Roman"/>
                <a:cs typeface="Times New Roman"/>
              </a:rPr>
              <a:t> </a:t>
            </a:r>
            <a:r>
              <a:rPr lang="en-US" sz="2400" spc="-45" dirty="0" smtClean="0">
                <a:latin typeface="Times New Roman"/>
                <a:cs typeface="Times New Roman"/>
              </a:rPr>
              <a:t>explained as:</a:t>
            </a:r>
            <a:endParaRPr lang="en-US" sz="2000" dirty="0" smtClean="0">
              <a:latin typeface="Times New Roman"/>
              <a:cs typeface="Times New Roman"/>
            </a:endParaRPr>
          </a:p>
          <a:p>
            <a:pPr marL="355591" marR="6983" indent="-342900" algn="just">
              <a:lnSpc>
                <a:spcPct val="150000"/>
              </a:lnSpc>
              <a:spcBef>
                <a:spcPts val="4"/>
              </a:spcBef>
              <a:buFont typeface="Arial" panose="020B0604020202020204" pitchFamily="34" charset="0"/>
              <a:buChar char="•"/>
            </a:pPr>
            <a:r>
              <a:rPr lang="en-US" sz="2400" spc="-30" dirty="0" smtClean="0">
                <a:latin typeface="Times New Roman"/>
                <a:cs typeface="Times New Roman"/>
              </a:rPr>
              <a:t>due</a:t>
            </a:r>
            <a:r>
              <a:rPr lang="en-US" sz="2400" spc="-45" dirty="0" smtClean="0">
                <a:latin typeface="Times New Roman"/>
                <a:cs typeface="Times New Roman"/>
              </a:rPr>
              <a:t> </a:t>
            </a:r>
            <a:r>
              <a:rPr lang="en-US" sz="2400" spc="-25" dirty="0" smtClean="0">
                <a:latin typeface="Times New Roman"/>
                <a:cs typeface="Times New Roman"/>
              </a:rPr>
              <a:t>to</a:t>
            </a:r>
            <a:r>
              <a:rPr lang="en-US" sz="2400" spc="-50" dirty="0" smtClean="0">
                <a:latin typeface="Times New Roman"/>
                <a:cs typeface="Times New Roman"/>
              </a:rPr>
              <a:t> </a:t>
            </a:r>
            <a:r>
              <a:rPr lang="en-US" sz="2400" spc="-30" dirty="0" smtClean="0">
                <a:latin typeface="Times New Roman"/>
                <a:cs typeface="Times New Roman"/>
              </a:rPr>
              <a:t>the</a:t>
            </a:r>
            <a:r>
              <a:rPr lang="en-US" sz="2400" spc="-45" dirty="0" smtClean="0">
                <a:latin typeface="Times New Roman"/>
                <a:cs typeface="Times New Roman"/>
              </a:rPr>
              <a:t> </a:t>
            </a:r>
            <a:r>
              <a:rPr lang="en-US" sz="2400" spc="-45" dirty="0" smtClean="0">
                <a:solidFill>
                  <a:srgbClr val="00B0F0"/>
                </a:solidFill>
                <a:latin typeface="Times New Roman"/>
                <a:cs typeface="Times New Roman"/>
              </a:rPr>
              <a:t>presence</a:t>
            </a:r>
            <a:r>
              <a:rPr lang="en-US" sz="2400" spc="-55" dirty="0" smtClean="0">
                <a:solidFill>
                  <a:srgbClr val="00B0F0"/>
                </a:solidFill>
                <a:latin typeface="Times New Roman"/>
                <a:cs typeface="Times New Roman"/>
              </a:rPr>
              <a:t> </a:t>
            </a:r>
            <a:r>
              <a:rPr lang="en-US" sz="2400" spc="-25" dirty="0" smtClean="0">
                <a:solidFill>
                  <a:srgbClr val="00B0F0"/>
                </a:solidFill>
                <a:latin typeface="Times New Roman"/>
                <a:cs typeface="Times New Roman"/>
              </a:rPr>
              <a:t>of</a:t>
            </a:r>
            <a:r>
              <a:rPr lang="en-US" sz="2400" spc="-40" dirty="0" smtClean="0">
                <a:solidFill>
                  <a:srgbClr val="00B0F0"/>
                </a:solidFill>
                <a:latin typeface="Times New Roman"/>
                <a:cs typeface="Times New Roman"/>
              </a:rPr>
              <a:t> phosphorus</a:t>
            </a:r>
            <a:r>
              <a:rPr lang="en-US" sz="2400" spc="-50" dirty="0" smtClean="0">
                <a:solidFill>
                  <a:srgbClr val="00B0F0"/>
                </a:solidFill>
                <a:latin typeface="Times New Roman"/>
                <a:cs typeface="Times New Roman"/>
              </a:rPr>
              <a:t> </a:t>
            </a:r>
            <a:r>
              <a:rPr lang="en-US" sz="2400" spc="-25" dirty="0" smtClean="0">
                <a:solidFill>
                  <a:srgbClr val="00B0F0"/>
                </a:solidFill>
                <a:latin typeface="Times New Roman"/>
                <a:cs typeface="Times New Roman"/>
              </a:rPr>
              <a:t>in</a:t>
            </a:r>
            <a:r>
              <a:rPr lang="en-US" sz="2400" spc="-50" dirty="0" smtClean="0">
                <a:solidFill>
                  <a:srgbClr val="00B0F0"/>
                </a:solidFill>
                <a:latin typeface="Times New Roman"/>
                <a:cs typeface="Times New Roman"/>
              </a:rPr>
              <a:t> </a:t>
            </a:r>
            <a:r>
              <a:rPr lang="en-US" sz="2400" spc="-30" dirty="0" smtClean="0">
                <a:solidFill>
                  <a:srgbClr val="00B0F0"/>
                </a:solidFill>
                <a:latin typeface="Times New Roman"/>
                <a:cs typeface="Times New Roman"/>
              </a:rPr>
              <a:t>the</a:t>
            </a:r>
            <a:r>
              <a:rPr lang="en-US" sz="2400" spc="-55" dirty="0" smtClean="0">
                <a:solidFill>
                  <a:srgbClr val="00B0F0"/>
                </a:solidFill>
                <a:latin typeface="Times New Roman"/>
                <a:cs typeface="Times New Roman"/>
              </a:rPr>
              <a:t> </a:t>
            </a:r>
            <a:r>
              <a:rPr lang="en-US" sz="2400" spc="-40" dirty="0" smtClean="0">
                <a:solidFill>
                  <a:srgbClr val="00B0F0"/>
                </a:solidFill>
                <a:latin typeface="Times New Roman"/>
                <a:cs typeface="Times New Roman"/>
              </a:rPr>
              <a:t>iron</a:t>
            </a:r>
            <a:r>
              <a:rPr lang="en-US" sz="2400" spc="-40" dirty="0" smtClean="0">
                <a:latin typeface="Times New Roman"/>
                <a:cs typeface="Times New Roman"/>
              </a:rPr>
              <a:t>:</a:t>
            </a:r>
          </a:p>
          <a:p>
            <a:pPr marL="355591" marR="6983" indent="-342900" algn="just">
              <a:lnSpc>
                <a:spcPct val="150000"/>
              </a:lnSpc>
              <a:spcBef>
                <a:spcPts val="4"/>
              </a:spcBef>
              <a:buFont typeface="Arial" panose="020B0604020202020204" pitchFamily="34" charset="0"/>
              <a:buChar char="•"/>
            </a:pPr>
            <a:r>
              <a:rPr lang="en-US" sz="2400" spc="-35" dirty="0" smtClean="0">
                <a:latin typeface="Times New Roman"/>
                <a:cs typeface="Times New Roman"/>
              </a:rPr>
              <a:t>phosphorus</a:t>
            </a:r>
            <a:r>
              <a:rPr lang="en-US" sz="2400" spc="-45" dirty="0" smtClean="0">
                <a:latin typeface="Times New Roman"/>
                <a:cs typeface="Times New Roman"/>
              </a:rPr>
              <a:t>,</a:t>
            </a:r>
            <a:r>
              <a:rPr lang="en-US" sz="2400" spc="45" dirty="0" smtClean="0">
                <a:latin typeface="Times New Roman"/>
                <a:cs typeface="Times New Roman"/>
              </a:rPr>
              <a:t> </a:t>
            </a:r>
            <a:r>
              <a:rPr lang="en-US" sz="2400" spc="-40" dirty="0">
                <a:latin typeface="Times New Roman"/>
                <a:cs typeface="Times New Roman"/>
              </a:rPr>
              <a:t>together</a:t>
            </a:r>
            <a:r>
              <a:rPr lang="en-US" sz="2400" spc="55" dirty="0">
                <a:latin typeface="Times New Roman"/>
                <a:cs typeface="Times New Roman"/>
              </a:rPr>
              <a:t> </a:t>
            </a:r>
            <a:r>
              <a:rPr lang="en-US" sz="2400" spc="-40" dirty="0">
                <a:latin typeface="Times New Roman"/>
                <a:cs typeface="Times New Roman"/>
              </a:rPr>
              <a:t>with</a:t>
            </a:r>
            <a:r>
              <a:rPr lang="en-US" sz="2400" spc="45" dirty="0">
                <a:latin typeface="Times New Roman"/>
                <a:cs typeface="Times New Roman"/>
              </a:rPr>
              <a:t> </a:t>
            </a:r>
            <a:r>
              <a:rPr lang="en-US" sz="2400" spc="-35" dirty="0">
                <a:latin typeface="Times New Roman"/>
                <a:cs typeface="Times New Roman"/>
              </a:rPr>
              <a:t>iron</a:t>
            </a:r>
            <a:r>
              <a:rPr lang="en-US" sz="2400" spc="55" dirty="0">
                <a:latin typeface="Times New Roman"/>
                <a:cs typeface="Times New Roman"/>
              </a:rPr>
              <a:t> </a:t>
            </a:r>
            <a:r>
              <a:rPr lang="en-US" sz="2400" spc="-35" dirty="0">
                <a:latin typeface="Times New Roman"/>
                <a:cs typeface="Times New Roman"/>
              </a:rPr>
              <a:t>and</a:t>
            </a:r>
            <a:r>
              <a:rPr lang="en-US" sz="2400" spc="55" dirty="0">
                <a:latin typeface="Times New Roman"/>
                <a:cs typeface="Times New Roman"/>
              </a:rPr>
              <a:t> </a:t>
            </a:r>
            <a:r>
              <a:rPr lang="en-US" sz="2400" spc="-40" dirty="0">
                <a:latin typeface="Times New Roman"/>
                <a:cs typeface="Times New Roman"/>
              </a:rPr>
              <a:t>oxygen</a:t>
            </a:r>
            <a:r>
              <a:rPr lang="en-US" sz="2400" spc="55" dirty="0">
                <a:latin typeface="Times New Roman"/>
                <a:cs typeface="Times New Roman"/>
              </a:rPr>
              <a:t> </a:t>
            </a:r>
            <a:r>
              <a:rPr lang="en-US" sz="2400" spc="-35" dirty="0">
                <a:solidFill>
                  <a:srgbClr val="00B0F0"/>
                </a:solidFill>
                <a:latin typeface="Times New Roman"/>
                <a:cs typeface="Times New Roman"/>
              </a:rPr>
              <a:t>from</a:t>
            </a:r>
            <a:r>
              <a:rPr lang="en-US" sz="2400" spc="60" dirty="0">
                <a:solidFill>
                  <a:srgbClr val="00B0F0"/>
                </a:solidFill>
                <a:latin typeface="Times New Roman"/>
                <a:cs typeface="Times New Roman"/>
              </a:rPr>
              <a:t> </a:t>
            </a:r>
            <a:r>
              <a:rPr lang="en-US" sz="2400" spc="-35" dirty="0">
                <a:solidFill>
                  <a:srgbClr val="00B0F0"/>
                </a:solidFill>
                <a:latin typeface="Times New Roman"/>
                <a:cs typeface="Times New Roman"/>
              </a:rPr>
              <a:t>the</a:t>
            </a:r>
            <a:r>
              <a:rPr lang="en-US" sz="2400" spc="50" dirty="0">
                <a:solidFill>
                  <a:srgbClr val="00B0F0"/>
                </a:solidFill>
                <a:latin typeface="Times New Roman"/>
                <a:cs typeface="Times New Roman"/>
              </a:rPr>
              <a:t> </a:t>
            </a:r>
            <a:r>
              <a:rPr lang="en-US" sz="2400" spc="-35" dirty="0">
                <a:solidFill>
                  <a:srgbClr val="00B0F0"/>
                </a:solidFill>
                <a:latin typeface="Times New Roman"/>
                <a:cs typeface="Times New Roman"/>
              </a:rPr>
              <a:t>air</a:t>
            </a:r>
            <a:r>
              <a:rPr lang="en-US" sz="2400" spc="-35" dirty="0" smtClean="0">
                <a:latin typeface="Times New Roman"/>
                <a:cs typeface="Times New Roman"/>
              </a:rPr>
              <a:t>,</a:t>
            </a:r>
          </a:p>
          <a:p>
            <a:pPr marL="355591" marR="6983" indent="-342900" algn="just">
              <a:lnSpc>
                <a:spcPct val="150000"/>
              </a:lnSpc>
              <a:spcBef>
                <a:spcPts val="4"/>
              </a:spcBef>
              <a:buFont typeface="Arial" panose="020B0604020202020204" pitchFamily="34" charset="0"/>
              <a:buChar char="•"/>
            </a:pPr>
            <a:r>
              <a:rPr lang="en-US" sz="2400" spc="-45" dirty="0">
                <a:latin typeface="Times New Roman"/>
                <a:cs typeface="Times New Roman"/>
              </a:rPr>
              <a:t>a</a:t>
            </a:r>
            <a:r>
              <a:rPr lang="en-US" sz="2400" spc="-45" dirty="0" smtClean="0">
                <a:latin typeface="Times New Roman"/>
                <a:cs typeface="Times New Roman"/>
              </a:rPr>
              <a:t>ir contributes</a:t>
            </a:r>
            <a:r>
              <a:rPr lang="en-US" sz="2400" spc="45" dirty="0" smtClean="0">
                <a:latin typeface="Times New Roman"/>
                <a:cs typeface="Times New Roman"/>
              </a:rPr>
              <a:t> </a:t>
            </a:r>
            <a:r>
              <a:rPr lang="en-US" sz="2400" spc="-25" dirty="0">
                <a:latin typeface="Times New Roman"/>
                <a:cs typeface="Times New Roman"/>
              </a:rPr>
              <a:t>to</a:t>
            </a:r>
            <a:r>
              <a:rPr lang="en-US" sz="2400" spc="45" dirty="0">
                <a:latin typeface="Times New Roman"/>
                <a:cs typeface="Times New Roman"/>
              </a:rPr>
              <a:t> </a:t>
            </a:r>
            <a:r>
              <a:rPr lang="en-US" sz="2400" spc="-30" dirty="0">
                <a:latin typeface="Times New Roman"/>
                <a:cs typeface="Times New Roman"/>
              </a:rPr>
              <a:t>the</a:t>
            </a:r>
            <a:r>
              <a:rPr lang="en-US" sz="2400" spc="50" dirty="0">
                <a:latin typeface="Times New Roman"/>
                <a:cs typeface="Times New Roman"/>
              </a:rPr>
              <a:t> </a:t>
            </a:r>
            <a:r>
              <a:rPr lang="en-US" sz="2400" spc="-45" dirty="0">
                <a:latin typeface="Times New Roman"/>
                <a:cs typeface="Times New Roman"/>
              </a:rPr>
              <a:t>formation</a:t>
            </a:r>
            <a:r>
              <a:rPr lang="en-US" sz="2400" spc="45" dirty="0">
                <a:latin typeface="Times New Roman"/>
                <a:cs typeface="Times New Roman"/>
              </a:rPr>
              <a:t> </a:t>
            </a:r>
            <a:r>
              <a:rPr lang="en-US" sz="2400" spc="-25" dirty="0">
                <a:latin typeface="Times New Roman"/>
                <a:cs typeface="Times New Roman"/>
              </a:rPr>
              <a:t>of</a:t>
            </a:r>
            <a:r>
              <a:rPr lang="en-US" sz="2400" spc="55" dirty="0">
                <a:latin typeface="Times New Roman"/>
                <a:cs typeface="Times New Roman"/>
              </a:rPr>
              <a:t> </a:t>
            </a:r>
            <a:r>
              <a:rPr lang="en-US" sz="2400" spc="-10" dirty="0">
                <a:latin typeface="Times New Roman"/>
                <a:cs typeface="Times New Roman"/>
              </a:rPr>
              <a:t>a</a:t>
            </a:r>
            <a:r>
              <a:rPr lang="en-US" sz="2400" spc="50" dirty="0">
                <a:latin typeface="Times New Roman"/>
                <a:cs typeface="Times New Roman"/>
              </a:rPr>
              <a:t> </a:t>
            </a:r>
            <a:r>
              <a:rPr lang="en-US" sz="2400" spc="-35" dirty="0">
                <a:solidFill>
                  <a:srgbClr val="00B0F0"/>
                </a:solidFill>
                <a:latin typeface="Times New Roman"/>
                <a:cs typeface="Times New Roman"/>
              </a:rPr>
              <a:t>thin</a:t>
            </a:r>
            <a:r>
              <a:rPr lang="en-US" sz="2400" spc="45" dirty="0">
                <a:solidFill>
                  <a:srgbClr val="00B0F0"/>
                </a:solidFill>
                <a:latin typeface="Times New Roman"/>
                <a:cs typeface="Times New Roman"/>
              </a:rPr>
              <a:t> </a:t>
            </a:r>
            <a:r>
              <a:rPr lang="en-US" sz="2400" spc="-45" dirty="0">
                <a:solidFill>
                  <a:srgbClr val="00B0F0"/>
                </a:solidFill>
                <a:latin typeface="Times New Roman"/>
                <a:cs typeface="Times New Roman"/>
              </a:rPr>
              <a:t>protective</a:t>
            </a:r>
            <a:r>
              <a:rPr lang="en-US" sz="2400" spc="-4" dirty="0">
                <a:solidFill>
                  <a:srgbClr val="00B0F0"/>
                </a:solidFill>
                <a:latin typeface="Times New Roman"/>
                <a:cs typeface="Times New Roman"/>
              </a:rPr>
              <a:t> </a:t>
            </a:r>
            <a:r>
              <a:rPr lang="en-US" sz="2400" spc="-40" dirty="0">
                <a:solidFill>
                  <a:srgbClr val="00B0F0"/>
                </a:solidFill>
                <a:latin typeface="Times New Roman"/>
                <a:cs typeface="Times New Roman"/>
              </a:rPr>
              <a:t>passive</a:t>
            </a:r>
            <a:r>
              <a:rPr lang="en-US" sz="2400" spc="50" dirty="0">
                <a:solidFill>
                  <a:srgbClr val="00B0F0"/>
                </a:solidFill>
                <a:latin typeface="Times New Roman"/>
                <a:cs typeface="Times New Roman"/>
              </a:rPr>
              <a:t> </a:t>
            </a:r>
            <a:r>
              <a:rPr lang="en-US" sz="2400" spc="-45" dirty="0" smtClean="0">
                <a:solidFill>
                  <a:srgbClr val="00B0F0"/>
                </a:solidFill>
                <a:latin typeface="Times New Roman"/>
                <a:cs typeface="Times New Roman"/>
              </a:rPr>
              <a:t>coating</a:t>
            </a:r>
            <a:r>
              <a:rPr lang="en-US" sz="2400" spc="45" dirty="0" smtClean="0">
                <a:solidFill>
                  <a:srgbClr val="00B0F0"/>
                </a:solidFill>
                <a:latin typeface="Times New Roman"/>
                <a:cs typeface="Times New Roman"/>
              </a:rPr>
              <a:t> </a:t>
            </a:r>
            <a:r>
              <a:rPr lang="en-US" sz="2400" spc="-40" dirty="0">
                <a:solidFill>
                  <a:srgbClr val="00B0F0"/>
                </a:solidFill>
                <a:latin typeface="Times New Roman"/>
                <a:cs typeface="Times New Roman"/>
              </a:rPr>
              <a:t>o</a:t>
            </a:r>
            <a:r>
              <a:rPr lang="en-US" sz="2400" dirty="0" smtClean="0">
                <a:solidFill>
                  <a:srgbClr val="00B0F0"/>
                </a:solidFill>
                <a:latin typeface="Times New Roman"/>
                <a:cs typeface="Times New Roman"/>
              </a:rPr>
              <a:t>n</a:t>
            </a:r>
            <a:r>
              <a:rPr lang="en-US" sz="2400" spc="55" dirty="0">
                <a:solidFill>
                  <a:srgbClr val="00B0F0"/>
                </a:solidFill>
                <a:latin typeface="Times New Roman"/>
                <a:cs typeface="Times New Roman"/>
              </a:rPr>
              <a:t> </a:t>
            </a:r>
            <a:r>
              <a:rPr lang="en-US" sz="2400" spc="-35" dirty="0">
                <a:solidFill>
                  <a:srgbClr val="00B0F0"/>
                </a:solidFill>
                <a:latin typeface="Times New Roman"/>
                <a:cs typeface="Times New Roman"/>
              </a:rPr>
              <a:t>the</a:t>
            </a:r>
            <a:r>
              <a:rPr lang="en-US" sz="2400" spc="50" dirty="0">
                <a:solidFill>
                  <a:srgbClr val="00B0F0"/>
                </a:solidFill>
                <a:latin typeface="Times New Roman"/>
                <a:cs typeface="Times New Roman"/>
              </a:rPr>
              <a:t> </a:t>
            </a:r>
            <a:r>
              <a:rPr lang="en-US" sz="2400" spc="-45" dirty="0" smtClean="0">
                <a:solidFill>
                  <a:srgbClr val="00B0F0"/>
                </a:solidFill>
                <a:latin typeface="Times New Roman"/>
                <a:cs typeface="Times New Roman"/>
              </a:rPr>
              <a:t>surface</a:t>
            </a:r>
            <a:r>
              <a:rPr lang="en-US" sz="2400" spc="-45" dirty="0" smtClean="0">
                <a:latin typeface="Times New Roman"/>
                <a:cs typeface="Times New Roman"/>
              </a:rPr>
              <a:t>,</a:t>
            </a:r>
          </a:p>
          <a:p>
            <a:pPr marL="355591" marR="6983" indent="-342900" algn="just">
              <a:lnSpc>
                <a:spcPct val="150000"/>
              </a:lnSpc>
              <a:spcBef>
                <a:spcPts val="4"/>
              </a:spcBef>
              <a:buFont typeface="Arial" panose="020B0604020202020204" pitchFamily="34" charset="0"/>
              <a:buChar char="•"/>
            </a:pPr>
            <a:r>
              <a:rPr lang="en-US" sz="2400" spc="-35" dirty="0" smtClean="0">
                <a:latin typeface="Times New Roman"/>
                <a:cs typeface="Times New Roman"/>
              </a:rPr>
              <a:t>which</a:t>
            </a:r>
            <a:r>
              <a:rPr lang="en-US" sz="2400" spc="45" dirty="0" smtClean="0">
                <a:latin typeface="Times New Roman"/>
                <a:cs typeface="Times New Roman"/>
              </a:rPr>
              <a:t> </a:t>
            </a:r>
            <a:r>
              <a:rPr lang="en-US" sz="2400" spc="-40" dirty="0">
                <a:solidFill>
                  <a:srgbClr val="00B0F0"/>
                </a:solidFill>
                <a:latin typeface="Times New Roman"/>
                <a:cs typeface="Times New Roman"/>
              </a:rPr>
              <a:t>gets</a:t>
            </a:r>
            <a:r>
              <a:rPr lang="en-US" sz="2400" spc="60" dirty="0">
                <a:solidFill>
                  <a:srgbClr val="00B0F0"/>
                </a:solidFill>
                <a:latin typeface="Times New Roman"/>
                <a:cs typeface="Times New Roman"/>
              </a:rPr>
              <a:t> </a:t>
            </a:r>
            <a:r>
              <a:rPr lang="en-US" sz="2400" spc="-45" dirty="0">
                <a:solidFill>
                  <a:srgbClr val="00B0F0"/>
                </a:solidFill>
                <a:latin typeface="Times New Roman"/>
                <a:cs typeface="Times New Roman"/>
              </a:rPr>
              <a:t>reconstituted</a:t>
            </a:r>
            <a:r>
              <a:rPr lang="en-US" sz="2400" spc="55" dirty="0">
                <a:solidFill>
                  <a:srgbClr val="00B0F0"/>
                </a:solidFill>
                <a:latin typeface="Times New Roman"/>
                <a:cs typeface="Times New Roman"/>
              </a:rPr>
              <a:t> </a:t>
            </a:r>
            <a:r>
              <a:rPr lang="en-US" sz="2400" spc="-25" dirty="0">
                <a:solidFill>
                  <a:srgbClr val="00B0F0"/>
                </a:solidFill>
                <a:latin typeface="Times New Roman"/>
                <a:cs typeface="Times New Roman"/>
              </a:rPr>
              <a:t>if</a:t>
            </a:r>
            <a:r>
              <a:rPr lang="en-US" sz="2400" spc="55" dirty="0">
                <a:solidFill>
                  <a:srgbClr val="00B0F0"/>
                </a:solidFill>
                <a:latin typeface="Times New Roman"/>
                <a:cs typeface="Times New Roman"/>
              </a:rPr>
              <a:t> </a:t>
            </a:r>
            <a:r>
              <a:rPr lang="en-US" sz="2400" spc="-45" dirty="0">
                <a:solidFill>
                  <a:srgbClr val="00B0F0"/>
                </a:solidFill>
                <a:latin typeface="Times New Roman"/>
                <a:cs typeface="Times New Roman"/>
              </a:rPr>
              <a:t>damaged</a:t>
            </a:r>
            <a:r>
              <a:rPr lang="en-US" sz="2400" spc="55" dirty="0">
                <a:solidFill>
                  <a:srgbClr val="00B0F0"/>
                </a:solidFill>
                <a:latin typeface="Times New Roman"/>
                <a:cs typeface="Times New Roman"/>
              </a:rPr>
              <a:t> </a:t>
            </a:r>
            <a:r>
              <a:rPr lang="en-US" sz="2400" spc="-25" dirty="0">
                <a:latin typeface="Times New Roman"/>
                <a:cs typeface="Times New Roman"/>
              </a:rPr>
              <a:t>b</a:t>
            </a:r>
            <a:r>
              <a:rPr lang="en-US" sz="2400" dirty="0" smtClean="0">
                <a:latin typeface="Times New Roman"/>
                <a:cs typeface="Times New Roman"/>
              </a:rPr>
              <a:t>y</a:t>
            </a:r>
            <a:r>
              <a:rPr lang="en-US" sz="2400" spc="20" dirty="0">
                <a:latin typeface="Times New Roman"/>
                <a:cs typeface="Times New Roman"/>
              </a:rPr>
              <a:t> </a:t>
            </a:r>
            <a:r>
              <a:rPr lang="en-US" sz="2400" spc="-45" dirty="0">
                <a:latin typeface="Times New Roman"/>
                <a:cs typeface="Times New Roman"/>
              </a:rPr>
              <a:t>scratching.</a:t>
            </a:r>
            <a:r>
              <a:rPr lang="en-US" sz="2400" spc="95" dirty="0">
                <a:latin typeface="Times New Roman"/>
                <a:cs typeface="Times New Roman"/>
              </a:rPr>
              <a:t> </a:t>
            </a:r>
          </a:p>
          <a:p>
            <a:pPr marL="12691" marR="6983" indent="456244" algn="just">
              <a:lnSpc>
                <a:spcPct val="150000"/>
              </a:lnSpc>
              <a:spcBef>
                <a:spcPts val="4"/>
              </a:spcBef>
            </a:pPr>
            <a:r>
              <a:rPr lang="en-US" sz="2400" spc="-40" dirty="0">
                <a:solidFill>
                  <a:schemeClr val="tx1"/>
                </a:solidFill>
                <a:latin typeface="Times New Roman"/>
                <a:cs typeface="Times New Roman"/>
              </a:rPr>
              <a:t>It</a:t>
            </a:r>
            <a:r>
              <a:rPr lang="en-US" sz="2400" spc="60" dirty="0">
                <a:solidFill>
                  <a:schemeClr val="tx1"/>
                </a:solidFill>
                <a:latin typeface="Times New Roman"/>
                <a:cs typeface="Times New Roman"/>
              </a:rPr>
              <a:t> </a:t>
            </a:r>
            <a:r>
              <a:rPr lang="en-US" sz="2400" spc="-40" dirty="0">
                <a:solidFill>
                  <a:schemeClr val="tx1"/>
                </a:solidFill>
                <a:latin typeface="Times New Roman"/>
                <a:cs typeface="Times New Roman"/>
              </a:rPr>
              <a:t>goes</a:t>
            </a:r>
            <a:r>
              <a:rPr lang="en-US" sz="2400" spc="60" dirty="0">
                <a:solidFill>
                  <a:schemeClr val="tx1"/>
                </a:solidFill>
                <a:latin typeface="Times New Roman"/>
                <a:cs typeface="Times New Roman"/>
              </a:rPr>
              <a:t> </a:t>
            </a:r>
            <a:r>
              <a:rPr lang="en-US" sz="2400" spc="-25" dirty="0">
                <a:solidFill>
                  <a:schemeClr val="tx1"/>
                </a:solidFill>
                <a:latin typeface="Times New Roman"/>
                <a:cs typeface="Times New Roman"/>
              </a:rPr>
              <a:t>to</a:t>
            </a:r>
            <a:r>
              <a:rPr lang="en-US" sz="2400" spc="55" dirty="0">
                <a:solidFill>
                  <a:schemeClr val="tx1"/>
                </a:solidFill>
                <a:latin typeface="Times New Roman"/>
                <a:cs typeface="Times New Roman"/>
              </a:rPr>
              <a:t> </a:t>
            </a:r>
            <a:r>
              <a:rPr lang="en-US" sz="2400" spc="-35" dirty="0">
                <a:solidFill>
                  <a:schemeClr val="tx1"/>
                </a:solidFill>
                <a:latin typeface="Times New Roman"/>
                <a:cs typeface="Times New Roman"/>
              </a:rPr>
              <a:t>the</a:t>
            </a:r>
            <a:r>
              <a:rPr lang="en-US" sz="2400" spc="50" dirty="0">
                <a:solidFill>
                  <a:schemeClr val="tx1"/>
                </a:solidFill>
                <a:latin typeface="Times New Roman"/>
                <a:cs typeface="Times New Roman"/>
              </a:rPr>
              <a:t> </a:t>
            </a:r>
            <a:r>
              <a:rPr lang="en-US" sz="2400" spc="-45" dirty="0">
                <a:solidFill>
                  <a:schemeClr val="tx1"/>
                </a:solidFill>
                <a:latin typeface="Times New Roman"/>
                <a:cs typeface="Times New Roman"/>
              </a:rPr>
              <a:t>credit</a:t>
            </a:r>
            <a:r>
              <a:rPr lang="en-US" sz="2400" spc="60" dirty="0">
                <a:solidFill>
                  <a:schemeClr val="tx1"/>
                </a:solidFill>
                <a:latin typeface="Times New Roman"/>
                <a:cs typeface="Times New Roman"/>
              </a:rPr>
              <a:t> </a:t>
            </a:r>
            <a:r>
              <a:rPr lang="en-US" sz="2400" spc="-30" dirty="0">
                <a:solidFill>
                  <a:schemeClr val="tx1"/>
                </a:solidFill>
                <a:latin typeface="Times New Roman"/>
                <a:cs typeface="Times New Roman"/>
              </a:rPr>
              <a:t>of</a:t>
            </a:r>
            <a:r>
              <a:rPr lang="en-US" sz="2400" spc="-4" dirty="0">
                <a:solidFill>
                  <a:schemeClr val="tx1"/>
                </a:solidFill>
                <a:latin typeface="Times New Roman"/>
                <a:cs typeface="Times New Roman"/>
              </a:rPr>
              <a:t> </a:t>
            </a:r>
            <a:r>
              <a:rPr lang="en-US" sz="2400" spc="-40" dirty="0">
                <a:solidFill>
                  <a:schemeClr val="tx1"/>
                </a:solidFill>
                <a:latin typeface="Times New Roman"/>
                <a:cs typeface="Times New Roman"/>
              </a:rPr>
              <a:t>Indian</a:t>
            </a:r>
            <a:r>
              <a:rPr lang="en-US" sz="2400" spc="-4" dirty="0">
                <a:solidFill>
                  <a:schemeClr val="tx1"/>
                </a:solidFill>
                <a:latin typeface="Times New Roman"/>
                <a:cs typeface="Times New Roman"/>
              </a:rPr>
              <a:t> </a:t>
            </a:r>
            <a:r>
              <a:rPr lang="en-US" sz="2400" spc="-45" dirty="0">
                <a:solidFill>
                  <a:schemeClr val="tx1"/>
                </a:solidFill>
                <a:latin typeface="Times New Roman"/>
                <a:cs typeface="Times New Roman"/>
              </a:rPr>
              <a:t>blacksmiths</a:t>
            </a:r>
            <a:r>
              <a:rPr lang="en-US" sz="2400" spc="-14" dirty="0">
                <a:solidFill>
                  <a:schemeClr val="tx1"/>
                </a:solidFill>
                <a:latin typeface="Times New Roman"/>
                <a:cs typeface="Times New Roman"/>
              </a:rPr>
              <a:t> </a:t>
            </a:r>
            <a:r>
              <a:rPr lang="en-US" sz="2400" spc="-40" dirty="0">
                <a:solidFill>
                  <a:schemeClr val="tx1"/>
                </a:solidFill>
                <a:latin typeface="Times New Roman"/>
                <a:cs typeface="Times New Roman"/>
              </a:rPr>
              <a:t>that</a:t>
            </a:r>
            <a:r>
              <a:rPr lang="en-US" sz="2400" spc="-14" dirty="0">
                <a:solidFill>
                  <a:schemeClr val="tx1"/>
                </a:solidFill>
                <a:latin typeface="Times New Roman"/>
                <a:cs typeface="Times New Roman"/>
              </a:rPr>
              <a:t> </a:t>
            </a:r>
            <a:r>
              <a:rPr lang="en-US" sz="2400" spc="-40" dirty="0">
                <a:solidFill>
                  <a:schemeClr val="tx1"/>
                </a:solidFill>
                <a:latin typeface="Times New Roman"/>
                <a:cs typeface="Times New Roman"/>
              </a:rPr>
              <a:t>through</a:t>
            </a:r>
            <a:r>
              <a:rPr lang="en-US" sz="2400" spc="-4" dirty="0">
                <a:solidFill>
                  <a:schemeClr val="tx1"/>
                </a:solidFill>
                <a:latin typeface="Times New Roman"/>
                <a:cs typeface="Times New Roman"/>
              </a:rPr>
              <a:t> </a:t>
            </a:r>
            <a:r>
              <a:rPr lang="en-US" sz="2400" spc="-45" dirty="0">
                <a:solidFill>
                  <a:schemeClr val="tx1"/>
                </a:solidFill>
                <a:latin typeface="Times New Roman"/>
                <a:cs typeface="Times New Roman"/>
              </a:rPr>
              <a:t>patient</a:t>
            </a:r>
            <a:r>
              <a:rPr lang="en-US" sz="2400" spc="-14" dirty="0">
                <a:solidFill>
                  <a:schemeClr val="tx1"/>
                </a:solidFill>
                <a:latin typeface="Times New Roman"/>
                <a:cs typeface="Times New Roman"/>
              </a:rPr>
              <a:t> </a:t>
            </a:r>
            <a:r>
              <a:rPr lang="en-US" sz="2400" spc="-40" dirty="0">
                <a:solidFill>
                  <a:schemeClr val="tx1"/>
                </a:solidFill>
                <a:latin typeface="Times New Roman"/>
                <a:cs typeface="Times New Roman"/>
              </a:rPr>
              <a:t>trial</a:t>
            </a:r>
            <a:r>
              <a:rPr lang="en-US" sz="2400" spc="-14" dirty="0">
                <a:solidFill>
                  <a:schemeClr val="tx1"/>
                </a:solidFill>
                <a:latin typeface="Times New Roman"/>
                <a:cs typeface="Times New Roman"/>
              </a:rPr>
              <a:t> </a:t>
            </a:r>
            <a:r>
              <a:rPr lang="en-US" sz="2400" spc="-35" dirty="0">
                <a:solidFill>
                  <a:schemeClr val="tx1"/>
                </a:solidFill>
                <a:latin typeface="Times New Roman"/>
                <a:cs typeface="Times New Roman"/>
              </a:rPr>
              <a:t>and</a:t>
            </a:r>
            <a:r>
              <a:rPr lang="en-US" sz="2400" spc="-14" dirty="0">
                <a:solidFill>
                  <a:schemeClr val="tx1"/>
                </a:solidFill>
                <a:latin typeface="Times New Roman"/>
                <a:cs typeface="Times New Roman"/>
              </a:rPr>
              <a:t> </a:t>
            </a:r>
            <a:r>
              <a:rPr lang="en-US" sz="2400" spc="-40" dirty="0">
                <a:solidFill>
                  <a:schemeClr val="tx1"/>
                </a:solidFill>
                <a:latin typeface="Times New Roman"/>
                <a:cs typeface="Times New Roman"/>
              </a:rPr>
              <a:t>error</a:t>
            </a:r>
            <a:r>
              <a:rPr lang="en-US" sz="2400" spc="-20" dirty="0">
                <a:solidFill>
                  <a:schemeClr val="tx1"/>
                </a:solidFill>
                <a:latin typeface="Times New Roman"/>
                <a:cs typeface="Times New Roman"/>
              </a:rPr>
              <a:t> </a:t>
            </a:r>
            <a:r>
              <a:rPr lang="en-US" sz="2400" spc="-35" dirty="0">
                <a:solidFill>
                  <a:schemeClr val="tx1"/>
                </a:solidFill>
                <a:latin typeface="Times New Roman"/>
                <a:cs typeface="Times New Roman"/>
              </a:rPr>
              <a:t>they</a:t>
            </a:r>
            <a:r>
              <a:rPr lang="en-US" sz="2400" spc="-40" dirty="0">
                <a:solidFill>
                  <a:schemeClr val="tx1"/>
                </a:solidFill>
                <a:latin typeface="Times New Roman"/>
                <a:cs typeface="Times New Roman"/>
              </a:rPr>
              <a:t> </a:t>
            </a:r>
            <a:r>
              <a:rPr lang="en-US" sz="2400" spc="-35" dirty="0">
                <a:solidFill>
                  <a:schemeClr val="tx1"/>
                </a:solidFill>
                <a:latin typeface="Times New Roman"/>
                <a:cs typeface="Times New Roman"/>
              </a:rPr>
              <a:t>were</a:t>
            </a:r>
            <a:r>
              <a:rPr lang="en-US" sz="2400" spc="-10" dirty="0">
                <a:solidFill>
                  <a:schemeClr val="tx1"/>
                </a:solidFill>
                <a:latin typeface="Times New Roman"/>
                <a:cs typeface="Times New Roman"/>
              </a:rPr>
              <a:t> </a:t>
            </a:r>
            <a:r>
              <a:rPr lang="en-US" sz="2400" spc="-35" dirty="0">
                <a:solidFill>
                  <a:schemeClr val="tx1"/>
                </a:solidFill>
                <a:latin typeface="Times New Roman"/>
                <a:cs typeface="Times New Roman"/>
              </a:rPr>
              <a:t>able</a:t>
            </a:r>
            <a:r>
              <a:rPr lang="en-US" sz="2400" spc="-10" dirty="0">
                <a:solidFill>
                  <a:schemeClr val="tx1"/>
                </a:solidFill>
                <a:latin typeface="Times New Roman"/>
                <a:cs typeface="Times New Roman"/>
              </a:rPr>
              <a:t> </a:t>
            </a:r>
            <a:r>
              <a:rPr lang="en-US" sz="2400" spc="-30" dirty="0">
                <a:solidFill>
                  <a:schemeClr val="tx1"/>
                </a:solidFill>
                <a:latin typeface="Times New Roman"/>
                <a:cs typeface="Times New Roman"/>
              </a:rPr>
              <a:t>to</a:t>
            </a:r>
            <a:r>
              <a:rPr lang="en-US" sz="2400" spc="-14" dirty="0">
                <a:solidFill>
                  <a:schemeClr val="tx1"/>
                </a:solidFill>
                <a:latin typeface="Times New Roman"/>
                <a:cs typeface="Times New Roman"/>
              </a:rPr>
              <a:t> </a:t>
            </a:r>
            <a:r>
              <a:rPr lang="en-US" sz="2400" spc="-45" dirty="0">
                <a:solidFill>
                  <a:schemeClr val="tx1"/>
                </a:solidFill>
                <a:latin typeface="Times New Roman"/>
                <a:cs typeface="Times New Roman"/>
              </a:rPr>
              <a:t>select</a:t>
            </a:r>
            <a:r>
              <a:rPr lang="en-US" sz="2400" spc="-14" dirty="0">
                <a:solidFill>
                  <a:schemeClr val="tx1"/>
                </a:solidFill>
                <a:latin typeface="Times New Roman"/>
                <a:cs typeface="Times New Roman"/>
              </a:rPr>
              <a:t> </a:t>
            </a:r>
            <a:r>
              <a:rPr lang="en-US" sz="2400" spc="-35" dirty="0">
                <a:solidFill>
                  <a:schemeClr val="tx1"/>
                </a:solidFill>
                <a:latin typeface="Times New Roman"/>
                <a:cs typeface="Times New Roman"/>
              </a:rPr>
              <a:t>the</a:t>
            </a:r>
            <a:r>
              <a:rPr lang="en-US" sz="2400" spc="-10" dirty="0">
                <a:solidFill>
                  <a:schemeClr val="tx1"/>
                </a:solidFill>
                <a:latin typeface="Times New Roman"/>
                <a:cs typeface="Times New Roman"/>
              </a:rPr>
              <a:t> </a:t>
            </a:r>
            <a:r>
              <a:rPr lang="en-US" sz="2400" spc="-40" dirty="0">
                <a:solidFill>
                  <a:schemeClr val="tx1"/>
                </a:solidFill>
                <a:latin typeface="Times New Roman"/>
                <a:cs typeface="Times New Roman"/>
              </a:rPr>
              <a:t>right</a:t>
            </a:r>
            <a:r>
              <a:rPr lang="en-US" sz="2400" spc="-14" dirty="0">
                <a:solidFill>
                  <a:schemeClr val="tx1"/>
                </a:solidFill>
                <a:latin typeface="Times New Roman"/>
                <a:cs typeface="Times New Roman"/>
              </a:rPr>
              <a:t> </a:t>
            </a:r>
            <a:r>
              <a:rPr lang="en-US" sz="2400" spc="-45" dirty="0">
                <a:solidFill>
                  <a:schemeClr val="tx1"/>
                </a:solidFill>
                <a:latin typeface="Times New Roman"/>
                <a:cs typeface="Times New Roman"/>
              </a:rPr>
              <a:t>type</a:t>
            </a:r>
            <a:r>
              <a:rPr lang="en-US" sz="2400" spc="-10" dirty="0">
                <a:solidFill>
                  <a:schemeClr val="tx1"/>
                </a:solidFill>
                <a:latin typeface="Times New Roman"/>
                <a:cs typeface="Times New Roman"/>
              </a:rPr>
              <a:t> </a:t>
            </a:r>
            <a:r>
              <a:rPr lang="en-US" sz="2400" spc="-25" dirty="0">
                <a:solidFill>
                  <a:schemeClr val="tx1"/>
                </a:solidFill>
                <a:latin typeface="Times New Roman"/>
                <a:cs typeface="Times New Roman"/>
              </a:rPr>
              <a:t>of</a:t>
            </a:r>
            <a:r>
              <a:rPr lang="en-US" sz="2400" spc="-4" dirty="0">
                <a:solidFill>
                  <a:schemeClr val="tx1"/>
                </a:solidFill>
                <a:latin typeface="Times New Roman"/>
                <a:cs typeface="Times New Roman"/>
              </a:rPr>
              <a:t> </a:t>
            </a:r>
            <a:r>
              <a:rPr lang="en-US" sz="2400" spc="-35" dirty="0">
                <a:solidFill>
                  <a:schemeClr val="tx1"/>
                </a:solidFill>
                <a:latin typeface="Times New Roman"/>
                <a:cs typeface="Times New Roman"/>
              </a:rPr>
              <a:t>iron</a:t>
            </a:r>
            <a:r>
              <a:rPr lang="en-US" sz="2400" spc="-14" dirty="0">
                <a:solidFill>
                  <a:schemeClr val="tx1"/>
                </a:solidFill>
                <a:latin typeface="Times New Roman"/>
                <a:cs typeface="Times New Roman"/>
              </a:rPr>
              <a:t> </a:t>
            </a:r>
            <a:r>
              <a:rPr lang="en-US" sz="2400" spc="-30" dirty="0">
                <a:solidFill>
                  <a:schemeClr val="tx1"/>
                </a:solidFill>
                <a:latin typeface="Times New Roman"/>
                <a:cs typeface="Times New Roman"/>
              </a:rPr>
              <a:t>ore</a:t>
            </a:r>
            <a:r>
              <a:rPr lang="en-US" sz="2400" spc="-20" dirty="0">
                <a:solidFill>
                  <a:schemeClr val="tx1"/>
                </a:solidFill>
                <a:latin typeface="Times New Roman"/>
                <a:cs typeface="Times New Roman"/>
              </a:rPr>
              <a:t> </a:t>
            </a:r>
            <a:r>
              <a:rPr lang="en-US" sz="2400" spc="-35" dirty="0">
                <a:solidFill>
                  <a:schemeClr val="tx1"/>
                </a:solidFill>
                <a:latin typeface="Times New Roman"/>
                <a:cs typeface="Times New Roman"/>
              </a:rPr>
              <a:t>and</a:t>
            </a:r>
            <a:r>
              <a:rPr lang="en-US" sz="2400" dirty="0" smtClean="0">
                <a:solidFill>
                  <a:schemeClr val="tx1"/>
                </a:solidFill>
                <a:latin typeface="Times New Roman"/>
                <a:cs typeface="Times New Roman"/>
              </a:rPr>
              <a:t> </a:t>
            </a:r>
            <a:r>
              <a:rPr lang="en-US" sz="2400" spc="-40" dirty="0">
                <a:solidFill>
                  <a:schemeClr val="tx1"/>
                </a:solidFill>
                <a:latin typeface="Times New Roman"/>
                <a:cs typeface="Times New Roman"/>
              </a:rPr>
              <a:t>process</a:t>
            </a:r>
            <a:r>
              <a:rPr lang="en-US" sz="2400" spc="-85" dirty="0">
                <a:solidFill>
                  <a:schemeClr val="tx1"/>
                </a:solidFill>
                <a:latin typeface="Times New Roman"/>
                <a:cs typeface="Times New Roman"/>
              </a:rPr>
              <a:t> </a:t>
            </a:r>
            <a:r>
              <a:rPr lang="en-US" sz="2400" spc="-35" dirty="0">
                <a:solidFill>
                  <a:schemeClr val="tx1"/>
                </a:solidFill>
                <a:latin typeface="Times New Roman"/>
                <a:cs typeface="Times New Roman"/>
              </a:rPr>
              <a:t>it</a:t>
            </a:r>
            <a:r>
              <a:rPr lang="en-US" sz="2400" spc="-85" dirty="0">
                <a:solidFill>
                  <a:schemeClr val="tx1"/>
                </a:solidFill>
                <a:latin typeface="Times New Roman"/>
                <a:cs typeface="Times New Roman"/>
              </a:rPr>
              <a:t> </a:t>
            </a:r>
            <a:r>
              <a:rPr lang="en-US" sz="2400" spc="-25" dirty="0">
                <a:solidFill>
                  <a:schemeClr val="tx1"/>
                </a:solidFill>
                <a:latin typeface="Times New Roman"/>
                <a:cs typeface="Times New Roman"/>
              </a:rPr>
              <a:t>in</a:t>
            </a:r>
            <a:r>
              <a:rPr lang="en-US" sz="2400" spc="-85" dirty="0">
                <a:solidFill>
                  <a:schemeClr val="tx1"/>
                </a:solidFill>
                <a:latin typeface="Times New Roman"/>
                <a:cs typeface="Times New Roman"/>
              </a:rPr>
              <a:t> </a:t>
            </a:r>
            <a:r>
              <a:rPr lang="en-US" sz="2400" spc="-30" dirty="0">
                <a:solidFill>
                  <a:schemeClr val="tx1"/>
                </a:solidFill>
                <a:latin typeface="Times New Roman"/>
                <a:cs typeface="Times New Roman"/>
              </a:rPr>
              <a:t>the</a:t>
            </a:r>
            <a:r>
              <a:rPr lang="en-US" sz="2400" spc="-90" dirty="0">
                <a:solidFill>
                  <a:schemeClr val="tx1"/>
                </a:solidFill>
                <a:latin typeface="Times New Roman"/>
                <a:cs typeface="Times New Roman"/>
              </a:rPr>
              <a:t> </a:t>
            </a:r>
            <a:r>
              <a:rPr lang="en-US" sz="2400" spc="-40" dirty="0">
                <a:solidFill>
                  <a:schemeClr val="tx1"/>
                </a:solidFill>
                <a:latin typeface="Times New Roman"/>
                <a:cs typeface="Times New Roman"/>
              </a:rPr>
              <a:t>right</a:t>
            </a:r>
            <a:r>
              <a:rPr lang="en-US" sz="2400" spc="-85" dirty="0">
                <a:solidFill>
                  <a:schemeClr val="tx1"/>
                </a:solidFill>
                <a:latin typeface="Times New Roman"/>
                <a:cs typeface="Times New Roman"/>
              </a:rPr>
              <a:t> </a:t>
            </a:r>
            <a:r>
              <a:rPr lang="en-US" sz="2400" spc="-30" dirty="0">
                <a:solidFill>
                  <a:schemeClr val="tx1"/>
                </a:solidFill>
                <a:latin typeface="Times New Roman"/>
                <a:cs typeface="Times New Roman"/>
              </a:rPr>
              <a:t>way</a:t>
            </a:r>
            <a:r>
              <a:rPr lang="en-US" sz="2400" spc="-110" dirty="0">
                <a:solidFill>
                  <a:schemeClr val="tx1"/>
                </a:solidFill>
                <a:latin typeface="Times New Roman"/>
                <a:cs typeface="Times New Roman"/>
              </a:rPr>
              <a:t> </a:t>
            </a:r>
            <a:r>
              <a:rPr lang="en-US" sz="2400" spc="-30" dirty="0">
                <a:solidFill>
                  <a:schemeClr val="tx1"/>
                </a:solidFill>
                <a:latin typeface="Times New Roman"/>
                <a:cs typeface="Times New Roman"/>
              </a:rPr>
              <a:t>for</a:t>
            </a:r>
            <a:r>
              <a:rPr lang="en-US" sz="2400" spc="-80" dirty="0">
                <a:solidFill>
                  <a:schemeClr val="tx1"/>
                </a:solidFill>
                <a:latin typeface="Times New Roman"/>
                <a:cs typeface="Times New Roman"/>
              </a:rPr>
              <a:t> </a:t>
            </a:r>
            <a:r>
              <a:rPr lang="en-US" sz="2400" spc="-35" dirty="0">
                <a:solidFill>
                  <a:schemeClr val="tx1"/>
                </a:solidFill>
                <a:latin typeface="Times New Roman"/>
                <a:cs typeface="Times New Roman"/>
              </a:rPr>
              <a:t>such</a:t>
            </a:r>
            <a:r>
              <a:rPr lang="en-US" sz="2400" spc="-85" dirty="0">
                <a:solidFill>
                  <a:schemeClr val="tx1"/>
                </a:solidFill>
                <a:latin typeface="Times New Roman"/>
                <a:cs typeface="Times New Roman"/>
              </a:rPr>
              <a:t> </a:t>
            </a:r>
            <a:r>
              <a:rPr lang="en-US" sz="2400" spc="-45" dirty="0">
                <a:solidFill>
                  <a:schemeClr val="tx1"/>
                </a:solidFill>
                <a:latin typeface="Times New Roman"/>
                <a:cs typeface="Times New Roman"/>
              </a:rPr>
              <a:t>monumental</a:t>
            </a:r>
            <a:r>
              <a:rPr lang="en-US" sz="2400" spc="-85" dirty="0">
                <a:solidFill>
                  <a:schemeClr val="tx1"/>
                </a:solidFill>
                <a:latin typeface="Times New Roman"/>
                <a:cs typeface="Times New Roman"/>
              </a:rPr>
              <a:t> </a:t>
            </a:r>
            <a:r>
              <a:rPr lang="en-US" sz="2400" spc="-45" dirty="0">
                <a:solidFill>
                  <a:schemeClr val="tx1"/>
                </a:solidFill>
                <a:latin typeface="Times New Roman"/>
                <a:cs typeface="Times New Roman"/>
              </a:rPr>
              <a:t>pillars</a:t>
            </a:r>
            <a:r>
              <a:rPr lang="en-US" sz="2400" spc="-45" dirty="0">
                <a:latin typeface="Times New Roman"/>
                <a:cs typeface="Times New Roman"/>
              </a:rPr>
              <a:t>. </a:t>
            </a:r>
            <a:endParaRPr lang="en-US" sz="2400" spc="-45" dirty="0" smtClean="0">
              <a:latin typeface="Times New Roman"/>
              <a:cs typeface="Times New Roman"/>
            </a:endParaRPr>
          </a:p>
        </p:txBody>
      </p:sp>
    </p:spTree>
    <p:extLst>
      <p:ext uri="{BB962C8B-B14F-4D97-AF65-F5344CB8AC3E}">
        <p14:creationId xmlns:p14="http://schemas.microsoft.com/office/powerpoint/2010/main" val="129548993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Content Placeholder 3"/>
          <p:cNvSpPr>
            <a:spLocks noGrp="1"/>
          </p:cNvSpPr>
          <p:nvPr>
            <p:ph sz="quarter" idx="13"/>
          </p:nvPr>
        </p:nvSpPr>
        <p:spPr>
          <a:xfrm>
            <a:off x="753863" y="1066800"/>
            <a:ext cx="8550157" cy="5496561"/>
          </a:xfrm>
        </p:spPr>
        <p:txBody>
          <a:bodyPr>
            <a:normAutofit/>
          </a:bodyPr>
          <a:lstStyle/>
          <a:p>
            <a:pPr marL="12691" marR="6983" lvl="0" indent="456244" algn="just" defTabSz="457200">
              <a:lnSpc>
                <a:spcPct val="150000"/>
              </a:lnSpc>
              <a:spcBef>
                <a:spcPts val="4"/>
              </a:spcBef>
              <a:buClrTx/>
              <a:buNone/>
            </a:pPr>
            <a:r>
              <a:rPr lang="en-US" sz="2400" cap="none" spc="-30" dirty="0">
                <a:solidFill>
                  <a:prstClr val="black"/>
                </a:solidFill>
                <a:latin typeface="Times New Roman"/>
                <a:cs typeface="Times New Roman"/>
              </a:rPr>
              <a:t>There </a:t>
            </a:r>
            <a:r>
              <a:rPr lang="en-US" sz="2400" cap="none" spc="-20" dirty="0">
                <a:solidFill>
                  <a:prstClr val="black"/>
                </a:solidFill>
                <a:latin typeface="Times New Roman"/>
                <a:cs typeface="Times New Roman"/>
              </a:rPr>
              <a:t>are</a:t>
            </a:r>
            <a:r>
              <a:rPr lang="en-US" sz="2400" cap="none" spc="-45" dirty="0">
                <a:solidFill>
                  <a:prstClr val="black"/>
                </a:solidFill>
                <a:latin typeface="Times New Roman"/>
                <a:cs typeface="Times New Roman"/>
              </a:rPr>
              <a:t> </a:t>
            </a:r>
            <a:r>
              <a:rPr lang="en-US" sz="2400" cap="none" dirty="0">
                <a:solidFill>
                  <a:prstClr val="black"/>
                </a:solidFill>
                <a:latin typeface="Times New Roman"/>
                <a:cs typeface="Times New Roman"/>
              </a:rPr>
              <a:t>a</a:t>
            </a:r>
            <a:r>
              <a:rPr lang="en-US" sz="2400" cap="none" spc="-45" dirty="0">
                <a:solidFill>
                  <a:prstClr val="black"/>
                </a:solidFill>
                <a:latin typeface="Times New Roman"/>
                <a:cs typeface="Times New Roman"/>
              </a:rPr>
              <a:t> </a:t>
            </a:r>
            <a:r>
              <a:rPr lang="en-US" sz="2400" cap="none" spc="-20" dirty="0">
                <a:solidFill>
                  <a:prstClr val="black"/>
                </a:solidFill>
                <a:latin typeface="Times New Roman"/>
                <a:cs typeface="Times New Roman"/>
              </a:rPr>
              <a:t>few</a:t>
            </a:r>
            <a:r>
              <a:rPr lang="en-US" sz="2400" cap="none" spc="-35" dirty="0">
                <a:solidFill>
                  <a:prstClr val="black"/>
                </a:solidFill>
                <a:latin typeface="Times New Roman"/>
                <a:cs typeface="Times New Roman"/>
              </a:rPr>
              <a:t> </a:t>
            </a:r>
            <a:r>
              <a:rPr lang="en-US" sz="2400" cap="none" spc="-25" dirty="0">
                <a:solidFill>
                  <a:prstClr val="black"/>
                </a:solidFill>
                <a:latin typeface="Times New Roman"/>
                <a:cs typeface="Times New Roman"/>
              </a:rPr>
              <a:t>more</a:t>
            </a:r>
            <a:r>
              <a:rPr lang="en-US" sz="2400" cap="none" spc="-45" dirty="0">
                <a:solidFill>
                  <a:prstClr val="black"/>
                </a:solidFill>
                <a:latin typeface="Times New Roman"/>
                <a:cs typeface="Times New Roman"/>
              </a:rPr>
              <a:t> </a:t>
            </a:r>
            <a:r>
              <a:rPr lang="en-US" sz="2400" cap="none" spc="-25" dirty="0">
                <a:solidFill>
                  <a:prstClr val="black"/>
                </a:solidFill>
                <a:latin typeface="Times New Roman"/>
                <a:cs typeface="Times New Roman"/>
              </a:rPr>
              <a:t>such</a:t>
            </a:r>
            <a:r>
              <a:rPr lang="en-US" sz="2400" cap="none" spc="-40" dirty="0">
                <a:solidFill>
                  <a:prstClr val="black"/>
                </a:solidFill>
                <a:latin typeface="Times New Roman"/>
                <a:cs typeface="Times New Roman"/>
              </a:rPr>
              <a:t> </a:t>
            </a:r>
            <a:r>
              <a:rPr lang="en-US" sz="2400" cap="none" spc="-35" dirty="0">
                <a:solidFill>
                  <a:prstClr val="black"/>
                </a:solidFill>
                <a:latin typeface="Times New Roman"/>
                <a:cs typeface="Times New Roman"/>
              </a:rPr>
              <a:t>pillars</a:t>
            </a:r>
            <a:r>
              <a:rPr lang="en-US" sz="2400" cap="none" spc="-30" dirty="0">
                <a:solidFill>
                  <a:prstClr val="black"/>
                </a:solidFill>
                <a:latin typeface="Times New Roman"/>
                <a:cs typeface="Times New Roman"/>
              </a:rPr>
              <a:t> </a:t>
            </a:r>
            <a:r>
              <a:rPr lang="en-US" sz="2400" cap="none" dirty="0">
                <a:solidFill>
                  <a:prstClr val="black"/>
                </a:solidFill>
                <a:latin typeface="Times New Roman"/>
                <a:cs typeface="Times New Roman"/>
              </a:rPr>
              <a:t>in</a:t>
            </a:r>
            <a:r>
              <a:rPr lang="en-US" sz="2400" cap="none" spc="-25" dirty="0">
                <a:solidFill>
                  <a:prstClr val="black"/>
                </a:solidFill>
                <a:latin typeface="Times New Roman"/>
                <a:cs typeface="Times New Roman"/>
              </a:rPr>
              <a:t> </a:t>
            </a:r>
            <a:r>
              <a:rPr lang="en-US" sz="2400" cap="none" spc="-35" dirty="0">
                <a:solidFill>
                  <a:prstClr val="black"/>
                </a:solidFill>
                <a:latin typeface="Times New Roman"/>
                <a:cs typeface="Times New Roman"/>
              </a:rPr>
              <a:t>India,</a:t>
            </a:r>
            <a:r>
              <a:rPr lang="en-US" sz="2400" cap="none" spc="-40" dirty="0">
                <a:solidFill>
                  <a:prstClr val="black"/>
                </a:solidFill>
                <a:latin typeface="Times New Roman"/>
                <a:cs typeface="Times New Roman"/>
              </a:rPr>
              <a:t> </a:t>
            </a:r>
            <a:r>
              <a:rPr lang="en-US" sz="2400" cap="none" spc="-10" dirty="0">
                <a:solidFill>
                  <a:prstClr val="black"/>
                </a:solidFill>
                <a:latin typeface="Times New Roman"/>
                <a:cs typeface="Times New Roman"/>
              </a:rPr>
              <a:t>for</a:t>
            </a:r>
            <a:r>
              <a:rPr lang="en-US" sz="2400" cap="none" spc="-40" dirty="0">
                <a:solidFill>
                  <a:prstClr val="black"/>
                </a:solidFill>
                <a:latin typeface="Times New Roman"/>
                <a:cs typeface="Times New Roman"/>
              </a:rPr>
              <a:t> instance</a:t>
            </a:r>
            <a:r>
              <a:rPr lang="en-US" sz="2400" cap="none" spc="-30" dirty="0">
                <a:solidFill>
                  <a:prstClr val="black"/>
                </a:solidFill>
                <a:latin typeface="Times New Roman"/>
                <a:cs typeface="Times New Roman"/>
              </a:rPr>
              <a:t> </a:t>
            </a:r>
            <a:r>
              <a:rPr lang="en-US" sz="2400" cap="none" dirty="0">
                <a:solidFill>
                  <a:prstClr val="black"/>
                </a:solidFill>
                <a:latin typeface="Times New Roman"/>
                <a:cs typeface="Times New Roman"/>
              </a:rPr>
              <a:t>at</a:t>
            </a:r>
          </a:p>
          <a:p>
            <a:pPr marL="858511" marR="6983" lvl="1" indent="-342900" algn="just" defTabSz="457200">
              <a:lnSpc>
                <a:spcPct val="150000"/>
              </a:lnSpc>
              <a:spcBef>
                <a:spcPts val="4"/>
              </a:spcBef>
              <a:buClrTx/>
            </a:pPr>
            <a:r>
              <a:rPr lang="en-US" sz="2180" cap="none" spc="-35" dirty="0">
                <a:solidFill>
                  <a:srgbClr val="00B0F0"/>
                </a:solidFill>
                <a:latin typeface="Times New Roman"/>
                <a:cs typeface="Times New Roman"/>
              </a:rPr>
              <a:t>  </a:t>
            </a:r>
            <a:r>
              <a:rPr lang="en-US" sz="2400" cap="none" spc="-20" dirty="0" err="1">
                <a:solidFill>
                  <a:srgbClr val="00B0F0"/>
                </a:solidFill>
                <a:latin typeface="Times New Roman"/>
                <a:cs typeface="Times New Roman"/>
              </a:rPr>
              <a:t>Dhar</a:t>
            </a:r>
            <a:r>
              <a:rPr lang="en-US" sz="2400" cap="none" spc="-35" dirty="0">
                <a:solidFill>
                  <a:srgbClr val="00B0F0"/>
                </a:solidFill>
                <a:latin typeface="Times New Roman"/>
                <a:cs typeface="Times New Roman"/>
              </a:rPr>
              <a:t> </a:t>
            </a:r>
            <a:r>
              <a:rPr lang="en-US" sz="2400" cap="none" spc="-40" dirty="0">
                <a:solidFill>
                  <a:srgbClr val="00B0F0"/>
                </a:solidFill>
                <a:latin typeface="Times New Roman"/>
                <a:cs typeface="Times New Roman"/>
              </a:rPr>
              <a:t>(Madhya</a:t>
            </a:r>
            <a:r>
              <a:rPr lang="en-US" sz="2400" cap="none" spc="-30" dirty="0">
                <a:solidFill>
                  <a:srgbClr val="00B0F0"/>
                </a:solidFill>
                <a:latin typeface="Times New Roman"/>
                <a:cs typeface="Times New Roman"/>
              </a:rPr>
              <a:t> </a:t>
            </a:r>
            <a:r>
              <a:rPr lang="en-US" sz="2400" cap="none" spc="-40" dirty="0">
                <a:solidFill>
                  <a:srgbClr val="00B0F0"/>
                </a:solidFill>
                <a:latin typeface="Times New Roman"/>
                <a:cs typeface="Times New Roman"/>
              </a:rPr>
              <a:t>Pradesh)</a:t>
            </a:r>
            <a:r>
              <a:rPr lang="en-US" sz="2400" cap="none" spc="-30" dirty="0">
                <a:solidFill>
                  <a:srgbClr val="00B0F0"/>
                </a:solidFill>
                <a:latin typeface="Times New Roman"/>
                <a:cs typeface="Times New Roman"/>
              </a:rPr>
              <a:t> </a:t>
            </a:r>
            <a:r>
              <a:rPr lang="en-US" sz="2400" cap="none" spc="-20" dirty="0">
                <a:solidFill>
                  <a:srgbClr val="00B0F0"/>
                </a:solidFill>
                <a:latin typeface="Times New Roman"/>
                <a:cs typeface="Times New Roman"/>
              </a:rPr>
              <a:t>and</a:t>
            </a:r>
            <a:r>
              <a:rPr lang="en-US" sz="2400" cap="none" spc="-40" dirty="0">
                <a:solidFill>
                  <a:srgbClr val="00B0F0"/>
                </a:solidFill>
                <a:latin typeface="Times New Roman"/>
                <a:cs typeface="Times New Roman"/>
              </a:rPr>
              <a:t> </a:t>
            </a:r>
          </a:p>
          <a:p>
            <a:pPr marL="858511" marR="6983" lvl="1" indent="-342900" algn="just" defTabSz="457200">
              <a:lnSpc>
                <a:spcPct val="150000"/>
              </a:lnSpc>
              <a:spcBef>
                <a:spcPts val="4"/>
              </a:spcBef>
              <a:buClrTx/>
            </a:pPr>
            <a:r>
              <a:rPr lang="en-US" sz="2400" cap="none" spc="-10" dirty="0">
                <a:solidFill>
                  <a:srgbClr val="00B0F0"/>
                </a:solidFill>
                <a:latin typeface="Times New Roman"/>
                <a:cs typeface="Times New Roman"/>
              </a:rPr>
              <a:t> </a:t>
            </a:r>
            <a:r>
              <a:rPr lang="en-US" sz="2400" cap="none" spc="-10" dirty="0" err="1">
                <a:solidFill>
                  <a:srgbClr val="00B0F0"/>
                </a:solidFill>
                <a:latin typeface="Times New Roman"/>
                <a:cs typeface="Times New Roman"/>
              </a:rPr>
              <a:t>Kodachadri</a:t>
            </a:r>
            <a:r>
              <a:rPr lang="en-US" sz="2400" cap="none" spc="-10" dirty="0">
                <a:solidFill>
                  <a:srgbClr val="00B0F0"/>
                </a:solidFill>
                <a:latin typeface="Times New Roman"/>
                <a:cs typeface="Times New Roman"/>
              </a:rPr>
              <a:t> Hill</a:t>
            </a:r>
            <a:r>
              <a:rPr lang="en-US" sz="2400" cap="none" spc="-30" dirty="0">
                <a:solidFill>
                  <a:srgbClr val="00B0F0"/>
                </a:solidFill>
                <a:latin typeface="Times New Roman"/>
                <a:cs typeface="Times New Roman"/>
              </a:rPr>
              <a:t> </a:t>
            </a:r>
            <a:r>
              <a:rPr lang="en-US" sz="2400" cap="none" spc="-35" dirty="0">
                <a:solidFill>
                  <a:srgbClr val="00B0F0"/>
                </a:solidFill>
                <a:latin typeface="Times New Roman"/>
                <a:cs typeface="Times New Roman"/>
              </a:rPr>
              <a:t>(coastal</a:t>
            </a:r>
            <a:r>
              <a:rPr lang="en-US" sz="2400" cap="none" spc="-20" dirty="0">
                <a:solidFill>
                  <a:srgbClr val="00B0F0"/>
                </a:solidFill>
                <a:latin typeface="Times New Roman"/>
                <a:cs typeface="Times New Roman"/>
              </a:rPr>
              <a:t> </a:t>
            </a:r>
            <a:r>
              <a:rPr lang="en-US" sz="2400" cap="none" spc="-40" dirty="0">
                <a:solidFill>
                  <a:srgbClr val="00B0F0"/>
                </a:solidFill>
                <a:latin typeface="Times New Roman"/>
                <a:cs typeface="Times New Roman"/>
              </a:rPr>
              <a:t>Karnataka).</a:t>
            </a:r>
            <a:r>
              <a:rPr lang="en-US" sz="2400" cap="none" spc="-20" dirty="0">
                <a:solidFill>
                  <a:srgbClr val="00B0F0"/>
                </a:solidFill>
                <a:latin typeface="Times New Roman"/>
                <a:cs typeface="Times New Roman"/>
              </a:rPr>
              <a:t> </a:t>
            </a:r>
          </a:p>
          <a:p>
            <a:pPr marL="12691" marR="6983" lvl="0" indent="0" algn="just" defTabSz="457200">
              <a:lnSpc>
                <a:spcPct val="150000"/>
              </a:lnSpc>
              <a:spcBef>
                <a:spcPts val="0"/>
              </a:spcBef>
              <a:buClrTx/>
              <a:buNone/>
            </a:pPr>
            <a:r>
              <a:rPr lang="en-US" sz="2400" cap="none" spc="-35" dirty="0">
                <a:solidFill>
                  <a:prstClr val="black"/>
                </a:solidFill>
                <a:latin typeface="Times New Roman"/>
                <a:cs typeface="Times New Roman"/>
              </a:rPr>
              <a:t>Besides,</a:t>
            </a:r>
            <a:r>
              <a:rPr lang="en-US" sz="2400" cap="none" spc="-30" dirty="0">
                <a:solidFill>
                  <a:prstClr val="black"/>
                </a:solidFill>
                <a:latin typeface="Times New Roman"/>
                <a:cs typeface="Times New Roman"/>
              </a:rPr>
              <a:t> </a:t>
            </a:r>
            <a:r>
              <a:rPr lang="en-US" sz="2400" cap="none" dirty="0">
                <a:solidFill>
                  <a:prstClr val="black"/>
                </a:solidFill>
                <a:latin typeface="Times New Roman"/>
                <a:cs typeface="Times New Roman"/>
              </a:rPr>
              <a:t>the</a:t>
            </a:r>
            <a:r>
              <a:rPr lang="en-US" sz="2400" cap="none" spc="-25" dirty="0">
                <a:solidFill>
                  <a:prstClr val="black"/>
                </a:solidFill>
                <a:latin typeface="Times New Roman"/>
                <a:cs typeface="Times New Roman"/>
              </a:rPr>
              <a:t> </a:t>
            </a:r>
            <a:r>
              <a:rPr lang="en-US" sz="2400" cap="none" spc="-20" dirty="0">
                <a:solidFill>
                  <a:prstClr val="black"/>
                </a:solidFill>
                <a:latin typeface="Times New Roman"/>
                <a:cs typeface="Times New Roman"/>
              </a:rPr>
              <a:t>same</a:t>
            </a:r>
            <a:r>
              <a:rPr lang="en-US" sz="2400" cap="none" spc="-35" dirty="0">
                <a:solidFill>
                  <a:prstClr val="black"/>
                </a:solidFill>
                <a:latin typeface="Times New Roman"/>
                <a:cs typeface="Times New Roman"/>
              </a:rPr>
              <a:t> </a:t>
            </a:r>
            <a:r>
              <a:rPr lang="en-US" sz="2400" cap="none" spc="-40" dirty="0">
                <a:solidFill>
                  <a:prstClr val="black"/>
                </a:solidFill>
                <a:latin typeface="Times New Roman"/>
                <a:cs typeface="Times New Roman"/>
              </a:rPr>
              <a:t>technology</a:t>
            </a:r>
            <a:r>
              <a:rPr lang="en-US" sz="2400" cap="none" spc="-35" dirty="0">
                <a:solidFill>
                  <a:prstClr val="black"/>
                </a:solidFill>
                <a:latin typeface="Times New Roman"/>
                <a:cs typeface="Times New Roman"/>
              </a:rPr>
              <a:t> </a:t>
            </a:r>
            <a:r>
              <a:rPr lang="en-US" sz="2400" cap="none" dirty="0">
                <a:solidFill>
                  <a:prstClr val="black"/>
                </a:solidFill>
                <a:latin typeface="Times New Roman"/>
                <a:cs typeface="Times New Roman"/>
              </a:rPr>
              <a:t>was</a:t>
            </a:r>
            <a:r>
              <a:rPr lang="en-US" sz="2400" cap="none" spc="-20" dirty="0">
                <a:solidFill>
                  <a:prstClr val="black"/>
                </a:solidFill>
                <a:latin typeface="Times New Roman"/>
                <a:cs typeface="Times New Roman"/>
              </a:rPr>
              <a:t> </a:t>
            </a:r>
            <a:r>
              <a:rPr lang="en-US" sz="2400" cap="none" spc="-10" dirty="0">
                <a:solidFill>
                  <a:prstClr val="black"/>
                </a:solidFill>
                <a:latin typeface="Times New Roman"/>
                <a:cs typeface="Times New Roman"/>
              </a:rPr>
              <a:t>used</a:t>
            </a:r>
            <a:r>
              <a:rPr lang="en-US" sz="2400" cap="none" spc="-20" dirty="0">
                <a:solidFill>
                  <a:prstClr val="black"/>
                </a:solidFill>
                <a:latin typeface="Times New Roman"/>
                <a:cs typeface="Times New Roman"/>
              </a:rPr>
              <a:t> </a:t>
            </a:r>
            <a:r>
              <a:rPr lang="en-US" sz="2400" cap="none" dirty="0">
                <a:solidFill>
                  <a:prstClr val="black"/>
                </a:solidFill>
                <a:latin typeface="Times New Roman"/>
                <a:cs typeface="Times New Roman"/>
              </a:rPr>
              <a:t>to</a:t>
            </a:r>
            <a:r>
              <a:rPr lang="en-US" sz="2400" cap="none" spc="-30" dirty="0">
                <a:solidFill>
                  <a:prstClr val="black"/>
                </a:solidFill>
                <a:latin typeface="Times New Roman"/>
                <a:cs typeface="Times New Roman"/>
              </a:rPr>
              <a:t> </a:t>
            </a:r>
            <a:r>
              <a:rPr lang="en-US" sz="2400" cap="none" spc="-40" dirty="0">
                <a:solidFill>
                  <a:prstClr val="black"/>
                </a:solidFill>
                <a:latin typeface="Times New Roman"/>
                <a:cs typeface="Times New Roman"/>
              </a:rPr>
              <a:t>manufacture</a:t>
            </a:r>
            <a:r>
              <a:rPr lang="en-US" sz="2400" cap="none" spc="-25" dirty="0">
                <a:solidFill>
                  <a:prstClr val="black"/>
                </a:solidFill>
                <a:latin typeface="Times New Roman"/>
                <a:cs typeface="Times New Roman"/>
              </a:rPr>
              <a:t> </a:t>
            </a:r>
            <a:r>
              <a:rPr lang="en-US" sz="2400" cap="none" spc="-10" dirty="0">
                <a:solidFill>
                  <a:prstClr val="black"/>
                </a:solidFill>
                <a:latin typeface="Times New Roman"/>
                <a:cs typeface="Times New Roman"/>
              </a:rPr>
              <a:t>huge</a:t>
            </a:r>
            <a:r>
              <a:rPr lang="en-US" sz="2400" cap="none" spc="-25" dirty="0">
                <a:solidFill>
                  <a:prstClr val="black"/>
                </a:solidFill>
                <a:latin typeface="Times New Roman"/>
                <a:cs typeface="Times New Roman"/>
              </a:rPr>
              <a:t> </a:t>
            </a:r>
            <a:r>
              <a:rPr lang="en-US" sz="2400" cap="none" spc="-10" dirty="0">
                <a:solidFill>
                  <a:prstClr val="black"/>
                </a:solidFill>
                <a:latin typeface="Times New Roman"/>
                <a:cs typeface="Times New Roman"/>
              </a:rPr>
              <a:t>iron</a:t>
            </a:r>
            <a:r>
              <a:rPr lang="en-US" sz="2400" cap="none" spc="-35" dirty="0">
                <a:solidFill>
                  <a:prstClr val="black"/>
                </a:solidFill>
                <a:latin typeface="Times New Roman"/>
                <a:cs typeface="Times New Roman"/>
              </a:rPr>
              <a:t> </a:t>
            </a:r>
            <a:r>
              <a:rPr lang="en-US" sz="2400" cap="none" spc="-25" dirty="0">
                <a:solidFill>
                  <a:prstClr val="black"/>
                </a:solidFill>
                <a:latin typeface="Times New Roman"/>
                <a:cs typeface="Times New Roman"/>
              </a:rPr>
              <a:t>beams</a:t>
            </a:r>
            <a:r>
              <a:rPr lang="en-US" sz="2400" cap="none" spc="-20" dirty="0">
                <a:solidFill>
                  <a:prstClr val="black"/>
                </a:solidFill>
                <a:latin typeface="Times New Roman"/>
                <a:cs typeface="Times New Roman"/>
              </a:rPr>
              <a:t> used</a:t>
            </a:r>
            <a:r>
              <a:rPr lang="en-US" sz="2400" cap="none" spc="-30" dirty="0">
                <a:solidFill>
                  <a:prstClr val="black"/>
                </a:solidFill>
                <a:latin typeface="Times New Roman"/>
                <a:cs typeface="Times New Roman"/>
              </a:rPr>
              <a:t> </a:t>
            </a:r>
            <a:r>
              <a:rPr lang="en-US" sz="2400" cap="none" spc="-25" dirty="0">
                <a:solidFill>
                  <a:prstClr val="black"/>
                </a:solidFill>
                <a:latin typeface="Times New Roman"/>
                <a:cs typeface="Times New Roman"/>
              </a:rPr>
              <a:t>in </a:t>
            </a:r>
            <a:r>
              <a:rPr lang="en-US" sz="2400" cap="none" spc="-35" dirty="0">
                <a:solidFill>
                  <a:prstClr val="black"/>
                </a:solidFill>
                <a:latin typeface="Times New Roman"/>
                <a:cs typeface="Times New Roman"/>
              </a:rPr>
              <a:t>some</a:t>
            </a:r>
            <a:r>
              <a:rPr lang="en-US" sz="2400" cap="none" spc="-40" dirty="0">
                <a:solidFill>
                  <a:prstClr val="black"/>
                </a:solidFill>
                <a:latin typeface="Times New Roman"/>
                <a:cs typeface="Times New Roman"/>
              </a:rPr>
              <a:t> </a:t>
            </a:r>
            <a:r>
              <a:rPr lang="en-US" sz="2400" cap="none" spc="-45" dirty="0">
                <a:solidFill>
                  <a:prstClr val="black"/>
                </a:solidFill>
                <a:latin typeface="Times New Roman"/>
                <a:cs typeface="Times New Roman"/>
              </a:rPr>
              <a:t>temples</a:t>
            </a:r>
            <a:r>
              <a:rPr lang="en-US" sz="2400" cap="none" spc="-25" dirty="0">
                <a:solidFill>
                  <a:prstClr val="black"/>
                </a:solidFill>
                <a:latin typeface="Times New Roman"/>
                <a:cs typeface="Times New Roman"/>
              </a:rPr>
              <a:t> </a:t>
            </a:r>
            <a:r>
              <a:rPr lang="en-US" sz="2400" cap="none" spc="-10" dirty="0">
                <a:solidFill>
                  <a:prstClr val="black"/>
                </a:solidFill>
                <a:latin typeface="Times New Roman"/>
                <a:cs typeface="Times New Roman"/>
              </a:rPr>
              <a:t>of</a:t>
            </a:r>
            <a:r>
              <a:rPr lang="en-US" sz="2400" cap="none" spc="-14" dirty="0">
                <a:solidFill>
                  <a:prstClr val="black"/>
                </a:solidFill>
                <a:latin typeface="Times New Roman"/>
                <a:cs typeface="Times New Roman"/>
              </a:rPr>
              <a:t> </a:t>
            </a:r>
            <a:r>
              <a:rPr lang="en-US" sz="2400" cap="none" spc="-45" dirty="0">
                <a:solidFill>
                  <a:prstClr val="black"/>
                </a:solidFill>
                <a:latin typeface="Times New Roman"/>
                <a:cs typeface="Times New Roman"/>
              </a:rPr>
              <a:t>Odisha,</a:t>
            </a:r>
            <a:r>
              <a:rPr lang="en-US" sz="2400" cap="none" spc="-25" dirty="0">
                <a:solidFill>
                  <a:prstClr val="black"/>
                </a:solidFill>
                <a:latin typeface="Times New Roman"/>
                <a:cs typeface="Times New Roman"/>
              </a:rPr>
              <a:t> </a:t>
            </a:r>
            <a:r>
              <a:rPr lang="en-US" sz="2400" cap="none" spc="-45" dirty="0">
                <a:solidFill>
                  <a:prstClr val="black"/>
                </a:solidFill>
                <a:latin typeface="Times New Roman"/>
                <a:cs typeface="Times New Roman"/>
              </a:rPr>
              <a:t>such</a:t>
            </a:r>
            <a:r>
              <a:rPr lang="en-US" sz="2400" cap="none" spc="-10" dirty="0">
                <a:solidFill>
                  <a:prstClr val="black"/>
                </a:solidFill>
                <a:latin typeface="Times New Roman"/>
                <a:cs typeface="Times New Roman"/>
              </a:rPr>
              <a:t> </a:t>
            </a:r>
            <a:r>
              <a:rPr lang="en-US" sz="2400" cap="none" spc="-45" dirty="0">
                <a:solidFill>
                  <a:prstClr val="black"/>
                </a:solidFill>
                <a:latin typeface="Times New Roman"/>
                <a:cs typeface="Times New Roman"/>
              </a:rPr>
              <a:t>as</a:t>
            </a:r>
            <a:r>
              <a:rPr lang="en-US" sz="2400" cap="none" spc="-30" dirty="0">
                <a:solidFill>
                  <a:prstClr val="black"/>
                </a:solidFill>
                <a:latin typeface="Times New Roman"/>
                <a:cs typeface="Times New Roman"/>
              </a:rPr>
              <a:t> </a:t>
            </a:r>
          </a:p>
          <a:p>
            <a:pPr marL="858512" marR="6983" lvl="1" indent="-342900" algn="just" defTabSz="457200">
              <a:lnSpc>
                <a:spcPct val="150000"/>
              </a:lnSpc>
              <a:spcBef>
                <a:spcPts val="0"/>
              </a:spcBef>
              <a:buClrTx/>
            </a:pPr>
            <a:r>
              <a:rPr lang="en-US" sz="2400" cap="none" spc="-45" dirty="0" err="1">
                <a:solidFill>
                  <a:srgbClr val="00B050"/>
                </a:solidFill>
                <a:latin typeface="Times New Roman"/>
                <a:cs typeface="Times New Roman"/>
              </a:rPr>
              <a:t>Jagannath</a:t>
            </a:r>
            <a:r>
              <a:rPr lang="en-US" sz="2400" cap="none" spc="-25" dirty="0">
                <a:solidFill>
                  <a:srgbClr val="00B050"/>
                </a:solidFill>
                <a:latin typeface="Times New Roman"/>
                <a:cs typeface="Times New Roman"/>
              </a:rPr>
              <a:t> </a:t>
            </a:r>
            <a:r>
              <a:rPr lang="en-US" sz="2400" cap="none" spc="-30" dirty="0">
                <a:solidFill>
                  <a:srgbClr val="00B050"/>
                </a:solidFill>
                <a:latin typeface="Times New Roman"/>
                <a:cs typeface="Times New Roman"/>
              </a:rPr>
              <a:t>of</a:t>
            </a:r>
            <a:r>
              <a:rPr lang="en-US" sz="2400" cap="none" spc="-35" dirty="0">
                <a:solidFill>
                  <a:srgbClr val="00B050"/>
                </a:solidFill>
                <a:latin typeface="Times New Roman"/>
                <a:cs typeface="Times New Roman"/>
              </a:rPr>
              <a:t> </a:t>
            </a:r>
            <a:r>
              <a:rPr lang="en-US" sz="2400" cap="none" spc="-45" dirty="0" err="1">
                <a:solidFill>
                  <a:srgbClr val="00B050"/>
                </a:solidFill>
                <a:latin typeface="Times New Roman"/>
                <a:cs typeface="Times New Roman"/>
              </a:rPr>
              <a:t>Puri</a:t>
            </a:r>
            <a:r>
              <a:rPr lang="en-US" sz="2400" cap="none" spc="-25" dirty="0">
                <a:solidFill>
                  <a:srgbClr val="00B050"/>
                </a:solidFill>
                <a:latin typeface="Times New Roman"/>
                <a:cs typeface="Times New Roman"/>
              </a:rPr>
              <a:t> </a:t>
            </a:r>
            <a:r>
              <a:rPr lang="en-US" sz="2400" cap="none" spc="-40" dirty="0">
                <a:solidFill>
                  <a:srgbClr val="00B050"/>
                </a:solidFill>
                <a:latin typeface="Times New Roman"/>
                <a:cs typeface="Times New Roman"/>
              </a:rPr>
              <a:t>(12th</a:t>
            </a:r>
            <a:r>
              <a:rPr lang="en-US" sz="2400" cap="none" spc="-25" dirty="0">
                <a:solidFill>
                  <a:srgbClr val="00B050"/>
                </a:solidFill>
                <a:latin typeface="Times New Roman"/>
                <a:cs typeface="Times New Roman"/>
              </a:rPr>
              <a:t> </a:t>
            </a:r>
            <a:r>
              <a:rPr lang="en-US" sz="2400" cap="none" spc="-45" dirty="0">
                <a:solidFill>
                  <a:srgbClr val="00B050"/>
                </a:solidFill>
                <a:latin typeface="Times New Roman"/>
                <a:cs typeface="Times New Roman"/>
              </a:rPr>
              <a:t>century)</a:t>
            </a:r>
            <a:r>
              <a:rPr lang="en-US" sz="2400" cap="none" spc="-45" dirty="0">
                <a:solidFill>
                  <a:prstClr val="black"/>
                </a:solidFill>
                <a:latin typeface="Times New Roman"/>
                <a:cs typeface="Times New Roman"/>
              </a:rPr>
              <a:t>.</a:t>
            </a:r>
            <a:r>
              <a:rPr lang="en-US" sz="2400" cap="none" spc="-10" dirty="0">
                <a:solidFill>
                  <a:prstClr val="black"/>
                </a:solidFill>
                <a:latin typeface="Times New Roman"/>
                <a:cs typeface="Times New Roman"/>
              </a:rPr>
              <a:t> </a:t>
            </a:r>
          </a:p>
          <a:p>
            <a:pPr marL="858512" marR="6983" lvl="1" indent="-342900" algn="just" defTabSz="457200">
              <a:lnSpc>
                <a:spcPct val="150000"/>
              </a:lnSpc>
              <a:spcBef>
                <a:spcPts val="0"/>
              </a:spcBef>
              <a:buClrTx/>
            </a:pPr>
            <a:r>
              <a:rPr lang="en-US" sz="2400" cap="none" spc="-40" dirty="0">
                <a:solidFill>
                  <a:srgbClr val="00B050"/>
                </a:solidFill>
                <a:latin typeface="Times New Roman"/>
                <a:cs typeface="Times New Roman"/>
              </a:rPr>
              <a:t>The</a:t>
            </a:r>
            <a:r>
              <a:rPr lang="en-US" sz="2400" cap="none" spc="-35" dirty="0">
                <a:solidFill>
                  <a:srgbClr val="00B050"/>
                </a:solidFill>
                <a:latin typeface="Times New Roman"/>
                <a:cs typeface="Times New Roman"/>
              </a:rPr>
              <a:t> iron</a:t>
            </a:r>
            <a:r>
              <a:rPr lang="en-US" sz="2400" cap="none" spc="-25" dirty="0">
                <a:solidFill>
                  <a:srgbClr val="00B050"/>
                </a:solidFill>
                <a:latin typeface="Times New Roman"/>
                <a:cs typeface="Times New Roman"/>
              </a:rPr>
              <a:t> </a:t>
            </a:r>
            <a:r>
              <a:rPr lang="en-US" sz="2400" cap="none" spc="-40" dirty="0">
                <a:solidFill>
                  <a:srgbClr val="00B050"/>
                </a:solidFill>
                <a:latin typeface="Times New Roman"/>
                <a:cs typeface="Times New Roman"/>
              </a:rPr>
              <a:t>beams</a:t>
            </a:r>
            <a:r>
              <a:rPr lang="en-US" sz="2400" cap="none" spc="-4" dirty="0">
                <a:solidFill>
                  <a:srgbClr val="00B050"/>
                </a:solidFill>
                <a:latin typeface="Times New Roman"/>
                <a:cs typeface="Times New Roman"/>
              </a:rPr>
              <a:t> </a:t>
            </a:r>
            <a:r>
              <a:rPr lang="en-US" sz="2400" cap="none" spc="-50" dirty="0">
                <a:solidFill>
                  <a:srgbClr val="00B050"/>
                </a:solidFill>
                <a:latin typeface="Times New Roman"/>
                <a:cs typeface="Times New Roman"/>
              </a:rPr>
              <a:t>at</a:t>
            </a:r>
            <a:r>
              <a:rPr lang="en-US" sz="2400" cap="none" spc="-25" dirty="0">
                <a:solidFill>
                  <a:srgbClr val="00B050"/>
                </a:solidFill>
                <a:latin typeface="Times New Roman"/>
                <a:cs typeface="Times New Roman"/>
              </a:rPr>
              <a:t> </a:t>
            </a:r>
            <a:r>
              <a:rPr lang="en-US" sz="2400" cap="none" spc="-45" dirty="0" err="1">
                <a:solidFill>
                  <a:srgbClr val="00B050"/>
                </a:solidFill>
                <a:latin typeface="Times New Roman"/>
                <a:cs typeface="Times New Roman"/>
              </a:rPr>
              <a:t>Konarak‘s</a:t>
            </a:r>
            <a:r>
              <a:rPr lang="en-US" sz="2400" cap="none" spc="-10" dirty="0">
                <a:solidFill>
                  <a:srgbClr val="00B050"/>
                </a:solidFill>
                <a:latin typeface="Times New Roman"/>
                <a:cs typeface="Times New Roman"/>
              </a:rPr>
              <a:t> </a:t>
            </a:r>
            <a:r>
              <a:rPr lang="en-US" sz="2400" cap="none" spc="-45" dirty="0">
                <a:solidFill>
                  <a:srgbClr val="00B050"/>
                </a:solidFill>
                <a:latin typeface="Times New Roman"/>
                <a:cs typeface="Times New Roman"/>
              </a:rPr>
              <a:t>famous</a:t>
            </a:r>
            <a:r>
              <a:rPr lang="en-US" sz="2400" cap="none" spc="-25" dirty="0">
                <a:solidFill>
                  <a:srgbClr val="00B050"/>
                </a:solidFill>
                <a:latin typeface="Times New Roman"/>
                <a:cs typeface="Times New Roman"/>
              </a:rPr>
              <a:t> sun </a:t>
            </a:r>
            <a:r>
              <a:rPr lang="en-US" sz="2400" cap="none" spc="-40" dirty="0">
                <a:solidFill>
                  <a:srgbClr val="00B050"/>
                </a:solidFill>
                <a:latin typeface="Times New Roman"/>
                <a:cs typeface="Times New Roman"/>
              </a:rPr>
              <a:t>temple</a:t>
            </a:r>
            <a:r>
              <a:rPr lang="en-US" sz="2400" cap="none" spc="-20" dirty="0">
                <a:solidFill>
                  <a:srgbClr val="00B050"/>
                </a:solidFill>
                <a:latin typeface="Times New Roman"/>
                <a:cs typeface="Times New Roman"/>
              </a:rPr>
              <a:t> </a:t>
            </a:r>
            <a:r>
              <a:rPr lang="en-US" sz="2400" cap="none" spc="-40" dirty="0">
                <a:solidFill>
                  <a:srgbClr val="00B050"/>
                </a:solidFill>
                <a:latin typeface="Times New Roman"/>
                <a:cs typeface="Times New Roman"/>
              </a:rPr>
              <a:t>are</a:t>
            </a:r>
            <a:r>
              <a:rPr lang="en-US" sz="2400" cap="none" spc="-30" dirty="0">
                <a:solidFill>
                  <a:srgbClr val="00B050"/>
                </a:solidFill>
                <a:latin typeface="Times New Roman"/>
                <a:cs typeface="Times New Roman"/>
              </a:rPr>
              <a:t> </a:t>
            </a:r>
            <a:r>
              <a:rPr lang="en-US" sz="2400" cap="none" spc="-10" dirty="0">
                <a:solidFill>
                  <a:srgbClr val="00B050"/>
                </a:solidFill>
                <a:latin typeface="Times New Roman"/>
                <a:cs typeface="Times New Roman"/>
              </a:rPr>
              <a:t>of</a:t>
            </a:r>
            <a:r>
              <a:rPr lang="en-US" sz="2400" cap="none" spc="-25" dirty="0">
                <a:solidFill>
                  <a:srgbClr val="00B050"/>
                </a:solidFill>
                <a:latin typeface="Times New Roman"/>
                <a:cs typeface="Times New Roman"/>
              </a:rPr>
              <a:t> </a:t>
            </a:r>
            <a:r>
              <a:rPr lang="en-US" sz="2400" cap="none" spc="-45" dirty="0">
                <a:solidFill>
                  <a:srgbClr val="00B050"/>
                </a:solidFill>
                <a:latin typeface="Times New Roman"/>
                <a:cs typeface="Times New Roman"/>
              </a:rPr>
              <a:t>even</a:t>
            </a:r>
            <a:r>
              <a:rPr lang="en-US" sz="2400" cap="none" spc="-25" dirty="0">
                <a:solidFill>
                  <a:srgbClr val="00B050"/>
                </a:solidFill>
                <a:latin typeface="Times New Roman"/>
                <a:cs typeface="Times New Roman"/>
              </a:rPr>
              <a:t> </a:t>
            </a:r>
            <a:r>
              <a:rPr lang="en-US" sz="2400" cap="none" spc="-40" dirty="0">
                <a:solidFill>
                  <a:srgbClr val="00B050"/>
                </a:solidFill>
                <a:latin typeface="Times New Roman"/>
                <a:cs typeface="Times New Roman"/>
              </a:rPr>
              <a:t>larger</a:t>
            </a:r>
            <a:r>
              <a:rPr lang="en-US" sz="2400" cap="none" spc="-20" dirty="0">
                <a:solidFill>
                  <a:srgbClr val="00B050"/>
                </a:solidFill>
                <a:latin typeface="Times New Roman"/>
                <a:cs typeface="Times New Roman"/>
              </a:rPr>
              <a:t> </a:t>
            </a:r>
            <a:r>
              <a:rPr lang="en-US" sz="2400" cap="none" spc="-45" dirty="0">
                <a:solidFill>
                  <a:srgbClr val="00B050"/>
                </a:solidFill>
                <a:latin typeface="Times New Roman"/>
                <a:cs typeface="Times New Roman"/>
              </a:rPr>
              <a:t>dimensions.</a:t>
            </a:r>
            <a:r>
              <a:rPr lang="en-US" sz="2400" cap="none" spc="-25" dirty="0">
                <a:solidFill>
                  <a:srgbClr val="00B050"/>
                </a:solidFill>
                <a:latin typeface="Times New Roman"/>
                <a:cs typeface="Times New Roman"/>
              </a:rPr>
              <a:t> </a:t>
            </a:r>
          </a:p>
        </p:txBody>
      </p:sp>
    </p:spTree>
    <p:extLst>
      <p:ext uri="{BB962C8B-B14F-4D97-AF65-F5344CB8AC3E}">
        <p14:creationId xmlns:p14="http://schemas.microsoft.com/office/powerpoint/2010/main" val="203155122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1281953" y="756795"/>
            <a:ext cx="7987553" cy="6883871"/>
          </a:xfrm>
          <a:prstGeom prst="rect">
            <a:avLst/>
          </a:prstGeom>
        </p:spPr>
        <p:txBody>
          <a:bodyPr wrap="square" lIns="91378" tIns="45688" rIns="91378" bIns="45688">
            <a:spAutoFit/>
          </a:bodyPr>
          <a:lstStyle/>
          <a:p>
            <a:pPr marL="527041" indent="-514350" algn="ctr">
              <a:lnSpc>
                <a:spcPct val="150000"/>
              </a:lnSpc>
              <a:buAutoNum type="arabicPeriod" startAt="5"/>
            </a:pPr>
            <a:r>
              <a:rPr lang="en-US" sz="2800" b="1" u="sng" spc="-20" dirty="0" smtClean="0">
                <a:solidFill>
                  <a:srgbClr val="002060"/>
                </a:solidFill>
                <a:latin typeface="Times New Roman"/>
                <a:cs typeface="Times New Roman"/>
              </a:rPr>
              <a:t>ZINC</a:t>
            </a:r>
          </a:p>
          <a:p>
            <a:pPr marL="12691" marR="6983" indent="456244" algn="just">
              <a:lnSpc>
                <a:spcPct val="150000"/>
              </a:lnSpc>
              <a:spcBef>
                <a:spcPts val="55"/>
              </a:spcBef>
            </a:pPr>
            <a:r>
              <a:rPr lang="en-US" sz="2400" dirty="0" smtClean="0">
                <a:latin typeface="Times New Roman"/>
                <a:cs typeface="Times New Roman"/>
              </a:rPr>
              <a:t>The</a:t>
            </a:r>
            <a:r>
              <a:rPr lang="en-US" sz="2400" spc="-35" dirty="0" smtClean="0">
                <a:latin typeface="Times New Roman"/>
                <a:cs typeface="Times New Roman"/>
              </a:rPr>
              <a:t> </a:t>
            </a:r>
            <a:r>
              <a:rPr lang="en-US" sz="2400" spc="-35" dirty="0">
                <a:latin typeface="Times New Roman"/>
                <a:cs typeface="Times New Roman"/>
              </a:rPr>
              <a:t>earliest</a:t>
            </a:r>
            <a:r>
              <a:rPr lang="en-US" sz="2400" spc="-25" dirty="0">
                <a:latin typeface="Times New Roman"/>
                <a:cs typeface="Times New Roman"/>
              </a:rPr>
              <a:t> </a:t>
            </a:r>
            <a:r>
              <a:rPr lang="en-US" sz="2400" spc="-20" dirty="0">
                <a:latin typeface="Times New Roman"/>
                <a:cs typeface="Times New Roman"/>
              </a:rPr>
              <a:t>firm</a:t>
            </a:r>
            <a:r>
              <a:rPr lang="en-US" sz="2400" spc="-30" dirty="0">
                <a:latin typeface="Times New Roman"/>
                <a:cs typeface="Times New Roman"/>
              </a:rPr>
              <a:t> </a:t>
            </a:r>
            <a:r>
              <a:rPr lang="en-US" sz="2400" spc="-35" dirty="0">
                <a:latin typeface="Times New Roman"/>
                <a:cs typeface="Times New Roman"/>
              </a:rPr>
              <a:t>evidence</a:t>
            </a:r>
            <a:r>
              <a:rPr lang="en-US" sz="2400" spc="-40" dirty="0">
                <a:latin typeface="Times New Roman"/>
                <a:cs typeface="Times New Roman"/>
              </a:rPr>
              <a:t> </a:t>
            </a:r>
            <a:r>
              <a:rPr lang="en-US" sz="2400" dirty="0" smtClean="0">
                <a:latin typeface="Times New Roman"/>
                <a:cs typeface="Times New Roman"/>
              </a:rPr>
              <a:t>for</a:t>
            </a:r>
            <a:r>
              <a:rPr lang="en-US" sz="2400" spc="-25" dirty="0">
                <a:latin typeface="Times New Roman"/>
                <a:cs typeface="Times New Roman"/>
              </a:rPr>
              <a:t> </a:t>
            </a:r>
            <a:r>
              <a:rPr lang="en-US" sz="2400" dirty="0" smtClean="0">
                <a:latin typeface="Times New Roman"/>
                <a:cs typeface="Times New Roman"/>
              </a:rPr>
              <a:t>the</a:t>
            </a:r>
            <a:r>
              <a:rPr lang="en-US" sz="2400" spc="-30" dirty="0">
                <a:latin typeface="Times New Roman"/>
                <a:cs typeface="Times New Roman"/>
              </a:rPr>
              <a:t> </a:t>
            </a:r>
            <a:r>
              <a:rPr lang="en-US" sz="2400" spc="-40" dirty="0">
                <a:latin typeface="Times New Roman"/>
                <a:cs typeface="Times New Roman"/>
              </a:rPr>
              <a:t>production</a:t>
            </a:r>
            <a:r>
              <a:rPr lang="en-US" sz="2400" spc="-35" dirty="0">
                <a:latin typeface="Times New Roman"/>
                <a:cs typeface="Times New Roman"/>
              </a:rPr>
              <a:t> </a:t>
            </a:r>
            <a:r>
              <a:rPr lang="en-US" sz="2400" dirty="0" smtClean="0">
                <a:latin typeface="Times New Roman"/>
                <a:cs typeface="Times New Roman"/>
              </a:rPr>
              <a:t>of</a:t>
            </a:r>
            <a:r>
              <a:rPr lang="en-US" sz="2400" spc="-30" dirty="0">
                <a:latin typeface="Times New Roman"/>
                <a:cs typeface="Times New Roman"/>
              </a:rPr>
              <a:t> </a:t>
            </a:r>
            <a:r>
              <a:rPr lang="en-US" sz="2400" spc="-35" dirty="0">
                <a:solidFill>
                  <a:srgbClr val="0070C0"/>
                </a:solidFill>
                <a:latin typeface="Times New Roman"/>
                <a:cs typeface="Times New Roman"/>
              </a:rPr>
              <a:t>metallic </a:t>
            </a:r>
            <a:r>
              <a:rPr lang="en-US" sz="2400" spc="-20" dirty="0">
                <a:solidFill>
                  <a:srgbClr val="0070C0"/>
                </a:solidFill>
                <a:latin typeface="Times New Roman"/>
                <a:cs typeface="Times New Roman"/>
              </a:rPr>
              <a:t>zinc</a:t>
            </a:r>
            <a:r>
              <a:rPr lang="en-US" sz="2400" spc="-35" dirty="0">
                <a:solidFill>
                  <a:srgbClr val="0070C0"/>
                </a:solidFill>
                <a:latin typeface="Times New Roman"/>
                <a:cs typeface="Times New Roman"/>
              </a:rPr>
              <a:t> </a:t>
            </a:r>
            <a:r>
              <a:rPr lang="en-US" sz="2400" dirty="0" smtClean="0">
                <a:solidFill>
                  <a:srgbClr val="0070C0"/>
                </a:solidFill>
                <a:latin typeface="Times New Roman"/>
                <a:cs typeface="Times New Roman"/>
              </a:rPr>
              <a:t>is</a:t>
            </a:r>
            <a:r>
              <a:rPr lang="en-US" sz="2400" spc="-35" dirty="0">
                <a:solidFill>
                  <a:srgbClr val="0070C0"/>
                </a:solidFill>
                <a:latin typeface="Times New Roman"/>
                <a:cs typeface="Times New Roman"/>
              </a:rPr>
              <a:t> </a:t>
            </a:r>
            <a:r>
              <a:rPr lang="en-US" sz="2400" spc="-10" dirty="0">
                <a:solidFill>
                  <a:srgbClr val="0070C0"/>
                </a:solidFill>
                <a:latin typeface="Times New Roman"/>
                <a:cs typeface="Times New Roman"/>
              </a:rPr>
              <a:t>from</a:t>
            </a:r>
            <a:r>
              <a:rPr lang="en-US" sz="2400" spc="-20" dirty="0">
                <a:solidFill>
                  <a:srgbClr val="0070C0"/>
                </a:solidFill>
                <a:latin typeface="Times New Roman"/>
                <a:cs typeface="Times New Roman"/>
              </a:rPr>
              <a:t> </a:t>
            </a:r>
            <a:r>
              <a:rPr lang="en-US" sz="2400" spc="-30" dirty="0">
                <a:solidFill>
                  <a:srgbClr val="0070C0"/>
                </a:solidFill>
                <a:latin typeface="Times New Roman"/>
                <a:cs typeface="Times New Roman"/>
              </a:rPr>
              <a:t>India</a:t>
            </a:r>
            <a:r>
              <a:rPr lang="en-US" sz="2400" spc="-30" dirty="0">
                <a:latin typeface="Times New Roman"/>
                <a:cs typeface="Times New Roman"/>
              </a:rPr>
              <a:t>.</a:t>
            </a:r>
            <a:r>
              <a:rPr lang="en-US" sz="2400" spc="-25" dirty="0">
                <a:latin typeface="Times New Roman"/>
                <a:cs typeface="Times New Roman"/>
              </a:rPr>
              <a:t> </a:t>
            </a:r>
            <a:endParaRPr lang="en-US" sz="2400" spc="-25" dirty="0" smtClean="0">
              <a:latin typeface="Times New Roman"/>
              <a:cs typeface="Times New Roman"/>
            </a:endParaRPr>
          </a:p>
          <a:p>
            <a:pPr marL="355591" marR="6983" indent="-342900" algn="just">
              <a:lnSpc>
                <a:spcPct val="150000"/>
              </a:lnSpc>
              <a:spcBef>
                <a:spcPts val="55"/>
              </a:spcBef>
              <a:buFont typeface="Arial" panose="020B0604020202020204" pitchFamily="34" charset="0"/>
              <a:buChar char="•"/>
            </a:pPr>
            <a:r>
              <a:rPr lang="en-US" sz="2400" u="sng" dirty="0" smtClean="0">
                <a:latin typeface="Times New Roman"/>
                <a:cs typeface="Times New Roman"/>
              </a:rPr>
              <a:t>Of</a:t>
            </a:r>
            <a:r>
              <a:rPr lang="en-US" sz="2400" u="sng" spc="-45" dirty="0" smtClean="0">
                <a:latin typeface="Times New Roman"/>
                <a:cs typeface="Times New Roman"/>
              </a:rPr>
              <a:t> </a:t>
            </a:r>
            <a:r>
              <a:rPr lang="en-US" sz="2400" u="sng" dirty="0" smtClean="0">
                <a:latin typeface="Times New Roman"/>
                <a:cs typeface="Times New Roman"/>
              </a:rPr>
              <a:t>the</a:t>
            </a:r>
            <a:r>
              <a:rPr lang="en-US" sz="2400" u="sng" spc="-35" dirty="0">
                <a:latin typeface="Times New Roman"/>
                <a:cs typeface="Times New Roman"/>
              </a:rPr>
              <a:t> </a:t>
            </a:r>
            <a:r>
              <a:rPr lang="en-US" sz="2400" u="sng" spc="-30" dirty="0">
                <a:latin typeface="Times New Roman"/>
                <a:cs typeface="Times New Roman"/>
              </a:rPr>
              <a:t>metals </a:t>
            </a:r>
            <a:r>
              <a:rPr lang="en-US" sz="2400" u="sng" spc="-20" dirty="0">
                <a:latin typeface="Times New Roman"/>
                <a:cs typeface="Times New Roman"/>
              </a:rPr>
              <a:t>used</a:t>
            </a:r>
            <a:r>
              <a:rPr lang="en-US" sz="2400" u="sng" spc="-35" dirty="0">
                <a:latin typeface="Times New Roman"/>
                <a:cs typeface="Times New Roman"/>
              </a:rPr>
              <a:t> </a:t>
            </a:r>
            <a:r>
              <a:rPr lang="en-US" sz="2400" u="sng" spc="-25" dirty="0">
                <a:latin typeface="Times New Roman"/>
                <a:cs typeface="Times New Roman"/>
              </a:rPr>
              <a:t>in </a:t>
            </a:r>
            <a:r>
              <a:rPr lang="en-US" sz="2400" u="sng" spc="-35" dirty="0">
                <a:latin typeface="Times New Roman"/>
                <a:cs typeface="Times New Roman"/>
              </a:rPr>
              <a:t>antiquity</a:t>
            </a:r>
            <a:r>
              <a:rPr lang="en-US" sz="2400" u="sng" spc="-40" dirty="0">
                <a:latin typeface="Times New Roman"/>
                <a:cs typeface="Times New Roman"/>
              </a:rPr>
              <a:t> </a:t>
            </a:r>
            <a:r>
              <a:rPr lang="en-US" sz="2400" u="sng" spc="-10" dirty="0">
                <a:latin typeface="Times New Roman"/>
                <a:cs typeface="Times New Roman"/>
              </a:rPr>
              <a:t>zinc</a:t>
            </a:r>
            <a:r>
              <a:rPr lang="en-US" sz="2400" u="sng" spc="-40" dirty="0">
                <a:latin typeface="Times New Roman"/>
                <a:cs typeface="Times New Roman"/>
              </a:rPr>
              <a:t> </a:t>
            </a:r>
            <a:r>
              <a:rPr lang="en-US" sz="2400" u="sng" dirty="0" smtClean="0">
                <a:latin typeface="Times New Roman"/>
                <a:cs typeface="Times New Roman"/>
              </a:rPr>
              <a:t>is</a:t>
            </a:r>
            <a:r>
              <a:rPr lang="en-US" sz="2400" u="sng" spc="-30" dirty="0">
                <a:latin typeface="Times New Roman"/>
                <a:cs typeface="Times New Roman"/>
              </a:rPr>
              <a:t> </a:t>
            </a:r>
            <a:r>
              <a:rPr lang="en-US" sz="2400" u="sng" dirty="0" smtClean="0">
                <a:latin typeface="Times New Roman"/>
                <a:cs typeface="Times New Roman"/>
              </a:rPr>
              <a:t>one</a:t>
            </a:r>
            <a:r>
              <a:rPr lang="en-US" sz="2400" u="sng" spc="-25" dirty="0">
                <a:latin typeface="Times New Roman"/>
                <a:cs typeface="Times New Roman"/>
              </a:rPr>
              <a:t> </a:t>
            </a:r>
            <a:r>
              <a:rPr lang="en-US" sz="2400" u="sng" dirty="0" smtClean="0">
                <a:latin typeface="Times New Roman"/>
                <a:cs typeface="Times New Roman"/>
              </a:rPr>
              <a:t>of</a:t>
            </a:r>
            <a:r>
              <a:rPr lang="en-US" sz="2400" u="sng" spc="-30" dirty="0">
                <a:latin typeface="Times New Roman"/>
                <a:cs typeface="Times New Roman"/>
              </a:rPr>
              <a:t> </a:t>
            </a:r>
            <a:r>
              <a:rPr lang="en-US" sz="2400" u="sng" dirty="0" smtClean="0">
                <a:latin typeface="Times New Roman"/>
                <a:cs typeface="Times New Roman"/>
              </a:rPr>
              <a:t>the</a:t>
            </a:r>
            <a:r>
              <a:rPr lang="en-US" sz="2400" u="sng" spc="-25" dirty="0">
                <a:latin typeface="Times New Roman"/>
                <a:cs typeface="Times New Roman"/>
              </a:rPr>
              <a:t> </a:t>
            </a:r>
            <a:r>
              <a:rPr lang="en-US" sz="2400" u="sng" spc="-10" dirty="0">
                <a:latin typeface="Times New Roman"/>
                <a:cs typeface="Times New Roman"/>
              </a:rPr>
              <a:t>most</a:t>
            </a:r>
            <a:r>
              <a:rPr lang="en-US" sz="2400" u="sng" spc="-14" dirty="0">
                <a:latin typeface="Times New Roman"/>
                <a:cs typeface="Times New Roman"/>
              </a:rPr>
              <a:t> </a:t>
            </a:r>
            <a:r>
              <a:rPr lang="en-US" sz="2400" u="sng" spc="-35" dirty="0">
                <a:latin typeface="Times New Roman"/>
                <a:cs typeface="Times New Roman"/>
              </a:rPr>
              <a:t>difficult</a:t>
            </a:r>
            <a:r>
              <a:rPr lang="en-US" sz="2400" u="sng" spc="-20" dirty="0">
                <a:latin typeface="Times New Roman"/>
                <a:cs typeface="Times New Roman"/>
              </a:rPr>
              <a:t> </a:t>
            </a:r>
            <a:r>
              <a:rPr lang="en-US" sz="2400" u="sng" dirty="0" smtClean="0">
                <a:latin typeface="Times New Roman"/>
                <a:cs typeface="Times New Roman"/>
              </a:rPr>
              <a:t>to</a:t>
            </a:r>
            <a:r>
              <a:rPr lang="en-US" sz="2400" u="sng" spc="-20" dirty="0">
                <a:latin typeface="Times New Roman"/>
                <a:cs typeface="Times New Roman"/>
              </a:rPr>
              <a:t> smelt</a:t>
            </a:r>
            <a:r>
              <a:rPr lang="en-US" sz="2400" u="sng" spc="-14" dirty="0">
                <a:latin typeface="Times New Roman"/>
                <a:cs typeface="Times New Roman"/>
              </a:rPr>
              <a:t> </a:t>
            </a:r>
            <a:r>
              <a:rPr lang="en-US" sz="2400" u="sng" spc="-25" dirty="0">
                <a:latin typeface="Times New Roman"/>
                <a:cs typeface="Times New Roman"/>
              </a:rPr>
              <a:t>since </a:t>
            </a:r>
            <a:r>
              <a:rPr lang="en-US" sz="2400" u="sng" spc="-10" dirty="0">
                <a:latin typeface="Times New Roman"/>
                <a:cs typeface="Times New Roman"/>
              </a:rPr>
              <a:t>zinc</a:t>
            </a:r>
            <a:r>
              <a:rPr lang="en-US" sz="2400" u="sng" spc="-25" dirty="0">
                <a:latin typeface="Times New Roman"/>
                <a:cs typeface="Times New Roman"/>
              </a:rPr>
              <a:t> </a:t>
            </a:r>
            <a:r>
              <a:rPr lang="en-US" sz="2400" u="sng" spc="-40" dirty="0" err="1">
                <a:latin typeface="Times New Roman"/>
                <a:cs typeface="Times New Roman"/>
              </a:rPr>
              <a:t>volatalises</a:t>
            </a:r>
            <a:r>
              <a:rPr lang="en-US" sz="2400" u="sng" spc="-14" dirty="0">
                <a:latin typeface="Times New Roman"/>
                <a:cs typeface="Times New Roman"/>
              </a:rPr>
              <a:t> </a:t>
            </a:r>
            <a:r>
              <a:rPr lang="en-US" sz="2400" u="sng" dirty="0" smtClean="0">
                <a:latin typeface="Times New Roman"/>
                <a:cs typeface="Times New Roman"/>
              </a:rPr>
              <a:t>at</a:t>
            </a:r>
            <a:r>
              <a:rPr lang="en-US" sz="2400" u="sng" spc="-14" dirty="0">
                <a:latin typeface="Times New Roman"/>
                <a:cs typeface="Times New Roman"/>
              </a:rPr>
              <a:t> </a:t>
            </a:r>
            <a:r>
              <a:rPr lang="en-US" sz="2400" u="sng" spc="-20" dirty="0">
                <a:latin typeface="Times New Roman"/>
                <a:cs typeface="Times New Roman"/>
              </a:rPr>
              <a:t>about</a:t>
            </a:r>
            <a:r>
              <a:rPr lang="en-US" sz="2400" u="sng" spc="-14" dirty="0">
                <a:latin typeface="Times New Roman"/>
                <a:cs typeface="Times New Roman"/>
              </a:rPr>
              <a:t> </a:t>
            </a:r>
            <a:r>
              <a:rPr lang="en-US" sz="2400" u="sng" dirty="0" smtClean="0">
                <a:latin typeface="Times New Roman"/>
                <a:cs typeface="Times New Roman"/>
              </a:rPr>
              <a:t>the</a:t>
            </a:r>
            <a:r>
              <a:rPr lang="en-US" sz="2400" u="sng" spc="-25" dirty="0">
                <a:latin typeface="Times New Roman"/>
                <a:cs typeface="Times New Roman"/>
              </a:rPr>
              <a:t> </a:t>
            </a:r>
            <a:r>
              <a:rPr lang="en-US" sz="2400" u="sng" spc="-10" dirty="0">
                <a:latin typeface="Times New Roman"/>
                <a:cs typeface="Times New Roman"/>
              </a:rPr>
              <a:t>same</a:t>
            </a:r>
            <a:r>
              <a:rPr lang="en-US" sz="2400" u="sng" spc="-25" dirty="0">
                <a:latin typeface="Times New Roman"/>
                <a:cs typeface="Times New Roman"/>
              </a:rPr>
              <a:t> </a:t>
            </a:r>
            <a:r>
              <a:rPr lang="en-US" sz="2400" u="sng" spc="-40" dirty="0">
                <a:latin typeface="Times New Roman"/>
                <a:cs typeface="Times New Roman"/>
              </a:rPr>
              <a:t>temperature</a:t>
            </a:r>
            <a:r>
              <a:rPr lang="en-US" sz="2400" u="sng" spc="-25" dirty="0">
                <a:latin typeface="Times New Roman"/>
                <a:cs typeface="Times New Roman"/>
              </a:rPr>
              <a:t> of around</a:t>
            </a:r>
            <a:r>
              <a:rPr lang="en-US" sz="2400" u="sng" spc="-50" dirty="0">
                <a:latin typeface="Times New Roman"/>
                <a:cs typeface="Times New Roman"/>
              </a:rPr>
              <a:t> </a:t>
            </a:r>
            <a:r>
              <a:rPr lang="en-US" sz="2400" u="sng" spc="-30" dirty="0">
                <a:latin typeface="Times New Roman"/>
                <a:cs typeface="Times New Roman"/>
              </a:rPr>
              <a:t>1000oC</a:t>
            </a:r>
            <a:r>
              <a:rPr lang="en-US" sz="2400" u="sng" spc="-25" dirty="0">
                <a:latin typeface="Times New Roman"/>
                <a:cs typeface="Times New Roman"/>
              </a:rPr>
              <a:t> </a:t>
            </a:r>
            <a:r>
              <a:rPr lang="en-US" sz="2400" u="sng" spc="-20" dirty="0">
                <a:latin typeface="Times New Roman"/>
                <a:cs typeface="Times New Roman"/>
              </a:rPr>
              <a:t>that</a:t>
            </a:r>
            <a:r>
              <a:rPr lang="en-US" sz="2400" u="sng" spc="-14" dirty="0">
                <a:latin typeface="Times New Roman"/>
                <a:cs typeface="Times New Roman"/>
              </a:rPr>
              <a:t> </a:t>
            </a:r>
            <a:r>
              <a:rPr lang="en-US" sz="2400" u="sng" dirty="0" smtClean="0">
                <a:latin typeface="Times New Roman"/>
                <a:cs typeface="Times New Roman"/>
              </a:rPr>
              <a:t>is</a:t>
            </a:r>
            <a:r>
              <a:rPr lang="en-US" sz="2400" u="sng" spc="-25" dirty="0">
                <a:latin typeface="Times New Roman"/>
                <a:cs typeface="Times New Roman"/>
              </a:rPr>
              <a:t> </a:t>
            </a:r>
            <a:r>
              <a:rPr lang="en-US" sz="2400" u="sng" spc="-30" dirty="0">
                <a:latin typeface="Times New Roman"/>
                <a:cs typeface="Times New Roman"/>
              </a:rPr>
              <a:t>needed</a:t>
            </a:r>
            <a:r>
              <a:rPr lang="en-US" sz="2400" u="sng" spc="-20" dirty="0">
                <a:latin typeface="Times New Roman"/>
                <a:cs typeface="Times New Roman"/>
              </a:rPr>
              <a:t> </a:t>
            </a:r>
            <a:r>
              <a:rPr lang="en-US" sz="2400" u="sng" dirty="0" smtClean="0">
                <a:latin typeface="Times New Roman"/>
                <a:cs typeface="Times New Roman"/>
              </a:rPr>
              <a:t>to</a:t>
            </a:r>
            <a:r>
              <a:rPr lang="en-US" sz="2400" u="sng" spc="-30" dirty="0">
                <a:latin typeface="Times New Roman"/>
                <a:cs typeface="Times New Roman"/>
              </a:rPr>
              <a:t> </a:t>
            </a:r>
            <a:r>
              <a:rPr lang="en-US" sz="2400" u="sng" spc="-25" dirty="0">
                <a:latin typeface="Times New Roman"/>
                <a:cs typeface="Times New Roman"/>
              </a:rPr>
              <a:t>smelt </a:t>
            </a:r>
            <a:r>
              <a:rPr lang="en-US" sz="2400" u="sng" spc="-20" dirty="0">
                <a:latin typeface="Times New Roman"/>
                <a:cs typeface="Times New Roman"/>
              </a:rPr>
              <a:t>zinc</a:t>
            </a:r>
            <a:r>
              <a:rPr lang="en-US" sz="2400" u="sng" spc="-30" dirty="0">
                <a:latin typeface="Times New Roman"/>
                <a:cs typeface="Times New Roman"/>
              </a:rPr>
              <a:t> </a:t>
            </a:r>
            <a:r>
              <a:rPr lang="en-US" sz="2400" u="sng" spc="-10" dirty="0">
                <a:latin typeface="Times New Roman"/>
                <a:cs typeface="Times New Roman"/>
              </a:rPr>
              <a:t>ore</a:t>
            </a:r>
            <a:r>
              <a:rPr lang="en-US" sz="2400" spc="-10" dirty="0">
                <a:latin typeface="Times New Roman"/>
                <a:cs typeface="Times New Roman"/>
              </a:rPr>
              <a:t>.     	</a:t>
            </a:r>
            <a:r>
              <a:rPr lang="en-US" sz="2400" spc="-30" dirty="0">
                <a:latin typeface="Times New Roman"/>
                <a:cs typeface="Times New Roman"/>
              </a:rPr>
              <a:t>Indian</a:t>
            </a:r>
            <a:r>
              <a:rPr lang="en-US" sz="2400" spc="-20" dirty="0">
                <a:latin typeface="Times New Roman"/>
                <a:cs typeface="Times New Roman"/>
              </a:rPr>
              <a:t> </a:t>
            </a:r>
            <a:r>
              <a:rPr lang="en-US" sz="2400" spc="-45" dirty="0">
                <a:latin typeface="Times New Roman"/>
                <a:cs typeface="Times New Roman"/>
              </a:rPr>
              <a:t>metallurgists</a:t>
            </a:r>
            <a:r>
              <a:rPr lang="en-US" sz="2400" spc="-30" dirty="0">
                <a:latin typeface="Times New Roman"/>
                <a:cs typeface="Times New Roman"/>
              </a:rPr>
              <a:t> </a:t>
            </a:r>
            <a:r>
              <a:rPr lang="en-US" sz="2400" spc="-20" dirty="0">
                <a:latin typeface="Times New Roman"/>
                <a:cs typeface="Times New Roman"/>
              </a:rPr>
              <a:t>were </a:t>
            </a:r>
            <a:r>
              <a:rPr lang="en-US" sz="2400" spc="-45" dirty="0">
                <a:latin typeface="Times New Roman"/>
                <a:cs typeface="Times New Roman"/>
              </a:rPr>
              <a:t>familiarity</a:t>
            </a:r>
            <a:r>
              <a:rPr lang="en-US" sz="2400" spc="-30" dirty="0">
                <a:latin typeface="Times New Roman"/>
                <a:cs typeface="Times New Roman"/>
              </a:rPr>
              <a:t> </a:t>
            </a:r>
            <a:r>
              <a:rPr lang="en-US" sz="2400" spc="-20" dirty="0">
                <a:latin typeface="Times New Roman"/>
                <a:cs typeface="Times New Roman"/>
              </a:rPr>
              <a:t>with</a:t>
            </a:r>
            <a:r>
              <a:rPr lang="en-US" sz="2400" spc="-35" dirty="0">
                <a:latin typeface="Times New Roman"/>
                <a:cs typeface="Times New Roman"/>
              </a:rPr>
              <a:t> </a:t>
            </a:r>
            <a:r>
              <a:rPr lang="en-US" sz="2400" spc="-20" dirty="0">
                <a:latin typeface="Times New Roman"/>
                <a:cs typeface="Times New Roman"/>
              </a:rPr>
              <a:t>zinc </a:t>
            </a:r>
            <a:r>
              <a:rPr lang="en-US" sz="2400" spc="-35" dirty="0">
                <a:latin typeface="Times New Roman"/>
                <a:cs typeface="Times New Roman"/>
              </a:rPr>
              <a:t>deserves</a:t>
            </a:r>
            <a:r>
              <a:rPr lang="en-US" sz="2400" spc="-25" dirty="0">
                <a:latin typeface="Times New Roman"/>
                <a:cs typeface="Times New Roman"/>
              </a:rPr>
              <a:t> </a:t>
            </a:r>
            <a:r>
              <a:rPr lang="en-US" sz="2400" spc="-50" dirty="0">
                <a:latin typeface="Times New Roman"/>
                <a:cs typeface="Times New Roman"/>
              </a:rPr>
              <a:t>a </a:t>
            </a:r>
            <a:r>
              <a:rPr lang="en-US" sz="2400" spc="-30" dirty="0">
                <a:latin typeface="Times New Roman"/>
                <a:cs typeface="Times New Roman"/>
              </a:rPr>
              <a:t>special</a:t>
            </a:r>
            <a:r>
              <a:rPr lang="en-US" sz="2400" spc="-35" dirty="0">
                <a:latin typeface="Times New Roman"/>
                <a:cs typeface="Times New Roman"/>
              </a:rPr>
              <a:t> mention because, </a:t>
            </a:r>
            <a:r>
              <a:rPr lang="en-US" sz="2400" spc="-25" dirty="0">
                <a:latin typeface="Times New Roman"/>
                <a:cs typeface="Times New Roman"/>
              </a:rPr>
              <a:t>having</a:t>
            </a:r>
            <a:r>
              <a:rPr lang="en-US" sz="2400" spc="-35" dirty="0">
                <a:latin typeface="Times New Roman"/>
                <a:cs typeface="Times New Roman"/>
              </a:rPr>
              <a:t> </a:t>
            </a:r>
            <a:r>
              <a:rPr lang="en-US" sz="2400" dirty="0" smtClean="0">
                <a:latin typeface="Times New Roman"/>
                <a:cs typeface="Times New Roman"/>
              </a:rPr>
              <a:t>a</a:t>
            </a:r>
            <a:r>
              <a:rPr lang="en-US" sz="2400" spc="-35" dirty="0">
                <a:latin typeface="Times New Roman"/>
                <a:cs typeface="Times New Roman"/>
              </a:rPr>
              <a:t> </a:t>
            </a:r>
            <a:r>
              <a:rPr lang="en-US" sz="2400" dirty="0" smtClean="0">
                <a:latin typeface="Times New Roman"/>
                <a:cs typeface="Times New Roman"/>
              </a:rPr>
              <a:t>low</a:t>
            </a:r>
            <a:r>
              <a:rPr lang="en-US" sz="2400" spc="-35" dirty="0">
                <a:latin typeface="Times New Roman"/>
                <a:cs typeface="Times New Roman"/>
              </a:rPr>
              <a:t> </a:t>
            </a:r>
            <a:r>
              <a:rPr lang="en-US" sz="2400" spc="-30" dirty="0">
                <a:latin typeface="Times New Roman"/>
                <a:cs typeface="Times New Roman"/>
              </a:rPr>
              <a:t>boiling</a:t>
            </a:r>
            <a:r>
              <a:rPr lang="en-US" sz="2400" spc="-35" dirty="0">
                <a:latin typeface="Times New Roman"/>
                <a:cs typeface="Times New Roman"/>
              </a:rPr>
              <a:t> </a:t>
            </a:r>
            <a:r>
              <a:rPr lang="en-US" sz="2400" spc="-25" dirty="0">
                <a:latin typeface="Times New Roman"/>
                <a:cs typeface="Times New Roman"/>
              </a:rPr>
              <a:t>point</a:t>
            </a:r>
            <a:r>
              <a:rPr lang="en-US" sz="2400" spc="-30" dirty="0">
                <a:latin typeface="Times New Roman"/>
                <a:cs typeface="Times New Roman"/>
              </a:rPr>
              <a:t> (907°C),</a:t>
            </a:r>
            <a:r>
              <a:rPr lang="en-US" sz="2400" spc="-35" dirty="0">
                <a:latin typeface="Times New Roman"/>
                <a:cs typeface="Times New Roman"/>
              </a:rPr>
              <a:t> </a:t>
            </a:r>
            <a:r>
              <a:rPr lang="en-US" sz="2400" dirty="0" smtClean="0">
                <a:latin typeface="Times New Roman"/>
                <a:cs typeface="Times New Roman"/>
              </a:rPr>
              <a:t>it</a:t>
            </a:r>
            <a:r>
              <a:rPr lang="en-US" sz="2400" spc="-30" dirty="0">
                <a:latin typeface="Times New Roman"/>
                <a:cs typeface="Times New Roman"/>
              </a:rPr>
              <a:t> </a:t>
            </a:r>
            <a:r>
              <a:rPr lang="en-US" sz="2400" spc="-20" dirty="0">
                <a:latin typeface="Times New Roman"/>
                <a:cs typeface="Times New Roman"/>
              </a:rPr>
              <a:t>tends</a:t>
            </a:r>
            <a:r>
              <a:rPr lang="en-US" sz="2400" spc="-30" dirty="0">
                <a:latin typeface="Times New Roman"/>
                <a:cs typeface="Times New Roman"/>
              </a:rPr>
              <a:t> </a:t>
            </a:r>
            <a:r>
              <a:rPr lang="en-US" sz="2400" dirty="0" smtClean="0">
                <a:latin typeface="Times New Roman"/>
                <a:cs typeface="Times New Roman"/>
              </a:rPr>
              <a:t>to</a:t>
            </a:r>
            <a:r>
              <a:rPr lang="en-US" sz="2400" spc="-35" dirty="0">
                <a:latin typeface="Times New Roman"/>
                <a:cs typeface="Times New Roman"/>
              </a:rPr>
              <a:t> vaporize</a:t>
            </a:r>
            <a:r>
              <a:rPr lang="en-US" sz="2400" spc="-30" dirty="0">
                <a:latin typeface="Times New Roman"/>
                <a:cs typeface="Times New Roman"/>
              </a:rPr>
              <a:t> </a:t>
            </a:r>
            <a:r>
              <a:rPr lang="en-US" sz="2400" spc="-20" dirty="0">
                <a:latin typeface="Times New Roman"/>
                <a:cs typeface="Times New Roman"/>
              </a:rPr>
              <a:t>while</a:t>
            </a:r>
            <a:r>
              <a:rPr lang="en-US" sz="2400" spc="-35" dirty="0">
                <a:latin typeface="Times New Roman"/>
                <a:cs typeface="Times New Roman"/>
              </a:rPr>
              <a:t> </a:t>
            </a:r>
            <a:r>
              <a:rPr lang="en-US" sz="2400" dirty="0" smtClean="0">
                <a:latin typeface="Times New Roman"/>
                <a:cs typeface="Times New Roman"/>
              </a:rPr>
              <a:t>its</a:t>
            </a:r>
            <a:r>
              <a:rPr lang="en-US" sz="2400" spc="-30" dirty="0">
                <a:latin typeface="Times New Roman"/>
                <a:cs typeface="Times New Roman"/>
              </a:rPr>
              <a:t> </a:t>
            </a:r>
            <a:r>
              <a:rPr lang="en-US" sz="2400" dirty="0" smtClean="0">
                <a:latin typeface="Times New Roman"/>
                <a:cs typeface="Times New Roman"/>
              </a:rPr>
              <a:t>ore</a:t>
            </a:r>
            <a:r>
              <a:rPr lang="en-US" sz="2400" spc="-35" dirty="0">
                <a:latin typeface="Times New Roman"/>
                <a:cs typeface="Times New Roman"/>
              </a:rPr>
              <a:t> </a:t>
            </a:r>
            <a:r>
              <a:rPr lang="en-US" sz="2400" dirty="0" smtClean="0">
                <a:latin typeface="Times New Roman"/>
                <a:cs typeface="Times New Roman"/>
              </a:rPr>
              <a:t>is</a:t>
            </a:r>
            <a:r>
              <a:rPr lang="en-US" sz="2400" spc="-30" dirty="0">
                <a:latin typeface="Times New Roman"/>
                <a:cs typeface="Times New Roman"/>
              </a:rPr>
              <a:t> </a:t>
            </a:r>
            <a:r>
              <a:rPr lang="en-US" sz="2400" spc="-10" dirty="0">
                <a:latin typeface="Times New Roman"/>
                <a:cs typeface="Times New Roman"/>
              </a:rPr>
              <a:t>smelted. </a:t>
            </a:r>
          </a:p>
          <a:p>
            <a:pPr marL="355591" marR="6983" indent="-342900" algn="just">
              <a:lnSpc>
                <a:spcPct val="150000"/>
              </a:lnSpc>
              <a:spcBef>
                <a:spcPts val="55"/>
              </a:spcBef>
              <a:buFont typeface="Arial" panose="020B0604020202020204" pitchFamily="34" charset="0"/>
              <a:buChar char="•"/>
            </a:pPr>
            <a:r>
              <a:rPr lang="en-US" sz="2400" spc="-20" dirty="0">
                <a:solidFill>
                  <a:srgbClr val="0070C0"/>
                </a:solidFill>
                <a:latin typeface="Times New Roman"/>
                <a:cs typeface="Times New Roman"/>
              </a:rPr>
              <a:t>Zinc,</a:t>
            </a:r>
            <a:r>
              <a:rPr lang="en-US" sz="2400" spc="4" dirty="0">
                <a:solidFill>
                  <a:srgbClr val="0070C0"/>
                </a:solidFill>
                <a:latin typeface="Times New Roman"/>
                <a:cs typeface="Times New Roman"/>
              </a:rPr>
              <a:t> </a:t>
            </a:r>
            <a:r>
              <a:rPr lang="en-US" sz="2400" dirty="0" smtClean="0">
                <a:solidFill>
                  <a:srgbClr val="0070C0"/>
                </a:solidFill>
                <a:latin typeface="Times New Roman"/>
                <a:cs typeface="Times New Roman"/>
              </a:rPr>
              <a:t>a</a:t>
            </a:r>
            <a:r>
              <a:rPr lang="en-US" sz="2400" spc="-14" dirty="0">
                <a:solidFill>
                  <a:srgbClr val="0070C0"/>
                </a:solidFill>
                <a:latin typeface="Times New Roman"/>
                <a:cs typeface="Times New Roman"/>
              </a:rPr>
              <a:t> </a:t>
            </a:r>
            <a:r>
              <a:rPr lang="en-US" sz="2400" spc="-55" dirty="0">
                <a:solidFill>
                  <a:srgbClr val="0070C0"/>
                </a:solidFill>
                <a:latin typeface="Times New Roman"/>
                <a:cs typeface="Times New Roman"/>
              </a:rPr>
              <a:t>silvery-</a:t>
            </a:r>
            <a:r>
              <a:rPr lang="en-US" sz="2400" spc="-20" dirty="0">
                <a:solidFill>
                  <a:srgbClr val="0070C0"/>
                </a:solidFill>
                <a:latin typeface="Times New Roman"/>
                <a:cs typeface="Times New Roman"/>
              </a:rPr>
              <a:t>white</a:t>
            </a:r>
            <a:r>
              <a:rPr lang="en-US" sz="2400" spc="-10" dirty="0">
                <a:solidFill>
                  <a:srgbClr val="0070C0"/>
                </a:solidFill>
                <a:latin typeface="Times New Roman"/>
                <a:cs typeface="Times New Roman"/>
              </a:rPr>
              <a:t> </a:t>
            </a:r>
            <a:r>
              <a:rPr lang="en-US" sz="2400" spc="-30" dirty="0">
                <a:solidFill>
                  <a:srgbClr val="0070C0"/>
                </a:solidFill>
                <a:latin typeface="Times New Roman"/>
                <a:cs typeface="Times New Roman"/>
              </a:rPr>
              <a:t>metal</a:t>
            </a:r>
            <a:r>
              <a:rPr lang="en-US" sz="2400" spc="-30" dirty="0">
                <a:latin typeface="Times New Roman"/>
                <a:cs typeface="Times New Roman"/>
              </a:rPr>
              <a:t>,</a:t>
            </a:r>
            <a:r>
              <a:rPr lang="en-US" sz="2400" spc="-4" dirty="0">
                <a:latin typeface="Times New Roman"/>
                <a:cs typeface="Times New Roman"/>
              </a:rPr>
              <a:t> </a:t>
            </a:r>
            <a:r>
              <a:rPr lang="en-US" sz="2400" dirty="0" smtClean="0">
                <a:latin typeface="Times New Roman"/>
                <a:cs typeface="Times New Roman"/>
              </a:rPr>
              <a:t>is</a:t>
            </a:r>
            <a:r>
              <a:rPr lang="en-US" sz="2400" spc="-4" dirty="0">
                <a:latin typeface="Times New Roman"/>
                <a:cs typeface="Times New Roman"/>
              </a:rPr>
              <a:t> </a:t>
            </a:r>
            <a:r>
              <a:rPr lang="en-US" sz="2400" spc="-30" dirty="0">
                <a:latin typeface="Times New Roman"/>
                <a:cs typeface="Times New Roman"/>
              </a:rPr>
              <a:t>precious</a:t>
            </a:r>
            <a:r>
              <a:rPr lang="en-US" sz="2400" spc="-4" dirty="0">
                <a:latin typeface="Times New Roman"/>
                <a:cs typeface="Times New Roman"/>
              </a:rPr>
              <a:t> </a:t>
            </a:r>
            <a:r>
              <a:rPr lang="en-US" sz="2400" dirty="0" smtClean="0">
                <a:latin typeface="Times New Roman"/>
                <a:cs typeface="Times New Roman"/>
              </a:rPr>
              <a:t>in</a:t>
            </a:r>
            <a:r>
              <a:rPr lang="en-US" sz="2400" spc="10" dirty="0">
                <a:latin typeface="Times New Roman"/>
                <a:cs typeface="Times New Roman"/>
              </a:rPr>
              <a:t> </a:t>
            </a:r>
            <a:r>
              <a:rPr lang="en-US" sz="2400" spc="-40" dirty="0">
                <a:latin typeface="Times New Roman"/>
                <a:cs typeface="Times New Roman"/>
              </a:rPr>
              <a:t>combination</a:t>
            </a:r>
            <a:r>
              <a:rPr lang="en-US" sz="2400" spc="4" dirty="0">
                <a:latin typeface="Times New Roman"/>
                <a:cs typeface="Times New Roman"/>
              </a:rPr>
              <a:t> </a:t>
            </a:r>
            <a:r>
              <a:rPr lang="en-US" sz="2400" spc="-10" dirty="0">
                <a:latin typeface="Times New Roman"/>
                <a:cs typeface="Times New Roman"/>
              </a:rPr>
              <a:t>with </a:t>
            </a:r>
            <a:r>
              <a:rPr lang="en-US" sz="2400" spc="-30" dirty="0">
                <a:solidFill>
                  <a:srgbClr val="FF9900"/>
                </a:solidFill>
                <a:latin typeface="Times New Roman"/>
                <a:cs typeface="Times New Roman"/>
              </a:rPr>
              <a:t>copper</a:t>
            </a:r>
            <a:r>
              <a:rPr lang="en-US" sz="2400" spc="-30" dirty="0">
                <a:latin typeface="Times New Roman"/>
                <a:cs typeface="Times New Roman"/>
              </a:rPr>
              <a:t>,</a:t>
            </a:r>
            <a:r>
              <a:rPr lang="en-US" sz="2400" spc="-4" dirty="0">
                <a:latin typeface="Times New Roman"/>
                <a:cs typeface="Times New Roman"/>
              </a:rPr>
              <a:t> </a:t>
            </a:r>
            <a:r>
              <a:rPr lang="en-US" sz="2400" spc="-35" dirty="0">
                <a:latin typeface="Times New Roman"/>
                <a:cs typeface="Times New Roman"/>
              </a:rPr>
              <a:t>resulting</a:t>
            </a:r>
            <a:r>
              <a:rPr lang="en-US" sz="2400" spc="-14" dirty="0">
                <a:latin typeface="Times New Roman"/>
                <a:cs typeface="Times New Roman"/>
              </a:rPr>
              <a:t> </a:t>
            </a:r>
            <a:r>
              <a:rPr lang="en-US" sz="2400" dirty="0" smtClean="0">
                <a:latin typeface="Times New Roman"/>
                <a:cs typeface="Times New Roman"/>
              </a:rPr>
              <a:t>in</a:t>
            </a:r>
            <a:r>
              <a:rPr lang="en-US" sz="2400" spc="-10" dirty="0">
                <a:latin typeface="Times New Roman"/>
                <a:cs typeface="Times New Roman"/>
              </a:rPr>
              <a:t> </a:t>
            </a:r>
            <a:r>
              <a:rPr lang="en-US" sz="2400" spc="-10" dirty="0">
                <a:solidFill>
                  <a:srgbClr val="0070C0"/>
                </a:solidFill>
                <a:latin typeface="Times New Roman"/>
                <a:cs typeface="Times New Roman"/>
              </a:rPr>
              <a:t>brass</a:t>
            </a:r>
            <a:r>
              <a:rPr lang="en-US" sz="2400" spc="20" dirty="0">
                <a:solidFill>
                  <a:srgbClr val="0070C0"/>
                </a:solidFill>
                <a:latin typeface="Times New Roman"/>
                <a:cs typeface="Times New Roman"/>
              </a:rPr>
              <a:t> </a:t>
            </a:r>
            <a:r>
              <a:rPr lang="en-US" sz="2400" dirty="0" smtClean="0">
                <a:solidFill>
                  <a:srgbClr val="0070C0"/>
                </a:solidFill>
                <a:latin typeface="Times New Roman"/>
                <a:cs typeface="Times New Roman"/>
              </a:rPr>
              <a:t>of</a:t>
            </a:r>
            <a:r>
              <a:rPr lang="en-US" sz="2400" spc="-10" dirty="0">
                <a:solidFill>
                  <a:srgbClr val="0070C0"/>
                </a:solidFill>
                <a:latin typeface="Times New Roman"/>
                <a:cs typeface="Times New Roman"/>
              </a:rPr>
              <a:t> </a:t>
            </a:r>
            <a:r>
              <a:rPr lang="en-US" sz="2400" spc="-30" dirty="0">
                <a:solidFill>
                  <a:srgbClr val="0070C0"/>
                </a:solidFill>
                <a:latin typeface="Times New Roman"/>
                <a:cs typeface="Times New Roman"/>
              </a:rPr>
              <a:t>superior</a:t>
            </a:r>
            <a:r>
              <a:rPr lang="en-US" sz="2400" spc="-4" dirty="0">
                <a:solidFill>
                  <a:srgbClr val="0070C0"/>
                </a:solidFill>
                <a:latin typeface="Times New Roman"/>
                <a:cs typeface="Times New Roman"/>
              </a:rPr>
              <a:t> </a:t>
            </a:r>
            <a:r>
              <a:rPr lang="en-US" sz="2400" spc="-10" dirty="0">
                <a:solidFill>
                  <a:srgbClr val="0070C0"/>
                </a:solidFill>
                <a:latin typeface="Times New Roman"/>
                <a:cs typeface="Times New Roman"/>
              </a:rPr>
              <a:t>quality</a:t>
            </a:r>
            <a:r>
              <a:rPr lang="en-US" sz="2400" spc="-10" dirty="0">
                <a:latin typeface="Times New Roman"/>
                <a:cs typeface="Times New Roman"/>
              </a:rPr>
              <a:t>. </a:t>
            </a:r>
            <a:endParaRPr lang="en-US" sz="2400" spc="-10" dirty="0" smtClean="0">
              <a:latin typeface="Times New Roman"/>
              <a:cs typeface="Times New Roman"/>
            </a:endParaRPr>
          </a:p>
          <a:p>
            <a:pPr marL="12691" marR="6983" indent="456244" algn="just">
              <a:lnSpc>
                <a:spcPct val="150000"/>
              </a:lnSpc>
              <a:spcBef>
                <a:spcPts val="55"/>
              </a:spcBef>
            </a:pPr>
            <a:r>
              <a:rPr lang="en-US" sz="2400" spc="-25" dirty="0" smtClean="0">
                <a:latin typeface="Times New Roman"/>
                <a:cs typeface="Times New Roman"/>
              </a:rPr>
              <a:t> </a:t>
            </a:r>
            <a:endParaRPr lang="en-US" sz="2400" spc="-25" dirty="0">
              <a:latin typeface="Times New Roman"/>
              <a:cs typeface="Times New Roman"/>
            </a:endParaRPr>
          </a:p>
        </p:txBody>
      </p:sp>
    </p:spTree>
    <p:extLst>
      <p:ext uri="{BB962C8B-B14F-4D97-AF65-F5344CB8AC3E}">
        <p14:creationId xmlns:p14="http://schemas.microsoft.com/office/powerpoint/2010/main" val="299680108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Content Placeholder 3"/>
          <p:cNvSpPr>
            <a:spLocks noGrp="1"/>
          </p:cNvSpPr>
          <p:nvPr>
            <p:ph sz="quarter" idx="13"/>
          </p:nvPr>
        </p:nvSpPr>
        <p:spPr>
          <a:xfrm>
            <a:off x="753863" y="762000"/>
            <a:ext cx="8550157" cy="6400800"/>
          </a:xfrm>
        </p:spPr>
        <p:txBody>
          <a:bodyPr>
            <a:normAutofit/>
          </a:bodyPr>
          <a:lstStyle/>
          <a:p>
            <a:pPr marL="355591" marR="6983" indent="-342900" algn="just" defTabSz="457200">
              <a:lnSpc>
                <a:spcPct val="150000"/>
              </a:lnSpc>
              <a:spcBef>
                <a:spcPts val="4"/>
              </a:spcBef>
              <a:buClrTx/>
            </a:pPr>
            <a:r>
              <a:rPr lang="en-US" sz="2400" cap="none" spc="-50" dirty="0" smtClean="0">
                <a:solidFill>
                  <a:prstClr val="black"/>
                </a:solidFill>
                <a:latin typeface="Times New Roman"/>
                <a:cs typeface="Times New Roman"/>
              </a:rPr>
              <a:t>Sometimes,</a:t>
            </a:r>
            <a:r>
              <a:rPr lang="en-US" sz="2400" cap="none" spc="-25" dirty="0" smtClean="0">
                <a:solidFill>
                  <a:prstClr val="black"/>
                </a:solidFill>
                <a:latin typeface="Times New Roman"/>
                <a:cs typeface="Times New Roman"/>
              </a:rPr>
              <a:t> </a:t>
            </a:r>
            <a:r>
              <a:rPr lang="en-US" sz="2400" cap="none" spc="-50" dirty="0">
                <a:solidFill>
                  <a:prstClr val="black"/>
                </a:solidFill>
                <a:latin typeface="Times New Roman"/>
                <a:cs typeface="Times New Roman"/>
              </a:rPr>
              <a:t>part</a:t>
            </a:r>
            <a:r>
              <a:rPr lang="en-US" sz="2400" cap="none" spc="-4" dirty="0">
                <a:solidFill>
                  <a:prstClr val="black"/>
                </a:solidFill>
                <a:latin typeface="Times New Roman"/>
                <a:cs typeface="Times New Roman"/>
              </a:rPr>
              <a:t> </a:t>
            </a:r>
            <a:r>
              <a:rPr lang="en-US" sz="2400" cap="none" spc="-35" dirty="0">
                <a:solidFill>
                  <a:prstClr val="black"/>
                </a:solidFill>
                <a:latin typeface="Times New Roman"/>
                <a:cs typeface="Times New Roman"/>
              </a:rPr>
              <a:t>of</a:t>
            </a:r>
            <a:r>
              <a:rPr lang="en-US" sz="2400" cap="none" spc="4" dirty="0">
                <a:solidFill>
                  <a:prstClr val="black"/>
                </a:solidFill>
                <a:latin typeface="Times New Roman"/>
                <a:cs typeface="Times New Roman"/>
              </a:rPr>
              <a:t> </a:t>
            </a:r>
            <a:r>
              <a:rPr lang="en-US" sz="2400" cap="none" spc="-50" dirty="0">
                <a:solidFill>
                  <a:prstClr val="black"/>
                </a:solidFill>
                <a:latin typeface="Times New Roman"/>
                <a:cs typeface="Times New Roman"/>
              </a:rPr>
              <a:t>copper</a:t>
            </a:r>
            <a:r>
              <a:rPr lang="en-US" sz="2400" cap="none" spc="-14" dirty="0">
                <a:solidFill>
                  <a:prstClr val="black"/>
                </a:solidFill>
                <a:latin typeface="Times New Roman"/>
                <a:cs typeface="Times New Roman"/>
              </a:rPr>
              <a:t> </a:t>
            </a:r>
            <a:r>
              <a:rPr lang="en-US" sz="2400" cap="none" spc="-45" dirty="0">
                <a:solidFill>
                  <a:prstClr val="black"/>
                </a:solidFill>
                <a:latin typeface="Times New Roman"/>
                <a:cs typeface="Times New Roman"/>
              </a:rPr>
              <a:t>ore,</a:t>
            </a:r>
            <a:r>
              <a:rPr lang="en-US" sz="2400" cap="none" spc="10" dirty="0">
                <a:solidFill>
                  <a:prstClr val="black"/>
                </a:solidFill>
                <a:latin typeface="Times New Roman"/>
                <a:cs typeface="Times New Roman"/>
              </a:rPr>
              <a:t> </a:t>
            </a:r>
            <a:r>
              <a:rPr lang="en-US" sz="2400" cap="none" spc="-50" dirty="0">
                <a:solidFill>
                  <a:prstClr val="black"/>
                </a:solidFill>
                <a:latin typeface="Times New Roman"/>
                <a:cs typeface="Times New Roman"/>
              </a:rPr>
              <a:t>pure</a:t>
            </a:r>
            <a:r>
              <a:rPr lang="en-US" sz="2400" cap="none" spc="-14" dirty="0">
                <a:solidFill>
                  <a:prstClr val="black"/>
                </a:solidFill>
                <a:latin typeface="Times New Roman"/>
                <a:cs typeface="Times New Roman"/>
              </a:rPr>
              <a:t> </a:t>
            </a:r>
            <a:r>
              <a:rPr lang="en-US" sz="2400" cap="none" spc="-50" dirty="0">
                <a:solidFill>
                  <a:prstClr val="black"/>
                </a:solidFill>
                <a:latin typeface="Times New Roman"/>
                <a:cs typeface="Times New Roman"/>
              </a:rPr>
              <a:t>zinc</a:t>
            </a:r>
            <a:r>
              <a:rPr lang="en-US" sz="2400" cap="none" spc="4" dirty="0">
                <a:solidFill>
                  <a:prstClr val="black"/>
                </a:solidFill>
                <a:latin typeface="Times New Roman"/>
                <a:cs typeface="Times New Roman"/>
              </a:rPr>
              <a:t> </a:t>
            </a:r>
            <a:r>
              <a:rPr lang="en-US" sz="2400" cap="none" spc="-55" dirty="0">
                <a:solidFill>
                  <a:prstClr val="black"/>
                </a:solidFill>
                <a:latin typeface="Times New Roman"/>
                <a:cs typeface="Times New Roman"/>
              </a:rPr>
              <a:t>could</a:t>
            </a:r>
            <a:r>
              <a:rPr lang="en-US" sz="2400" cap="none" spc="-4" dirty="0">
                <a:solidFill>
                  <a:prstClr val="black"/>
                </a:solidFill>
                <a:latin typeface="Times New Roman"/>
                <a:cs typeface="Times New Roman"/>
              </a:rPr>
              <a:t> </a:t>
            </a:r>
            <a:r>
              <a:rPr lang="en-US" sz="2400" cap="none" spc="-45" dirty="0">
                <a:solidFill>
                  <a:prstClr val="black"/>
                </a:solidFill>
                <a:latin typeface="Times New Roman"/>
                <a:cs typeface="Times New Roman"/>
              </a:rPr>
              <a:t>be</a:t>
            </a:r>
            <a:r>
              <a:rPr lang="en-US" sz="2400" cap="none" dirty="0">
                <a:solidFill>
                  <a:prstClr val="black"/>
                </a:solidFill>
                <a:latin typeface="Times New Roman"/>
                <a:cs typeface="Times New Roman"/>
              </a:rPr>
              <a:t> </a:t>
            </a:r>
            <a:r>
              <a:rPr lang="en-US" sz="2400" cap="none" spc="-45" dirty="0">
                <a:solidFill>
                  <a:prstClr val="black"/>
                </a:solidFill>
                <a:latin typeface="Times New Roman"/>
                <a:cs typeface="Times New Roman"/>
              </a:rPr>
              <a:t>produced</a:t>
            </a:r>
            <a:r>
              <a:rPr lang="en-US" sz="2400" cap="none" spc="14" dirty="0">
                <a:solidFill>
                  <a:prstClr val="black"/>
                </a:solidFill>
                <a:latin typeface="Times New Roman"/>
                <a:cs typeface="Times New Roman"/>
              </a:rPr>
              <a:t> </a:t>
            </a:r>
            <a:r>
              <a:rPr lang="en-US" sz="2400" cap="none" spc="-55" dirty="0">
                <a:solidFill>
                  <a:prstClr val="black"/>
                </a:solidFill>
                <a:latin typeface="Times New Roman"/>
                <a:cs typeface="Times New Roman"/>
              </a:rPr>
              <a:t>only</a:t>
            </a:r>
            <a:r>
              <a:rPr lang="en-US" sz="2400" cap="none" spc="-20" dirty="0">
                <a:solidFill>
                  <a:prstClr val="black"/>
                </a:solidFill>
                <a:latin typeface="Times New Roman"/>
                <a:cs typeface="Times New Roman"/>
              </a:rPr>
              <a:t> </a:t>
            </a:r>
            <a:r>
              <a:rPr lang="en-US" sz="2400" cap="none" spc="-55" dirty="0">
                <a:solidFill>
                  <a:prstClr val="black"/>
                </a:solidFill>
                <a:latin typeface="Times New Roman"/>
                <a:cs typeface="Times New Roman"/>
              </a:rPr>
              <a:t>after</a:t>
            </a:r>
            <a:r>
              <a:rPr lang="en-US" sz="2400" cap="none" spc="4" dirty="0">
                <a:solidFill>
                  <a:prstClr val="black"/>
                </a:solidFill>
                <a:latin typeface="Times New Roman"/>
                <a:cs typeface="Times New Roman"/>
              </a:rPr>
              <a:t> </a:t>
            </a:r>
            <a:r>
              <a:rPr lang="en-US" sz="2400" cap="none" dirty="0">
                <a:solidFill>
                  <a:prstClr val="black"/>
                </a:solidFill>
                <a:latin typeface="Times New Roman"/>
                <a:cs typeface="Times New Roman"/>
              </a:rPr>
              <a:t>a </a:t>
            </a:r>
            <a:r>
              <a:rPr lang="en-US" sz="2400" cap="none" spc="-50" dirty="0">
                <a:solidFill>
                  <a:prstClr val="black"/>
                </a:solidFill>
                <a:latin typeface="Times New Roman"/>
                <a:cs typeface="Times New Roman"/>
              </a:rPr>
              <a:t>sophisticated</a:t>
            </a:r>
            <a:r>
              <a:rPr lang="en-US" sz="2400" cap="none" spc="14" dirty="0">
                <a:solidFill>
                  <a:prstClr val="black"/>
                </a:solidFill>
                <a:latin typeface="Times New Roman"/>
                <a:cs typeface="Times New Roman"/>
              </a:rPr>
              <a:t> </a:t>
            </a:r>
            <a:r>
              <a:rPr lang="en-US" sz="2400" cap="none" spc="-75" dirty="0">
                <a:solidFill>
                  <a:prstClr val="black"/>
                </a:solidFill>
                <a:latin typeface="Times New Roman"/>
                <a:cs typeface="Times New Roman"/>
              </a:rPr>
              <a:t>‘</a:t>
            </a:r>
            <a:r>
              <a:rPr lang="en-US" sz="2400" cap="none" spc="-75" dirty="0">
                <a:solidFill>
                  <a:srgbClr val="0070C0"/>
                </a:solidFill>
                <a:latin typeface="Times New Roman"/>
                <a:cs typeface="Times New Roman"/>
              </a:rPr>
              <a:t>downward‘</a:t>
            </a:r>
            <a:r>
              <a:rPr lang="en-US" sz="2400" cap="none" dirty="0">
                <a:solidFill>
                  <a:srgbClr val="0070C0"/>
                </a:solidFill>
                <a:latin typeface="Times New Roman"/>
                <a:cs typeface="Times New Roman"/>
              </a:rPr>
              <a:t> </a:t>
            </a:r>
            <a:r>
              <a:rPr lang="en-US" sz="2400" cap="none" spc="-20" dirty="0">
                <a:solidFill>
                  <a:srgbClr val="0070C0"/>
                </a:solidFill>
                <a:latin typeface="Times New Roman"/>
                <a:cs typeface="Times New Roman"/>
              </a:rPr>
              <a:t>distillation </a:t>
            </a:r>
            <a:r>
              <a:rPr lang="en-US" sz="2400" cap="none" spc="-45" dirty="0">
                <a:solidFill>
                  <a:srgbClr val="0070C0"/>
                </a:solidFill>
                <a:latin typeface="Times New Roman"/>
                <a:cs typeface="Times New Roman"/>
              </a:rPr>
              <a:t>technique</a:t>
            </a:r>
            <a:r>
              <a:rPr lang="en-US" sz="2400" cap="none" spc="-30" dirty="0">
                <a:solidFill>
                  <a:srgbClr val="0070C0"/>
                </a:solidFill>
                <a:latin typeface="Times New Roman"/>
                <a:cs typeface="Times New Roman"/>
              </a:rPr>
              <a:t> </a:t>
            </a:r>
            <a:r>
              <a:rPr lang="en-US" sz="2400" cap="none" spc="-10" dirty="0">
                <a:solidFill>
                  <a:prstClr val="black"/>
                </a:solidFill>
                <a:latin typeface="Times New Roman"/>
                <a:cs typeface="Times New Roman"/>
              </a:rPr>
              <a:t>in</a:t>
            </a:r>
            <a:r>
              <a:rPr lang="en-US" sz="2400" cap="none" spc="-25" dirty="0">
                <a:solidFill>
                  <a:prstClr val="black"/>
                </a:solidFill>
                <a:latin typeface="Times New Roman"/>
                <a:cs typeface="Times New Roman"/>
              </a:rPr>
              <a:t> </a:t>
            </a:r>
            <a:r>
              <a:rPr lang="en-US" sz="2400" cap="none" spc="-50" dirty="0">
                <a:solidFill>
                  <a:prstClr val="black"/>
                </a:solidFill>
                <a:latin typeface="Times New Roman"/>
                <a:cs typeface="Times New Roman"/>
              </a:rPr>
              <a:t>which</a:t>
            </a:r>
            <a:r>
              <a:rPr lang="en-US" sz="2400" cap="none" spc="-14" dirty="0">
                <a:solidFill>
                  <a:prstClr val="black"/>
                </a:solidFill>
                <a:latin typeface="Times New Roman"/>
                <a:cs typeface="Times New Roman"/>
              </a:rPr>
              <a:t> </a:t>
            </a:r>
            <a:r>
              <a:rPr lang="en-US" sz="2400" cap="none" spc="-40" dirty="0">
                <a:solidFill>
                  <a:prstClr val="black"/>
                </a:solidFill>
                <a:latin typeface="Times New Roman"/>
                <a:cs typeface="Times New Roman"/>
              </a:rPr>
              <a:t>the</a:t>
            </a:r>
            <a:r>
              <a:rPr lang="en-US" sz="2400" cap="none" spc="-20" dirty="0">
                <a:solidFill>
                  <a:prstClr val="black"/>
                </a:solidFill>
                <a:latin typeface="Times New Roman"/>
                <a:cs typeface="Times New Roman"/>
              </a:rPr>
              <a:t> </a:t>
            </a:r>
            <a:r>
              <a:rPr lang="en-US" sz="2400" cap="none" spc="-40" dirty="0" err="1">
                <a:solidFill>
                  <a:prstClr val="black"/>
                </a:solidFill>
                <a:latin typeface="Times New Roman"/>
                <a:cs typeface="Times New Roman"/>
              </a:rPr>
              <a:t>vapour</a:t>
            </a:r>
            <a:r>
              <a:rPr lang="en-US" sz="2400" cap="none" spc="-20" dirty="0">
                <a:solidFill>
                  <a:prstClr val="black"/>
                </a:solidFill>
                <a:latin typeface="Times New Roman"/>
                <a:cs typeface="Times New Roman"/>
              </a:rPr>
              <a:t> </a:t>
            </a:r>
            <a:r>
              <a:rPr lang="en-US" sz="2400" cap="none" spc="-35" dirty="0">
                <a:solidFill>
                  <a:prstClr val="black"/>
                </a:solidFill>
                <a:latin typeface="Times New Roman"/>
                <a:cs typeface="Times New Roman"/>
              </a:rPr>
              <a:t>was</a:t>
            </a:r>
            <a:r>
              <a:rPr lang="en-US" sz="2400" cap="none" spc="-10" dirty="0">
                <a:solidFill>
                  <a:prstClr val="black"/>
                </a:solidFill>
                <a:latin typeface="Times New Roman"/>
                <a:cs typeface="Times New Roman"/>
              </a:rPr>
              <a:t> </a:t>
            </a:r>
            <a:r>
              <a:rPr lang="en-US" sz="2400" cap="none" spc="-45" dirty="0">
                <a:solidFill>
                  <a:prstClr val="black"/>
                </a:solidFill>
                <a:latin typeface="Times New Roman"/>
                <a:cs typeface="Times New Roman"/>
              </a:rPr>
              <a:t>captured</a:t>
            </a:r>
            <a:r>
              <a:rPr lang="en-US" sz="2400" cap="none" spc="-14" dirty="0">
                <a:solidFill>
                  <a:prstClr val="black"/>
                </a:solidFill>
                <a:latin typeface="Times New Roman"/>
                <a:cs typeface="Times New Roman"/>
              </a:rPr>
              <a:t> </a:t>
            </a:r>
            <a:r>
              <a:rPr lang="en-US" sz="2400" cap="none" spc="-40" dirty="0">
                <a:solidFill>
                  <a:prstClr val="black"/>
                </a:solidFill>
                <a:latin typeface="Times New Roman"/>
                <a:cs typeface="Times New Roman"/>
              </a:rPr>
              <a:t>and</a:t>
            </a:r>
            <a:r>
              <a:rPr lang="en-US" sz="2400" cap="none" spc="-14" dirty="0">
                <a:solidFill>
                  <a:prstClr val="black"/>
                </a:solidFill>
                <a:latin typeface="Times New Roman"/>
                <a:cs typeface="Times New Roman"/>
              </a:rPr>
              <a:t> </a:t>
            </a:r>
            <a:r>
              <a:rPr lang="en-US" sz="2400" cap="none" spc="-45" dirty="0">
                <a:solidFill>
                  <a:prstClr val="black"/>
                </a:solidFill>
                <a:latin typeface="Times New Roman"/>
                <a:cs typeface="Times New Roman"/>
              </a:rPr>
              <a:t>condensed</a:t>
            </a:r>
            <a:r>
              <a:rPr lang="en-US" sz="2400" cap="none" spc="-30" dirty="0">
                <a:solidFill>
                  <a:prstClr val="black"/>
                </a:solidFill>
                <a:latin typeface="Times New Roman"/>
                <a:cs typeface="Times New Roman"/>
              </a:rPr>
              <a:t> </a:t>
            </a:r>
            <a:r>
              <a:rPr lang="en-US" sz="2400" cap="none" spc="-10" dirty="0">
                <a:solidFill>
                  <a:prstClr val="black"/>
                </a:solidFill>
                <a:latin typeface="Times New Roman"/>
                <a:cs typeface="Times New Roman"/>
              </a:rPr>
              <a:t>in</a:t>
            </a:r>
            <a:r>
              <a:rPr lang="en-US" sz="2400" cap="none" spc="-14" dirty="0">
                <a:solidFill>
                  <a:prstClr val="black"/>
                </a:solidFill>
                <a:latin typeface="Times New Roman"/>
                <a:cs typeface="Times New Roman"/>
              </a:rPr>
              <a:t> </a:t>
            </a:r>
            <a:r>
              <a:rPr lang="en-US" sz="2400" cap="none" dirty="0">
                <a:solidFill>
                  <a:prstClr val="black"/>
                </a:solidFill>
                <a:latin typeface="Times New Roman"/>
                <a:cs typeface="Times New Roman"/>
              </a:rPr>
              <a:t>a</a:t>
            </a:r>
            <a:r>
              <a:rPr lang="en-US" sz="2400" cap="none" spc="-35" dirty="0">
                <a:solidFill>
                  <a:prstClr val="black"/>
                </a:solidFill>
                <a:latin typeface="Times New Roman"/>
                <a:cs typeface="Times New Roman"/>
              </a:rPr>
              <a:t> </a:t>
            </a:r>
            <a:r>
              <a:rPr lang="en-US" sz="2400" cap="none" spc="-45" dirty="0">
                <a:solidFill>
                  <a:prstClr val="black"/>
                </a:solidFill>
                <a:latin typeface="Times New Roman"/>
                <a:cs typeface="Times New Roman"/>
              </a:rPr>
              <a:t>lower</a:t>
            </a:r>
            <a:r>
              <a:rPr lang="en-US" sz="2400" cap="none" spc="-14" dirty="0">
                <a:solidFill>
                  <a:prstClr val="black"/>
                </a:solidFill>
                <a:latin typeface="Times New Roman"/>
                <a:cs typeface="Times New Roman"/>
              </a:rPr>
              <a:t> </a:t>
            </a:r>
            <a:r>
              <a:rPr lang="en-US" sz="2400" cap="none" spc="-50" dirty="0">
                <a:solidFill>
                  <a:prstClr val="black"/>
                </a:solidFill>
                <a:latin typeface="Times New Roman"/>
                <a:cs typeface="Times New Roman"/>
              </a:rPr>
              <a:t>container.</a:t>
            </a:r>
            <a:endParaRPr lang="en-US" sz="2400" cap="none" spc="-30" dirty="0" smtClean="0">
              <a:solidFill>
                <a:prstClr val="black"/>
              </a:solidFill>
              <a:latin typeface="Times New Roman"/>
              <a:cs typeface="Times New Roman"/>
            </a:endParaRPr>
          </a:p>
          <a:p>
            <a:pPr marL="355591" marR="6983" indent="-342900" algn="just" defTabSz="457200">
              <a:lnSpc>
                <a:spcPct val="150000"/>
              </a:lnSpc>
              <a:spcBef>
                <a:spcPts val="4"/>
              </a:spcBef>
              <a:buClrTx/>
            </a:pPr>
            <a:r>
              <a:rPr lang="en-US" sz="2400" cap="none" spc="-30" dirty="0" smtClean="0">
                <a:solidFill>
                  <a:prstClr val="black"/>
                </a:solidFill>
                <a:latin typeface="Times New Roman"/>
                <a:cs typeface="Times New Roman"/>
              </a:rPr>
              <a:t>There </a:t>
            </a:r>
            <a:r>
              <a:rPr lang="en-US" sz="2400" cap="none" spc="-20" dirty="0">
                <a:solidFill>
                  <a:prstClr val="black"/>
                </a:solidFill>
                <a:latin typeface="Times New Roman"/>
                <a:cs typeface="Times New Roman"/>
              </a:rPr>
              <a:t>are</a:t>
            </a:r>
            <a:r>
              <a:rPr lang="en-US" sz="2400" cap="none" spc="-45" dirty="0">
                <a:solidFill>
                  <a:prstClr val="black"/>
                </a:solidFill>
                <a:latin typeface="Times New Roman"/>
                <a:cs typeface="Times New Roman"/>
              </a:rPr>
              <a:t> </a:t>
            </a:r>
            <a:r>
              <a:rPr lang="en-US" sz="2400" cap="none" dirty="0">
                <a:solidFill>
                  <a:prstClr val="black"/>
                </a:solidFill>
                <a:latin typeface="Times New Roman"/>
                <a:cs typeface="Times New Roman"/>
              </a:rPr>
              <a:t>a</a:t>
            </a:r>
            <a:r>
              <a:rPr lang="en-US" sz="2400" cap="none" spc="-45" dirty="0">
                <a:solidFill>
                  <a:prstClr val="black"/>
                </a:solidFill>
                <a:latin typeface="Times New Roman"/>
                <a:cs typeface="Times New Roman"/>
              </a:rPr>
              <a:t> </a:t>
            </a:r>
            <a:r>
              <a:rPr lang="en-US" sz="2400" cap="none" spc="-20" dirty="0">
                <a:solidFill>
                  <a:prstClr val="black"/>
                </a:solidFill>
                <a:latin typeface="Times New Roman"/>
                <a:cs typeface="Times New Roman"/>
              </a:rPr>
              <a:t>few</a:t>
            </a:r>
            <a:r>
              <a:rPr lang="en-US" sz="2400" cap="none" spc="-35" dirty="0">
                <a:solidFill>
                  <a:prstClr val="black"/>
                </a:solidFill>
                <a:latin typeface="Times New Roman"/>
                <a:cs typeface="Times New Roman"/>
              </a:rPr>
              <a:t> </a:t>
            </a:r>
            <a:r>
              <a:rPr lang="en-US" sz="2400" cap="none" spc="-25" dirty="0">
                <a:solidFill>
                  <a:prstClr val="black"/>
                </a:solidFill>
                <a:latin typeface="Times New Roman"/>
                <a:cs typeface="Times New Roman"/>
              </a:rPr>
              <a:t>more</a:t>
            </a:r>
            <a:r>
              <a:rPr lang="en-US" sz="2400" cap="none" spc="-45" dirty="0">
                <a:solidFill>
                  <a:prstClr val="black"/>
                </a:solidFill>
                <a:latin typeface="Times New Roman"/>
                <a:cs typeface="Times New Roman"/>
              </a:rPr>
              <a:t> </a:t>
            </a:r>
            <a:r>
              <a:rPr lang="en-US" sz="2400" cap="none" spc="-25" dirty="0">
                <a:solidFill>
                  <a:prstClr val="black"/>
                </a:solidFill>
                <a:latin typeface="Times New Roman"/>
                <a:cs typeface="Times New Roman"/>
              </a:rPr>
              <a:t>such</a:t>
            </a:r>
            <a:r>
              <a:rPr lang="en-US" sz="2400" cap="none" spc="-40" dirty="0">
                <a:solidFill>
                  <a:prstClr val="black"/>
                </a:solidFill>
                <a:latin typeface="Times New Roman"/>
                <a:cs typeface="Times New Roman"/>
              </a:rPr>
              <a:t> </a:t>
            </a:r>
            <a:r>
              <a:rPr lang="en-US" sz="2400" cap="none" spc="-35" dirty="0">
                <a:solidFill>
                  <a:prstClr val="black"/>
                </a:solidFill>
                <a:latin typeface="Times New Roman"/>
                <a:cs typeface="Times New Roman"/>
              </a:rPr>
              <a:t>pillars</a:t>
            </a:r>
            <a:r>
              <a:rPr lang="en-US" sz="2400" cap="none" spc="-30" dirty="0">
                <a:solidFill>
                  <a:prstClr val="black"/>
                </a:solidFill>
                <a:latin typeface="Times New Roman"/>
                <a:cs typeface="Times New Roman"/>
              </a:rPr>
              <a:t> </a:t>
            </a:r>
            <a:r>
              <a:rPr lang="en-US" sz="2400" cap="none" dirty="0">
                <a:solidFill>
                  <a:prstClr val="black"/>
                </a:solidFill>
                <a:latin typeface="Times New Roman"/>
                <a:cs typeface="Times New Roman"/>
              </a:rPr>
              <a:t>in</a:t>
            </a:r>
            <a:r>
              <a:rPr lang="en-US" sz="2400" cap="none" spc="-25" dirty="0">
                <a:solidFill>
                  <a:prstClr val="black"/>
                </a:solidFill>
                <a:latin typeface="Times New Roman"/>
                <a:cs typeface="Times New Roman"/>
              </a:rPr>
              <a:t> </a:t>
            </a:r>
            <a:r>
              <a:rPr lang="en-US" sz="2400" cap="none" spc="-35" dirty="0">
                <a:solidFill>
                  <a:prstClr val="black"/>
                </a:solidFill>
                <a:latin typeface="Times New Roman"/>
                <a:cs typeface="Times New Roman"/>
              </a:rPr>
              <a:t>India,</a:t>
            </a:r>
            <a:r>
              <a:rPr lang="en-US" sz="2400" cap="none" spc="-40" dirty="0">
                <a:solidFill>
                  <a:prstClr val="black"/>
                </a:solidFill>
                <a:latin typeface="Times New Roman"/>
                <a:cs typeface="Times New Roman"/>
              </a:rPr>
              <a:t> </a:t>
            </a:r>
            <a:r>
              <a:rPr lang="en-US" sz="2400" cap="none" spc="-10" dirty="0">
                <a:solidFill>
                  <a:prstClr val="black"/>
                </a:solidFill>
                <a:latin typeface="Times New Roman"/>
                <a:cs typeface="Times New Roman"/>
              </a:rPr>
              <a:t>for</a:t>
            </a:r>
            <a:r>
              <a:rPr lang="en-US" sz="2400" cap="none" spc="-40" dirty="0">
                <a:solidFill>
                  <a:prstClr val="black"/>
                </a:solidFill>
                <a:latin typeface="Times New Roman"/>
                <a:cs typeface="Times New Roman"/>
              </a:rPr>
              <a:t> instance</a:t>
            </a:r>
            <a:r>
              <a:rPr lang="en-US" sz="2400" cap="none" spc="-30" dirty="0">
                <a:solidFill>
                  <a:prstClr val="black"/>
                </a:solidFill>
                <a:latin typeface="Times New Roman"/>
                <a:cs typeface="Times New Roman"/>
              </a:rPr>
              <a:t> </a:t>
            </a:r>
            <a:r>
              <a:rPr lang="en-US" sz="2400" cap="none" dirty="0">
                <a:solidFill>
                  <a:prstClr val="black"/>
                </a:solidFill>
                <a:latin typeface="Times New Roman"/>
                <a:cs typeface="Times New Roman"/>
              </a:rPr>
              <a:t>at</a:t>
            </a:r>
          </a:p>
          <a:p>
            <a:pPr marL="858511" marR="6983" lvl="1" indent="-342900" algn="just" defTabSz="457200">
              <a:lnSpc>
                <a:spcPct val="150000"/>
              </a:lnSpc>
              <a:spcBef>
                <a:spcPts val="4"/>
              </a:spcBef>
              <a:buClrTx/>
            </a:pPr>
            <a:r>
              <a:rPr lang="en-US" sz="2180" cap="none" spc="-35" dirty="0">
                <a:solidFill>
                  <a:srgbClr val="00B0F0"/>
                </a:solidFill>
                <a:latin typeface="Times New Roman"/>
                <a:cs typeface="Times New Roman"/>
              </a:rPr>
              <a:t>  </a:t>
            </a:r>
            <a:r>
              <a:rPr lang="en-US" sz="2400" cap="none" spc="-20" dirty="0" err="1">
                <a:solidFill>
                  <a:srgbClr val="00B0F0"/>
                </a:solidFill>
                <a:latin typeface="Times New Roman"/>
                <a:cs typeface="Times New Roman"/>
              </a:rPr>
              <a:t>Dhar</a:t>
            </a:r>
            <a:r>
              <a:rPr lang="en-US" sz="2400" cap="none" spc="-35" dirty="0">
                <a:solidFill>
                  <a:srgbClr val="00B0F0"/>
                </a:solidFill>
                <a:latin typeface="Times New Roman"/>
                <a:cs typeface="Times New Roman"/>
              </a:rPr>
              <a:t> </a:t>
            </a:r>
            <a:r>
              <a:rPr lang="en-US" sz="2400" cap="none" spc="-40" dirty="0">
                <a:solidFill>
                  <a:srgbClr val="00B0F0"/>
                </a:solidFill>
                <a:latin typeface="Times New Roman"/>
                <a:cs typeface="Times New Roman"/>
              </a:rPr>
              <a:t>(Madhya</a:t>
            </a:r>
            <a:r>
              <a:rPr lang="en-US" sz="2400" cap="none" spc="-30" dirty="0">
                <a:solidFill>
                  <a:srgbClr val="00B0F0"/>
                </a:solidFill>
                <a:latin typeface="Times New Roman"/>
                <a:cs typeface="Times New Roman"/>
              </a:rPr>
              <a:t> </a:t>
            </a:r>
            <a:r>
              <a:rPr lang="en-US" sz="2400" cap="none" spc="-40" dirty="0">
                <a:solidFill>
                  <a:srgbClr val="00B0F0"/>
                </a:solidFill>
                <a:latin typeface="Times New Roman"/>
                <a:cs typeface="Times New Roman"/>
              </a:rPr>
              <a:t>Pradesh)</a:t>
            </a:r>
            <a:r>
              <a:rPr lang="en-US" sz="2400" cap="none" spc="-30" dirty="0">
                <a:solidFill>
                  <a:srgbClr val="00B0F0"/>
                </a:solidFill>
                <a:latin typeface="Times New Roman"/>
                <a:cs typeface="Times New Roman"/>
              </a:rPr>
              <a:t> </a:t>
            </a:r>
            <a:r>
              <a:rPr lang="en-US" sz="2400" cap="none" spc="-20" dirty="0">
                <a:solidFill>
                  <a:srgbClr val="00B0F0"/>
                </a:solidFill>
                <a:latin typeface="Times New Roman"/>
                <a:cs typeface="Times New Roman"/>
              </a:rPr>
              <a:t>and</a:t>
            </a:r>
            <a:r>
              <a:rPr lang="en-US" sz="2400" cap="none" spc="-40" dirty="0">
                <a:solidFill>
                  <a:srgbClr val="00B0F0"/>
                </a:solidFill>
                <a:latin typeface="Times New Roman"/>
                <a:cs typeface="Times New Roman"/>
              </a:rPr>
              <a:t> </a:t>
            </a:r>
          </a:p>
          <a:p>
            <a:pPr marL="858511" marR="6983" lvl="1" indent="-342900" algn="just" defTabSz="457200">
              <a:lnSpc>
                <a:spcPct val="150000"/>
              </a:lnSpc>
              <a:spcBef>
                <a:spcPts val="4"/>
              </a:spcBef>
              <a:buClrTx/>
            </a:pPr>
            <a:r>
              <a:rPr lang="en-US" sz="2400" cap="none" spc="-10" dirty="0">
                <a:solidFill>
                  <a:srgbClr val="00B0F0"/>
                </a:solidFill>
                <a:latin typeface="Times New Roman"/>
                <a:cs typeface="Times New Roman"/>
              </a:rPr>
              <a:t> </a:t>
            </a:r>
            <a:r>
              <a:rPr lang="en-US" sz="2400" cap="none" spc="-10" dirty="0" err="1">
                <a:solidFill>
                  <a:srgbClr val="00B0F0"/>
                </a:solidFill>
                <a:latin typeface="Times New Roman"/>
                <a:cs typeface="Times New Roman"/>
              </a:rPr>
              <a:t>Kodachadri</a:t>
            </a:r>
            <a:r>
              <a:rPr lang="en-US" sz="2400" cap="none" spc="-10" dirty="0">
                <a:solidFill>
                  <a:srgbClr val="00B0F0"/>
                </a:solidFill>
                <a:latin typeface="Times New Roman"/>
                <a:cs typeface="Times New Roman"/>
              </a:rPr>
              <a:t> Hill</a:t>
            </a:r>
            <a:r>
              <a:rPr lang="en-US" sz="2400" cap="none" spc="-30" dirty="0">
                <a:solidFill>
                  <a:srgbClr val="00B0F0"/>
                </a:solidFill>
                <a:latin typeface="Times New Roman"/>
                <a:cs typeface="Times New Roman"/>
              </a:rPr>
              <a:t> </a:t>
            </a:r>
            <a:r>
              <a:rPr lang="en-US" sz="2400" cap="none" spc="-35" dirty="0">
                <a:solidFill>
                  <a:srgbClr val="00B0F0"/>
                </a:solidFill>
                <a:latin typeface="Times New Roman"/>
                <a:cs typeface="Times New Roman"/>
              </a:rPr>
              <a:t>(coastal</a:t>
            </a:r>
            <a:r>
              <a:rPr lang="en-US" sz="2400" cap="none" spc="-20" dirty="0">
                <a:solidFill>
                  <a:srgbClr val="00B0F0"/>
                </a:solidFill>
                <a:latin typeface="Times New Roman"/>
                <a:cs typeface="Times New Roman"/>
              </a:rPr>
              <a:t> </a:t>
            </a:r>
            <a:r>
              <a:rPr lang="en-US" sz="2400" cap="none" spc="-40" dirty="0">
                <a:solidFill>
                  <a:srgbClr val="00B0F0"/>
                </a:solidFill>
                <a:latin typeface="Times New Roman"/>
                <a:cs typeface="Times New Roman"/>
              </a:rPr>
              <a:t>Karnataka).</a:t>
            </a:r>
            <a:r>
              <a:rPr lang="en-US" sz="2400" cap="none" spc="-20" dirty="0">
                <a:solidFill>
                  <a:srgbClr val="00B0F0"/>
                </a:solidFill>
                <a:latin typeface="Times New Roman"/>
                <a:cs typeface="Times New Roman"/>
              </a:rPr>
              <a:t> </a:t>
            </a:r>
          </a:p>
          <a:p>
            <a:pPr marL="355591" marR="6983" indent="-342900" algn="just" defTabSz="457200">
              <a:lnSpc>
                <a:spcPct val="150000"/>
              </a:lnSpc>
              <a:spcBef>
                <a:spcPts val="0"/>
              </a:spcBef>
              <a:buClrTx/>
            </a:pPr>
            <a:r>
              <a:rPr lang="en-US" sz="2400" cap="none" spc="-35" dirty="0">
                <a:solidFill>
                  <a:prstClr val="black"/>
                </a:solidFill>
                <a:latin typeface="Times New Roman"/>
                <a:cs typeface="Times New Roman"/>
              </a:rPr>
              <a:t>Besides,</a:t>
            </a:r>
            <a:r>
              <a:rPr lang="en-US" sz="2400" cap="none" spc="-30" dirty="0">
                <a:solidFill>
                  <a:prstClr val="black"/>
                </a:solidFill>
                <a:latin typeface="Times New Roman"/>
                <a:cs typeface="Times New Roman"/>
              </a:rPr>
              <a:t> </a:t>
            </a:r>
            <a:r>
              <a:rPr lang="en-US" sz="2400" cap="none" dirty="0">
                <a:solidFill>
                  <a:prstClr val="black"/>
                </a:solidFill>
                <a:latin typeface="Times New Roman"/>
                <a:cs typeface="Times New Roman"/>
              </a:rPr>
              <a:t>the</a:t>
            </a:r>
            <a:r>
              <a:rPr lang="en-US" sz="2400" cap="none" spc="-25" dirty="0">
                <a:solidFill>
                  <a:prstClr val="black"/>
                </a:solidFill>
                <a:latin typeface="Times New Roman"/>
                <a:cs typeface="Times New Roman"/>
              </a:rPr>
              <a:t> </a:t>
            </a:r>
            <a:r>
              <a:rPr lang="en-US" sz="2400" cap="none" spc="-20" dirty="0">
                <a:solidFill>
                  <a:prstClr val="black"/>
                </a:solidFill>
                <a:latin typeface="Times New Roman"/>
                <a:cs typeface="Times New Roman"/>
              </a:rPr>
              <a:t>same</a:t>
            </a:r>
            <a:r>
              <a:rPr lang="en-US" sz="2400" cap="none" spc="-35" dirty="0">
                <a:solidFill>
                  <a:prstClr val="black"/>
                </a:solidFill>
                <a:latin typeface="Times New Roman"/>
                <a:cs typeface="Times New Roman"/>
              </a:rPr>
              <a:t> </a:t>
            </a:r>
            <a:r>
              <a:rPr lang="en-US" sz="2400" cap="none" spc="-40" dirty="0">
                <a:solidFill>
                  <a:prstClr val="black"/>
                </a:solidFill>
                <a:latin typeface="Times New Roman"/>
                <a:cs typeface="Times New Roman"/>
              </a:rPr>
              <a:t>technology</a:t>
            </a:r>
            <a:r>
              <a:rPr lang="en-US" sz="2400" cap="none" spc="-35" dirty="0">
                <a:solidFill>
                  <a:prstClr val="black"/>
                </a:solidFill>
                <a:latin typeface="Times New Roman"/>
                <a:cs typeface="Times New Roman"/>
              </a:rPr>
              <a:t> </a:t>
            </a:r>
            <a:r>
              <a:rPr lang="en-US" sz="2400" cap="none" dirty="0">
                <a:solidFill>
                  <a:prstClr val="black"/>
                </a:solidFill>
                <a:latin typeface="Times New Roman"/>
                <a:cs typeface="Times New Roman"/>
              </a:rPr>
              <a:t>was</a:t>
            </a:r>
            <a:r>
              <a:rPr lang="en-US" sz="2400" cap="none" spc="-20" dirty="0">
                <a:solidFill>
                  <a:prstClr val="black"/>
                </a:solidFill>
                <a:latin typeface="Times New Roman"/>
                <a:cs typeface="Times New Roman"/>
              </a:rPr>
              <a:t> </a:t>
            </a:r>
            <a:r>
              <a:rPr lang="en-US" sz="2400" cap="none" spc="-10" dirty="0">
                <a:solidFill>
                  <a:prstClr val="black"/>
                </a:solidFill>
                <a:latin typeface="Times New Roman"/>
                <a:cs typeface="Times New Roman"/>
              </a:rPr>
              <a:t>used</a:t>
            </a:r>
            <a:r>
              <a:rPr lang="en-US" sz="2400" cap="none" spc="-20" dirty="0">
                <a:solidFill>
                  <a:prstClr val="black"/>
                </a:solidFill>
                <a:latin typeface="Times New Roman"/>
                <a:cs typeface="Times New Roman"/>
              </a:rPr>
              <a:t> </a:t>
            </a:r>
            <a:r>
              <a:rPr lang="en-US" sz="2400" cap="none" dirty="0">
                <a:solidFill>
                  <a:prstClr val="black"/>
                </a:solidFill>
                <a:latin typeface="Times New Roman"/>
                <a:cs typeface="Times New Roman"/>
              </a:rPr>
              <a:t>to</a:t>
            </a:r>
            <a:r>
              <a:rPr lang="en-US" sz="2400" cap="none" spc="-30" dirty="0">
                <a:solidFill>
                  <a:prstClr val="black"/>
                </a:solidFill>
                <a:latin typeface="Times New Roman"/>
                <a:cs typeface="Times New Roman"/>
              </a:rPr>
              <a:t> </a:t>
            </a:r>
            <a:r>
              <a:rPr lang="en-US" sz="2400" cap="none" spc="-40" dirty="0">
                <a:solidFill>
                  <a:prstClr val="black"/>
                </a:solidFill>
                <a:latin typeface="Times New Roman"/>
                <a:cs typeface="Times New Roman"/>
              </a:rPr>
              <a:t>manufacture</a:t>
            </a:r>
            <a:r>
              <a:rPr lang="en-US" sz="2400" cap="none" spc="-25" dirty="0">
                <a:solidFill>
                  <a:prstClr val="black"/>
                </a:solidFill>
                <a:latin typeface="Times New Roman"/>
                <a:cs typeface="Times New Roman"/>
              </a:rPr>
              <a:t> </a:t>
            </a:r>
            <a:r>
              <a:rPr lang="en-US" sz="2400" cap="none" spc="-10" dirty="0">
                <a:solidFill>
                  <a:prstClr val="black"/>
                </a:solidFill>
                <a:latin typeface="Times New Roman"/>
                <a:cs typeface="Times New Roman"/>
              </a:rPr>
              <a:t>huge</a:t>
            </a:r>
            <a:r>
              <a:rPr lang="en-US" sz="2400" cap="none" spc="-25" dirty="0">
                <a:solidFill>
                  <a:prstClr val="black"/>
                </a:solidFill>
                <a:latin typeface="Times New Roman"/>
                <a:cs typeface="Times New Roman"/>
              </a:rPr>
              <a:t> </a:t>
            </a:r>
            <a:r>
              <a:rPr lang="en-US" sz="2400" cap="none" spc="-10" dirty="0">
                <a:solidFill>
                  <a:prstClr val="black"/>
                </a:solidFill>
                <a:latin typeface="Times New Roman"/>
                <a:cs typeface="Times New Roman"/>
              </a:rPr>
              <a:t>iron</a:t>
            </a:r>
            <a:r>
              <a:rPr lang="en-US" sz="2400" cap="none" spc="-35" dirty="0">
                <a:solidFill>
                  <a:prstClr val="black"/>
                </a:solidFill>
                <a:latin typeface="Times New Roman"/>
                <a:cs typeface="Times New Roman"/>
              </a:rPr>
              <a:t> </a:t>
            </a:r>
            <a:r>
              <a:rPr lang="en-US" sz="2400" cap="none" spc="-25" dirty="0">
                <a:solidFill>
                  <a:prstClr val="black"/>
                </a:solidFill>
                <a:latin typeface="Times New Roman"/>
                <a:cs typeface="Times New Roman"/>
              </a:rPr>
              <a:t>beams</a:t>
            </a:r>
            <a:r>
              <a:rPr lang="en-US" sz="2400" cap="none" spc="-20" dirty="0">
                <a:solidFill>
                  <a:prstClr val="black"/>
                </a:solidFill>
                <a:latin typeface="Times New Roman"/>
                <a:cs typeface="Times New Roman"/>
              </a:rPr>
              <a:t> used</a:t>
            </a:r>
            <a:r>
              <a:rPr lang="en-US" sz="2400" cap="none" spc="-30" dirty="0">
                <a:solidFill>
                  <a:prstClr val="black"/>
                </a:solidFill>
                <a:latin typeface="Times New Roman"/>
                <a:cs typeface="Times New Roman"/>
              </a:rPr>
              <a:t> </a:t>
            </a:r>
            <a:r>
              <a:rPr lang="en-US" sz="2400" cap="none" spc="-25" dirty="0">
                <a:solidFill>
                  <a:prstClr val="black"/>
                </a:solidFill>
                <a:latin typeface="Times New Roman"/>
                <a:cs typeface="Times New Roman"/>
              </a:rPr>
              <a:t>in </a:t>
            </a:r>
            <a:r>
              <a:rPr lang="en-US" sz="2400" cap="none" spc="-35" dirty="0">
                <a:solidFill>
                  <a:prstClr val="black"/>
                </a:solidFill>
                <a:latin typeface="Times New Roman"/>
                <a:cs typeface="Times New Roman"/>
              </a:rPr>
              <a:t>some</a:t>
            </a:r>
            <a:r>
              <a:rPr lang="en-US" sz="2400" cap="none" spc="-40" dirty="0">
                <a:solidFill>
                  <a:prstClr val="black"/>
                </a:solidFill>
                <a:latin typeface="Times New Roman"/>
                <a:cs typeface="Times New Roman"/>
              </a:rPr>
              <a:t> </a:t>
            </a:r>
            <a:r>
              <a:rPr lang="en-US" sz="2400" cap="none" spc="-45" dirty="0">
                <a:solidFill>
                  <a:prstClr val="black"/>
                </a:solidFill>
                <a:latin typeface="Times New Roman"/>
                <a:cs typeface="Times New Roman"/>
              </a:rPr>
              <a:t>temples</a:t>
            </a:r>
            <a:r>
              <a:rPr lang="en-US" sz="2400" cap="none" spc="-25" dirty="0">
                <a:solidFill>
                  <a:prstClr val="black"/>
                </a:solidFill>
                <a:latin typeface="Times New Roman"/>
                <a:cs typeface="Times New Roman"/>
              </a:rPr>
              <a:t> </a:t>
            </a:r>
            <a:r>
              <a:rPr lang="en-US" sz="2400" cap="none" spc="-10" dirty="0">
                <a:solidFill>
                  <a:prstClr val="black"/>
                </a:solidFill>
                <a:latin typeface="Times New Roman"/>
                <a:cs typeface="Times New Roman"/>
              </a:rPr>
              <a:t>of</a:t>
            </a:r>
            <a:r>
              <a:rPr lang="en-US" sz="2400" cap="none" spc="-14" dirty="0">
                <a:solidFill>
                  <a:prstClr val="black"/>
                </a:solidFill>
                <a:latin typeface="Times New Roman"/>
                <a:cs typeface="Times New Roman"/>
              </a:rPr>
              <a:t> </a:t>
            </a:r>
            <a:r>
              <a:rPr lang="en-US" sz="2400" cap="none" spc="-45" dirty="0">
                <a:solidFill>
                  <a:prstClr val="black"/>
                </a:solidFill>
                <a:latin typeface="Times New Roman"/>
                <a:cs typeface="Times New Roman"/>
              </a:rPr>
              <a:t>Odisha,</a:t>
            </a:r>
            <a:r>
              <a:rPr lang="en-US" sz="2400" cap="none" spc="-25" dirty="0">
                <a:solidFill>
                  <a:prstClr val="black"/>
                </a:solidFill>
                <a:latin typeface="Times New Roman"/>
                <a:cs typeface="Times New Roman"/>
              </a:rPr>
              <a:t> </a:t>
            </a:r>
            <a:r>
              <a:rPr lang="en-US" sz="2400" cap="none" spc="-45" dirty="0">
                <a:solidFill>
                  <a:prstClr val="black"/>
                </a:solidFill>
                <a:latin typeface="Times New Roman"/>
                <a:cs typeface="Times New Roman"/>
              </a:rPr>
              <a:t>such</a:t>
            </a:r>
            <a:r>
              <a:rPr lang="en-US" sz="2400" cap="none" spc="-10" dirty="0">
                <a:solidFill>
                  <a:prstClr val="black"/>
                </a:solidFill>
                <a:latin typeface="Times New Roman"/>
                <a:cs typeface="Times New Roman"/>
              </a:rPr>
              <a:t> </a:t>
            </a:r>
            <a:r>
              <a:rPr lang="en-US" sz="2400" cap="none" spc="-45" dirty="0">
                <a:solidFill>
                  <a:prstClr val="black"/>
                </a:solidFill>
                <a:latin typeface="Times New Roman"/>
                <a:cs typeface="Times New Roman"/>
              </a:rPr>
              <a:t>as</a:t>
            </a:r>
            <a:r>
              <a:rPr lang="en-US" sz="2400" cap="none" spc="-30" dirty="0">
                <a:solidFill>
                  <a:prstClr val="black"/>
                </a:solidFill>
                <a:latin typeface="Times New Roman"/>
                <a:cs typeface="Times New Roman"/>
              </a:rPr>
              <a:t> </a:t>
            </a:r>
          </a:p>
          <a:p>
            <a:pPr marL="858512" marR="6983" lvl="1" indent="-342900" algn="just" defTabSz="457200">
              <a:lnSpc>
                <a:spcPct val="150000"/>
              </a:lnSpc>
              <a:spcBef>
                <a:spcPts val="0"/>
              </a:spcBef>
              <a:buClrTx/>
            </a:pPr>
            <a:r>
              <a:rPr lang="en-US" sz="2400" cap="none" spc="-45" dirty="0" err="1">
                <a:solidFill>
                  <a:srgbClr val="00B050"/>
                </a:solidFill>
                <a:latin typeface="Times New Roman"/>
                <a:cs typeface="Times New Roman"/>
              </a:rPr>
              <a:t>Jagannath</a:t>
            </a:r>
            <a:r>
              <a:rPr lang="en-US" sz="2400" cap="none" spc="-25" dirty="0">
                <a:solidFill>
                  <a:srgbClr val="00B050"/>
                </a:solidFill>
                <a:latin typeface="Times New Roman"/>
                <a:cs typeface="Times New Roman"/>
              </a:rPr>
              <a:t> </a:t>
            </a:r>
            <a:r>
              <a:rPr lang="en-US" sz="2400" cap="none" spc="-30" dirty="0">
                <a:solidFill>
                  <a:srgbClr val="00B050"/>
                </a:solidFill>
                <a:latin typeface="Times New Roman"/>
                <a:cs typeface="Times New Roman"/>
              </a:rPr>
              <a:t>of</a:t>
            </a:r>
            <a:r>
              <a:rPr lang="en-US" sz="2400" cap="none" spc="-35" dirty="0">
                <a:solidFill>
                  <a:srgbClr val="00B050"/>
                </a:solidFill>
                <a:latin typeface="Times New Roman"/>
                <a:cs typeface="Times New Roman"/>
              </a:rPr>
              <a:t> </a:t>
            </a:r>
            <a:r>
              <a:rPr lang="en-US" sz="2400" cap="none" spc="-45" dirty="0" err="1">
                <a:solidFill>
                  <a:srgbClr val="00B050"/>
                </a:solidFill>
                <a:latin typeface="Times New Roman"/>
                <a:cs typeface="Times New Roman"/>
              </a:rPr>
              <a:t>Puri</a:t>
            </a:r>
            <a:r>
              <a:rPr lang="en-US" sz="2400" cap="none" spc="-25" dirty="0">
                <a:solidFill>
                  <a:srgbClr val="00B050"/>
                </a:solidFill>
                <a:latin typeface="Times New Roman"/>
                <a:cs typeface="Times New Roman"/>
              </a:rPr>
              <a:t> </a:t>
            </a:r>
            <a:r>
              <a:rPr lang="en-US" sz="2400" cap="none" spc="-40" dirty="0">
                <a:solidFill>
                  <a:srgbClr val="00B050"/>
                </a:solidFill>
                <a:latin typeface="Times New Roman"/>
                <a:cs typeface="Times New Roman"/>
              </a:rPr>
              <a:t>(12th</a:t>
            </a:r>
            <a:r>
              <a:rPr lang="en-US" sz="2400" cap="none" spc="-25" dirty="0">
                <a:solidFill>
                  <a:srgbClr val="00B050"/>
                </a:solidFill>
                <a:latin typeface="Times New Roman"/>
                <a:cs typeface="Times New Roman"/>
              </a:rPr>
              <a:t> </a:t>
            </a:r>
            <a:r>
              <a:rPr lang="en-US" sz="2400" cap="none" spc="-45" dirty="0">
                <a:solidFill>
                  <a:srgbClr val="00B050"/>
                </a:solidFill>
                <a:latin typeface="Times New Roman"/>
                <a:cs typeface="Times New Roman"/>
              </a:rPr>
              <a:t>century)</a:t>
            </a:r>
            <a:r>
              <a:rPr lang="en-US" sz="2400" cap="none" spc="-45" dirty="0">
                <a:solidFill>
                  <a:prstClr val="black"/>
                </a:solidFill>
                <a:latin typeface="Times New Roman"/>
                <a:cs typeface="Times New Roman"/>
              </a:rPr>
              <a:t>.</a:t>
            </a:r>
            <a:r>
              <a:rPr lang="en-US" sz="2400" cap="none" spc="-10" dirty="0">
                <a:solidFill>
                  <a:prstClr val="black"/>
                </a:solidFill>
                <a:latin typeface="Times New Roman"/>
                <a:cs typeface="Times New Roman"/>
              </a:rPr>
              <a:t> </a:t>
            </a:r>
          </a:p>
          <a:p>
            <a:pPr marL="858512" marR="6983" lvl="1" indent="-342900" algn="just" defTabSz="457200">
              <a:lnSpc>
                <a:spcPct val="150000"/>
              </a:lnSpc>
              <a:spcBef>
                <a:spcPts val="0"/>
              </a:spcBef>
              <a:buClrTx/>
            </a:pPr>
            <a:r>
              <a:rPr lang="en-US" sz="2400" cap="none" spc="-40" dirty="0">
                <a:solidFill>
                  <a:srgbClr val="00B050"/>
                </a:solidFill>
                <a:latin typeface="Times New Roman"/>
                <a:cs typeface="Times New Roman"/>
              </a:rPr>
              <a:t>The</a:t>
            </a:r>
            <a:r>
              <a:rPr lang="en-US" sz="2400" cap="none" spc="-35" dirty="0">
                <a:solidFill>
                  <a:srgbClr val="00B050"/>
                </a:solidFill>
                <a:latin typeface="Times New Roman"/>
                <a:cs typeface="Times New Roman"/>
              </a:rPr>
              <a:t> iron</a:t>
            </a:r>
            <a:r>
              <a:rPr lang="en-US" sz="2400" cap="none" spc="-25" dirty="0">
                <a:solidFill>
                  <a:srgbClr val="00B050"/>
                </a:solidFill>
                <a:latin typeface="Times New Roman"/>
                <a:cs typeface="Times New Roman"/>
              </a:rPr>
              <a:t> </a:t>
            </a:r>
            <a:r>
              <a:rPr lang="en-US" sz="2400" cap="none" spc="-40" dirty="0">
                <a:solidFill>
                  <a:srgbClr val="00B050"/>
                </a:solidFill>
                <a:latin typeface="Times New Roman"/>
                <a:cs typeface="Times New Roman"/>
              </a:rPr>
              <a:t>beams</a:t>
            </a:r>
            <a:r>
              <a:rPr lang="en-US" sz="2400" cap="none" spc="-4" dirty="0">
                <a:solidFill>
                  <a:srgbClr val="00B050"/>
                </a:solidFill>
                <a:latin typeface="Times New Roman"/>
                <a:cs typeface="Times New Roman"/>
              </a:rPr>
              <a:t> </a:t>
            </a:r>
            <a:r>
              <a:rPr lang="en-US" sz="2400" cap="none" spc="-50" dirty="0">
                <a:solidFill>
                  <a:srgbClr val="00B050"/>
                </a:solidFill>
                <a:latin typeface="Times New Roman"/>
                <a:cs typeface="Times New Roman"/>
              </a:rPr>
              <a:t>at</a:t>
            </a:r>
            <a:r>
              <a:rPr lang="en-US" sz="2400" cap="none" spc="-25" dirty="0">
                <a:solidFill>
                  <a:srgbClr val="00B050"/>
                </a:solidFill>
                <a:latin typeface="Times New Roman"/>
                <a:cs typeface="Times New Roman"/>
              </a:rPr>
              <a:t> </a:t>
            </a:r>
            <a:r>
              <a:rPr lang="en-US" sz="2400" cap="none" spc="-45" dirty="0" err="1">
                <a:solidFill>
                  <a:srgbClr val="00B050"/>
                </a:solidFill>
                <a:latin typeface="Times New Roman"/>
                <a:cs typeface="Times New Roman"/>
              </a:rPr>
              <a:t>Konarak‘s</a:t>
            </a:r>
            <a:r>
              <a:rPr lang="en-US" sz="2400" cap="none" spc="-10" dirty="0">
                <a:solidFill>
                  <a:srgbClr val="00B050"/>
                </a:solidFill>
                <a:latin typeface="Times New Roman"/>
                <a:cs typeface="Times New Roman"/>
              </a:rPr>
              <a:t> </a:t>
            </a:r>
            <a:r>
              <a:rPr lang="en-US" sz="2400" cap="none" spc="-45" dirty="0">
                <a:solidFill>
                  <a:srgbClr val="00B050"/>
                </a:solidFill>
                <a:latin typeface="Times New Roman"/>
                <a:cs typeface="Times New Roman"/>
              </a:rPr>
              <a:t>famous</a:t>
            </a:r>
            <a:r>
              <a:rPr lang="en-US" sz="2400" cap="none" spc="-25" dirty="0">
                <a:solidFill>
                  <a:srgbClr val="00B050"/>
                </a:solidFill>
                <a:latin typeface="Times New Roman"/>
                <a:cs typeface="Times New Roman"/>
              </a:rPr>
              <a:t> sun </a:t>
            </a:r>
            <a:r>
              <a:rPr lang="en-US" sz="2400" cap="none" spc="-40" dirty="0">
                <a:solidFill>
                  <a:srgbClr val="00B050"/>
                </a:solidFill>
                <a:latin typeface="Times New Roman"/>
                <a:cs typeface="Times New Roman"/>
              </a:rPr>
              <a:t>temple</a:t>
            </a:r>
            <a:r>
              <a:rPr lang="en-US" sz="2400" cap="none" spc="-20" dirty="0">
                <a:solidFill>
                  <a:srgbClr val="00B050"/>
                </a:solidFill>
                <a:latin typeface="Times New Roman"/>
                <a:cs typeface="Times New Roman"/>
              </a:rPr>
              <a:t> </a:t>
            </a:r>
            <a:r>
              <a:rPr lang="en-US" sz="2400" cap="none" spc="-40" dirty="0">
                <a:solidFill>
                  <a:srgbClr val="00B050"/>
                </a:solidFill>
                <a:latin typeface="Times New Roman"/>
                <a:cs typeface="Times New Roman"/>
              </a:rPr>
              <a:t>are</a:t>
            </a:r>
            <a:r>
              <a:rPr lang="en-US" sz="2400" cap="none" spc="-30" dirty="0">
                <a:solidFill>
                  <a:srgbClr val="00B050"/>
                </a:solidFill>
                <a:latin typeface="Times New Roman"/>
                <a:cs typeface="Times New Roman"/>
              </a:rPr>
              <a:t> </a:t>
            </a:r>
            <a:r>
              <a:rPr lang="en-US" sz="2400" cap="none" spc="-10" dirty="0">
                <a:solidFill>
                  <a:srgbClr val="00B050"/>
                </a:solidFill>
                <a:latin typeface="Times New Roman"/>
                <a:cs typeface="Times New Roman"/>
              </a:rPr>
              <a:t>of</a:t>
            </a:r>
            <a:r>
              <a:rPr lang="en-US" sz="2400" cap="none" spc="-25" dirty="0">
                <a:solidFill>
                  <a:srgbClr val="00B050"/>
                </a:solidFill>
                <a:latin typeface="Times New Roman"/>
                <a:cs typeface="Times New Roman"/>
              </a:rPr>
              <a:t> </a:t>
            </a:r>
            <a:r>
              <a:rPr lang="en-US" sz="2400" cap="none" spc="-45" dirty="0">
                <a:solidFill>
                  <a:srgbClr val="00B050"/>
                </a:solidFill>
                <a:latin typeface="Times New Roman"/>
                <a:cs typeface="Times New Roman"/>
              </a:rPr>
              <a:t>even</a:t>
            </a:r>
            <a:r>
              <a:rPr lang="en-US" sz="2400" cap="none" spc="-25" dirty="0">
                <a:solidFill>
                  <a:srgbClr val="00B050"/>
                </a:solidFill>
                <a:latin typeface="Times New Roman"/>
                <a:cs typeface="Times New Roman"/>
              </a:rPr>
              <a:t> </a:t>
            </a:r>
            <a:r>
              <a:rPr lang="en-US" sz="2400" cap="none" spc="-40" dirty="0">
                <a:solidFill>
                  <a:srgbClr val="00B050"/>
                </a:solidFill>
                <a:latin typeface="Times New Roman"/>
                <a:cs typeface="Times New Roman"/>
              </a:rPr>
              <a:t>larger</a:t>
            </a:r>
            <a:r>
              <a:rPr lang="en-US" sz="2400" cap="none" spc="-20" dirty="0">
                <a:solidFill>
                  <a:srgbClr val="00B050"/>
                </a:solidFill>
                <a:latin typeface="Times New Roman"/>
                <a:cs typeface="Times New Roman"/>
              </a:rPr>
              <a:t> </a:t>
            </a:r>
            <a:r>
              <a:rPr lang="en-US" sz="2400" cap="none" spc="-45" dirty="0">
                <a:solidFill>
                  <a:srgbClr val="00B050"/>
                </a:solidFill>
                <a:latin typeface="Times New Roman"/>
                <a:cs typeface="Times New Roman"/>
              </a:rPr>
              <a:t>dimensions.</a:t>
            </a:r>
            <a:r>
              <a:rPr lang="en-US" sz="2400" cap="none" spc="-25" dirty="0">
                <a:solidFill>
                  <a:srgbClr val="00B050"/>
                </a:solidFill>
                <a:latin typeface="Times New Roman"/>
                <a:cs typeface="Times New Roman"/>
              </a:rPr>
              <a:t> </a:t>
            </a:r>
          </a:p>
        </p:txBody>
      </p:sp>
    </p:spTree>
    <p:extLst>
      <p:ext uri="{BB962C8B-B14F-4D97-AF65-F5344CB8AC3E}">
        <p14:creationId xmlns:p14="http://schemas.microsoft.com/office/powerpoint/2010/main" val="283786822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016095" y="614337"/>
            <a:ext cx="8039324" cy="6165775"/>
          </a:xfrm>
          <a:prstGeom prst="rect">
            <a:avLst/>
          </a:prstGeom>
        </p:spPr>
        <p:txBody>
          <a:bodyPr vert="horz" wrap="square" lIns="0" tIns="20305" rIns="0" bIns="0" rtlCol="0">
            <a:spAutoFit/>
          </a:bodyPr>
          <a:lstStyle/>
          <a:p>
            <a:pPr marL="355591" marR="6983" indent="-342900" algn="just">
              <a:lnSpc>
                <a:spcPct val="150000"/>
              </a:lnSpc>
              <a:spcBef>
                <a:spcPts val="55"/>
              </a:spcBef>
              <a:buFont typeface="Arial" panose="020B0604020202020204" pitchFamily="34" charset="0"/>
              <a:buChar char="•"/>
            </a:pPr>
            <a:r>
              <a:rPr lang="en-US" sz="2400" spc="-35" dirty="0">
                <a:latin typeface="Times New Roman"/>
                <a:cs typeface="Times New Roman"/>
              </a:rPr>
              <a:t>This</a:t>
            </a:r>
            <a:r>
              <a:rPr lang="en-US" sz="2400" spc="-10" dirty="0">
                <a:latin typeface="Times New Roman"/>
                <a:cs typeface="Times New Roman"/>
              </a:rPr>
              <a:t> </a:t>
            </a:r>
            <a:r>
              <a:rPr lang="en-US" sz="2400" spc="-45" dirty="0">
                <a:latin typeface="Times New Roman"/>
                <a:cs typeface="Times New Roman"/>
              </a:rPr>
              <a:t>technique,</a:t>
            </a:r>
            <a:r>
              <a:rPr lang="en-US" sz="2400" spc="-20" dirty="0">
                <a:latin typeface="Times New Roman"/>
                <a:cs typeface="Times New Roman"/>
              </a:rPr>
              <a:t> </a:t>
            </a:r>
            <a:r>
              <a:rPr lang="en-US" sz="2400" spc="-50" dirty="0">
                <a:latin typeface="Times New Roman"/>
                <a:cs typeface="Times New Roman"/>
              </a:rPr>
              <a:t>which</a:t>
            </a:r>
            <a:r>
              <a:rPr lang="en-US" sz="2400" spc="-14" dirty="0">
                <a:latin typeface="Times New Roman"/>
                <a:cs typeface="Times New Roman"/>
              </a:rPr>
              <a:t> </a:t>
            </a:r>
            <a:r>
              <a:rPr lang="en-US" sz="2400" spc="-25" dirty="0">
                <a:latin typeface="Times New Roman"/>
                <a:cs typeface="Times New Roman"/>
              </a:rPr>
              <a:t>was </a:t>
            </a:r>
            <a:r>
              <a:rPr lang="en-US" sz="2400" spc="-40" dirty="0">
                <a:latin typeface="Times New Roman"/>
                <a:cs typeface="Times New Roman"/>
              </a:rPr>
              <a:t>also</a:t>
            </a:r>
            <a:r>
              <a:rPr lang="en-US" sz="2400" spc="-45" dirty="0">
                <a:latin typeface="Times New Roman"/>
                <a:cs typeface="Times New Roman"/>
              </a:rPr>
              <a:t> </a:t>
            </a:r>
            <a:r>
              <a:rPr lang="en-US" sz="2400" spc="-50" dirty="0">
                <a:latin typeface="Times New Roman"/>
                <a:cs typeface="Times New Roman"/>
              </a:rPr>
              <a:t>applied</a:t>
            </a:r>
            <a:r>
              <a:rPr lang="en-US" sz="2400" spc="-30" dirty="0">
                <a:latin typeface="Times New Roman"/>
                <a:cs typeface="Times New Roman"/>
              </a:rPr>
              <a:t> </a:t>
            </a:r>
            <a:r>
              <a:rPr lang="en-US" sz="2400" spc="-35" dirty="0">
                <a:latin typeface="Times New Roman"/>
                <a:cs typeface="Times New Roman"/>
              </a:rPr>
              <a:t>to</a:t>
            </a:r>
            <a:r>
              <a:rPr lang="en-US" sz="2400" spc="-45" dirty="0">
                <a:latin typeface="Times New Roman"/>
                <a:cs typeface="Times New Roman"/>
              </a:rPr>
              <a:t> </a:t>
            </a:r>
            <a:r>
              <a:rPr lang="en-US" sz="2400" spc="-50" dirty="0" smtClean="0">
                <a:solidFill>
                  <a:srgbClr val="00823B"/>
                </a:solidFill>
                <a:latin typeface="Times New Roman"/>
                <a:cs typeface="Times New Roman"/>
              </a:rPr>
              <a:t>MERCURY</a:t>
            </a:r>
            <a:r>
              <a:rPr lang="en-US" sz="2400" spc="-50" dirty="0" smtClean="0">
                <a:latin typeface="Times New Roman"/>
                <a:cs typeface="Times New Roman"/>
              </a:rPr>
              <a:t>,</a:t>
            </a:r>
            <a:r>
              <a:rPr lang="en-US" sz="2400" spc="-30" dirty="0" smtClean="0">
                <a:latin typeface="Times New Roman"/>
                <a:cs typeface="Times New Roman"/>
              </a:rPr>
              <a:t> </a:t>
            </a:r>
            <a:r>
              <a:rPr lang="en-US" sz="2400" spc="-30" dirty="0">
                <a:latin typeface="Times New Roman"/>
                <a:cs typeface="Times New Roman"/>
              </a:rPr>
              <a:t>is</a:t>
            </a:r>
            <a:r>
              <a:rPr lang="en-US" sz="2400" spc="-45" dirty="0">
                <a:latin typeface="Times New Roman"/>
                <a:cs typeface="Times New Roman"/>
              </a:rPr>
              <a:t> </a:t>
            </a:r>
            <a:r>
              <a:rPr lang="en-US" sz="2400" spc="-50" dirty="0">
                <a:latin typeface="Times New Roman"/>
                <a:cs typeface="Times New Roman"/>
              </a:rPr>
              <a:t>described</a:t>
            </a:r>
            <a:r>
              <a:rPr lang="en-US" sz="2400" spc="-45" dirty="0">
                <a:latin typeface="Times New Roman"/>
                <a:cs typeface="Times New Roman"/>
              </a:rPr>
              <a:t> </a:t>
            </a:r>
            <a:r>
              <a:rPr lang="en-US" sz="2400" spc="-30" dirty="0">
                <a:latin typeface="Times New Roman"/>
                <a:cs typeface="Times New Roman"/>
              </a:rPr>
              <a:t>in</a:t>
            </a:r>
            <a:r>
              <a:rPr lang="en-US" sz="2400" spc="-40" dirty="0">
                <a:latin typeface="Times New Roman"/>
                <a:cs typeface="Times New Roman"/>
              </a:rPr>
              <a:t> </a:t>
            </a:r>
            <a:r>
              <a:rPr lang="en-US" sz="2400" spc="-45" dirty="0">
                <a:solidFill>
                  <a:srgbClr val="0070C0"/>
                </a:solidFill>
                <a:latin typeface="Times New Roman"/>
                <a:cs typeface="Times New Roman"/>
              </a:rPr>
              <a:t>Sanskrit texts such</a:t>
            </a:r>
            <a:r>
              <a:rPr lang="en-US" sz="2400" spc="-30" dirty="0">
                <a:solidFill>
                  <a:srgbClr val="0070C0"/>
                </a:solidFill>
                <a:latin typeface="Times New Roman"/>
                <a:cs typeface="Times New Roman"/>
              </a:rPr>
              <a:t> </a:t>
            </a:r>
            <a:r>
              <a:rPr lang="en-US" sz="2400" spc="-35" dirty="0">
                <a:solidFill>
                  <a:srgbClr val="0070C0"/>
                </a:solidFill>
                <a:latin typeface="Times New Roman"/>
                <a:cs typeface="Times New Roman"/>
              </a:rPr>
              <a:t>as</a:t>
            </a:r>
            <a:r>
              <a:rPr lang="en-US" sz="2400" spc="-45" dirty="0">
                <a:solidFill>
                  <a:srgbClr val="0070C0"/>
                </a:solidFill>
                <a:latin typeface="Times New Roman"/>
                <a:cs typeface="Times New Roman"/>
              </a:rPr>
              <a:t> </a:t>
            </a:r>
            <a:r>
              <a:rPr lang="en-US" sz="2400" spc="-35" dirty="0">
                <a:solidFill>
                  <a:srgbClr val="0070C0"/>
                </a:solidFill>
                <a:latin typeface="Times New Roman"/>
                <a:cs typeface="Times New Roman"/>
              </a:rPr>
              <a:t>the</a:t>
            </a:r>
            <a:r>
              <a:rPr lang="en-US" sz="2400" spc="-50" dirty="0">
                <a:solidFill>
                  <a:srgbClr val="0070C0"/>
                </a:solidFill>
                <a:latin typeface="Times New Roman"/>
                <a:cs typeface="Times New Roman"/>
              </a:rPr>
              <a:t> 14th-</a:t>
            </a:r>
            <a:r>
              <a:rPr lang="en-US" sz="2400" spc="-45" dirty="0">
                <a:solidFill>
                  <a:srgbClr val="0070C0"/>
                </a:solidFill>
                <a:latin typeface="Times New Roman"/>
                <a:cs typeface="Times New Roman"/>
              </a:rPr>
              <a:t>century</a:t>
            </a:r>
            <a:r>
              <a:rPr lang="en-US" sz="2400" spc="-70" dirty="0">
                <a:solidFill>
                  <a:srgbClr val="0070C0"/>
                </a:solidFill>
                <a:latin typeface="Times New Roman"/>
                <a:cs typeface="Times New Roman"/>
              </a:rPr>
              <a:t> </a:t>
            </a:r>
            <a:r>
              <a:rPr lang="en-US" sz="2400" spc="-10" dirty="0" err="1">
                <a:solidFill>
                  <a:srgbClr val="0070C0"/>
                </a:solidFill>
                <a:latin typeface="Times New Roman"/>
                <a:cs typeface="Times New Roman"/>
              </a:rPr>
              <a:t>Rasaratnasamuccaya</a:t>
            </a:r>
            <a:r>
              <a:rPr lang="en-US" sz="2400" spc="-10" dirty="0">
                <a:solidFill>
                  <a:srgbClr val="0070C0"/>
                </a:solidFill>
                <a:latin typeface="Times New Roman"/>
                <a:cs typeface="Times New Roman"/>
              </a:rPr>
              <a:t>.</a:t>
            </a:r>
            <a:endParaRPr lang="en-US" sz="2400" dirty="0" smtClean="0">
              <a:solidFill>
                <a:srgbClr val="0070C0"/>
              </a:solidFill>
              <a:latin typeface="Times New Roman"/>
              <a:cs typeface="Times New Roman"/>
            </a:endParaRPr>
          </a:p>
          <a:p>
            <a:pPr marL="355591" marR="7616" indent="-342900" algn="just">
              <a:lnSpc>
                <a:spcPct val="150000"/>
              </a:lnSpc>
              <a:buFont typeface="Arial" panose="020B0604020202020204" pitchFamily="34" charset="0"/>
              <a:buChar char="•"/>
            </a:pPr>
            <a:r>
              <a:rPr lang="en-US" sz="2400" spc="-30" dirty="0">
                <a:latin typeface="Times New Roman"/>
                <a:cs typeface="Times New Roman"/>
              </a:rPr>
              <a:t>There</a:t>
            </a:r>
            <a:r>
              <a:rPr lang="en-US" sz="2400" spc="-45" dirty="0">
                <a:latin typeface="Times New Roman"/>
                <a:cs typeface="Times New Roman"/>
              </a:rPr>
              <a:t> </a:t>
            </a:r>
            <a:r>
              <a:rPr lang="en-US" sz="2400" dirty="0" smtClean="0">
                <a:latin typeface="Times New Roman"/>
                <a:cs typeface="Times New Roman"/>
              </a:rPr>
              <a:t>is</a:t>
            </a:r>
            <a:r>
              <a:rPr lang="en-US" sz="2400" spc="-30" dirty="0">
                <a:latin typeface="Times New Roman"/>
                <a:cs typeface="Times New Roman"/>
              </a:rPr>
              <a:t> </a:t>
            </a:r>
            <a:r>
              <a:rPr lang="en-US" sz="2400" spc="-45" dirty="0">
                <a:latin typeface="Times New Roman"/>
                <a:cs typeface="Times New Roman"/>
              </a:rPr>
              <a:t>archaeological</a:t>
            </a:r>
            <a:r>
              <a:rPr lang="en-US" sz="2400" spc="-14" dirty="0">
                <a:latin typeface="Times New Roman"/>
                <a:cs typeface="Times New Roman"/>
              </a:rPr>
              <a:t> </a:t>
            </a:r>
            <a:r>
              <a:rPr lang="en-US" sz="2400" spc="-40" dirty="0">
                <a:latin typeface="Times New Roman"/>
                <a:cs typeface="Times New Roman"/>
              </a:rPr>
              <a:t>evidence</a:t>
            </a:r>
            <a:r>
              <a:rPr lang="en-US" sz="2400" spc="-35" dirty="0">
                <a:latin typeface="Times New Roman"/>
                <a:cs typeface="Times New Roman"/>
              </a:rPr>
              <a:t> </a:t>
            </a:r>
            <a:r>
              <a:rPr lang="en-US" sz="2400" dirty="0" smtClean="0">
                <a:latin typeface="Times New Roman"/>
                <a:cs typeface="Times New Roman"/>
              </a:rPr>
              <a:t>of</a:t>
            </a:r>
            <a:r>
              <a:rPr lang="en-US" sz="2400" spc="-35" dirty="0">
                <a:latin typeface="Times New Roman"/>
                <a:cs typeface="Times New Roman"/>
              </a:rPr>
              <a:t> </a:t>
            </a:r>
            <a:r>
              <a:rPr lang="en-US" sz="2400" spc="-20" dirty="0">
                <a:latin typeface="Times New Roman"/>
                <a:cs typeface="Times New Roman"/>
              </a:rPr>
              <a:t>zinc</a:t>
            </a:r>
            <a:r>
              <a:rPr lang="en-US" sz="2400" spc="-30" dirty="0">
                <a:latin typeface="Times New Roman"/>
                <a:cs typeface="Times New Roman"/>
              </a:rPr>
              <a:t> </a:t>
            </a:r>
            <a:r>
              <a:rPr lang="en-US" sz="2400" spc="-40" dirty="0">
                <a:latin typeface="Times New Roman"/>
                <a:cs typeface="Times New Roman"/>
              </a:rPr>
              <a:t>production</a:t>
            </a:r>
            <a:r>
              <a:rPr lang="en-US" sz="2400" spc="-30" dirty="0">
                <a:latin typeface="Times New Roman"/>
                <a:cs typeface="Times New Roman"/>
              </a:rPr>
              <a:t> </a:t>
            </a:r>
            <a:r>
              <a:rPr lang="en-US" sz="2400" dirty="0" smtClean="0">
                <a:latin typeface="Times New Roman"/>
                <a:cs typeface="Times New Roman"/>
              </a:rPr>
              <a:t>at</a:t>
            </a:r>
            <a:r>
              <a:rPr lang="en-US" sz="2400" spc="-30" dirty="0">
                <a:latin typeface="Times New Roman"/>
                <a:cs typeface="Times New Roman"/>
              </a:rPr>
              <a:t> </a:t>
            </a:r>
            <a:r>
              <a:rPr lang="en-US" sz="2400" b="1" spc="-40" dirty="0" smtClean="0">
                <a:solidFill>
                  <a:srgbClr val="0070C0"/>
                </a:solidFill>
                <a:latin typeface="Times New Roman"/>
                <a:cs typeface="Times New Roman"/>
              </a:rPr>
              <a:t>Rajasthan’s</a:t>
            </a:r>
            <a:r>
              <a:rPr lang="en-US" sz="2400" b="1" spc="-35" dirty="0" smtClean="0">
                <a:solidFill>
                  <a:srgbClr val="0070C0"/>
                </a:solidFill>
                <a:latin typeface="Times New Roman"/>
                <a:cs typeface="Times New Roman"/>
              </a:rPr>
              <a:t> </a:t>
            </a:r>
            <a:r>
              <a:rPr lang="en-US" sz="2400" b="1" spc="-30" dirty="0">
                <a:solidFill>
                  <a:srgbClr val="0070C0"/>
                </a:solidFill>
                <a:latin typeface="Times New Roman"/>
                <a:cs typeface="Times New Roman"/>
              </a:rPr>
              <a:t>mines </a:t>
            </a:r>
            <a:r>
              <a:rPr lang="en-US" sz="2400" b="1" dirty="0" smtClean="0">
                <a:solidFill>
                  <a:srgbClr val="0070C0"/>
                </a:solidFill>
                <a:latin typeface="Times New Roman"/>
                <a:cs typeface="Times New Roman"/>
              </a:rPr>
              <a:t>at</a:t>
            </a:r>
            <a:r>
              <a:rPr lang="en-US" sz="2400" b="1" spc="-30" dirty="0">
                <a:solidFill>
                  <a:srgbClr val="0070C0"/>
                </a:solidFill>
                <a:latin typeface="Times New Roman"/>
                <a:cs typeface="Times New Roman"/>
              </a:rPr>
              <a:t> </a:t>
            </a:r>
            <a:r>
              <a:rPr lang="en-US" sz="2400" b="1" spc="-30" dirty="0" err="1">
                <a:solidFill>
                  <a:srgbClr val="0070C0"/>
                </a:solidFill>
                <a:latin typeface="Times New Roman"/>
                <a:cs typeface="Times New Roman"/>
              </a:rPr>
              <a:t>Zawar</a:t>
            </a:r>
            <a:r>
              <a:rPr lang="en-US" sz="2400" b="1" spc="-25" dirty="0">
                <a:solidFill>
                  <a:srgbClr val="0070C0"/>
                </a:solidFill>
                <a:latin typeface="Times New Roman"/>
                <a:cs typeface="Times New Roman"/>
              </a:rPr>
              <a:t> </a:t>
            </a:r>
            <a:r>
              <a:rPr lang="en-US" sz="2400" spc="-25" dirty="0">
                <a:solidFill>
                  <a:srgbClr val="0070C0"/>
                </a:solidFill>
                <a:latin typeface="Times New Roman"/>
                <a:cs typeface="Times New Roman"/>
              </a:rPr>
              <a:t>from</a:t>
            </a:r>
            <a:r>
              <a:rPr lang="en-US" sz="2400" spc="-30" dirty="0">
                <a:solidFill>
                  <a:srgbClr val="0070C0"/>
                </a:solidFill>
                <a:latin typeface="Times New Roman"/>
                <a:cs typeface="Times New Roman"/>
              </a:rPr>
              <a:t> </a:t>
            </a:r>
            <a:r>
              <a:rPr lang="en-US" sz="2400" spc="-10" dirty="0">
                <a:solidFill>
                  <a:srgbClr val="0070C0"/>
                </a:solidFill>
                <a:latin typeface="Times New Roman"/>
                <a:cs typeface="Times New Roman"/>
              </a:rPr>
              <a:t>the</a:t>
            </a:r>
            <a:r>
              <a:rPr lang="en-US" sz="2400" spc="-35" dirty="0">
                <a:solidFill>
                  <a:srgbClr val="0070C0"/>
                </a:solidFill>
                <a:latin typeface="Times New Roman"/>
                <a:cs typeface="Times New Roman"/>
              </a:rPr>
              <a:t> </a:t>
            </a:r>
            <a:r>
              <a:rPr lang="en-US" sz="2400" spc="-10" dirty="0">
                <a:solidFill>
                  <a:srgbClr val="0070C0"/>
                </a:solidFill>
                <a:latin typeface="Times New Roman"/>
                <a:cs typeface="Times New Roman"/>
              </a:rPr>
              <a:t>6th</a:t>
            </a:r>
            <a:r>
              <a:rPr lang="en-US" sz="2400" spc="-30" dirty="0">
                <a:solidFill>
                  <a:srgbClr val="0070C0"/>
                </a:solidFill>
                <a:latin typeface="Times New Roman"/>
                <a:cs typeface="Times New Roman"/>
              </a:rPr>
              <a:t> </a:t>
            </a:r>
            <a:r>
              <a:rPr lang="en-US" sz="2400" spc="-25" dirty="0">
                <a:solidFill>
                  <a:srgbClr val="0070C0"/>
                </a:solidFill>
                <a:latin typeface="Times New Roman"/>
                <a:cs typeface="Times New Roman"/>
              </a:rPr>
              <a:t>or </a:t>
            </a:r>
            <a:r>
              <a:rPr lang="en-US" sz="2400" spc="-35" dirty="0">
                <a:solidFill>
                  <a:srgbClr val="0070C0"/>
                </a:solidFill>
                <a:latin typeface="Times New Roman"/>
                <a:cs typeface="Times New Roman"/>
              </a:rPr>
              <a:t>5th </a:t>
            </a:r>
            <a:r>
              <a:rPr lang="en-US" sz="2400" spc="-50" dirty="0">
                <a:solidFill>
                  <a:srgbClr val="0070C0"/>
                </a:solidFill>
                <a:latin typeface="Times New Roman"/>
                <a:cs typeface="Times New Roman"/>
              </a:rPr>
              <a:t>century</a:t>
            </a:r>
            <a:r>
              <a:rPr lang="en-US" sz="2400" spc="-80" dirty="0">
                <a:solidFill>
                  <a:srgbClr val="0070C0"/>
                </a:solidFill>
                <a:latin typeface="Times New Roman"/>
                <a:cs typeface="Times New Roman"/>
              </a:rPr>
              <a:t> </a:t>
            </a:r>
            <a:r>
              <a:rPr lang="en-US" sz="2400" spc="-40" dirty="0">
                <a:solidFill>
                  <a:srgbClr val="0070C0"/>
                </a:solidFill>
                <a:latin typeface="Times New Roman"/>
                <a:cs typeface="Times New Roman"/>
              </a:rPr>
              <a:t>BCE</a:t>
            </a:r>
            <a:r>
              <a:rPr lang="en-US" sz="2400" spc="-40" dirty="0">
                <a:latin typeface="Times New Roman"/>
                <a:cs typeface="Times New Roman"/>
              </a:rPr>
              <a:t>.</a:t>
            </a:r>
            <a:r>
              <a:rPr lang="en-US" sz="2400" spc="-35" dirty="0">
                <a:latin typeface="Times New Roman"/>
                <a:cs typeface="Times New Roman"/>
              </a:rPr>
              <a:t> </a:t>
            </a:r>
            <a:r>
              <a:rPr lang="en-US" sz="2400" spc="-40" dirty="0">
                <a:latin typeface="Times New Roman"/>
                <a:cs typeface="Times New Roman"/>
              </a:rPr>
              <a:t>The</a:t>
            </a:r>
            <a:r>
              <a:rPr lang="en-US" sz="2400" spc="-50" dirty="0">
                <a:latin typeface="Times New Roman"/>
                <a:cs typeface="Times New Roman"/>
              </a:rPr>
              <a:t> technique</a:t>
            </a:r>
            <a:r>
              <a:rPr lang="en-US" sz="2400" spc="-40" dirty="0">
                <a:latin typeface="Times New Roman"/>
                <a:cs typeface="Times New Roman"/>
              </a:rPr>
              <a:t> </a:t>
            </a:r>
            <a:r>
              <a:rPr lang="en-US" sz="2400" spc="-45" dirty="0">
                <a:latin typeface="Times New Roman"/>
                <a:cs typeface="Times New Roman"/>
              </a:rPr>
              <a:t>must</a:t>
            </a:r>
            <a:r>
              <a:rPr lang="en-US" sz="2400" spc="-30" dirty="0">
                <a:latin typeface="Times New Roman"/>
                <a:cs typeface="Times New Roman"/>
              </a:rPr>
              <a:t> </a:t>
            </a:r>
            <a:r>
              <a:rPr lang="en-US" sz="2400" spc="-40" dirty="0">
                <a:latin typeface="Times New Roman"/>
                <a:cs typeface="Times New Roman"/>
              </a:rPr>
              <a:t>have</a:t>
            </a:r>
            <a:r>
              <a:rPr lang="en-US" sz="2400" spc="-50" dirty="0">
                <a:latin typeface="Times New Roman"/>
                <a:cs typeface="Times New Roman"/>
              </a:rPr>
              <a:t> </a:t>
            </a:r>
            <a:r>
              <a:rPr lang="en-US" sz="2400" spc="-45" dirty="0">
                <a:latin typeface="Times New Roman"/>
                <a:cs typeface="Times New Roman"/>
              </a:rPr>
              <a:t>been</a:t>
            </a:r>
            <a:r>
              <a:rPr lang="en-US" sz="2400" spc="-35" dirty="0">
                <a:latin typeface="Times New Roman"/>
                <a:cs typeface="Times New Roman"/>
              </a:rPr>
              <a:t> </a:t>
            </a:r>
            <a:r>
              <a:rPr lang="en-US" sz="2400" spc="-50" dirty="0">
                <a:latin typeface="Times New Roman"/>
                <a:cs typeface="Times New Roman"/>
              </a:rPr>
              <a:t>refined</a:t>
            </a:r>
            <a:r>
              <a:rPr lang="en-US" sz="2400" spc="-35" dirty="0">
                <a:latin typeface="Times New Roman"/>
                <a:cs typeface="Times New Roman"/>
              </a:rPr>
              <a:t> </a:t>
            </a:r>
            <a:r>
              <a:rPr lang="en-US" sz="2400" spc="-45" dirty="0">
                <a:latin typeface="Times New Roman"/>
                <a:cs typeface="Times New Roman"/>
              </a:rPr>
              <a:t>further</a:t>
            </a:r>
            <a:r>
              <a:rPr lang="en-US" sz="2400" spc="-40" dirty="0">
                <a:latin typeface="Times New Roman"/>
                <a:cs typeface="Times New Roman"/>
              </a:rPr>
              <a:t> </a:t>
            </a:r>
            <a:r>
              <a:rPr lang="en-US" sz="2400" spc="-45" dirty="0">
                <a:latin typeface="Times New Roman"/>
                <a:cs typeface="Times New Roman"/>
              </a:rPr>
              <a:t>over </a:t>
            </a:r>
            <a:r>
              <a:rPr lang="en-US" sz="2400" spc="-40" dirty="0">
                <a:latin typeface="Times New Roman"/>
                <a:cs typeface="Times New Roman"/>
              </a:rPr>
              <a:t>the </a:t>
            </a:r>
            <a:r>
              <a:rPr lang="en-US" sz="2400" spc="-50" dirty="0">
                <a:latin typeface="Times New Roman"/>
                <a:cs typeface="Times New Roman"/>
              </a:rPr>
              <a:t>centuries.</a:t>
            </a:r>
            <a:r>
              <a:rPr lang="en-US" sz="2400" spc="-35" dirty="0">
                <a:latin typeface="Times New Roman"/>
                <a:cs typeface="Times New Roman"/>
              </a:rPr>
              <a:t> </a:t>
            </a:r>
          </a:p>
          <a:p>
            <a:pPr marL="380973" marR="30459" indent="-342900" algn="just">
              <a:lnSpc>
                <a:spcPct val="150000"/>
              </a:lnSpc>
              <a:spcBef>
                <a:spcPts val="160"/>
              </a:spcBef>
              <a:buFont typeface="Arial" panose="020B0604020202020204" pitchFamily="34" charset="0"/>
              <a:buChar char="•"/>
            </a:pPr>
            <a:r>
              <a:rPr lang="en-US" sz="2400" spc="-45" dirty="0" smtClean="0">
                <a:solidFill>
                  <a:srgbClr val="00B050"/>
                </a:solidFill>
                <a:latin typeface="Times New Roman"/>
                <a:cs typeface="Times New Roman"/>
              </a:rPr>
              <a:t>	</a:t>
            </a:r>
            <a:r>
              <a:rPr lang="en-US" sz="2400" b="1" spc="-45" dirty="0" smtClean="0">
                <a:solidFill>
                  <a:srgbClr val="00823B"/>
                </a:solidFill>
                <a:latin typeface="Times New Roman"/>
                <a:cs typeface="Times New Roman"/>
              </a:rPr>
              <a:t>India</a:t>
            </a:r>
            <a:r>
              <a:rPr lang="en-US" sz="2400" b="1" spc="-40" dirty="0" smtClean="0">
                <a:solidFill>
                  <a:srgbClr val="00823B"/>
                </a:solidFill>
                <a:latin typeface="Times New Roman"/>
                <a:cs typeface="Times New Roman"/>
              </a:rPr>
              <a:t> </a:t>
            </a:r>
            <a:r>
              <a:rPr lang="en-US" sz="2400" b="1" spc="-40" dirty="0">
                <a:solidFill>
                  <a:srgbClr val="00823B"/>
                </a:solidFill>
                <a:latin typeface="Times New Roman"/>
                <a:cs typeface="Times New Roman"/>
              </a:rPr>
              <a:t>was</a:t>
            </a:r>
            <a:r>
              <a:rPr lang="en-US" sz="2400" spc="-40" dirty="0">
                <a:latin typeface="Times New Roman"/>
                <a:cs typeface="Times New Roman"/>
              </a:rPr>
              <a:t>,</a:t>
            </a:r>
            <a:r>
              <a:rPr lang="en-US" sz="2400" spc="-45" dirty="0">
                <a:latin typeface="Times New Roman"/>
                <a:cs typeface="Times New Roman"/>
              </a:rPr>
              <a:t> </a:t>
            </a:r>
            <a:r>
              <a:rPr lang="en-US" sz="2400" spc="-30" dirty="0">
                <a:latin typeface="Times New Roman"/>
                <a:cs typeface="Times New Roman"/>
              </a:rPr>
              <a:t>in</a:t>
            </a:r>
            <a:r>
              <a:rPr lang="en-US" sz="2400" spc="-45" dirty="0">
                <a:latin typeface="Times New Roman"/>
                <a:cs typeface="Times New Roman"/>
              </a:rPr>
              <a:t> </a:t>
            </a:r>
            <a:r>
              <a:rPr lang="en-US" sz="2400" spc="-35" dirty="0">
                <a:latin typeface="Times New Roman"/>
                <a:cs typeface="Times New Roman"/>
              </a:rPr>
              <a:t>any</a:t>
            </a:r>
            <a:r>
              <a:rPr lang="en-US" sz="2400" spc="-80" dirty="0">
                <a:latin typeface="Times New Roman"/>
                <a:cs typeface="Times New Roman"/>
              </a:rPr>
              <a:t> </a:t>
            </a:r>
            <a:r>
              <a:rPr lang="en-US" sz="2400" spc="-45" dirty="0">
                <a:latin typeface="Times New Roman"/>
                <a:cs typeface="Times New Roman"/>
              </a:rPr>
              <a:t>case,</a:t>
            </a:r>
            <a:r>
              <a:rPr lang="en-US" sz="2400" spc="-35" dirty="0">
                <a:latin typeface="Times New Roman"/>
                <a:cs typeface="Times New Roman"/>
              </a:rPr>
              <a:t> </a:t>
            </a:r>
            <a:r>
              <a:rPr lang="en-US" sz="2400" spc="-25" dirty="0">
                <a:latin typeface="Times New Roman"/>
                <a:cs typeface="Times New Roman"/>
              </a:rPr>
              <a:t>the </a:t>
            </a:r>
            <a:r>
              <a:rPr sz="2400" b="1" spc="-45" dirty="0">
                <a:solidFill>
                  <a:srgbClr val="00823B"/>
                </a:solidFill>
                <a:latin typeface="Times New Roman"/>
                <a:cs typeface="Times New Roman"/>
              </a:rPr>
              <a:t>first</a:t>
            </a:r>
            <a:r>
              <a:rPr sz="2400" b="1" spc="-30" dirty="0">
                <a:solidFill>
                  <a:srgbClr val="00823B"/>
                </a:solidFill>
                <a:latin typeface="Times New Roman"/>
                <a:cs typeface="Times New Roman"/>
              </a:rPr>
              <a:t> </a:t>
            </a:r>
            <a:r>
              <a:rPr sz="2400" b="1" spc="-45" dirty="0">
                <a:solidFill>
                  <a:srgbClr val="00823B"/>
                </a:solidFill>
                <a:latin typeface="Times New Roman"/>
                <a:cs typeface="Times New Roman"/>
              </a:rPr>
              <a:t>country</a:t>
            </a:r>
            <a:r>
              <a:rPr sz="2400" b="1" spc="-30" dirty="0">
                <a:solidFill>
                  <a:srgbClr val="00823B"/>
                </a:solidFill>
                <a:latin typeface="Times New Roman"/>
                <a:cs typeface="Times New Roman"/>
              </a:rPr>
              <a:t> </a:t>
            </a:r>
            <a:r>
              <a:rPr sz="2400" b="1" spc="-10" dirty="0">
                <a:solidFill>
                  <a:srgbClr val="00823B"/>
                </a:solidFill>
                <a:latin typeface="Times New Roman"/>
                <a:cs typeface="Times New Roman"/>
              </a:rPr>
              <a:t>to</a:t>
            </a:r>
            <a:r>
              <a:rPr sz="2400" b="1" spc="-20" dirty="0">
                <a:solidFill>
                  <a:srgbClr val="00823B"/>
                </a:solidFill>
                <a:latin typeface="Times New Roman"/>
                <a:cs typeface="Times New Roman"/>
              </a:rPr>
              <a:t> </a:t>
            </a:r>
            <a:r>
              <a:rPr sz="2400" b="1" spc="-45" dirty="0">
                <a:solidFill>
                  <a:srgbClr val="00823B"/>
                </a:solidFill>
                <a:latin typeface="Times New Roman"/>
                <a:cs typeface="Times New Roman"/>
              </a:rPr>
              <a:t>master</a:t>
            </a:r>
            <a:r>
              <a:rPr sz="2400" b="1" spc="-30" dirty="0">
                <a:solidFill>
                  <a:srgbClr val="00823B"/>
                </a:solidFill>
                <a:latin typeface="Times New Roman"/>
                <a:cs typeface="Times New Roman"/>
              </a:rPr>
              <a:t> </a:t>
            </a:r>
            <a:r>
              <a:rPr sz="2400" b="1" spc="-35" dirty="0">
                <a:solidFill>
                  <a:srgbClr val="00823B"/>
                </a:solidFill>
                <a:latin typeface="Times New Roman"/>
                <a:cs typeface="Times New Roman"/>
              </a:rPr>
              <a:t>zinc</a:t>
            </a:r>
            <a:r>
              <a:rPr sz="2400" b="1" spc="-30" dirty="0">
                <a:solidFill>
                  <a:srgbClr val="00823B"/>
                </a:solidFill>
                <a:latin typeface="Times New Roman"/>
                <a:cs typeface="Times New Roman"/>
              </a:rPr>
              <a:t> </a:t>
            </a:r>
            <a:r>
              <a:rPr sz="2400" b="1" spc="-50" dirty="0">
                <a:solidFill>
                  <a:srgbClr val="00823B"/>
                </a:solidFill>
                <a:latin typeface="Times New Roman"/>
                <a:cs typeface="Times New Roman"/>
              </a:rPr>
              <a:t>distillation</a:t>
            </a:r>
            <a:r>
              <a:rPr sz="2400" spc="-50" dirty="0">
                <a:latin typeface="Times New Roman"/>
                <a:cs typeface="Times New Roman"/>
              </a:rPr>
              <a:t>,</a:t>
            </a:r>
            <a:r>
              <a:rPr sz="2400" spc="-14" dirty="0">
                <a:latin typeface="Times New Roman"/>
                <a:cs typeface="Times New Roman"/>
              </a:rPr>
              <a:t> </a:t>
            </a:r>
            <a:r>
              <a:rPr sz="2400" spc="-40" dirty="0">
                <a:latin typeface="Times New Roman"/>
                <a:cs typeface="Times New Roman"/>
              </a:rPr>
              <a:t>and</a:t>
            </a:r>
            <a:r>
              <a:rPr sz="2400" spc="-25" dirty="0">
                <a:latin typeface="Times New Roman"/>
                <a:cs typeface="Times New Roman"/>
              </a:rPr>
              <a:t> </a:t>
            </a:r>
            <a:r>
              <a:rPr sz="2400" spc="-30" dirty="0">
                <a:latin typeface="Times New Roman"/>
                <a:cs typeface="Times New Roman"/>
              </a:rPr>
              <a:t>it</a:t>
            </a:r>
            <a:r>
              <a:rPr sz="2400" spc="-25" dirty="0">
                <a:latin typeface="Times New Roman"/>
                <a:cs typeface="Times New Roman"/>
              </a:rPr>
              <a:t> </a:t>
            </a:r>
            <a:r>
              <a:rPr sz="2400" spc="-10" dirty="0">
                <a:latin typeface="Times New Roman"/>
                <a:cs typeface="Times New Roman"/>
              </a:rPr>
              <a:t>is </a:t>
            </a:r>
            <a:r>
              <a:rPr sz="2400" spc="-50" dirty="0">
                <a:latin typeface="Times New Roman"/>
                <a:cs typeface="Times New Roman"/>
              </a:rPr>
              <a:t>estimated</a:t>
            </a:r>
            <a:r>
              <a:rPr sz="2400" spc="-14" dirty="0">
                <a:latin typeface="Times New Roman"/>
                <a:cs typeface="Times New Roman"/>
              </a:rPr>
              <a:t> </a:t>
            </a:r>
            <a:r>
              <a:rPr sz="2400" spc="-45" dirty="0">
                <a:latin typeface="Times New Roman"/>
                <a:cs typeface="Times New Roman"/>
              </a:rPr>
              <a:t>that</a:t>
            </a:r>
            <a:r>
              <a:rPr sz="2400" spc="-4" dirty="0">
                <a:latin typeface="Times New Roman"/>
                <a:cs typeface="Times New Roman"/>
              </a:rPr>
              <a:t> </a:t>
            </a:r>
            <a:r>
              <a:rPr sz="2400" spc="-45" dirty="0">
                <a:latin typeface="Times New Roman"/>
                <a:cs typeface="Times New Roman"/>
              </a:rPr>
              <a:t>between</a:t>
            </a:r>
            <a:r>
              <a:rPr sz="2400" spc="-14" dirty="0">
                <a:latin typeface="Times New Roman"/>
                <a:cs typeface="Times New Roman"/>
              </a:rPr>
              <a:t> </a:t>
            </a:r>
            <a:r>
              <a:rPr sz="2400" spc="-40" dirty="0">
                <a:latin typeface="Times New Roman"/>
                <a:cs typeface="Times New Roman"/>
              </a:rPr>
              <a:t>50,000</a:t>
            </a:r>
            <a:r>
              <a:rPr sz="2400" spc="-14" dirty="0">
                <a:latin typeface="Times New Roman"/>
                <a:cs typeface="Times New Roman"/>
              </a:rPr>
              <a:t> </a:t>
            </a:r>
            <a:r>
              <a:rPr sz="2400" spc="-40" dirty="0">
                <a:latin typeface="Times New Roman"/>
                <a:cs typeface="Times New Roman"/>
              </a:rPr>
              <a:t>and</a:t>
            </a:r>
            <a:r>
              <a:rPr sz="2400" spc="-14" dirty="0">
                <a:latin typeface="Times New Roman"/>
                <a:cs typeface="Times New Roman"/>
              </a:rPr>
              <a:t> </a:t>
            </a:r>
            <a:r>
              <a:rPr sz="2400" spc="-40" dirty="0">
                <a:latin typeface="Times New Roman"/>
                <a:cs typeface="Times New Roman"/>
              </a:rPr>
              <a:t>100,000</a:t>
            </a:r>
            <a:r>
              <a:rPr sz="2400" spc="-14" dirty="0">
                <a:latin typeface="Times New Roman"/>
                <a:cs typeface="Times New Roman"/>
              </a:rPr>
              <a:t> </a:t>
            </a:r>
            <a:r>
              <a:rPr sz="2400" spc="-45" dirty="0">
                <a:latin typeface="Times New Roman"/>
                <a:cs typeface="Times New Roman"/>
              </a:rPr>
              <a:t>tons</a:t>
            </a:r>
            <a:r>
              <a:rPr sz="2400" spc="-25" dirty="0">
                <a:latin typeface="Times New Roman"/>
                <a:cs typeface="Times New Roman"/>
              </a:rPr>
              <a:t> </a:t>
            </a:r>
            <a:r>
              <a:rPr sz="2400" spc="-10" dirty="0">
                <a:latin typeface="Times New Roman"/>
                <a:cs typeface="Times New Roman"/>
              </a:rPr>
              <a:t>of</a:t>
            </a:r>
            <a:r>
              <a:rPr sz="2400" spc="-14" dirty="0">
                <a:latin typeface="Times New Roman"/>
                <a:cs typeface="Times New Roman"/>
              </a:rPr>
              <a:t> </a:t>
            </a:r>
            <a:r>
              <a:rPr sz="2400" spc="-45" dirty="0">
                <a:latin typeface="Times New Roman"/>
                <a:cs typeface="Times New Roman"/>
              </a:rPr>
              <a:t>zinc</a:t>
            </a:r>
            <a:r>
              <a:rPr sz="2400" spc="-20" dirty="0">
                <a:latin typeface="Times New Roman"/>
                <a:cs typeface="Times New Roman"/>
              </a:rPr>
              <a:t> </a:t>
            </a:r>
            <a:r>
              <a:rPr sz="2400" spc="-25" dirty="0">
                <a:latin typeface="Times New Roman"/>
                <a:cs typeface="Times New Roman"/>
              </a:rPr>
              <a:t>was smelted </a:t>
            </a:r>
            <a:r>
              <a:rPr sz="2400" dirty="0">
                <a:latin typeface="Times New Roman"/>
                <a:cs typeface="Times New Roman"/>
              </a:rPr>
              <a:t>at</a:t>
            </a:r>
            <a:r>
              <a:rPr sz="2400" spc="-20" dirty="0">
                <a:latin typeface="Times New Roman"/>
                <a:cs typeface="Times New Roman"/>
              </a:rPr>
              <a:t> Zawar</a:t>
            </a:r>
            <a:r>
              <a:rPr sz="2400" spc="-25" dirty="0">
                <a:latin typeface="Times New Roman"/>
                <a:cs typeface="Times New Roman"/>
              </a:rPr>
              <a:t> </a:t>
            </a:r>
            <a:r>
              <a:rPr sz="2400" spc="-10" dirty="0">
                <a:latin typeface="Times New Roman"/>
                <a:cs typeface="Times New Roman"/>
              </a:rPr>
              <a:t>from</a:t>
            </a:r>
            <a:r>
              <a:rPr sz="2400" spc="-25" dirty="0">
                <a:latin typeface="Times New Roman"/>
                <a:cs typeface="Times New Roman"/>
              </a:rPr>
              <a:t> </a:t>
            </a:r>
            <a:r>
              <a:rPr sz="2400" dirty="0">
                <a:latin typeface="Times New Roman"/>
                <a:cs typeface="Times New Roman"/>
              </a:rPr>
              <a:t>the</a:t>
            </a:r>
            <a:r>
              <a:rPr sz="2400" spc="-40" dirty="0">
                <a:latin typeface="Times New Roman"/>
                <a:cs typeface="Times New Roman"/>
              </a:rPr>
              <a:t> </a:t>
            </a:r>
            <a:r>
              <a:rPr sz="2400" dirty="0">
                <a:latin typeface="Times New Roman"/>
                <a:cs typeface="Times New Roman"/>
              </a:rPr>
              <a:t>13th</a:t>
            </a:r>
            <a:r>
              <a:rPr sz="2400" spc="-20" dirty="0">
                <a:latin typeface="Times New Roman"/>
                <a:cs typeface="Times New Roman"/>
              </a:rPr>
              <a:t> </a:t>
            </a:r>
            <a:r>
              <a:rPr sz="2400" dirty="0">
                <a:latin typeface="Times New Roman"/>
                <a:cs typeface="Times New Roman"/>
              </a:rPr>
              <a:t>to</a:t>
            </a:r>
            <a:r>
              <a:rPr sz="2400" spc="-20" dirty="0">
                <a:latin typeface="Times New Roman"/>
                <a:cs typeface="Times New Roman"/>
              </a:rPr>
              <a:t> </a:t>
            </a:r>
            <a:r>
              <a:rPr sz="2400" dirty="0">
                <a:latin typeface="Times New Roman"/>
                <a:cs typeface="Times New Roman"/>
              </a:rPr>
              <a:t>the</a:t>
            </a:r>
            <a:r>
              <a:rPr sz="2400" spc="-25" dirty="0">
                <a:latin typeface="Times New Roman"/>
                <a:cs typeface="Times New Roman"/>
              </a:rPr>
              <a:t> </a:t>
            </a:r>
            <a:r>
              <a:rPr sz="2400" dirty="0">
                <a:latin typeface="Times New Roman"/>
                <a:cs typeface="Times New Roman"/>
              </a:rPr>
              <a:t>18th</a:t>
            </a:r>
            <a:r>
              <a:rPr sz="2400" spc="-20" dirty="0">
                <a:latin typeface="Times New Roman"/>
                <a:cs typeface="Times New Roman"/>
              </a:rPr>
              <a:t> </a:t>
            </a:r>
            <a:r>
              <a:rPr sz="2400" spc="-30" dirty="0">
                <a:latin typeface="Times New Roman"/>
                <a:cs typeface="Times New Roman"/>
              </a:rPr>
              <a:t>century</a:t>
            </a:r>
            <a:r>
              <a:rPr sz="2400" spc="-40" dirty="0">
                <a:latin typeface="Times New Roman"/>
                <a:cs typeface="Times New Roman"/>
              </a:rPr>
              <a:t> </a:t>
            </a:r>
            <a:r>
              <a:rPr lang="en-US" sz="2400" spc="-40" dirty="0" smtClean="0">
                <a:latin typeface="Times New Roman"/>
                <a:cs typeface="Times New Roman"/>
              </a:rPr>
              <a:t>.</a:t>
            </a:r>
            <a:endParaRPr lang="en-US" sz="2400" dirty="0" smtClean="0">
              <a:latin typeface="Times New Roman"/>
              <a:cs typeface="Times New Roman"/>
            </a:endParaRPr>
          </a:p>
          <a:p>
            <a:pPr marL="38073" marR="30459" algn="just">
              <a:lnSpc>
                <a:spcPct val="150000"/>
              </a:lnSpc>
              <a:spcBef>
                <a:spcPts val="160"/>
              </a:spcBef>
            </a:pPr>
            <a:r>
              <a:rPr lang="en-US" sz="2400" spc="-25" dirty="0">
                <a:latin typeface="Times New Roman"/>
                <a:cs typeface="Times New Roman"/>
              </a:rPr>
              <a:t>	</a:t>
            </a:r>
            <a:r>
              <a:rPr sz="2400" spc="-25" dirty="0">
                <a:latin typeface="Times New Roman"/>
                <a:cs typeface="Times New Roman"/>
              </a:rPr>
              <a:t> </a:t>
            </a:r>
            <a:r>
              <a:rPr lang="en-US" sz="2400" spc="4" dirty="0">
                <a:latin typeface="Times New Roman"/>
                <a:cs typeface="Times New Roman"/>
              </a:rPr>
              <a:t>	</a:t>
            </a:r>
            <a:endParaRPr lang="en-US" sz="2400" spc="-20" dirty="0">
              <a:solidFill>
                <a:srgbClr val="00B050"/>
              </a:solidFill>
              <a:latin typeface="Times New Roman"/>
              <a:cs typeface="Times New Roman"/>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016095" y="614337"/>
            <a:ext cx="8039324" cy="5586129"/>
          </a:xfrm>
          <a:prstGeom prst="rect">
            <a:avLst/>
          </a:prstGeom>
        </p:spPr>
        <p:txBody>
          <a:bodyPr vert="horz" wrap="square" lIns="0" tIns="20305" rIns="0" bIns="0" rtlCol="0">
            <a:spAutoFit/>
          </a:bodyPr>
          <a:lstStyle/>
          <a:p>
            <a:pPr marL="380973" marR="30459" indent="-342900" algn="just">
              <a:lnSpc>
                <a:spcPct val="150000"/>
              </a:lnSpc>
              <a:spcBef>
                <a:spcPts val="160"/>
              </a:spcBef>
              <a:buFont typeface="Arial" panose="020B0604020202020204" pitchFamily="34" charset="0"/>
              <a:buChar char="•"/>
            </a:pPr>
            <a:r>
              <a:rPr lang="en-US" sz="2400" spc="4" dirty="0">
                <a:latin typeface="Times New Roman"/>
                <a:cs typeface="Times New Roman"/>
              </a:rPr>
              <a:t>	</a:t>
            </a:r>
            <a:r>
              <a:rPr lang="en-US" sz="2400" spc="-25" dirty="0" smtClean="0">
                <a:latin typeface="Times New Roman"/>
                <a:cs typeface="Times New Roman"/>
              </a:rPr>
              <a:t>British</a:t>
            </a:r>
            <a:r>
              <a:rPr lang="en-US" sz="2400" spc="-20" dirty="0" smtClean="0">
                <a:latin typeface="Times New Roman"/>
                <a:cs typeface="Times New Roman"/>
              </a:rPr>
              <a:t> </a:t>
            </a:r>
            <a:r>
              <a:rPr lang="en-US" sz="2400" spc="-40" dirty="0" smtClean="0">
                <a:latin typeface="Times New Roman"/>
                <a:cs typeface="Times New Roman"/>
              </a:rPr>
              <a:t>chroniclers</a:t>
            </a:r>
            <a:r>
              <a:rPr lang="en-US" sz="2400" spc="-30" dirty="0" smtClean="0">
                <a:latin typeface="Times New Roman"/>
                <a:cs typeface="Times New Roman"/>
              </a:rPr>
              <a:t> </a:t>
            </a:r>
            <a:r>
              <a:rPr lang="en-US" sz="2400" spc="-20" dirty="0" smtClean="0">
                <a:latin typeface="Times New Roman"/>
                <a:cs typeface="Times New Roman"/>
              </a:rPr>
              <a:t>record </a:t>
            </a:r>
            <a:r>
              <a:rPr lang="en-US" sz="2400" spc="-35" dirty="0" smtClean="0">
                <a:latin typeface="Times New Roman"/>
                <a:cs typeface="Times New Roman"/>
              </a:rPr>
              <a:t>continuing</a:t>
            </a:r>
            <a:r>
              <a:rPr lang="en-US" sz="2400" spc="-30" dirty="0" smtClean="0">
                <a:latin typeface="Times New Roman"/>
                <a:cs typeface="Times New Roman"/>
              </a:rPr>
              <a:t> </a:t>
            </a:r>
            <a:r>
              <a:rPr lang="en-US" sz="2400" spc="-10" dirty="0" smtClean="0">
                <a:latin typeface="Times New Roman"/>
                <a:cs typeface="Times New Roman"/>
              </a:rPr>
              <a:t>production there</a:t>
            </a:r>
            <a:r>
              <a:rPr lang="en-US" sz="2400" dirty="0" smtClean="0">
                <a:latin typeface="Times New Roman"/>
                <a:cs typeface="Times New Roman"/>
              </a:rPr>
              <a:t> as</a:t>
            </a:r>
            <a:r>
              <a:rPr lang="en-US" sz="2400" spc="4" dirty="0" smtClean="0">
                <a:latin typeface="Times New Roman"/>
                <a:cs typeface="Times New Roman"/>
              </a:rPr>
              <a:t> </a:t>
            </a:r>
            <a:r>
              <a:rPr lang="en-US" sz="2400" dirty="0" smtClean="0">
                <a:latin typeface="Times New Roman"/>
                <a:cs typeface="Times New Roman"/>
              </a:rPr>
              <a:t>late</a:t>
            </a:r>
            <a:r>
              <a:rPr lang="en-US" sz="2400" spc="4" dirty="0" smtClean="0">
                <a:latin typeface="Times New Roman"/>
                <a:cs typeface="Times New Roman"/>
              </a:rPr>
              <a:t> </a:t>
            </a:r>
            <a:r>
              <a:rPr lang="en-US" sz="2400" dirty="0" smtClean="0">
                <a:latin typeface="Times New Roman"/>
                <a:cs typeface="Times New Roman"/>
              </a:rPr>
              <a:t>as in</a:t>
            </a:r>
            <a:r>
              <a:rPr lang="en-US" sz="2400" spc="10" dirty="0" smtClean="0">
                <a:latin typeface="Times New Roman"/>
                <a:cs typeface="Times New Roman"/>
              </a:rPr>
              <a:t> </a:t>
            </a:r>
            <a:r>
              <a:rPr lang="en-US" sz="2400" spc="-10" dirty="0" smtClean="0">
                <a:latin typeface="Times New Roman"/>
                <a:cs typeface="Times New Roman"/>
              </a:rPr>
              <a:t>1760;</a:t>
            </a:r>
            <a:r>
              <a:rPr lang="en-US" sz="2400" dirty="0" smtClean="0">
                <a:latin typeface="Times New Roman"/>
                <a:cs typeface="Times New Roman"/>
              </a:rPr>
              <a:t> </a:t>
            </a:r>
            <a:r>
              <a:rPr lang="en-US" sz="2400" spc="-25" dirty="0" smtClean="0">
                <a:latin typeface="Times New Roman"/>
                <a:cs typeface="Times New Roman"/>
              </a:rPr>
              <a:t>indeed,</a:t>
            </a:r>
            <a:r>
              <a:rPr lang="en-US" sz="2400" spc="-4" dirty="0" smtClean="0">
                <a:latin typeface="Times New Roman"/>
                <a:cs typeface="Times New Roman"/>
              </a:rPr>
              <a:t> </a:t>
            </a:r>
            <a:r>
              <a:rPr lang="en-US" sz="2400" spc="-10" dirty="0" smtClean="0">
                <a:latin typeface="Times New Roman"/>
                <a:cs typeface="Times New Roman"/>
              </a:rPr>
              <a:t>there</a:t>
            </a:r>
            <a:r>
              <a:rPr lang="en-US" sz="2400" dirty="0" smtClean="0">
                <a:latin typeface="Times New Roman"/>
                <a:cs typeface="Times New Roman"/>
              </a:rPr>
              <a:t> is</a:t>
            </a:r>
            <a:r>
              <a:rPr lang="en-US" sz="2400" spc="10" dirty="0" smtClean="0">
                <a:latin typeface="Times New Roman"/>
                <a:cs typeface="Times New Roman"/>
              </a:rPr>
              <a:t> </a:t>
            </a:r>
            <a:r>
              <a:rPr lang="en-US" sz="2400" u="sng" spc="-35" dirty="0" smtClean="0">
                <a:solidFill>
                  <a:srgbClr val="00823B"/>
                </a:solidFill>
                <a:latin typeface="Times New Roman"/>
                <a:cs typeface="Times New Roman"/>
              </a:rPr>
              <a:t>documentary</a:t>
            </a:r>
            <a:r>
              <a:rPr lang="en-US" sz="2400" u="sng" spc="-20" dirty="0" smtClean="0">
                <a:solidFill>
                  <a:srgbClr val="00823B"/>
                </a:solidFill>
                <a:latin typeface="Times New Roman"/>
                <a:cs typeface="Times New Roman"/>
              </a:rPr>
              <a:t> </a:t>
            </a:r>
            <a:r>
              <a:rPr lang="en-US" sz="2400" u="sng" spc="-25" dirty="0" smtClean="0">
                <a:solidFill>
                  <a:srgbClr val="00823B"/>
                </a:solidFill>
                <a:latin typeface="Times New Roman"/>
                <a:cs typeface="Times New Roman"/>
              </a:rPr>
              <a:t>evidence</a:t>
            </a:r>
            <a:r>
              <a:rPr lang="en-US" sz="2400" u="sng" spc="4" dirty="0" smtClean="0">
                <a:solidFill>
                  <a:srgbClr val="00823B"/>
                </a:solidFill>
                <a:latin typeface="Times New Roman"/>
                <a:cs typeface="Times New Roman"/>
              </a:rPr>
              <a:t> </a:t>
            </a:r>
            <a:r>
              <a:rPr lang="en-US" sz="2400" dirty="0" smtClean="0">
                <a:latin typeface="Times New Roman"/>
                <a:cs typeface="Times New Roman"/>
              </a:rPr>
              <a:t>to</a:t>
            </a:r>
            <a:r>
              <a:rPr lang="en-US" sz="2400" spc="-4" dirty="0" smtClean="0">
                <a:latin typeface="Times New Roman"/>
                <a:cs typeface="Times New Roman"/>
              </a:rPr>
              <a:t> </a:t>
            </a:r>
            <a:r>
              <a:rPr lang="en-US" sz="2400" dirty="0" smtClean="0">
                <a:latin typeface="Times New Roman"/>
                <a:cs typeface="Times New Roman"/>
              </a:rPr>
              <a:t>show</a:t>
            </a:r>
            <a:r>
              <a:rPr lang="en-US" sz="2400" spc="4" dirty="0" smtClean="0">
                <a:latin typeface="Times New Roman"/>
                <a:cs typeface="Times New Roman"/>
              </a:rPr>
              <a:t> </a:t>
            </a:r>
            <a:r>
              <a:rPr lang="en-US" sz="2400" dirty="0" smtClean="0">
                <a:latin typeface="Times New Roman"/>
                <a:cs typeface="Times New Roman"/>
              </a:rPr>
              <a:t>that</a:t>
            </a:r>
            <a:r>
              <a:rPr lang="en-US" sz="2400" spc="-4" dirty="0" smtClean="0">
                <a:latin typeface="Times New Roman"/>
                <a:cs typeface="Times New Roman"/>
              </a:rPr>
              <a:t> </a:t>
            </a:r>
            <a:r>
              <a:rPr lang="en-US" sz="2400" dirty="0" smtClean="0">
                <a:latin typeface="Times New Roman"/>
                <a:cs typeface="Times New Roman"/>
              </a:rPr>
              <a:t>an</a:t>
            </a:r>
            <a:r>
              <a:rPr lang="en-US" sz="2400" spc="10" dirty="0" smtClean="0">
                <a:latin typeface="Times New Roman"/>
                <a:cs typeface="Times New Roman"/>
              </a:rPr>
              <a:t> </a:t>
            </a:r>
            <a:r>
              <a:rPr lang="en-US" sz="2400" u="sng" spc="-35" dirty="0" smtClean="0">
                <a:solidFill>
                  <a:srgbClr val="00823B"/>
                </a:solidFill>
                <a:latin typeface="Times New Roman"/>
                <a:cs typeface="Times New Roman"/>
              </a:rPr>
              <a:t>Englishman</a:t>
            </a:r>
            <a:r>
              <a:rPr lang="en-US" sz="2400" u="sng" spc="-4" dirty="0" smtClean="0">
                <a:solidFill>
                  <a:srgbClr val="00823B"/>
                </a:solidFill>
                <a:latin typeface="Times New Roman"/>
                <a:cs typeface="Times New Roman"/>
              </a:rPr>
              <a:t> </a:t>
            </a:r>
            <a:r>
              <a:rPr lang="en-US" sz="2400" u="sng" spc="-25" dirty="0" smtClean="0">
                <a:solidFill>
                  <a:srgbClr val="00823B"/>
                </a:solidFill>
                <a:latin typeface="Times New Roman"/>
                <a:cs typeface="Times New Roman"/>
              </a:rPr>
              <a:t>learned</a:t>
            </a:r>
            <a:r>
              <a:rPr lang="en-US" sz="2400" u="sng" dirty="0" smtClean="0">
                <a:solidFill>
                  <a:srgbClr val="00823B"/>
                </a:solidFill>
                <a:latin typeface="Times New Roman"/>
                <a:cs typeface="Times New Roman"/>
              </a:rPr>
              <a:t> </a:t>
            </a:r>
            <a:r>
              <a:rPr lang="en-US" sz="2400" u="sng" spc="-25" dirty="0" smtClean="0">
                <a:solidFill>
                  <a:srgbClr val="00823B"/>
                </a:solidFill>
                <a:latin typeface="Times New Roman"/>
                <a:cs typeface="Times New Roman"/>
              </a:rPr>
              <a:t>the </a:t>
            </a:r>
            <a:r>
              <a:rPr lang="en-US" sz="2400" u="sng" spc="-30" dirty="0" smtClean="0">
                <a:solidFill>
                  <a:srgbClr val="00823B"/>
                </a:solidFill>
                <a:latin typeface="Times New Roman"/>
                <a:cs typeface="Times New Roman"/>
              </a:rPr>
              <a:t>technique</a:t>
            </a:r>
            <a:r>
              <a:rPr lang="en-US" sz="2400" u="sng" spc="-4" dirty="0" smtClean="0">
                <a:solidFill>
                  <a:srgbClr val="00823B"/>
                </a:solidFill>
                <a:latin typeface="Times New Roman"/>
                <a:cs typeface="Times New Roman"/>
              </a:rPr>
              <a:t> </a:t>
            </a:r>
            <a:r>
              <a:rPr lang="en-US" sz="2400" dirty="0" smtClean="0">
                <a:latin typeface="Times New Roman"/>
                <a:cs typeface="Times New Roman"/>
              </a:rPr>
              <a:t>of </a:t>
            </a:r>
            <a:r>
              <a:rPr lang="en-US" sz="2400" spc="-30" dirty="0" smtClean="0">
                <a:latin typeface="Times New Roman"/>
                <a:cs typeface="Times New Roman"/>
              </a:rPr>
              <a:t>downward</a:t>
            </a:r>
            <a:r>
              <a:rPr lang="en-US" sz="2400" dirty="0" smtClean="0">
                <a:latin typeface="Times New Roman"/>
                <a:cs typeface="Times New Roman"/>
              </a:rPr>
              <a:t> </a:t>
            </a:r>
            <a:r>
              <a:rPr lang="en-US" sz="2400" spc="-40" dirty="0" smtClean="0">
                <a:latin typeface="Times New Roman"/>
                <a:cs typeface="Times New Roman"/>
              </a:rPr>
              <a:t>distillation</a:t>
            </a:r>
            <a:r>
              <a:rPr lang="en-US" sz="2400" spc="-10" dirty="0" smtClean="0">
                <a:latin typeface="Times New Roman"/>
                <a:cs typeface="Times New Roman"/>
              </a:rPr>
              <a:t> </a:t>
            </a:r>
            <a:r>
              <a:rPr lang="en-US" sz="2400" spc="-20" dirty="0" smtClean="0">
                <a:latin typeface="Times New Roman"/>
                <a:cs typeface="Times New Roman"/>
              </a:rPr>
              <a:t>there</a:t>
            </a:r>
            <a:r>
              <a:rPr lang="en-US" sz="2400" dirty="0" smtClean="0">
                <a:latin typeface="Times New Roman"/>
                <a:cs typeface="Times New Roman"/>
              </a:rPr>
              <a:t> in the </a:t>
            </a:r>
            <a:r>
              <a:rPr lang="en-US" sz="2400" spc="-10" dirty="0" smtClean="0">
                <a:latin typeface="Times New Roman"/>
                <a:cs typeface="Times New Roman"/>
              </a:rPr>
              <a:t>17th </a:t>
            </a:r>
            <a:r>
              <a:rPr lang="en-US" sz="2400" spc="-25" dirty="0" smtClean="0">
                <a:latin typeface="Times New Roman"/>
                <a:cs typeface="Times New Roman"/>
              </a:rPr>
              <a:t>century</a:t>
            </a:r>
            <a:r>
              <a:rPr lang="en-US" sz="2400" spc="-20" dirty="0" smtClean="0">
                <a:latin typeface="Times New Roman"/>
                <a:cs typeface="Times New Roman"/>
              </a:rPr>
              <a:t> </a:t>
            </a:r>
            <a:r>
              <a:rPr lang="en-US" sz="2400" dirty="0" smtClean="0">
                <a:latin typeface="Times New Roman"/>
                <a:cs typeface="Times New Roman"/>
              </a:rPr>
              <a:t>and</a:t>
            </a:r>
            <a:r>
              <a:rPr lang="en-US" sz="2400" spc="4" dirty="0" smtClean="0">
                <a:latin typeface="Times New Roman"/>
                <a:cs typeface="Times New Roman"/>
              </a:rPr>
              <a:t> </a:t>
            </a:r>
            <a:r>
              <a:rPr lang="en-US" sz="2400" dirty="0" smtClean="0">
                <a:latin typeface="Times New Roman"/>
                <a:cs typeface="Times New Roman"/>
              </a:rPr>
              <a:t>took it</a:t>
            </a:r>
            <a:r>
              <a:rPr lang="en-US" sz="2400" spc="4" dirty="0" smtClean="0">
                <a:latin typeface="Times New Roman"/>
                <a:cs typeface="Times New Roman"/>
              </a:rPr>
              <a:t> </a:t>
            </a:r>
            <a:r>
              <a:rPr lang="en-US" sz="2400" dirty="0" smtClean="0">
                <a:latin typeface="Times New Roman"/>
                <a:cs typeface="Times New Roman"/>
              </a:rPr>
              <a:t>to </a:t>
            </a:r>
            <a:r>
              <a:rPr lang="en-US" sz="2400" spc="-50" dirty="0" smtClean="0">
                <a:solidFill>
                  <a:srgbClr val="00823B"/>
                </a:solidFill>
                <a:latin typeface="Times New Roman"/>
                <a:cs typeface="Times New Roman"/>
              </a:rPr>
              <a:t>England-</a:t>
            </a:r>
            <a:r>
              <a:rPr lang="en-US" sz="2400" dirty="0" smtClean="0">
                <a:solidFill>
                  <a:srgbClr val="00823B"/>
                </a:solidFill>
                <a:latin typeface="Times New Roman"/>
                <a:cs typeface="Times New Roman"/>
              </a:rPr>
              <a:t>a </a:t>
            </a:r>
            <a:r>
              <a:rPr lang="en-US" sz="2400" spc="-10" dirty="0" smtClean="0">
                <a:solidFill>
                  <a:srgbClr val="00823B"/>
                </a:solidFill>
                <a:latin typeface="Times New Roman"/>
                <a:cs typeface="Times New Roman"/>
              </a:rPr>
              <a:t>case</a:t>
            </a:r>
            <a:r>
              <a:rPr lang="en-US" sz="2400" spc="-4" dirty="0" smtClean="0">
                <a:solidFill>
                  <a:srgbClr val="00823B"/>
                </a:solidFill>
                <a:latin typeface="Times New Roman"/>
                <a:cs typeface="Times New Roman"/>
              </a:rPr>
              <a:t> </a:t>
            </a:r>
            <a:r>
              <a:rPr lang="en-US" sz="2400" dirty="0" smtClean="0">
                <a:solidFill>
                  <a:srgbClr val="00823B"/>
                </a:solidFill>
                <a:latin typeface="Times New Roman"/>
                <a:cs typeface="Times New Roman"/>
              </a:rPr>
              <a:t>of</a:t>
            </a:r>
            <a:r>
              <a:rPr lang="en-US" sz="2400" spc="-10" dirty="0" smtClean="0">
                <a:solidFill>
                  <a:srgbClr val="00823B"/>
                </a:solidFill>
                <a:latin typeface="Times New Roman"/>
                <a:cs typeface="Times New Roman"/>
              </a:rPr>
              <a:t> technology </a:t>
            </a:r>
            <a:r>
              <a:rPr lang="en-US" sz="2400" spc="-50" dirty="0" smtClean="0">
                <a:solidFill>
                  <a:srgbClr val="00823B"/>
                </a:solidFill>
                <a:latin typeface="Times New Roman"/>
                <a:cs typeface="Times New Roman"/>
              </a:rPr>
              <a:t>transfer</a:t>
            </a:r>
            <a:r>
              <a:rPr lang="en-US" sz="2400" spc="-25" dirty="0" smtClean="0">
                <a:solidFill>
                  <a:srgbClr val="00823B"/>
                </a:solidFill>
                <a:latin typeface="Times New Roman"/>
                <a:cs typeface="Times New Roman"/>
              </a:rPr>
              <a:t> </a:t>
            </a:r>
            <a:r>
              <a:rPr lang="en-US" sz="2400" spc="-55" dirty="0" smtClean="0">
                <a:solidFill>
                  <a:srgbClr val="00823B"/>
                </a:solidFill>
                <a:latin typeface="Times New Roman"/>
                <a:cs typeface="Times New Roman"/>
              </a:rPr>
              <a:t>which</a:t>
            </a:r>
            <a:r>
              <a:rPr lang="en-US" sz="2400" dirty="0" smtClean="0">
                <a:solidFill>
                  <a:srgbClr val="00823B"/>
                </a:solidFill>
                <a:latin typeface="Times New Roman"/>
                <a:cs typeface="Times New Roman"/>
              </a:rPr>
              <a:t> </a:t>
            </a:r>
            <a:r>
              <a:rPr lang="en-US" sz="2400" spc="-50" dirty="0" smtClean="0">
                <a:solidFill>
                  <a:srgbClr val="00823B"/>
                </a:solidFill>
                <a:latin typeface="Times New Roman"/>
                <a:cs typeface="Times New Roman"/>
              </a:rPr>
              <a:t>parallels</a:t>
            </a:r>
            <a:r>
              <a:rPr lang="en-US" sz="2400" spc="-4" dirty="0" smtClean="0">
                <a:solidFill>
                  <a:srgbClr val="00823B"/>
                </a:solidFill>
                <a:latin typeface="Times New Roman"/>
                <a:cs typeface="Times New Roman"/>
              </a:rPr>
              <a:t> </a:t>
            </a:r>
            <a:r>
              <a:rPr lang="en-US" sz="2400" spc="-55" dirty="0" smtClean="0">
                <a:solidFill>
                  <a:srgbClr val="00823B"/>
                </a:solidFill>
                <a:latin typeface="Times New Roman"/>
                <a:cs typeface="Times New Roman"/>
              </a:rPr>
              <a:t>that</a:t>
            </a:r>
            <a:r>
              <a:rPr lang="en-US" sz="2400" spc="-10" dirty="0" smtClean="0">
                <a:solidFill>
                  <a:srgbClr val="00823B"/>
                </a:solidFill>
                <a:latin typeface="Times New Roman"/>
                <a:cs typeface="Times New Roman"/>
              </a:rPr>
              <a:t> </a:t>
            </a:r>
            <a:r>
              <a:rPr lang="en-US" sz="2400" spc="-50" dirty="0" smtClean="0">
                <a:solidFill>
                  <a:srgbClr val="00823B"/>
                </a:solidFill>
                <a:latin typeface="Times New Roman"/>
                <a:cs typeface="Times New Roman"/>
              </a:rPr>
              <a:t>of</a:t>
            </a:r>
            <a:r>
              <a:rPr lang="en-US" sz="2400" spc="-4" dirty="0" smtClean="0">
                <a:solidFill>
                  <a:srgbClr val="00823B"/>
                </a:solidFill>
                <a:latin typeface="Times New Roman"/>
                <a:cs typeface="Times New Roman"/>
              </a:rPr>
              <a:t> </a:t>
            </a:r>
            <a:r>
              <a:rPr lang="en-US" sz="2400" spc="-55" dirty="0" err="1" smtClean="0">
                <a:solidFill>
                  <a:srgbClr val="00823B"/>
                </a:solidFill>
                <a:latin typeface="Times New Roman"/>
                <a:cs typeface="Times New Roman"/>
              </a:rPr>
              <a:t>wootz</a:t>
            </a:r>
            <a:r>
              <a:rPr lang="en-US" sz="2400" dirty="0" smtClean="0">
                <a:solidFill>
                  <a:srgbClr val="00823B"/>
                </a:solidFill>
                <a:latin typeface="Times New Roman"/>
                <a:cs typeface="Times New Roman"/>
              </a:rPr>
              <a:t> </a:t>
            </a:r>
            <a:r>
              <a:rPr lang="en-US" sz="2400" spc="-55" dirty="0" smtClean="0">
                <a:solidFill>
                  <a:srgbClr val="00823B"/>
                </a:solidFill>
                <a:latin typeface="Times New Roman"/>
                <a:cs typeface="Times New Roman"/>
              </a:rPr>
              <a:t>steel</a:t>
            </a:r>
            <a:r>
              <a:rPr lang="en-US" sz="2400" spc="-55" dirty="0" smtClean="0">
                <a:solidFill>
                  <a:srgbClr val="00B050"/>
                </a:solidFill>
                <a:latin typeface="Times New Roman"/>
                <a:cs typeface="Times New Roman"/>
              </a:rPr>
              <a:t>.</a:t>
            </a:r>
            <a:r>
              <a:rPr lang="en-US" sz="2400" spc="4" dirty="0" smtClean="0">
                <a:solidFill>
                  <a:srgbClr val="00B050"/>
                </a:solidFill>
                <a:latin typeface="Times New Roman"/>
                <a:cs typeface="Times New Roman"/>
              </a:rPr>
              <a:t> </a:t>
            </a:r>
          </a:p>
          <a:p>
            <a:pPr marL="380973" marR="30459" indent="-342900" algn="just">
              <a:lnSpc>
                <a:spcPct val="150000"/>
              </a:lnSpc>
              <a:spcBef>
                <a:spcPts val="160"/>
              </a:spcBef>
              <a:buFont typeface="Arial" panose="020B0604020202020204" pitchFamily="34" charset="0"/>
              <a:buChar char="•"/>
            </a:pPr>
            <a:r>
              <a:rPr lang="en-US" sz="2400" spc="-50" dirty="0" smtClean="0">
                <a:latin typeface="Times New Roman"/>
                <a:cs typeface="Times New Roman"/>
              </a:rPr>
              <a:t>	</a:t>
            </a:r>
            <a:r>
              <a:rPr sz="2400" spc="-50" dirty="0" smtClean="0">
                <a:latin typeface="Times New Roman"/>
                <a:cs typeface="Times New Roman"/>
              </a:rPr>
              <a:t>Another</a:t>
            </a:r>
            <a:r>
              <a:rPr sz="2400" dirty="0" smtClean="0">
                <a:latin typeface="Times New Roman"/>
                <a:cs typeface="Times New Roman"/>
              </a:rPr>
              <a:t> </a:t>
            </a:r>
            <a:r>
              <a:rPr sz="2400" spc="-50" dirty="0">
                <a:latin typeface="Times New Roman"/>
                <a:cs typeface="Times New Roman"/>
              </a:rPr>
              <a:t>remarkable</a:t>
            </a:r>
            <a:r>
              <a:rPr sz="2400" spc="-4" dirty="0">
                <a:latin typeface="Times New Roman"/>
                <a:cs typeface="Times New Roman"/>
              </a:rPr>
              <a:t> </a:t>
            </a:r>
            <a:r>
              <a:rPr sz="2400" spc="-50" dirty="0">
                <a:latin typeface="Times New Roman"/>
                <a:cs typeface="Times New Roman"/>
              </a:rPr>
              <a:t>artistic</a:t>
            </a:r>
            <a:r>
              <a:rPr sz="2400" spc="-14" dirty="0">
                <a:latin typeface="Times New Roman"/>
                <a:cs typeface="Times New Roman"/>
              </a:rPr>
              <a:t> </a:t>
            </a:r>
            <a:r>
              <a:rPr sz="2400" spc="-50" dirty="0">
                <a:latin typeface="Times New Roman"/>
                <a:cs typeface="Times New Roman"/>
              </a:rPr>
              <a:t>innovation</a:t>
            </a:r>
            <a:r>
              <a:rPr sz="2400" spc="4" dirty="0">
                <a:latin typeface="Times New Roman"/>
                <a:cs typeface="Times New Roman"/>
              </a:rPr>
              <a:t> </a:t>
            </a:r>
            <a:r>
              <a:rPr sz="2400" spc="-55" dirty="0">
                <a:latin typeface="Times New Roman"/>
                <a:cs typeface="Times New Roman"/>
              </a:rPr>
              <a:t>by</a:t>
            </a:r>
            <a:r>
              <a:rPr sz="2400" spc="-20" dirty="0">
                <a:latin typeface="Times New Roman"/>
                <a:cs typeface="Times New Roman"/>
              </a:rPr>
              <a:t> </a:t>
            </a:r>
            <a:r>
              <a:rPr sz="2400" spc="-50" dirty="0">
                <a:latin typeface="Times New Roman"/>
                <a:cs typeface="Times New Roman"/>
              </a:rPr>
              <a:t>Indian</a:t>
            </a:r>
            <a:r>
              <a:rPr sz="2400" spc="4" dirty="0">
                <a:latin typeface="Times New Roman"/>
                <a:cs typeface="Times New Roman"/>
              </a:rPr>
              <a:t> </a:t>
            </a:r>
            <a:r>
              <a:rPr sz="2400" spc="-50" dirty="0">
                <a:latin typeface="Times New Roman"/>
                <a:cs typeface="Times New Roman"/>
              </a:rPr>
              <a:t>metalworkers</a:t>
            </a:r>
            <a:r>
              <a:rPr sz="2400" spc="4" dirty="0">
                <a:latin typeface="Times New Roman"/>
                <a:cs typeface="Times New Roman"/>
              </a:rPr>
              <a:t> </a:t>
            </a:r>
            <a:r>
              <a:rPr sz="2400" spc="-25" dirty="0">
                <a:latin typeface="Times New Roman"/>
                <a:cs typeface="Times New Roman"/>
              </a:rPr>
              <a:t>of </a:t>
            </a:r>
            <a:r>
              <a:rPr sz="2400" dirty="0">
                <a:latin typeface="Times New Roman"/>
                <a:cs typeface="Times New Roman"/>
              </a:rPr>
              <a:t>the</a:t>
            </a:r>
            <a:r>
              <a:rPr sz="2400" spc="-50" dirty="0">
                <a:latin typeface="Times New Roman"/>
                <a:cs typeface="Times New Roman"/>
              </a:rPr>
              <a:t> </a:t>
            </a:r>
            <a:r>
              <a:rPr sz="2400" dirty="0">
                <a:latin typeface="Times New Roman"/>
                <a:cs typeface="Times New Roman"/>
              </a:rPr>
              <a:t>past</a:t>
            </a:r>
            <a:r>
              <a:rPr sz="2400" spc="-35" dirty="0">
                <a:latin typeface="Times New Roman"/>
                <a:cs typeface="Times New Roman"/>
              </a:rPr>
              <a:t> </a:t>
            </a:r>
            <a:r>
              <a:rPr sz="2400" dirty="0">
                <a:latin typeface="Times New Roman"/>
                <a:cs typeface="Times New Roman"/>
              </a:rPr>
              <a:t>was</a:t>
            </a:r>
            <a:r>
              <a:rPr sz="2400" spc="-35" dirty="0">
                <a:latin typeface="Times New Roman"/>
                <a:cs typeface="Times New Roman"/>
              </a:rPr>
              <a:t> </a:t>
            </a:r>
            <a:r>
              <a:rPr sz="2400" dirty="0">
                <a:latin typeface="Times New Roman"/>
                <a:cs typeface="Times New Roman"/>
              </a:rPr>
              <a:t>the</a:t>
            </a:r>
            <a:r>
              <a:rPr sz="2400" spc="-35" dirty="0">
                <a:latin typeface="Times New Roman"/>
                <a:cs typeface="Times New Roman"/>
              </a:rPr>
              <a:t> </a:t>
            </a:r>
            <a:r>
              <a:rPr sz="2400" dirty="0">
                <a:latin typeface="Times New Roman"/>
                <a:cs typeface="Times New Roman"/>
              </a:rPr>
              <a:t>use</a:t>
            </a:r>
            <a:r>
              <a:rPr sz="2400" spc="-30" dirty="0">
                <a:latin typeface="Times New Roman"/>
                <a:cs typeface="Times New Roman"/>
              </a:rPr>
              <a:t> </a:t>
            </a:r>
            <a:r>
              <a:rPr sz="2400" dirty="0">
                <a:latin typeface="Times New Roman"/>
                <a:cs typeface="Times New Roman"/>
              </a:rPr>
              <a:t>of</a:t>
            </a:r>
            <a:r>
              <a:rPr sz="2400" spc="-40" dirty="0">
                <a:latin typeface="Times New Roman"/>
                <a:cs typeface="Times New Roman"/>
              </a:rPr>
              <a:t> </a:t>
            </a:r>
            <a:r>
              <a:rPr sz="2400" dirty="0">
                <a:solidFill>
                  <a:srgbClr val="00B050"/>
                </a:solidFill>
                <a:latin typeface="Times New Roman"/>
                <a:cs typeface="Times New Roman"/>
              </a:rPr>
              <a:t>zinc</a:t>
            </a:r>
            <a:r>
              <a:rPr sz="2400" spc="-30" dirty="0">
                <a:solidFill>
                  <a:srgbClr val="00B050"/>
                </a:solidFill>
                <a:latin typeface="Times New Roman"/>
                <a:cs typeface="Times New Roman"/>
              </a:rPr>
              <a:t> </a:t>
            </a:r>
            <a:r>
              <a:rPr sz="2400" dirty="0">
                <a:solidFill>
                  <a:srgbClr val="00B050"/>
                </a:solidFill>
                <a:latin typeface="Times New Roman"/>
                <a:cs typeface="Times New Roman"/>
              </a:rPr>
              <a:t>in</a:t>
            </a:r>
            <a:r>
              <a:rPr sz="2400" spc="-40" dirty="0">
                <a:solidFill>
                  <a:srgbClr val="00B050"/>
                </a:solidFill>
                <a:latin typeface="Times New Roman"/>
                <a:cs typeface="Times New Roman"/>
              </a:rPr>
              <a:t> </a:t>
            </a:r>
            <a:r>
              <a:rPr sz="2400" spc="-25" dirty="0">
                <a:solidFill>
                  <a:srgbClr val="00B050"/>
                </a:solidFill>
                <a:latin typeface="Times New Roman"/>
                <a:cs typeface="Times New Roman"/>
              </a:rPr>
              <a:t>making</a:t>
            </a:r>
            <a:r>
              <a:rPr sz="2400" spc="-35" dirty="0">
                <a:solidFill>
                  <a:srgbClr val="00B050"/>
                </a:solidFill>
                <a:latin typeface="Times New Roman"/>
                <a:cs typeface="Times New Roman"/>
              </a:rPr>
              <a:t> </a:t>
            </a:r>
            <a:r>
              <a:rPr sz="2400" spc="-25" dirty="0">
                <a:solidFill>
                  <a:srgbClr val="00B050"/>
                </a:solidFill>
                <a:latin typeface="Times New Roman"/>
                <a:cs typeface="Times New Roman"/>
              </a:rPr>
              <a:t>highly</a:t>
            </a:r>
            <a:r>
              <a:rPr sz="2400" spc="-50" dirty="0">
                <a:solidFill>
                  <a:srgbClr val="00B050"/>
                </a:solidFill>
                <a:latin typeface="Times New Roman"/>
                <a:cs typeface="Times New Roman"/>
              </a:rPr>
              <a:t> </a:t>
            </a:r>
            <a:r>
              <a:rPr sz="2400" b="1" spc="-25" dirty="0">
                <a:solidFill>
                  <a:srgbClr val="00B050"/>
                </a:solidFill>
                <a:latin typeface="Times New Roman"/>
                <a:cs typeface="Times New Roman"/>
              </a:rPr>
              <a:t>elegant</a:t>
            </a:r>
            <a:r>
              <a:rPr sz="2400" b="1" spc="-35" dirty="0">
                <a:solidFill>
                  <a:srgbClr val="00B050"/>
                </a:solidFill>
                <a:latin typeface="Times New Roman"/>
                <a:cs typeface="Times New Roman"/>
              </a:rPr>
              <a:t> </a:t>
            </a:r>
            <a:r>
              <a:rPr sz="2400" b="1" spc="-20" dirty="0">
                <a:solidFill>
                  <a:srgbClr val="00B050"/>
                </a:solidFill>
                <a:latin typeface="Times New Roman"/>
                <a:cs typeface="Times New Roman"/>
              </a:rPr>
              <a:t>bidri</a:t>
            </a:r>
            <a:r>
              <a:rPr sz="2400" b="1" spc="-35" dirty="0">
                <a:solidFill>
                  <a:srgbClr val="00B050"/>
                </a:solidFill>
                <a:latin typeface="Times New Roman"/>
                <a:cs typeface="Times New Roman"/>
              </a:rPr>
              <a:t> </a:t>
            </a:r>
            <a:r>
              <a:rPr sz="2400" b="1" spc="-10" dirty="0">
                <a:solidFill>
                  <a:srgbClr val="00B050"/>
                </a:solidFill>
                <a:latin typeface="Times New Roman"/>
                <a:cs typeface="Times New Roman"/>
              </a:rPr>
              <a:t>ware</a:t>
            </a:r>
            <a:r>
              <a:rPr sz="2400" spc="-10" dirty="0">
                <a:solidFill>
                  <a:srgbClr val="00B050"/>
                </a:solidFill>
                <a:latin typeface="Times New Roman"/>
                <a:cs typeface="Times New Roman"/>
              </a:rPr>
              <a:t>,</a:t>
            </a:r>
            <a:r>
              <a:rPr sz="2400" spc="-30" dirty="0">
                <a:solidFill>
                  <a:srgbClr val="00B050"/>
                </a:solidFill>
                <a:latin typeface="Times New Roman"/>
                <a:cs typeface="Times New Roman"/>
              </a:rPr>
              <a:t> </a:t>
            </a:r>
            <a:r>
              <a:rPr sz="2400" dirty="0">
                <a:solidFill>
                  <a:srgbClr val="00B050"/>
                </a:solidFill>
                <a:latin typeface="Times New Roman"/>
                <a:cs typeface="Times New Roman"/>
              </a:rPr>
              <a:t>an</a:t>
            </a:r>
            <a:r>
              <a:rPr sz="2400" spc="-35" dirty="0">
                <a:solidFill>
                  <a:srgbClr val="00B050"/>
                </a:solidFill>
                <a:latin typeface="Times New Roman"/>
                <a:cs typeface="Times New Roman"/>
              </a:rPr>
              <a:t> </a:t>
            </a:r>
            <a:r>
              <a:rPr sz="2400" spc="-30" dirty="0">
                <a:solidFill>
                  <a:srgbClr val="00B050"/>
                </a:solidFill>
                <a:latin typeface="Times New Roman"/>
                <a:cs typeface="Times New Roman"/>
              </a:rPr>
              <a:t>inlayed </a:t>
            </a:r>
            <a:r>
              <a:rPr sz="2400" dirty="0">
                <a:solidFill>
                  <a:srgbClr val="00B050"/>
                </a:solidFill>
                <a:latin typeface="Times New Roman"/>
                <a:cs typeface="Times New Roman"/>
              </a:rPr>
              <a:t>zinc</a:t>
            </a:r>
            <a:r>
              <a:rPr sz="2400" spc="-30" dirty="0">
                <a:solidFill>
                  <a:srgbClr val="00B050"/>
                </a:solidFill>
                <a:latin typeface="Times New Roman"/>
                <a:cs typeface="Times New Roman"/>
              </a:rPr>
              <a:t> </a:t>
            </a:r>
            <a:r>
              <a:rPr sz="2400" spc="-25" dirty="0">
                <a:solidFill>
                  <a:srgbClr val="00B050"/>
                </a:solidFill>
                <a:latin typeface="Times New Roman"/>
                <a:cs typeface="Times New Roman"/>
              </a:rPr>
              <a:t>alloy,</a:t>
            </a:r>
            <a:r>
              <a:rPr sz="2400" spc="-30" dirty="0">
                <a:latin typeface="Times New Roman"/>
                <a:cs typeface="Times New Roman"/>
              </a:rPr>
              <a:t> </a:t>
            </a:r>
            <a:r>
              <a:rPr sz="2400" spc="-10" dirty="0">
                <a:latin typeface="Times New Roman"/>
                <a:cs typeface="Times New Roman"/>
              </a:rPr>
              <a:t>which</a:t>
            </a:r>
            <a:r>
              <a:rPr sz="2400" spc="-25" dirty="0">
                <a:latin typeface="Times New Roman"/>
                <a:cs typeface="Times New Roman"/>
              </a:rPr>
              <a:t> </a:t>
            </a:r>
            <a:r>
              <a:rPr sz="2400" spc="-20" dirty="0">
                <a:latin typeface="Times New Roman"/>
                <a:cs typeface="Times New Roman"/>
              </a:rPr>
              <a:t>came</a:t>
            </a:r>
            <a:r>
              <a:rPr sz="2400" spc="-45" dirty="0">
                <a:latin typeface="Times New Roman"/>
                <a:cs typeface="Times New Roman"/>
              </a:rPr>
              <a:t> </a:t>
            </a:r>
            <a:r>
              <a:rPr sz="2400" spc="-20" dirty="0">
                <a:latin typeface="Times New Roman"/>
                <a:cs typeface="Times New Roman"/>
              </a:rPr>
              <a:t>into </a:t>
            </a:r>
            <a:r>
              <a:rPr sz="2400" spc="-30" dirty="0">
                <a:latin typeface="Times New Roman"/>
                <a:cs typeface="Times New Roman"/>
              </a:rPr>
              <a:t>vogue</a:t>
            </a:r>
            <a:r>
              <a:rPr sz="2400" spc="-40" dirty="0">
                <a:latin typeface="Times New Roman"/>
                <a:cs typeface="Times New Roman"/>
              </a:rPr>
              <a:t> </a:t>
            </a:r>
            <a:r>
              <a:rPr sz="2400" spc="-35" dirty="0">
                <a:latin typeface="Times New Roman"/>
                <a:cs typeface="Times New Roman"/>
              </a:rPr>
              <a:t>under</a:t>
            </a:r>
            <a:r>
              <a:rPr sz="2400" spc="-40" dirty="0">
                <a:latin typeface="Times New Roman"/>
                <a:cs typeface="Times New Roman"/>
              </a:rPr>
              <a:t> </a:t>
            </a:r>
            <a:r>
              <a:rPr sz="2400" spc="-25" dirty="0">
                <a:latin typeface="Times New Roman"/>
                <a:cs typeface="Times New Roman"/>
              </a:rPr>
              <a:t>the</a:t>
            </a:r>
            <a:r>
              <a:rPr sz="2400" spc="-40" dirty="0">
                <a:latin typeface="Times New Roman"/>
                <a:cs typeface="Times New Roman"/>
              </a:rPr>
              <a:t> </a:t>
            </a:r>
            <a:r>
              <a:rPr sz="2400" spc="-35" dirty="0">
                <a:latin typeface="Times New Roman"/>
                <a:cs typeface="Times New Roman"/>
              </a:rPr>
              <a:t>Muslim </a:t>
            </a:r>
            <a:r>
              <a:rPr sz="2400" spc="-45" dirty="0">
                <a:latin typeface="Times New Roman"/>
                <a:cs typeface="Times New Roman"/>
              </a:rPr>
              <a:t>rulers</a:t>
            </a:r>
            <a:r>
              <a:rPr sz="2400" spc="-30" dirty="0">
                <a:latin typeface="Times New Roman"/>
                <a:cs typeface="Times New Roman"/>
              </a:rPr>
              <a:t> </a:t>
            </a:r>
            <a:r>
              <a:rPr sz="2400" dirty="0">
                <a:latin typeface="Times New Roman"/>
                <a:cs typeface="Times New Roman"/>
              </a:rPr>
              <a:t>of</a:t>
            </a:r>
            <a:r>
              <a:rPr sz="2400" spc="-50" dirty="0">
                <a:latin typeface="Times New Roman"/>
                <a:cs typeface="Times New Roman"/>
              </a:rPr>
              <a:t> </a:t>
            </a:r>
            <a:r>
              <a:rPr sz="2400" spc="-20" dirty="0">
                <a:latin typeface="Times New Roman"/>
                <a:cs typeface="Times New Roman"/>
              </a:rPr>
              <a:t>the</a:t>
            </a:r>
            <a:r>
              <a:rPr sz="2400" spc="-40" dirty="0">
                <a:latin typeface="Times New Roman"/>
                <a:cs typeface="Times New Roman"/>
              </a:rPr>
              <a:t> </a:t>
            </a:r>
            <a:r>
              <a:rPr sz="2400" spc="-35" dirty="0">
                <a:latin typeface="Times New Roman"/>
                <a:cs typeface="Times New Roman"/>
              </a:rPr>
              <a:t>Bidar</a:t>
            </a:r>
            <a:r>
              <a:rPr sz="2400" spc="-40" dirty="0">
                <a:latin typeface="Times New Roman"/>
                <a:cs typeface="Times New Roman"/>
              </a:rPr>
              <a:t> province</a:t>
            </a:r>
            <a:r>
              <a:rPr sz="2400" spc="-35" dirty="0">
                <a:latin typeface="Times New Roman"/>
                <a:cs typeface="Times New Roman"/>
              </a:rPr>
              <a:t> </a:t>
            </a:r>
            <a:r>
              <a:rPr sz="2400" dirty="0">
                <a:latin typeface="Times New Roman"/>
                <a:cs typeface="Times New Roman"/>
              </a:rPr>
              <a:t>in</a:t>
            </a:r>
            <a:r>
              <a:rPr sz="2400" spc="-35" dirty="0">
                <a:latin typeface="Times New Roman"/>
                <a:cs typeface="Times New Roman"/>
              </a:rPr>
              <a:t> </a:t>
            </a:r>
            <a:r>
              <a:rPr sz="2400" spc="-20" dirty="0">
                <a:latin typeface="Times New Roman"/>
                <a:cs typeface="Times New Roman"/>
              </a:rPr>
              <a:t>the</a:t>
            </a:r>
            <a:r>
              <a:rPr sz="2400" spc="-40" dirty="0">
                <a:latin typeface="Times New Roman"/>
                <a:cs typeface="Times New Roman"/>
              </a:rPr>
              <a:t> Hyderabad</a:t>
            </a:r>
            <a:r>
              <a:rPr sz="2400" spc="-25" dirty="0">
                <a:latin typeface="Times New Roman"/>
                <a:cs typeface="Times New Roman"/>
              </a:rPr>
              <a:t> </a:t>
            </a:r>
            <a:r>
              <a:rPr sz="2400" spc="-35" dirty="0">
                <a:latin typeface="Times New Roman"/>
                <a:cs typeface="Times New Roman"/>
              </a:rPr>
              <a:t>region </a:t>
            </a:r>
            <a:r>
              <a:rPr sz="2400" spc="-40" dirty="0">
                <a:latin typeface="Times New Roman"/>
                <a:cs typeface="Times New Roman"/>
              </a:rPr>
              <a:t>from</a:t>
            </a:r>
            <a:r>
              <a:rPr sz="2400" spc="-35" dirty="0">
                <a:latin typeface="Times New Roman"/>
                <a:cs typeface="Times New Roman"/>
              </a:rPr>
              <a:t> about </a:t>
            </a:r>
            <a:r>
              <a:rPr sz="2400" spc="-25" dirty="0">
                <a:latin typeface="Times New Roman"/>
                <a:cs typeface="Times New Roman"/>
              </a:rPr>
              <a:t>the</a:t>
            </a:r>
            <a:r>
              <a:rPr sz="2400" spc="-40" dirty="0">
                <a:latin typeface="Times New Roman"/>
                <a:cs typeface="Times New Roman"/>
              </a:rPr>
              <a:t> </a:t>
            </a:r>
            <a:r>
              <a:rPr sz="2400" spc="-20" dirty="0">
                <a:latin typeface="Times New Roman"/>
                <a:cs typeface="Times New Roman"/>
              </a:rPr>
              <a:t>14th</a:t>
            </a:r>
            <a:r>
              <a:rPr sz="2400" spc="-4" dirty="0">
                <a:latin typeface="Times New Roman"/>
                <a:cs typeface="Times New Roman"/>
              </a:rPr>
              <a:t> </a:t>
            </a:r>
            <a:r>
              <a:rPr sz="2400" spc="-10" dirty="0" smtClean="0">
                <a:latin typeface="Times New Roman"/>
                <a:cs typeface="Times New Roman"/>
              </a:rPr>
              <a:t>century </a:t>
            </a:r>
            <a:r>
              <a:rPr sz="2400" spc="-25" dirty="0">
                <a:latin typeface="Times New Roman"/>
                <a:cs typeface="Times New Roman"/>
              </a:rPr>
              <a:t>AD</a:t>
            </a:r>
            <a:r>
              <a:rPr sz="2400" spc="-25" dirty="0" smtClean="0">
                <a:latin typeface="Times New Roman"/>
                <a:cs typeface="Times New Roman"/>
              </a:rPr>
              <a:t>.</a:t>
            </a:r>
            <a:endParaRPr lang="en-US" sz="2400" spc="-25" dirty="0">
              <a:latin typeface="Times New Roman"/>
              <a:cs typeface="Times New Roman"/>
            </a:endParaRPr>
          </a:p>
        </p:txBody>
      </p:sp>
    </p:spTree>
    <p:extLst>
      <p:ext uri="{BB962C8B-B14F-4D97-AF65-F5344CB8AC3E}">
        <p14:creationId xmlns:p14="http://schemas.microsoft.com/office/powerpoint/2010/main" val="218513905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14400" y="1447800"/>
            <a:ext cx="8356505" cy="4785910"/>
          </a:xfrm>
          <a:prstGeom prst="rect">
            <a:avLst/>
          </a:prstGeom>
        </p:spPr>
        <p:txBody>
          <a:bodyPr vert="horz" wrap="square" lIns="0" tIns="20305" rIns="0" bIns="0" rtlCol="0">
            <a:spAutoFit/>
          </a:bodyPr>
          <a:lstStyle/>
          <a:p>
            <a:pPr marL="38073" marR="30459" algn="ctr">
              <a:spcBef>
                <a:spcPts val="160"/>
              </a:spcBef>
            </a:pPr>
            <a:r>
              <a:rPr lang="en-US" sz="2400" spc="4" dirty="0">
                <a:latin typeface="Times New Roman"/>
                <a:cs typeface="Times New Roman"/>
              </a:rPr>
              <a:t>	</a:t>
            </a:r>
            <a:r>
              <a:rPr lang="en-US" sz="2800" b="1" spc="4" dirty="0" smtClean="0">
                <a:solidFill>
                  <a:srgbClr val="002060"/>
                </a:solidFill>
                <a:latin typeface="Times New Roman"/>
                <a:cs typeface="Times New Roman"/>
              </a:rPr>
              <a:t>6.</a:t>
            </a:r>
            <a:r>
              <a:rPr lang="en-US" sz="2400" spc="4" dirty="0" smtClean="0">
                <a:solidFill>
                  <a:srgbClr val="002060"/>
                </a:solidFill>
                <a:latin typeface="Times New Roman"/>
                <a:cs typeface="Times New Roman"/>
              </a:rPr>
              <a:t>  </a:t>
            </a:r>
            <a:r>
              <a:rPr sz="2800" b="1" u="sng" spc="-45" dirty="0" smtClean="0">
                <a:solidFill>
                  <a:srgbClr val="002060"/>
                </a:solidFill>
                <a:latin typeface="Times New Roman"/>
                <a:cs typeface="Times New Roman"/>
              </a:rPr>
              <a:t>Social</a:t>
            </a:r>
            <a:r>
              <a:rPr sz="2800" b="1" u="sng" spc="-50" dirty="0" smtClean="0">
                <a:solidFill>
                  <a:srgbClr val="002060"/>
                </a:solidFill>
                <a:latin typeface="Times New Roman"/>
                <a:cs typeface="Times New Roman"/>
              </a:rPr>
              <a:t> </a:t>
            </a:r>
            <a:r>
              <a:rPr sz="2800" b="1" u="sng" spc="-45" dirty="0">
                <a:solidFill>
                  <a:srgbClr val="002060"/>
                </a:solidFill>
                <a:latin typeface="Times New Roman"/>
                <a:cs typeface="Times New Roman"/>
              </a:rPr>
              <a:t>Context</a:t>
            </a:r>
            <a:r>
              <a:rPr sz="2800" b="1" u="sng" spc="-55" dirty="0">
                <a:solidFill>
                  <a:srgbClr val="002060"/>
                </a:solidFill>
                <a:latin typeface="Times New Roman"/>
                <a:cs typeface="Times New Roman"/>
              </a:rPr>
              <a:t> </a:t>
            </a:r>
            <a:r>
              <a:rPr sz="2800" b="1" u="sng" spc="-30" dirty="0">
                <a:solidFill>
                  <a:srgbClr val="002060"/>
                </a:solidFill>
                <a:latin typeface="Times New Roman"/>
                <a:cs typeface="Times New Roman"/>
              </a:rPr>
              <a:t>of</a:t>
            </a:r>
            <a:r>
              <a:rPr sz="2800" b="1" u="sng" spc="-25" dirty="0">
                <a:solidFill>
                  <a:srgbClr val="002060"/>
                </a:solidFill>
                <a:latin typeface="Times New Roman"/>
                <a:cs typeface="Times New Roman"/>
              </a:rPr>
              <a:t> </a:t>
            </a:r>
            <a:r>
              <a:rPr sz="2800" b="1" u="sng" spc="-50" dirty="0">
                <a:solidFill>
                  <a:srgbClr val="002060"/>
                </a:solidFill>
                <a:latin typeface="Times New Roman"/>
                <a:cs typeface="Times New Roman"/>
              </a:rPr>
              <a:t>Metallurgy</a:t>
            </a:r>
            <a:r>
              <a:rPr sz="2800" b="1" u="sng" spc="-40" dirty="0">
                <a:solidFill>
                  <a:srgbClr val="002060"/>
                </a:solidFill>
                <a:latin typeface="Times New Roman"/>
                <a:cs typeface="Times New Roman"/>
              </a:rPr>
              <a:t> </a:t>
            </a:r>
            <a:r>
              <a:rPr sz="2800" b="1" u="sng" spc="-35" dirty="0">
                <a:solidFill>
                  <a:srgbClr val="002060"/>
                </a:solidFill>
                <a:latin typeface="Times New Roman"/>
                <a:cs typeface="Times New Roman"/>
              </a:rPr>
              <a:t>in</a:t>
            </a:r>
            <a:r>
              <a:rPr sz="2800" b="1" u="sng" spc="-45" dirty="0">
                <a:solidFill>
                  <a:srgbClr val="002060"/>
                </a:solidFill>
                <a:latin typeface="Times New Roman"/>
                <a:cs typeface="Times New Roman"/>
              </a:rPr>
              <a:t> Ancient</a:t>
            </a:r>
            <a:r>
              <a:rPr sz="2800" b="1" u="sng" spc="-40" dirty="0">
                <a:solidFill>
                  <a:srgbClr val="002060"/>
                </a:solidFill>
                <a:latin typeface="Times New Roman"/>
                <a:cs typeface="Times New Roman"/>
              </a:rPr>
              <a:t> </a:t>
            </a:r>
            <a:r>
              <a:rPr sz="2800" b="1" u="sng" spc="-20" dirty="0" smtClean="0">
                <a:solidFill>
                  <a:srgbClr val="002060"/>
                </a:solidFill>
                <a:latin typeface="Times New Roman"/>
                <a:cs typeface="Times New Roman"/>
              </a:rPr>
              <a:t>India</a:t>
            </a:r>
            <a:endParaRPr lang="en-US" sz="2800" b="1" u="sng" spc="-20" dirty="0" smtClean="0">
              <a:solidFill>
                <a:srgbClr val="002060"/>
              </a:solidFill>
              <a:latin typeface="Times New Roman"/>
              <a:cs typeface="Times New Roman"/>
            </a:endParaRPr>
          </a:p>
          <a:p>
            <a:pPr marL="38073" marR="30459" algn="ctr">
              <a:spcBef>
                <a:spcPts val="160"/>
              </a:spcBef>
            </a:pPr>
            <a:endParaRPr lang="en-US" sz="2800" b="1" u="sng" spc="-20" dirty="0" smtClean="0">
              <a:solidFill>
                <a:srgbClr val="C00000"/>
              </a:solidFill>
              <a:latin typeface="Times New Roman"/>
              <a:cs typeface="Times New Roman"/>
            </a:endParaRPr>
          </a:p>
          <a:p>
            <a:pPr marL="380973" marR="31727" indent="-342900" algn="just">
              <a:lnSpc>
                <a:spcPct val="150000"/>
              </a:lnSpc>
              <a:spcBef>
                <a:spcPts val="14"/>
              </a:spcBef>
              <a:buFont typeface="Arial" panose="020B0604020202020204" pitchFamily="34" charset="0"/>
              <a:buChar char="•"/>
            </a:pPr>
            <a:r>
              <a:rPr sz="2400" dirty="0" smtClean="0">
                <a:latin typeface="Times New Roman"/>
                <a:cs typeface="Times New Roman"/>
              </a:rPr>
              <a:t>We</a:t>
            </a:r>
            <a:r>
              <a:rPr sz="2400" spc="14" dirty="0" smtClean="0">
                <a:latin typeface="Times New Roman"/>
                <a:cs typeface="Times New Roman"/>
              </a:rPr>
              <a:t> </a:t>
            </a:r>
            <a:r>
              <a:rPr sz="2400" dirty="0">
                <a:latin typeface="Times New Roman"/>
                <a:cs typeface="Times New Roman"/>
              </a:rPr>
              <a:t>should</a:t>
            </a:r>
            <a:r>
              <a:rPr sz="2400" spc="30" dirty="0">
                <a:latin typeface="Times New Roman"/>
                <a:cs typeface="Times New Roman"/>
              </a:rPr>
              <a:t> </a:t>
            </a:r>
            <a:r>
              <a:rPr sz="2400" spc="-20" dirty="0">
                <a:latin typeface="Times New Roman"/>
                <a:cs typeface="Times New Roman"/>
              </a:rPr>
              <a:t>finally</a:t>
            </a:r>
            <a:r>
              <a:rPr sz="2400" spc="4" dirty="0">
                <a:latin typeface="Times New Roman"/>
                <a:cs typeface="Times New Roman"/>
              </a:rPr>
              <a:t> </a:t>
            </a:r>
            <a:r>
              <a:rPr sz="2400" dirty="0">
                <a:latin typeface="Times New Roman"/>
                <a:cs typeface="Times New Roman"/>
              </a:rPr>
              <a:t>note</a:t>
            </a:r>
            <a:r>
              <a:rPr sz="2400" spc="20" dirty="0">
                <a:latin typeface="Times New Roman"/>
                <a:cs typeface="Times New Roman"/>
              </a:rPr>
              <a:t> </a:t>
            </a:r>
            <a:r>
              <a:rPr sz="2400" dirty="0">
                <a:latin typeface="Times New Roman"/>
                <a:cs typeface="Times New Roman"/>
              </a:rPr>
              <a:t>that</a:t>
            </a:r>
            <a:r>
              <a:rPr sz="2400" spc="30" dirty="0">
                <a:latin typeface="Times New Roman"/>
                <a:cs typeface="Times New Roman"/>
              </a:rPr>
              <a:t> </a:t>
            </a:r>
            <a:r>
              <a:rPr sz="2400" dirty="0">
                <a:latin typeface="Times New Roman"/>
                <a:cs typeface="Times New Roman"/>
              </a:rPr>
              <a:t>most</a:t>
            </a:r>
            <a:r>
              <a:rPr sz="2400" spc="20" dirty="0">
                <a:latin typeface="Times New Roman"/>
                <a:cs typeface="Times New Roman"/>
              </a:rPr>
              <a:t> </a:t>
            </a:r>
            <a:r>
              <a:rPr sz="2400" dirty="0">
                <a:latin typeface="Times New Roman"/>
                <a:cs typeface="Times New Roman"/>
              </a:rPr>
              <a:t>of</a:t>
            </a:r>
            <a:r>
              <a:rPr sz="2400" spc="25" dirty="0">
                <a:latin typeface="Times New Roman"/>
                <a:cs typeface="Times New Roman"/>
              </a:rPr>
              <a:t> </a:t>
            </a:r>
            <a:r>
              <a:rPr sz="2400" spc="-10" dirty="0">
                <a:latin typeface="Times New Roman"/>
                <a:cs typeface="Times New Roman"/>
              </a:rPr>
              <a:t>India‘s</a:t>
            </a:r>
            <a:r>
              <a:rPr sz="2400" spc="25" dirty="0">
                <a:latin typeface="Times New Roman"/>
                <a:cs typeface="Times New Roman"/>
              </a:rPr>
              <a:t> </a:t>
            </a:r>
            <a:r>
              <a:rPr sz="2400" dirty="0">
                <a:latin typeface="Times New Roman"/>
                <a:cs typeface="Times New Roman"/>
              </a:rPr>
              <a:t>metal</a:t>
            </a:r>
            <a:r>
              <a:rPr sz="2400" spc="20" dirty="0">
                <a:latin typeface="Times New Roman"/>
                <a:cs typeface="Times New Roman"/>
              </a:rPr>
              <a:t> </a:t>
            </a:r>
            <a:r>
              <a:rPr sz="2400" spc="-25" dirty="0">
                <a:latin typeface="Times New Roman"/>
                <a:cs typeface="Times New Roman"/>
              </a:rPr>
              <a:t>production</a:t>
            </a:r>
            <a:r>
              <a:rPr sz="2400" spc="20" dirty="0">
                <a:latin typeface="Times New Roman"/>
                <a:cs typeface="Times New Roman"/>
              </a:rPr>
              <a:t> </a:t>
            </a:r>
            <a:r>
              <a:rPr sz="2400" dirty="0">
                <a:latin typeface="Times New Roman"/>
                <a:cs typeface="Times New Roman"/>
              </a:rPr>
              <a:t>was</a:t>
            </a:r>
            <a:r>
              <a:rPr sz="2400" spc="30" dirty="0">
                <a:latin typeface="Times New Roman"/>
                <a:cs typeface="Times New Roman"/>
              </a:rPr>
              <a:t> </a:t>
            </a:r>
            <a:r>
              <a:rPr sz="2400" spc="-30" dirty="0">
                <a:latin typeface="Times New Roman"/>
                <a:cs typeface="Times New Roman"/>
              </a:rPr>
              <a:t>controlled</a:t>
            </a:r>
            <a:r>
              <a:rPr sz="2400" spc="20" dirty="0">
                <a:latin typeface="Times New Roman"/>
                <a:cs typeface="Times New Roman"/>
              </a:rPr>
              <a:t> </a:t>
            </a:r>
            <a:r>
              <a:rPr sz="2400" dirty="0">
                <a:latin typeface="Times New Roman"/>
                <a:cs typeface="Times New Roman"/>
              </a:rPr>
              <a:t>by</a:t>
            </a:r>
            <a:r>
              <a:rPr sz="2400" spc="4" dirty="0">
                <a:latin typeface="Times New Roman"/>
                <a:cs typeface="Times New Roman"/>
              </a:rPr>
              <a:t> </a:t>
            </a:r>
            <a:r>
              <a:rPr sz="2400" spc="-20" dirty="0">
                <a:solidFill>
                  <a:srgbClr val="00B050"/>
                </a:solidFill>
                <a:latin typeface="Times New Roman"/>
                <a:cs typeface="Times New Roman"/>
              </a:rPr>
              <a:t>specific</a:t>
            </a:r>
            <a:r>
              <a:rPr sz="2400" spc="20" dirty="0">
                <a:solidFill>
                  <a:srgbClr val="00B050"/>
                </a:solidFill>
                <a:latin typeface="Times New Roman"/>
                <a:cs typeface="Times New Roman"/>
              </a:rPr>
              <a:t> </a:t>
            </a:r>
            <a:r>
              <a:rPr sz="2400" spc="-10" dirty="0">
                <a:solidFill>
                  <a:srgbClr val="00B050"/>
                </a:solidFill>
                <a:latin typeface="Times New Roman"/>
                <a:cs typeface="Times New Roman"/>
              </a:rPr>
              <a:t>social </a:t>
            </a:r>
            <a:r>
              <a:rPr sz="2400" spc="-25" dirty="0">
                <a:solidFill>
                  <a:srgbClr val="00B050"/>
                </a:solidFill>
                <a:latin typeface="Times New Roman"/>
                <a:cs typeface="Times New Roman"/>
              </a:rPr>
              <a:t>groups,</a:t>
            </a:r>
            <a:r>
              <a:rPr sz="2400" spc="-30" dirty="0">
                <a:solidFill>
                  <a:srgbClr val="00B050"/>
                </a:solidFill>
                <a:latin typeface="Times New Roman"/>
                <a:cs typeface="Times New Roman"/>
              </a:rPr>
              <a:t> </a:t>
            </a:r>
            <a:r>
              <a:rPr sz="2400" spc="-35" dirty="0">
                <a:solidFill>
                  <a:srgbClr val="00B050"/>
                </a:solidFill>
                <a:latin typeface="Times New Roman"/>
                <a:cs typeface="Times New Roman"/>
              </a:rPr>
              <a:t>including</a:t>
            </a:r>
            <a:r>
              <a:rPr sz="2400" spc="-25" dirty="0">
                <a:solidFill>
                  <a:srgbClr val="00B050"/>
                </a:solidFill>
                <a:latin typeface="Times New Roman"/>
                <a:cs typeface="Times New Roman"/>
              </a:rPr>
              <a:t> </a:t>
            </a:r>
            <a:r>
              <a:rPr sz="2400" spc="-50" dirty="0">
                <a:solidFill>
                  <a:srgbClr val="00B050"/>
                </a:solidFill>
                <a:latin typeface="Times New Roman"/>
                <a:cs typeface="Times New Roman"/>
              </a:rPr>
              <a:t>so-</a:t>
            </a:r>
            <a:r>
              <a:rPr sz="2400" spc="-25" dirty="0">
                <a:solidFill>
                  <a:srgbClr val="00B050"/>
                </a:solidFill>
                <a:latin typeface="Times New Roman"/>
                <a:cs typeface="Times New Roman"/>
              </a:rPr>
              <a:t>called</a:t>
            </a:r>
            <a:r>
              <a:rPr sz="2400" spc="-30" dirty="0">
                <a:solidFill>
                  <a:srgbClr val="00B050"/>
                </a:solidFill>
                <a:latin typeface="Times New Roman"/>
                <a:cs typeface="Times New Roman"/>
              </a:rPr>
              <a:t> tribes</a:t>
            </a:r>
            <a:r>
              <a:rPr sz="2400" spc="-30" dirty="0">
                <a:latin typeface="Times New Roman"/>
                <a:cs typeface="Times New Roman"/>
              </a:rPr>
              <a:t>,</a:t>
            </a:r>
            <a:r>
              <a:rPr sz="2400" spc="-25" dirty="0">
                <a:latin typeface="Times New Roman"/>
                <a:cs typeface="Times New Roman"/>
              </a:rPr>
              <a:t> </a:t>
            </a:r>
            <a:r>
              <a:rPr sz="2400" spc="-10" dirty="0">
                <a:latin typeface="Times New Roman"/>
                <a:cs typeface="Times New Roman"/>
              </a:rPr>
              <a:t>most</a:t>
            </a:r>
            <a:r>
              <a:rPr sz="2400" spc="-35" dirty="0">
                <a:latin typeface="Times New Roman"/>
                <a:cs typeface="Times New Roman"/>
              </a:rPr>
              <a:t> </a:t>
            </a:r>
            <a:r>
              <a:rPr sz="2400" dirty="0">
                <a:latin typeface="Times New Roman"/>
                <a:cs typeface="Times New Roman"/>
              </a:rPr>
              <a:t>of</a:t>
            </a:r>
            <a:r>
              <a:rPr sz="2400" spc="-30" dirty="0">
                <a:latin typeface="Times New Roman"/>
                <a:cs typeface="Times New Roman"/>
              </a:rPr>
              <a:t> </a:t>
            </a:r>
            <a:r>
              <a:rPr sz="2400" spc="-10" dirty="0">
                <a:latin typeface="Times New Roman"/>
                <a:cs typeface="Times New Roman"/>
              </a:rPr>
              <a:t>them</a:t>
            </a:r>
            <a:r>
              <a:rPr sz="2400" spc="-14" dirty="0">
                <a:latin typeface="Times New Roman"/>
                <a:cs typeface="Times New Roman"/>
              </a:rPr>
              <a:t> </a:t>
            </a:r>
            <a:r>
              <a:rPr sz="2400" spc="-10" dirty="0">
                <a:latin typeface="Times New Roman"/>
                <a:cs typeface="Times New Roman"/>
              </a:rPr>
              <a:t>from</a:t>
            </a:r>
            <a:r>
              <a:rPr sz="2400" spc="-20" dirty="0">
                <a:latin typeface="Times New Roman"/>
                <a:cs typeface="Times New Roman"/>
              </a:rPr>
              <a:t> </a:t>
            </a:r>
            <a:r>
              <a:rPr sz="2400" dirty="0">
                <a:latin typeface="Times New Roman"/>
                <a:cs typeface="Times New Roman"/>
              </a:rPr>
              <a:t>the</a:t>
            </a:r>
            <a:r>
              <a:rPr sz="2400" spc="-35" dirty="0">
                <a:latin typeface="Times New Roman"/>
                <a:cs typeface="Times New Roman"/>
              </a:rPr>
              <a:t> </a:t>
            </a:r>
            <a:r>
              <a:rPr sz="2400" spc="-20" dirty="0">
                <a:solidFill>
                  <a:srgbClr val="CC9900"/>
                </a:solidFill>
                <a:latin typeface="Times New Roman"/>
                <a:cs typeface="Times New Roman"/>
              </a:rPr>
              <a:t>lower</a:t>
            </a:r>
            <a:r>
              <a:rPr sz="2400" spc="-25" dirty="0">
                <a:solidFill>
                  <a:srgbClr val="CC9900"/>
                </a:solidFill>
                <a:latin typeface="Times New Roman"/>
                <a:cs typeface="Times New Roman"/>
              </a:rPr>
              <a:t> </a:t>
            </a:r>
            <a:r>
              <a:rPr sz="2400" spc="-20" dirty="0">
                <a:solidFill>
                  <a:srgbClr val="CC9900"/>
                </a:solidFill>
                <a:latin typeface="Times New Roman"/>
                <a:cs typeface="Times New Roman"/>
              </a:rPr>
              <a:t>rungs</a:t>
            </a:r>
            <a:r>
              <a:rPr sz="2400" spc="-25" dirty="0">
                <a:solidFill>
                  <a:srgbClr val="CC9900"/>
                </a:solidFill>
                <a:latin typeface="Times New Roman"/>
                <a:cs typeface="Times New Roman"/>
              </a:rPr>
              <a:t> </a:t>
            </a:r>
            <a:r>
              <a:rPr sz="2400" dirty="0">
                <a:solidFill>
                  <a:srgbClr val="CC9900"/>
                </a:solidFill>
                <a:latin typeface="Times New Roman"/>
                <a:cs typeface="Times New Roman"/>
              </a:rPr>
              <a:t>of</a:t>
            </a:r>
            <a:r>
              <a:rPr sz="2400" spc="-20" dirty="0">
                <a:solidFill>
                  <a:srgbClr val="CC9900"/>
                </a:solidFill>
                <a:latin typeface="Times New Roman"/>
                <a:cs typeface="Times New Roman"/>
              </a:rPr>
              <a:t> </a:t>
            </a:r>
            <a:r>
              <a:rPr sz="2400" spc="-25" dirty="0">
                <a:solidFill>
                  <a:srgbClr val="CC9900"/>
                </a:solidFill>
                <a:latin typeface="Times New Roman"/>
                <a:cs typeface="Times New Roman"/>
              </a:rPr>
              <a:t>Indian </a:t>
            </a:r>
            <a:r>
              <a:rPr sz="2400" spc="-30" dirty="0">
                <a:solidFill>
                  <a:srgbClr val="CC9900"/>
                </a:solidFill>
                <a:latin typeface="Times New Roman"/>
                <a:cs typeface="Times New Roman"/>
              </a:rPr>
              <a:t>society</a:t>
            </a:r>
            <a:r>
              <a:rPr sz="2400" spc="-30" dirty="0">
                <a:latin typeface="Times New Roman"/>
                <a:cs typeface="Times New Roman"/>
              </a:rPr>
              <a:t>.</a:t>
            </a:r>
            <a:r>
              <a:rPr sz="2400" spc="-14" dirty="0">
                <a:latin typeface="Times New Roman"/>
                <a:cs typeface="Times New Roman"/>
              </a:rPr>
              <a:t> </a:t>
            </a:r>
            <a:endParaRPr lang="en-US" sz="2400" spc="-14" dirty="0">
              <a:latin typeface="Times New Roman"/>
              <a:cs typeface="Times New Roman"/>
            </a:endParaRPr>
          </a:p>
          <a:p>
            <a:pPr marL="380973" marR="31727" indent="-342900" algn="just">
              <a:lnSpc>
                <a:spcPct val="150000"/>
              </a:lnSpc>
              <a:spcBef>
                <a:spcPts val="14"/>
              </a:spcBef>
              <a:buFont typeface="Arial" panose="020B0604020202020204" pitchFamily="34" charset="0"/>
              <a:buChar char="•"/>
            </a:pPr>
            <a:r>
              <a:rPr sz="2400" dirty="0" smtClean="0">
                <a:latin typeface="Times New Roman"/>
                <a:cs typeface="Times New Roman"/>
              </a:rPr>
              <a:t>For</a:t>
            </a:r>
            <a:r>
              <a:rPr sz="2400" spc="-20" dirty="0">
                <a:latin typeface="Times New Roman"/>
                <a:cs typeface="Times New Roman"/>
              </a:rPr>
              <a:t> </a:t>
            </a:r>
            <a:r>
              <a:rPr sz="2400" spc="-30" dirty="0">
                <a:latin typeface="Times New Roman"/>
                <a:cs typeface="Times New Roman"/>
              </a:rPr>
              <a:t>instance, </a:t>
            </a:r>
            <a:r>
              <a:rPr sz="2400" spc="-25" dirty="0">
                <a:latin typeface="Times New Roman"/>
                <a:cs typeface="Times New Roman"/>
              </a:rPr>
              <a:t>the </a:t>
            </a:r>
            <a:r>
              <a:rPr sz="2400" spc="-40" dirty="0">
                <a:solidFill>
                  <a:srgbClr val="00B050"/>
                </a:solidFill>
                <a:latin typeface="Times New Roman"/>
                <a:cs typeface="Times New Roman"/>
              </a:rPr>
              <a:t>Agarias</a:t>
            </a:r>
            <a:r>
              <a:rPr sz="2400" spc="-14" dirty="0">
                <a:solidFill>
                  <a:srgbClr val="00B050"/>
                </a:solidFill>
                <a:latin typeface="Times New Roman"/>
                <a:cs typeface="Times New Roman"/>
              </a:rPr>
              <a:t> </a:t>
            </a:r>
            <a:r>
              <a:rPr sz="2400" dirty="0">
                <a:solidFill>
                  <a:srgbClr val="00B050"/>
                </a:solidFill>
                <a:latin typeface="Times New Roman"/>
                <a:cs typeface="Times New Roman"/>
              </a:rPr>
              <a:t>of</a:t>
            </a:r>
            <a:r>
              <a:rPr sz="2400" spc="-30" dirty="0">
                <a:solidFill>
                  <a:srgbClr val="00B050"/>
                </a:solidFill>
                <a:latin typeface="Times New Roman"/>
                <a:cs typeface="Times New Roman"/>
              </a:rPr>
              <a:t> </a:t>
            </a:r>
            <a:r>
              <a:rPr sz="2400" spc="-45" dirty="0">
                <a:solidFill>
                  <a:srgbClr val="00B050"/>
                </a:solidFill>
                <a:latin typeface="Times New Roman"/>
                <a:cs typeface="Times New Roman"/>
              </a:rPr>
              <a:t>Uttar</a:t>
            </a:r>
            <a:r>
              <a:rPr sz="2400" spc="-25" dirty="0">
                <a:solidFill>
                  <a:srgbClr val="00B050"/>
                </a:solidFill>
                <a:latin typeface="Times New Roman"/>
                <a:cs typeface="Times New Roman"/>
              </a:rPr>
              <a:t> </a:t>
            </a:r>
            <a:r>
              <a:rPr sz="2400" spc="-40" dirty="0">
                <a:solidFill>
                  <a:srgbClr val="00B050"/>
                </a:solidFill>
                <a:latin typeface="Times New Roman"/>
                <a:cs typeface="Times New Roman"/>
              </a:rPr>
              <a:t>Pradesh</a:t>
            </a:r>
            <a:r>
              <a:rPr sz="2400" spc="-14" dirty="0">
                <a:solidFill>
                  <a:srgbClr val="00B050"/>
                </a:solidFill>
                <a:latin typeface="Times New Roman"/>
                <a:cs typeface="Times New Roman"/>
              </a:rPr>
              <a:t> </a:t>
            </a:r>
            <a:r>
              <a:rPr sz="2400" spc="-30" dirty="0">
                <a:solidFill>
                  <a:srgbClr val="00B050"/>
                </a:solidFill>
                <a:latin typeface="Times New Roman"/>
                <a:cs typeface="Times New Roman"/>
              </a:rPr>
              <a:t>and</a:t>
            </a:r>
            <a:r>
              <a:rPr sz="2400" spc="-14" dirty="0">
                <a:solidFill>
                  <a:srgbClr val="00B050"/>
                </a:solidFill>
                <a:latin typeface="Times New Roman"/>
                <a:cs typeface="Times New Roman"/>
              </a:rPr>
              <a:t> </a:t>
            </a:r>
            <a:r>
              <a:rPr sz="2400" spc="-40" dirty="0">
                <a:solidFill>
                  <a:srgbClr val="00B050"/>
                </a:solidFill>
                <a:latin typeface="Times New Roman"/>
                <a:cs typeface="Times New Roman"/>
              </a:rPr>
              <a:t>Madhya</a:t>
            </a:r>
            <a:r>
              <a:rPr sz="2400" spc="-14" dirty="0">
                <a:solidFill>
                  <a:srgbClr val="00B050"/>
                </a:solidFill>
                <a:latin typeface="Times New Roman"/>
                <a:cs typeface="Times New Roman"/>
              </a:rPr>
              <a:t> </a:t>
            </a:r>
            <a:r>
              <a:rPr sz="2400" spc="-40" dirty="0">
                <a:solidFill>
                  <a:srgbClr val="00B050"/>
                </a:solidFill>
                <a:latin typeface="Times New Roman"/>
                <a:cs typeface="Times New Roman"/>
              </a:rPr>
              <a:t>Pradesh</a:t>
            </a:r>
            <a:r>
              <a:rPr sz="2400" spc="-30" dirty="0">
                <a:solidFill>
                  <a:srgbClr val="00B050"/>
                </a:solidFill>
                <a:latin typeface="Times New Roman"/>
                <a:cs typeface="Times New Roman"/>
              </a:rPr>
              <a:t> are</a:t>
            </a:r>
            <a:r>
              <a:rPr sz="2400" spc="-20" dirty="0">
                <a:solidFill>
                  <a:srgbClr val="00B050"/>
                </a:solidFill>
                <a:latin typeface="Times New Roman"/>
                <a:cs typeface="Times New Roman"/>
              </a:rPr>
              <a:t> </a:t>
            </a:r>
            <a:r>
              <a:rPr sz="2400" spc="-40" dirty="0">
                <a:solidFill>
                  <a:srgbClr val="00B050"/>
                </a:solidFill>
                <a:latin typeface="Times New Roman"/>
                <a:cs typeface="Times New Roman"/>
              </a:rPr>
              <a:t>reputed</a:t>
            </a:r>
            <a:r>
              <a:rPr sz="2400" spc="-25" dirty="0">
                <a:solidFill>
                  <a:srgbClr val="00B050"/>
                </a:solidFill>
                <a:latin typeface="Times New Roman"/>
                <a:cs typeface="Times New Roman"/>
              </a:rPr>
              <a:t> </a:t>
            </a:r>
            <a:r>
              <a:rPr sz="2400" spc="-40" dirty="0">
                <a:solidFill>
                  <a:srgbClr val="00B050"/>
                </a:solidFill>
                <a:latin typeface="Times New Roman"/>
                <a:cs typeface="Times New Roman"/>
              </a:rPr>
              <a:t>iron</a:t>
            </a:r>
            <a:r>
              <a:rPr sz="2400" spc="-30" dirty="0">
                <a:solidFill>
                  <a:srgbClr val="00B050"/>
                </a:solidFill>
                <a:latin typeface="Times New Roman"/>
                <a:cs typeface="Times New Roman"/>
              </a:rPr>
              <a:t> </a:t>
            </a:r>
            <a:r>
              <a:rPr sz="2400" spc="-40" dirty="0">
                <a:solidFill>
                  <a:srgbClr val="00B050"/>
                </a:solidFill>
                <a:latin typeface="Times New Roman"/>
                <a:cs typeface="Times New Roman"/>
              </a:rPr>
              <a:t>smiths</a:t>
            </a:r>
            <a:r>
              <a:rPr sz="2400" spc="-40" dirty="0">
                <a:latin typeface="Times New Roman"/>
                <a:cs typeface="Times New Roman"/>
              </a:rPr>
              <a:t>,</a:t>
            </a:r>
            <a:r>
              <a:rPr sz="2400" spc="-14" dirty="0">
                <a:latin typeface="Times New Roman"/>
                <a:cs typeface="Times New Roman"/>
              </a:rPr>
              <a:t> </a:t>
            </a:r>
            <a:r>
              <a:rPr sz="2400" spc="-30" dirty="0">
                <a:latin typeface="Times New Roman"/>
                <a:cs typeface="Times New Roman"/>
              </a:rPr>
              <a:t>and</a:t>
            </a:r>
            <a:r>
              <a:rPr sz="2400" spc="-10" dirty="0">
                <a:latin typeface="Times New Roman"/>
                <a:cs typeface="Times New Roman"/>
              </a:rPr>
              <a:t> </a:t>
            </a:r>
            <a:r>
              <a:rPr sz="2400" spc="-40" dirty="0">
                <a:latin typeface="Times New Roman"/>
                <a:cs typeface="Times New Roman"/>
              </a:rPr>
              <a:t>there</a:t>
            </a:r>
            <a:r>
              <a:rPr sz="2400" spc="-20" dirty="0">
                <a:latin typeface="Times New Roman"/>
                <a:cs typeface="Times New Roman"/>
              </a:rPr>
              <a:t> </a:t>
            </a:r>
            <a:r>
              <a:rPr sz="2400" spc="-30" dirty="0">
                <a:latin typeface="Times New Roman"/>
                <a:cs typeface="Times New Roman"/>
              </a:rPr>
              <a:t>are</a:t>
            </a:r>
            <a:r>
              <a:rPr sz="2400" spc="-20" dirty="0">
                <a:latin typeface="Times New Roman"/>
                <a:cs typeface="Times New Roman"/>
              </a:rPr>
              <a:t> </a:t>
            </a:r>
            <a:r>
              <a:rPr sz="2400" spc="-45" dirty="0">
                <a:latin typeface="Times New Roman"/>
                <a:cs typeface="Times New Roman"/>
              </a:rPr>
              <a:t>still</a:t>
            </a:r>
            <a:r>
              <a:rPr sz="2400" spc="-20" dirty="0">
                <a:latin typeface="Times New Roman"/>
                <a:cs typeface="Times New Roman"/>
              </a:rPr>
              <a:t> </a:t>
            </a:r>
            <a:r>
              <a:rPr sz="2400" spc="-35" dirty="0">
                <a:latin typeface="Times New Roman"/>
                <a:cs typeface="Times New Roman"/>
              </a:rPr>
              <a:t>such</a:t>
            </a:r>
            <a:r>
              <a:rPr sz="2400" spc="-14" dirty="0">
                <a:latin typeface="Times New Roman"/>
                <a:cs typeface="Times New Roman"/>
              </a:rPr>
              <a:t> </a:t>
            </a:r>
            <a:r>
              <a:rPr sz="2400" spc="-10" dirty="0">
                <a:latin typeface="Times New Roman"/>
                <a:cs typeface="Times New Roman"/>
              </a:rPr>
              <a:t>communities scattered</a:t>
            </a:r>
            <a:r>
              <a:rPr sz="2400" spc="60" dirty="0">
                <a:latin typeface="Times New Roman"/>
                <a:cs typeface="Times New Roman"/>
              </a:rPr>
              <a:t> </a:t>
            </a:r>
            <a:r>
              <a:rPr sz="2400" dirty="0">
                <a:latin typeface="Times New Roman"/>
                <a:cs typeface="Times New Roman"/>
              </a:rPr>
              <a:t>across</a:t>
            </a:r>
            <a:r>
              <a:rPr sz="2400" spc="40" dirty="0">
                <a:latin typeface="Times New Roman"/>
                <a:cs typeface="Times New Roman"/>
              </a:rPr>
              <a:t> </a:t>
            </a:r>
            <a:r>
              <a:rPr sz="2400" spc="-10" dirty="0">
                <a:latin typeface="Times New Roman"/>
                <a:cs typeface="Times New Roman"/>
              </a:rPr>
              <a:t>Jharkhand,</a:t>
            </a:r>
            <a:r>
              <a:rPr sz="2400" spc="60" dirty="0">
                <a:latin typeface="Times New Roman"/>
                <a:cs typeface="Times New Roman"/>
              </a:rPr>
              <a:t> </a:t>
            </a:r>
            <a:r>
              <a:rPr sz="2400" dirty="0">
                <a:latin typeface="Times New Roman"/>
                <a:cs typeface="Times New Roman"/>
              </a:rPr>
              <a:t>Bihar,</a:t>
            </a:r>
            <a:r>
              <a:rPr sz="2400" spc="55" dirty="0">
                <a:latin typeface="Times New Roman"/>
                <a:cs typeface="Times New Roman"/>
              </a:rPr>
              <a:t> </a:t>
            </a:r>
            <a:r>
              <a:rPr sz="2400" spc="-50" dirty="0" smtClean="0">
                <a:latin typeface="Times New Roman"/>
                <a:cs typeface="Times New Roman"/>
              </a:rPr>
              <a:t>West</a:t>
            </a:r>
            <a:r>
              <a:rPr lang="en-US" sz="2400" spc="-50" dirty="0" smtClean="0">
                <a:latin typeface="Times New Roman"/>
                <a:cs typeface="Times New Roman"/>
              </a:rPr>
              <a:t> </a:t>
            </a:r>
            <a:r>
              <a:rPr sz="2400" dirty="0" smtClean="0">
                <a:latin typeface="Times New Roman"/>
                <a:cs typeface="Times New Roman"/>
              </a:rPr>
              <a:t>Bengal</a:t>
            </a:r>
            <a:r>
              <a:rPr sz="2400" dirty="0">
                <a:latin typeface="Times New Roman"/>
                <a:cs typeface="Times New Roman"/>
              </a:rPr>
              <a:t>,</a:t>
            </a:r>
            <a:r>
              <a:rPr sz="2400" spc="45" dirty="0">
                <a:latin typeface="Times New Roman"/>
                <a:cs typeface="Times New Roman"/>
              </a:rPr>
              <a:t> </a:t>
            </a:r>
            <a:r>
              <a:rPr sz="2400" dirty="0">
                <a:latin typeface="Times New Roman"/>
                <a:cs typeface="Times New Roman"/>
              </a:rPr>
              <a:t>Kerala</a:t>
            </a:r>
            <a:r>
              <a:rPr sz="2400" spc="55" dirty="0">
                <a:latin typeface="Times New Roman"/>
                <a:cs typeface="Times New Roman"/>
              </a:rPr>
              <a:t> </a:t>
            </a:r>
            <a:r>
              <a:rPr sz="2400" dirty="0">
                <a:latin typeface="Times New Roman"/>
                <a:cs typeface="Times New Roman"/>
              </a:rPr>
              <a:t>and</a:t>
            </a:r>
            <a:r>
              <a:rPr sz="2400" spc="60" dirty="0">
                <a:latin typeface="Times New Roman"/>
                <a:cs typeface="Times New Roman"/>
              </a:rPr>
              <a:t> </a:t>
            </a:r>
            <a:r>
              <a:rPr sz="2400" dirty="0">
                <a:latin typeface="Times New Roman"/>
                <a:cs typeface="Times New Roman"/>
              </a:rPr>
              <a:t>Tamil</a:t>
            </a:r>
            <a:r>
              <a:rPr sz="2400" spc="55" dirty="0">
                <a:latin typeface="Times New Roman"/>
                <a:cs typeface="Times New Roman"/>
              </a:rPr>
              <a:t> </a:t>
            </a:r>
            <a:r>
              <a:rPr sz="2400" dirty="0">
                <a:latin typeface="Times New Roman"/>
                <a:cs typeface="Times New Roman"/>
              </a:rPr>
              <a:t>Nadu.</a:t>
            </a:r>
            <a:r>
              <a:rPr sz="2400" spc="50" dirty="0">
                <a:latin typeface="Times New Roman"/>
                <a:cs typeface="Times New Roman"/>
              </a:rPr>
              <a:t> </a:t>
            </a:r>
            <a:r>
              <a:rPr lang="en-US" sz="2400" spc="50" dirty="0">
                <a:latin typeface="Times New Roman"/>
                <a:cs typeface="Times New Roman"/>
              </a:rPr>
              <a:t>	</a:t>
            </a:r>
            <a:endParaRPr lang="en-US" sz="2400" spc="50" dirty="0" smtClean="0">
              <a:latin typeface="Times New Roman"/>
              <a:cs typeface="Times New Roman"/>
            </a:endParaRPr>
          </a:p>
          <a:p>
            <a:pPr marL="38073" marR="31727" indent="456244" algn="just">
              <a:lnSpc>
                <a:spcPct val="150000"/>
              </a:lnSpc>
              <a:spcBef>
                <a:spcPts val="14"/>
              </a:spcBef>
            </a:pPr>
            <a:endParaRPr lang="en-US" sz="2400" spc="-20" dirty="0">
              <a:solidFill>
                <a:srgbClr val="00B050"/>
              </a:solidFill>
              <a:latin typeface="Times New Roman"/>
              <a:cs typeface="Times New Roman"/>
            </a:endParaRPr>
          </a:p>
        </p:txBody>
      </p:sp>
    </p:spTree>
    <p:extLst>
      <p:ext uri="{BB962C8B-B14F-4D97-AF65-F5344CB8AC3E}">
        <p14:creationId xmlns:p14="http://schemas.microsoft.com/office/powerpoint/2010/main" val="37153563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90600" y="1219200"/>
            <a:ext cx="8039324" cy="5560481"/>
          </a:xfrm>
          <a:prstGeom prst="rect">
            <a:avLst/>
          </a:prstGeom>
        </p:spPr>
        <p:txBody>
          <a:bodyPr vert="horz" wrap="square" lIns="0" tIns="20305" rIns="0" bIns="0" rtlCol="0">
            <a:spAutoFit/>
          </a:bodyPr>
          <a:lstStyle/>
          <a:p>
            <a:pPr marL="380973" marR="31727" lvl="0" indent="-342900" algn="just">
              <a:lnSpc>
                <a:spcPct val="150000"/>
              </a:lnSpc>
              <a:spcBef>
                <a:spcPts val="14"/>
              </a:spcBef>
              <a:buFont typeface="Arial" panose="020B0604020202020204" pitchFamily="34" charset="0"/>
              <a:buChar char="•"/>
            </a:pPr>
            <a:r>
              <a:rPr lang="en-US" sz="2400" spc="-10" dirty="0">
                <a:solidFill>
                  <a:prstClr val="black"/>
                </a:solidFill>
                <a:latin typeface="Times New Roman"/>
                <a:cs typeface="Times New Roman"/>
              </a:rPr>
              <a:t>Together,</a:t>
            </a:r>
            <a:r>
              <a:rPr lang="en-US" sz="2400" spc="50" dirty="0">
                <a:solidFill>
                  <a:prstClr val="black"/>
                </a:solidFill>
                <a:latin typeface="Times New Roman"/>
                <a:cs typeface="Times New Roman"/>
              </a:rPr>
              <a:t> </a:t>
            </a:r>
            <a:r>
              <a:rPr lang="en-US" sz="2400" dirty="0">
                <a:solidFill>
                  <a:prstClr val="black"/>
                </a:solidFill>
                <a:latin typeface="Times New Roman"/>
                <a:cs typeface="Times New Roman"/>
              </a:rPr>
              <a:t>they</a:t>
            </a:r>
            <a:r>
              <a:rPr lang="en-US" sz="2400" spc="40" dirty="0">
                <a:solidFill>
                  <a:prstClr val="black"/>
                </a:solidFill>
                <a:latin typeface="Times New Roman"/>
                <a:cs typeface="Times New Roman"/>
              </a:rPr>
              <a:t> </a:t>
            </a:r>
            <a:r>
              <a:rPr lang="en-US" sz="2400" spc="-20" dirty="0">
                <a:solidFill>
                  <a:prstClr val="black"/>
                </a:solidFill>
                <a:latin typeface="Times New Roman"/>
                <a:cs typeface="Times New Roman"/>
              </a:rPr>
              <a:t>contributed </a:t>
            </a:r>
            <a:r>
              <a:rPr lang="en-US" sz="2400" spc="-45" dirty="0">
                <a:solidFill>
                  <a:prstClr val="black"/>
                </a:solidFill>
                <a:latin typeface="Times New Roman"/>
                <a:cs typeface="Times New Roman"/>
              </a:rPr>
              <a:t>substantially</a:t>
            </a:r>
            <a:r>
              <a:rPr lang="en-US" sz="2400" spc="-30" dirty="0">
                <a:solidFill>
                  <a:prstClr val="black"/>
                </a:solidFill>
                <a:latin typeface="Times New Roman"/>
                <a:cs typeface="Times New Roman"/>
              </a:rPr>
              <a:t> </a:t>
            </a:r>
            <a:r>
              <a:rPr lang="en-US" sz="2400" dirty="0">
                <a:solidFill>
                  <a:prstClr val="black"/>
                </a:solidFill>
                <a:latin typeface="Times New Roman"/>
                <a:cs typeface="Times New Roman"/>
              </a:rPr>
              <a:t>to</a:t>
            </a:r>
            <a:r>
              <a:rPr lang="en-US" sz="2400" spc="-30" dirty="0">
                <a:solidFill>
                  <a:prstClr val="black"/>
                </a:solidFill>
                <a:latin typeface="Times New Roman"/>
                <a:cs typeface="Times New Roman"/>
              </a:rPr>
              <a:t> </a:t>
            </a:r>
            <a:r>
              <a:rPr lang="en-US" sz="2400" spc="-35" dirty="0">
                <a:solidFill>
                  <a:prstClr val="black"/>
                </a:solidFill>
                <a:latin typeface="Times New Roman"/>
                <a:cs typeface="Times New Roman"/>
              </a:rPr>
              <a:t>India‘s</a:t>
            </a:r>
            <a:r>
              <a:rPr lang="en-US" sz="2400" spc="-20" dirty="0">
                <a:solidFill>
                  <a:prstClr val="black"/>
                </a:solidFill>
                <a:latin typeface="Times New Roman"/>
                <a:cs typeface="Times New Roman"/>
              </a:rPr>
              <a:t> </a:t>
            </a:r>
            <a:r>
              <a:rPr lang="en-US" sz="2400" spc="-30" dirty="0">
                <a:solidFill>
                  <a:prstClr val="black"/>
                </a:solidFill>
                <a:latin typeface="Times New Roman"/>
                <a:cs typeface="Times New Roman"/>
              </a:rPr>
              <a:t>wealth,</a:t>
            </a:r>
            <a:r>
              <a:rPr lang="en-US" sz="2400" spc="-20" dirty="0">
                <a:solidFill>
                  <a:prstClr val="black"/>
                </a:solidFill>
                <a:latin typeface="Times New Roman"/>
                <a:cs typeface="Times New Roman"/>
              </a:rPr>
              <a:t> </a:t>
            </a:r>
            <a:r>
              <a:rPr lang="en-US" sz="2400" spc="-25" dirty="0">
                <a:solidFill>
                  <a:srgbClr val="00B050"/>
                </a:solidFill>
                <a:latin typeface="Times New Roman"/>
                <a:cs typeface="Times New Roman"/>
              </a:rPr>
              <a:t>since India</a:t>
            </a:r>
            <a:r>
              <a:rPr lang="en-US" sz="2400" spc="-20" dirty="0">
                <a:solidFill>
                  <a:srgbClr val="00B050"/>
                </a:solidFill>
                <a:latin typeface="Times New Roman"/>
                <a:cs typeface="Times New Roman"/>
              </a:rPr>
              <a:t> </a:t>
            </a:r>
            <a:r>
              <a:rPr lang="en-US" sz="2400" dirty="0">
                <a:solidFill>
                  <a:srgbClr val="00B050"/>
                </a:solidFill>
                <a:latin typeface="Times New Roman"/>
                <a:cs typeface="Times New Roman"/>
              </a:rPr>
              <a:t>was</a:t>
            </a:r>
            <a:r>
              <a:rPr lang="en-US" sz="2400" spc="-14" dirty="0">
                <a:solidFill>
                  <a:srgbClr val="00B050"/>
                </a:solidFill>
                <a:latin typeface="Times New Roman"/>
                <a:cs typeface="Times New Roman"/>
              </a:rPr>
              <a:t> </a:t>
            </a:r>
            <a:r>
              <a:rPr lang="en-US" sz="2400" dirty="0">
                <a:solidFill>
                  <a:srgbClr val="00B050"/>
                </a:solidFill>
                <a:latin typeface="Times New Roman"/>
                <a:cs typeface="Times New Roman"/>
              </a:rPr>
              <a:t>for</a:t>
            </a:r>
            <a:r>
              <a:rPr lang="en-US" sz="2400" spc="-25" dirty="0">
                <a:solidFill>
                  <a:srgbClr val="00B050"/>
                </a:solidFill>
                <a:latin typeface="Times New Roman"/>
                <a:cs typeface="Times New Roman"/>
              </a:rPr>
              <a:t> </a:t>
            </a:r>
            <a:r>
              <a:rPr lang="en-US" sz="2400" dirty="0">
                <a:solidFill>
                  <a:srgbClr val="00B050"/>
                </a:solidFill>
                <a:latin typeface="Times New Roman"/>
                <a:cs typeface="Times New Roman"/>
              </a:rPr>
              <a:t>a</a:t>
            </a:r>
            <a:r>
              <a:rPr lang="en-US" sz="2400" spc="-20" dirty="0">
                <a:solidFill>
                  <a:srgbClr val="00B050"/>
                </a:solidFill>
                <a:latin typeface="Times New Roman"/>
                <a:cs typeface="Times New Roman"/>
              </a:rPr>
              <a:t> </a:t>
            </a:r>
            <a:r>
              <a:rPr lang="en-US" sz="2400" spc="-10" dirty="0">
                <a:solidFill>
                  <a:srgbClr val="00B050"/>
                </a:solidFill>
                <a:latin typeface="Times New Roman"/>
                <a:cs typeface="Times New Roman"/>
              </a:rPr>
              <a:t>long</a:t>
            </a:r>
            <a:r>
              <a:rPr lang="en-US" sz="2400" spc="-30" dirty="0">
                <a:solidFill>
                  <a:srgbClr val="00B050"/>
                </a:solidFill>
                <a:latin typeface="Times New Roman"/>
                <a:cs typeface="Times New Roman"/>
              </a:rPr>
              <a:t> </a:t>
            </a:r>
            <a:r>
              <a:rPr lang="en-US" sz="2400" spc="-20" dirty="0">
                <a:solidFill>
                  <a:srgbClr val="00B050"/>
                </a:solidFill>
                <a:latin typeface="Times New Roman"/>
                <a:cs typeface="Times New Roman"/>
              </a:rPr>
              <a:t>time </a:t>
            </a:r>
            <a:r>
              <a:rPr lang="en-US" sz="2400" dirty="0">
                <a:solidFill>
                  <a:srgbClr val="00B050"/>
                </a:solidFill>
                <a:latin typeface="Times New Roman"/>
                <a:cs typeface="Times New Roman"/>
              </a:rPr>
              <a:t>a</a:t>
            </a:r>
            <a:r>
              <a:rPr lang="en-US" sz="2400" spc="-25" dirty="0">
                <a:solidFill>
                  <a:srgbClr val="00B050"/>
                </a:solidFill>
                <a:latin typeface="Times New Roman"/>
                <a:cs typeface="Times New Roman"/>
              </a:rPr>
              <a:t> major</a:t>
            </a:r>
            <a:r>
              <a:rPr lang="en-US" sz="2400" spc="-20" dirty="0">
                <a:solidFill>
                  <a:srgbClr val="00B050"/>
                </a:solidFill>
                <a:latin typeface="Times New Roman"/>
                <a:cs typeface="Times New Roman"/>
              </a:rPr>
              <a:t> </a:t>
            </a:r>
            <a:r>
              <a:rPr lang="en-US" sz="2400" spc="-40" dirty="0">
                <a:solidFill>
                  <a:srgbClr val="00B050"/>
                </a:solidFill>
                <a:latin typeface="Times New Roman"/>
                <a:cs typeface="Times New Roman"/>
              </a:rPr>
              <a:t>exporter</a:t>
            </a:r>
            <a:r>
              <a:rPr lang="en-US" sz="2400" spc="-35" dirty="0">
                <a:solidFill>
                  <a:srgbClr val="00B050"/>
                </a:solidFill>
                <a:latin typeface="Times New Roman"/>
                <a:cs typeface="Times New Roman"/>
              </a:rPr>
              <a:t> </a:t>
            </a:r>
            <a:r>
              <a:rPr lang="en-US" sz="2400" dirty="0">
                <a:solidFill>
                  <a:srgbClr val="00B050"/>
                </a:solidFill>
                <a:latin typeface="Times New Roman"/>
                <a:cs typeface="Times New Roman"/>
              </a:rPr>
              <a:t>of</a:t>
            </a:r>
            <a:r>
              <a:rPr lang="en-US" sz="2400" spc="-20" dirty="0">
                <a:solidFill>
                  <a:srgbClr val="00B050"/>
                </a:solidFill>
                <a:latin typeface="Times New Roman"/>
                <a:cs typeface="Times New Roman"/>
              </a:rPr>
              <a:t> iron. </a:t>
            </a:r>
          </a:p>
          <a:p>
            <a:pPr marL="38073" lvl="2" algn="just">
              <a:lnSpc>
                <a:spcPct val="150000"/>
              </a:lnSpc>
              <a:tabLst>
                <a:tab pos="492414" algn="l"/>
              </a:tabLst>
            </a:pPr>
            <a:r>
              <a:rPr lang="en-US" sz="2400" dirty="0" smtClean="0">
                <a:solidFill>
                  <a:prstClr val="black"/>
                </a:solidFill>
                <a:latin typeface="Times New Roman"/>
                <a:cs typeface="Times New Roman"/>
              </a:rPr>
              <a:t>	In</a:t>
            </a:r>
            <a:r>
              <a:rPr lang="en-US" sz="2400" spc="-25" dirty="0" smtClean="0">
                <a:solidFill>
                  <a:prstClr val="black"/>
                </a:solidFill>
                <a:latin typeface="Times New Roman"/>
                <a:cs typeface="Times New Roman"/>
              </a:rPr>
              <a:t> </a:t>
            </a:r>
            <a:r>
              <a:rPr lang="en-US" sz="2400" dirty="0">
                <a:solidFill>
                  <a:prstClr val="black"/>
                </a:solidFill>
                <a:latin typeface="Times New Roman"/>
                <a:cs typeface="Times New Roman"/>
              </a:rPr>
              <a:t>the</a:t>
            </a:r>
            <a:r>
              <a:rPr lang="en-US" sz="2400" spc="-20" dirty="0">
                <a:solidFill>
                  <a:prstClr val="black"/>
                </a:solidFill>
                <a:latin typeface="Times New Roman"/>
                <a:cs typeface="Times New Roman"/>
              </a:rPr>
              <a:t> late </a:t>
            </a:r>
            <a:r>
              <a:rPr lang="en-US" sz="2400" spc="-10" dirty="0">
                <a:solidFill>
                  <a:prstClr val="black"/>
                </a:solidFill>
                <a:latin typeface="Times New Roman"/>
                <a:cs typeface="Times New Roman"/>
              </a:rPr>
              <a:t>1600s, </a:t>
            </a:r>
            <a:r>
              <a:rPr lang="en-US" sz="2400" spc="-35" dirty="0">
                <a:solidFill>
                  <a:prstClr val="black"/>
                </a:solidFill>
                <a:latin typeface="Times New Roman"/>
                <a:cs typeface="Times New Roman"/>
              </a:rPr>
              <a:t>shipments</a:t>
            </a:r>
            <a:r>
              <a:rPr lang="en-US" sz="2400" spc="-30" dirty="0">
                <a:solidFill>
                  <a:prstClr val="black"/>
                </a:solidFill>
                <a:latin typeface="Times New Roman"/>
                <a:cs typeface="Times New Roman"/>
              </a:rPr>
              <a:t> </a:t>
            </a:r>
            <a:r>
              <a:rPr lang="en-US" sz="2400" dirty="0">
                <a:solidFill>
                  <a:prstClr val="black"/>
                </a:solidFill>
                <a:latin typeface="Times New Roman"/>
                <a:cs typeface="Times New Roman"/>
              </a:rPr>
              <a:t>of</a:t>
            </a:r>
            <a:r>
              <a:rPr lang="en-US" sz="2400" spc="-30" dirty="0">
                <a:solidFill>
                  <a:prstClr val="black"/>
                </a:solidFill>
                <a:latin typeface="Times New Roman"/>
                <a:cs typeface="Times New Roman"/>
              </a:rPr>
              <a:t> </a:t>
            </a:r>
            <a:r>
              <a:rPr lang="en-US" sz="2400" spc="-10" dirty="0">
                <a:solidFill>
                  <a:srgbClr val="7030A0"/>
                </a:solidFill>
                <a:latin typeface="Times New Roman"/>
                <a:cs typeface="Times New Roman"/>
              </a:rPr>
              <a:t>tens</a:t>
            </a:r>
            <a:r>
              <a:rPr lang="en-US" sz="2400" spc="-25" dirty="0">
                <a:solidFill>
                  <a:srgbClr val="7030A0"/>
                </a:solidFill>
                <a:latin typeface="Times New Roman"/>
                <a:cs typeface="Times New Roman"/>
              </a:rPr>
              <a:t> </a:t>
            </a:r>
            <a:r>
              <a:rPr lang="en-US" sz="2400" dirty="0">
                <a:solidFill>
                  <a:srgbClr val="7030A0"/>
                </a:solidFill>
                <a:latin typeface="Times New Roman"/>
                <a:cs typeface="Times New Roman"/>
              </a:rPr>
              <a:t>of</a:t>
            </a:r>
            <a:r>
              <a:rPr lang="en-US" sz="2400" spc="-30" dirty="0">
                <a:solidFill>
                  <a:srgbClr val="7030A0"/>
                </a:solidFill>
                <a:latin typeface="Times New Roman"/>
                <a:cs typeface="Times New Roman"/>
              </a:rPr>
              <a:t> </a:t>
            </a:r>
            <a:r>
              <a:rPr lang="en-US" sz="2400" spc="-35" dirty="0">
                <a:solidFill>
                  <a:srgbClr val="7030A0"/>
                </a:solidFill>
                <a:latin typeface="Times New Roman"/>
                <a:cs typeface="Times New Roman"/>
              </a:rPr>
              <a:t>thousands</a:t>
            </a:r>
            <a:r>
              <a:rPr lang="en-US" sz="2400" spc="-25" dirty="0">
                <a:solidFill>
                  <a:srgbClr val="7030A0"/>
                </a:solidFill>
                <a:latin typeface="Times New Roman"/>
                <a:cs typeface="Times New Roman"/>
              </a:rPr>
              <a:t> </a:t>
            </a:r>
            <a:r>
              <a:rPr lang="en-US" sz="2400" dirty="0">
                <a:solidFill>
                  <a:srgbClr val="7030A0"/>
                </a:solidFill>
                <a:latin typeface="Times New Roman"/>
                <a:cs typeface="Times New Roman"/>
              </a:rPr>
              <a:t>of</a:t>
            </a:r>
            <a:r>
              <a:rPr lang="en-US" sz="2400" spc="-30" dirty="0">
                <a:solidFill>
                  <a:srgbClr val="7030A0"/>
                </a:solidFill>
                <a:latin typeface="Times New Roman"/>
                <a:cs typeface="Times New Roman"/>
              </a:rPr>
              <a:t> </a:t>
            </a:r>
            <a:r>
              <a:rPr lang="en-US" sz="2400" spc="-20" dirty="0" err="1">
                <a:solidFill>
                  <a:srgbClr val="7030A0"/>
                </a:solidFill>
                <a:latin typeface="Times New Roman"/>
                <a:cs typeface="Times New Roman"/>
              </a:rPr>
              <a:t>wootz</a:t>
            </a:r>
            <a:r>
              <a:rPr lang="en-US" sz="2400" spc="-20" dirty="0">
                <a:solidFill>
                  <a:srgbClr val="7030A0"/>
                </a:solidFill>
                <a:latin typeface="Times New Roman"/>
                <a:cs typeface="Times New Roman"/>
              </a:rPr>
              <a:t> </a:t>
            </a:r>
            <a:r>
              <a:rPr lang="en-US" sz="2400" spc="-20" dirty="0" smtClean="0">
                <a:solidFill>
                  <a:srgbClr val="7030A0"/>
                </a:solidFill>
                <a:latin typeface="Times New Roman"/>
                <a:cs typeface="Times New Roman"/>
              </a:rPr>
              <a:t>	</a:t>
            </a:r>
            <a:r>
              <a:rPr lang="en-US" sz="2400" spc="-25" dirty="0" smtClean="0">
                <a:solidFill>
                  <a:srgbClr val="7030A0"/>
                </a:solidFill>
                <a:latin typeface="Times New Roman"/>
                <a:cs typeface="Times New Roman"/>
              </a:rPr>
              <a:t>ingots</a:t>
            </a:r>
            <a:r>
              <a:rPr lang="en-US" sz="2400" spc="-30" dirty="0" smtClean="0">
                <a:solidFill>
                  <a:srgbClr val="7030A0"/>
                </a:solidFill>
                <a:latin typeface="Times New Roman"/>
                <a:cs typeface="Times New Roman"/>
              </a:rPr>
              <a:t> </a:t>
            </a:r>
            <a:r>
              <a:rPr lang="en-US" sz="2400" spc="-20" dirty="0">
                <a:solidFill>
                  <a:prstClr val="black"/>
                </a:solidFill>
                <a:latin typeface="Times New Roman"/>
                <a:cs typeface="Times New Roman"/>
              </a:rPr>
              <a:t>would</a:t>
            </a:r>
            <a:r>
              <a:rPr lang="en-US" sz="2400" spc="-25" dirty="0">
                <a:solidFill>
                  <a:prstClr val="black"/>
                </a:solidFill>
                <a:latin typeface="Times New Roman"/>
                <a:cs typeface="Times New Roman"/>
              </a:rPr>
              <a:t> </a:t>
            </a:r>
            <a:r>
              <a:rPr lang="en-US" sz="2400" spc="-20" dirty="0">
                <a:solidFill>
                  <a:prstClr val="black"/>
                </a:solidFill>
                <a:latin typeface="Times New Roman"/>
                <a:cs typeface="Times New Roman"/>
              </a:rPr>
              <a:t>leave</a:t>
            </a:r>
            <a:r>
              <a:rPr lang="en-US" sz="2400" spc="-30" dirty="0">
                <a:solidFill>
                  <a:prstClr val="black"/>
                </a:solidFill>
                <a:latin typeface="Times New Roman"/>
                <a:cs typeface="Times New Roman"/>
              </a:rPr>
              <a:t> </a:t>
            </a:r>
            <a:r>
              <a:rPr lang="en-US" sz="2400" dirty="0">
                <a:solidFill>
                  <a:prstClr val="black"/>
                </a:solidFill>
                <a:latin typeface="Times New Roman"/>
                <a:cs typeface="Times New Roman"/>
              </a:rPr>
              <a:t>the</a:t>
            </a:r>
            <a:r>
              <a:rPr lang="en-US" sz="2400" spc="-35" dirty="0">
                <a:solidFill>
                  <a:prstClr val="black"/>
                </a:solidFill>
                <a:latin typeface="Times New Roman"/>
                <a:cs typeface="Times New Roman"/>
              </a:rPr>
              <a:t> </a:t>
            </a:r>
            <a:r>
              <a:rPr lang="en-US" sz="2400" spc="-35" dirty="0">
                <a:solidFill>
                  <a:srgbClr val="7030A0"/>
                </a:solidFill>
                <a:latin typeface="Times New Roman"/>
                <a:cs typeface="Times New Roman"/>
              </a:rPr>
              <a:t>Coromandel</a:t>
            </a:r>
            <a:r>
              <a:rPr lang="en-US" sz="2400" spc="-30" dirty="0">
                <a:solidFill>
                  <a:srgbClr val="7030A0"/>
                </a:solidFill>
                <a:latin typeface="Times New Roman"/>
                <a:cs typeface="Times New Roman"/>
              </a:rPr>
              <a:t> </a:t>
            </a:r>
            <a:r>
              <a:rPr lang="en-US" sz="2400" spc="-20" dirty="0">
                <a:solidFill>
                  <a:srgbClr val="7030A0"/>
                </a:solidFill>
                <a:latin typeface="Times New Roman"/>
                <a:cs typeface="Times New Roman"/>
              </a:rPr>
              <a:t>Coast</a:t>
            </a:r>
            <a:r>
              <a:rPr lang="en-US" sz="2400" spc="-25" dirty="0">
                <a:solidFill>
                  <a:srgbClr val="7030A0"/>
                </a:solidFill>
                <a:latin typeface="Times New Roman"/>
                <a:cs typeface="Times New Roman"/>
              </a:rPr>
              <a:t> </a:t>
            </a:r>
            <a:r>
              <a:rPr lang="en-US" sz="2400" dirty="0">
                <a:solidFill>
                  <a:srgbClr val="7030A0"/>
                </a:solidFill>
                <a:latin typeface="Times New Roman"/>
                <a:cs typeface="Times New Roman"/>
              </a:rPr>
              <a:t>for</a:t>
            </a:r>
            <a:r>
              <a:rPr lang="en-US" sz="2400" spc="-35" dirty="0">
                <a:solidFill>
                  <a:srgbClr val="7030A0"/>
                </a:solidFill>
                <a:latin typeface="Times New Roman"/>
                <a:cs typeface="Times New Roman"/>
              </a:rPr>
              <a:t> </a:t>
            </a:r>
            <a:r>
              <a:rPr lang="en-US" sz="2400" spc="-25" dirty="0">
                <a:solidFill>
                  <a:srgbClr val="7030A0"/>
                </a:solidFill>
                <a:latin typeface="Times New Roman"/>
                <a:cs typeface="Times New Roman"/>
              </a:rPr>
              <a:t>Persia every</a:t>
            </a:r>
            <a:r>
              <a:rPr lang="en-US" sz="2400" spc="-35" dirty="0">
                <a:solidFill>
                  <a:srgbClr val="7030A0"/>
                </a:solidFill>
                <a:latin typeface="Times New Roman"/>
                <a:cs typeface="Times New Roman"/>
              </a:rPr>
              <a:t> </a:t>
            </a:r>
            <a:r>
              <a:rPr lang="en-US" sz="2400" spc="-35" dirty="0" smtClean="0">
                <a:solidFill>
                  <a:srgbClr val="7030A0"/>
                </a:solidFill>
                <a:latin typeface="Times New Roman"/>
                <a:cs typeface="Times New Roman"/>
              </a:rPr>
              <a:t>	</a:t>
            </a:r>
            <a:r>
              <a:rPr lang="en-US" sz="2400" spc="-10" dirty="0" smtClean="0">
                <a:solidFill>
                  <a:srgbClr val="7030A0"/>
                </a:solidFill>
                <a:latin typeface="Times New Roman"/>
                <a:cs typeface="Times New Roman"/>
              </a:rPr>
              <a:t>year</a:t>
            </a:r>
            <a:r>
              <a:rPr lang="en-US" sz="2400" spc="-10" dirty="0">
                <a:solidFill>
                  <a:prstClr val="black"/>
                </a:solidFill>
                <a:latin typeface="Times New Roman"/>
                <a:cs typeface="Times New Roman"/>
              </a:rPr>
              <a:t>. </a:t>
            </a:r>
          </a:p>
          <a:p>
            <a:pPr marL="380973" lvl="2" indent="-342900" algn="just">
              <a:lnSpc>
                <a:spcPct val="150000"/>
              </a:lnSpc>
              <a:buFont typeface="Arial" panose="020B0604020202020204" pitchFamily="34" charset="0"/>
              <a:buChar char="•"/>
              <a:tabLst>
                <a:tab pos="492414" algn="l"/>
              </a:tabLst>
            </a:pPr>
            <a:r>
              <a:rPr lang="en-US" sz="2400" spc="-10" dirty="0">
                <a:solidFill>
                  <a:prstClr val="black"/>
                </a:solidFill>
                <a:latin typeface="Times New Roman"/>
                <a:cs typeface="Times New Roman"/>
              </a:rPr>
              <a:t>	</a:t>
            </a:r>
            <a:r>
              <a:rPr lang="en-US" sz="2400" spc="-40" dirty="0">
                <a:solidFill>
                  <a:prstClr val="black"/>
                </a:solidFill>
                <a:latin typeface="Times New Roman"/>
                <a:cs typeface="Times New Roman"/>
              </a:rPr>
              <a:t>India’s</a:t>
            </a:r>
            <a:r>
              <a:rPr lang="en-US" sz="2400" spc="-35" dirty="0">
                <a:solidFill>
                  <a:prstClr val="black"/>
                </a:solidFill>
                <a:latin typeface="Times New Roman"/>
                <a:cs typeface="Times New Roman"/>
              </a:rPr>
              <a:t> </a:t>
            </a:r>
            <a:r>
              <a:rPr lang="en-US" sz="2400" spc="-25" dirty="0">
                <a:solidFill>
                  <a:prstClr val="black"/>
                </a:solidFill>
                <a:latin typeface="Times New Roman"/>
                <a:cs typeface="Times New Roman"/>
              </a:rPr>
              <a:t>iron</a:t>
            </a:r>
            <a:r>
              <a:rPr lang="en-US" sz="2400" spc="-50" dirty="0">
                <a:solidFill>
                  <a:prstClr val="black"/>
                </a:solidFill>
                <a:latin typeface="Times New Roman"/>
                <a:cs typeface="Times New Roman"/>
              </a:rPr>
              <a:t> </a:t>
            </a:r>
            <a:r>
              <a:rPr lang="en-US" sz="2400" spc="-20" dirty="0">
                <a:solidFill>
                  <a:prstClr val="black"/>
                </a:solidFill>
                <a:latin typeface="Times New Roman"/>
                <a:cs typeface="Times New Roman"/>
              </a:rPr>
              <a:t>and</a:t>
            </a:r>
            <a:r>
              <a:rPr lang="en-US" sz="2400" spc="-40" dirty="0">
                <a:solidFill>
                  <a:prstClr val="black"/>
                </a:solidFill>
                <a:latin typeface="Times New Roman"/>
                <a:cs typeface="Times New Roman"/>
              </a:rPr>
              <a:t> </a:t>
            </a:r>
            <a:r>
              <a:rPr lang="en-US" sz="2400" spc="-35" dirty="0">
                <a:solidFill>
                  <a:prstClr val="black"/>
                </a:solidFill>
                <a:latin typeface="Times New Roman"/>
                <a:cs typeface="Times New Roman"/>
              </a:rPr>
              <a:t>steel</a:t>
            </a:r>
            <a:r>
              <a:rPr lang="en-US" sz="2400" spc="-30" dirty="0">
                <a:solidFill>
                  <a:prstClr val="black"/>
                </a:solidFill>
                <a:latin typeface="Times New Roman"/>
                <a:cs typeface="Times New Roman"/>
              </a:rPr>
              <a:t> </a:t>
            </a:r>
            <a:r>
              <a:rPr lang="en-US" sz="2400" spc="-40" dirty="0">
                <a:solidFill>
                  <a:prstClr val="black"/>
                </a:solidFill>
                <a:latin typeface="Times New Roman"/>
                <a:cs typeface="Times New Roman"/>
              </a:rPr>
              <a:t>industry</a:t>
            </a:r>
            <a:r>
              <a:rPr lang="en-US" sz="2400" spc="-35" dirty="0">
                <a:solidFill>
                  <a:prstClr val="black"/>
                </a:solidFill>
                <a:latin typeface="Times New Roman"/>
                <a:cs typeface="Times New Roman"/>
              </a:rPr>
              <a:t> </a:t>
            </a:r>
            <a:r>
              <a:rPr lang="en-US" sz="2400" spc="-20" dirty="0">
                <a:solidFill>
                  <a:prstClr val="black"/>
                </a:solidFill>
                <a:latin typeface="Times New Roman"/>
                <a:cs typeface="Times New Roman"/>
              </a:rPr>
              <a:t>was</a:t>
            </a:r>
            <a:r>
              <a:rPr lang="en-US" sz="2400" spc="-14" dirty="0">
                <a:solidFill>
                  <a:prstClr val="black"/>
                </a:solidFill>
                <a:latin typeface="Times New Roman"/>
                <a:cs typeface="Times New Roman"/>
              </a:rPr>
              <a:t> </a:t>
            </a:r>
            <a:r>
              <a:rPr lang="en-US" sz="2400" spc="-40" dirty="0">
                <a:solidFill>
                  <a:prstClr val="black"/>
                </a:solidFill>
                <a:latin typeface="Times New Roman"/>
                <a:cs typeface="Times New Roman"/>
              </a:rPr>
              <a:t>intensive</a:t>
            </a:r>
            <a:r>
              <a:rPr lang="en-US" sz="2400" spc="-30" dirty="0">
                <a:solidFill>
                  <a:prstClr val="black"/>
                </a:solidFill>
                <a:latin typeface="Times New Roman"/>
                <a:cs typeface="Times New Roman"/>
              </a:rPr>
              <a:t> </a:t>
            </a:r>
            <a:r>
              <a:rPr lang="en-US" sz="2400" spc="-35" dirty="0">
                <a:solidFill>
                  <a:prstClr val="black"/>
                </a:solidFill>
                <a:latin typeface="Times New Roman"/>
                <a:cs typeface="Times New Roman"/>
              </a:rPr>
              <a:t>till</a:t>
            </a:r>
            <a:r>
              <a:rPr lang="en-US" sz="2400" spc="-30" dirty="0">
                <a:solidFill>
                  <a:prstClr val="black"/>
                </a:solidFill>
                <a:latin typeface="Times New Roman"/>
                <a:cs typeface="Times New Roman"/>
              </a:rPr>
              <a:t> </a:t>
            </a:r>
            <a:r>
              <a:rPr lang="en-US" sz="2400" spc="-20" dirty="0">
                <a:solidFill>
                  <a:prstClr val="black"/>
                </a:solidFill>
                <a:latin typeface="Times New Roman"/>
                <a:cs typeface="Times New Roman"/>
              </a:rPr>
              <a:t>the </a:t>
            </a:r>
            <a:r>
              <a:rPr lang="en-US" sz="2400" spc="-25" dirty="0">
                <a:solidFill>
                  <a:prstClr val="black"/>
                </a:solidFill>
                <a:latin typeface="Times New Roman"/>
                <a:cs typeface="Times New Roman"/>
              </a:rPr>
              <a:t>18th</a:t>
            </a:r>
            <a:r>
              <a:rPr lang="en-US" sz="2400" spc="-20" dirty="0">
                <a:solidFill>
                  <a:prstClr val="black"/>
                </a:solidFill>
                <a:latin typeface="Times New Roman"/>
                <a:cs typeface="Times New Roman"/>
              </a:rPr>
              <a:t> </a:t>
            </a:r>
            <a:r>
              <a:rPr lang="en-US" sz="2400" spc="-50" dirty="0">
                <a:solidFill>
                  <a:prstClr val="black"/>
                </a:solidFill>
                <a:latin typeface="Times New Roman"/>
                <a:cs typeface="Times New Roman"/>
              </a:rPr>
              <a:t>century</a:t>
            </a:r>
            <a:r>
              <a:rPr lang="en-US" sz="2400" spc="-25" dirty="0">
                <a:solidFill>
                  <a:prstClr val="black"/>
                </a:solidFill>
                <a:latin typeface="Times New Roman"/>
                <a:cs typeface="Times New Roman"/>
              </a:rPr>
              <a:t> </a:t>
            </a:r>
            <a:r>
              <a:rPr lang="en-US" sz="2400" spc="-20" dirty="0">
                <a:solidFill>
                  <a:prstClr val="black"/>
                </a:solidFill>
                <a:latin typeface="Times New Roman"/>
                <a:cs typeface="Times New Roman"/>
              </a:rPr>
              <a:t>and</a:t>
            </a:r>
            <a:r>
              <a:rPr lang="en-US" sz="2400" spc="-14" dirty="0">
                <a:solidFill>
                  <a:prstClr val="black"/>
                </a:solidFill>
                <a:latin typeface="Times New Roman"/>
                <a:cs typeface="Times New Roman"/>
              </a:rPr>
              <a:t> </a:t>
            </a:r>
            <a:r>
              <a:rPr lang="en-US" sz="2400" spc="-40" dirty="0">
                <a:solidFill>
                  <a:srgbClr val="C00000"/>
                </a:solidFill>
                <a:latin typeface="Times New Roman"/>
                <a:cs typeface="Times New Roman"/>
              </a:rPr>
              <a:t>declined</a:t>
            </a:r>
            <a:r>
              <a:rPr lang="en-US" sz="2400" spc="-25" dirty="0">
                <a:solidFill>
                  <a:srgbClr val="C00000"/>
                </a:solidFill>
                <a:latin typeface="Times New Roman"/>
                <a:cs typeface="Times New Roman"/>
              </a:rPr>
              <a:t> </a:t>
            </a:r>
            <a:r>
              <a:rPr lang="en-US" sz="2400" spc="-35" dirty="0">
                <a:solidFill>
                  <a:srgbClr val="C00000"/>
                </a:solidFill>
                <a:latin typeface="Times New Roman"/>
                <a:cs typeface="Times New Roman"/>
              </a:rPr>
              <a:t>only</a:t>
            </a:r>
            <a:r>
              <a:rPr lang="en-US" sz="2400" spc="-40" dirty="0">
                <a:solidFill>
                  <a:srgbClr val="C00000"/>
                </a:solidFill>
                <a:latin typeface="Times New Roman"/>
                <a:cs typeface="Times New Roman"/>
              </a:rPr>
              <a:t> </a:t>
            </a:r>
            <a:r>
              <a:rPr lang="en-US" sz="2400" spc="-20" dirty="0">
                <a:solidFill>
                  <a:srgbClr val="C00000"/>
                </a:solidFill>
                <a:latin typeface="Times New Roman"/>
                <a:cs typeface="Times New Roman"/>
              </a:rPr>
              <a:t>when the </a:t>
            </a:r>
            <a:r>
              <a:rPr lang="en-US" sz="2400" spc="-40" dirty="0">
                <a:solidFill>
                  <a:srgbClr val="C00000"/>
                </a:solidFill>
                <a:latin typeface="Times New Roman"/>
                <a:cs typeface="Times New Roman"/>
              </a:rPr>
              <a:t>British</a:t>
            </a:r>
            <a:r>
              <a:rPr lang="en-US" sz="2400" spc="-30" dirty="0">
                <a:solidFill>
                  <a:srgbClr val="C00000"/>
                </a:solidFill>
                <a:latin typeface="Times New Roman"/>
                <a:cs typeface="Times New Roman"/>
              </a:rPr>
              <a:t> </a:t>
            </a:r>
            <a:r>
              <a:rPr lang="en-US" sz="2400" spc="-10" dirty="0">
                <a:solidFill>
                  <a:srgbClr val="C00000"/>
                </a:solidFill>
                <a:latin typeface="Times New Roman"/>
                <a:cs typeface="Times New Roman"/>
              </a:rPr>
              <a:t>started </a:t>
            </a:r>
            <a:r>
              <a:rPr lang="en-US" sz="2400" spc="-45" dirty="0">
                <a:solidFill>
                  <a:srgbClr val="C00000"/>
                </a:solidFill>
                <a:latin typeface="Times New Roman"/>
                <a:cs typeface="Times New Roman"/>
              </a:rPr>
              <a:t>selling</a:t>
            </a:r>
            <a:r>
              <a:rPr lang="en-US" sz="2400" spc="-30" dirty="0">
                <a:solidFill>
                  <a:srgbClr val="C00000"/>
                </a:solidFill>
                <a:latin typeface="Times New Roman"/>
                <a:cs typeface="Times New Roman"/>
              </a:rPr>
              <a:t> </a:t>
            </a:r>
            <a:r>
              <a:rPr lang="en-US" sz="2400" spc="-50" dirty="0">
                <a:solidFill>
                  <a:srgbClr val="C00000"/>
                </a:solidFill>
                <a:latin typeface="Times New Roman"/>
                <a:cs typeface="Times New Roman"/>
              </a:rPr>
              <a:t>their</a:t>
            </a:r>
            <a:r>
              <a:rPr lang="en-US" sz="2400" spc="-25" dirty="0">
                <a:solidFill>
                  <a:srgbClr val="C00000"/>
                </a:solidFill>
                <a:latin typeface="Times New Roman"/>
                <a:cs typeface="Times New Roman"/>
              </a:rPr>
              <a:t> </a:t>
            </a:r>
            <a:r>
              <a:rPr lang="en-US" sz="2400" spc="-40" dirty="0">
                <a:solidFill>
                  <a:srgbClr val="C00000"/>
                </a:solidFill>
                <a:latin typeface="Times New Roman"/>
                <a:cs typeface="Times New Roman"/>
              </a:rPr>
              <a:t>own</a:t>
            </a:r>
            <a:r>
              <a:rPr lang="en-US" sz="2400" spc="-20" dirty="0">
                <a:solidFill>
                  <a:srgbClr val="C00000"/>
                </a:solidFill>
                <a:latin typeface="Times New Roman"/>
                <a:cs typeface="Times New Roman"/>
              </a:rPr>
              <a:t> </a:t>
            </a:r>
            <a:r>
              <a:rPr lang="en-US" sz="2400" spc="-45" dirty="0">
                <a:solidFill>
                  <a:srgbClr val="C00000"/>
                </a:solidFill>
                <a:latin typeface="Times New Roman"/>
                <a:cs typeface="Times New Roman"/>
              </a:rPr>
              <a:t>products</a:t>
            </a:r>
            <a:r>
              <a:rPr lang="en-US" sz="2400" spc="-10" dirty="0">
                <a:solidFill>
                  <a:srgbClr val="C00000"/>
                </a:solidFill>
                <a:latin typeface="Times New Roman"/>
                <a:cs typeface="Times New Roman"/>
              </a:rPr>
              <a:t> </a:t>
            </a:r>
            <a:r>
              <a:rPr lang="en-US" sz="2400" spc="-35" dirty="0">
                <a:solidFill>
                  <a:srgbClr val="C00000"/>
                </a:solidFill>
                <a:latin typeface="Times New Roman"/>
                <a:cs typeface="Times New Roman"/>
              </a:rPr>
              <a:t>in</a:t>
            </a:r>
            <a:r>
              <a:rPr lang="en-US" sz="2400" spc="-4" dirty="0">
                <a:solidFill>
                  <a:srgbClr val="C00000"/>
                </a:solidFill>
                <a:latin typeface="Times New Roman"/>
                <a:cs typeface="Times New Roman"/>
              </a:rPr>
              <a:t> </a:t>
            </a:r>
            <a:r>
              <a:rPr lang="en-US" sz="2400" spc="-45" dirty="0">
                <a:solidFill>
                  <a:srgbClr val="C00000"/>
                </a:solidFill>
                <a:latin typeface="Times New Roman"/>
                <a:cs typeface="Times New Roman"/>
              </a:rPr>
              <a:t>India</a:t>
            </a:r>
            <a:r>
              <a:rPr lang="en-US" sz="2400" spc="-4" dirty="0">
                <a:solidFill>
                  <a:srgbClr val="C00000"/>
                </a:solidFill>
                <a:latin typeface="Times New Roman"/>
                <a:cs typeface="Times New Roman"/>
              </a:rPr>
              <a:t> </a:t>
            </a:r>
            <a:r>
              <a:rPr lang="en-US" sz="2400" spc="-50" dirty="0">
                <a:solidFill>
                  <a:srgbClr val="C00000"/>
                </a:solidFill>
                <a:latin typeface="Times New Roman"/>
                <a:cs typeface="Times New Roman"/>
              </a:rPr>
              <a:t>while</a:t>
            </a:r>
            <a:r>
              <a:rPr lang="en-US" sz="2400" spc="-20" dirty="0">
                <a:solidFill>
                  <a:srgbClr val="C00000"/>
                </a:solidFill>
                <a:latin typeface="Times New Roman"/>
                <a:cs typeface="Times New Roman"/>
              </a:rPr>
              <a:t> </a:t>
            </a:r>
            <a:r>
              <a:rPr lang="en-US" sz="2400" spc="-45" dirty="0">
                <a:solidFill>
                  <a:srgbClr val="C00000"/>
                </a:solidFill>
                <a:latin typeface="Times New Roman"/>
                <a:cs typeface="Times New Roman"/>
              </a:rPr>
              <a:t>imposing</a:t>
            </a:r>
            <a:r>
              <a:rPr lang="en-US" sz="2400" spc="-14" dirty="0">
                <a:solidFill>
                  <a:srgbClr val="C00000"/>
                </a:solidFill>
                <a:latin typeface="Times New Roman"/>
                <a:cs typeface="Times New Roman"/>
              </a:rPr>
              <a:t> </a:t>
            </a:r>
            <a:r>
              <a:rPr lang="en-US" sz="2400" spc="-45" dirty="0">
                <a:solidFill>
                  <a:srgbClr val="C00000"/>
                </a:solidFill>
                <a:latin typeface="Times New Roman"/>
                <a:cs typeface="Times New Roman"/>
              </a:rPr>
              <a:t>high</a:t>
            </a:r>
            <a:r>
              <a:rPr lang="en-US" sz="2400" dirty="0">
                <a:solidFill>
                  <a:srgbClr val="C00000"/>
                </a:solidFill>
                <a:latin typeface="Times New Roman"/>
                <a:cs typeface="Times New Roman"/>
              </a:rPr>
              <a:t> </a:t>
            </a:r>
            <a:r>
              <a:rPr lang="en-US" sz="2400" spc="-45" dirty="0">
                <a:solidFill>
                  <a:srgbClr val="C00000"/>
                </a:solidFill>
                <a:latin typeface="Times New Roman"/>
                <a:cs typeface="Times New Roman"/>
              </a:rPr>
              <a:t>duties</a:t>
            </a:r>
            <a:r>
              <a:rPr lang="en-US" sz="2400" spc="-14" dirty="0">
                <a:solidFill>
                  <a:srgbClr val="C00000"/>
                </a:solidFill>
                <a:latin typeface="Times New Roman"/>
                <a:cs typeface="Times New Roman"/>
              </a:rPr>
              <a:t> </a:t>
            </a:r>
            <a:r>
              <a:rPr lang="en-US" sz="2400" spc="-20" dirty="0">
                <a:solidFill>
                  <a:srgbClr val="C00000"/>
                </a:solidFill>
                <a:latin typeface="Times New Roman"/>
                <a:cs typeface="Times New Roman"/>
              </a:rPr>
              <a:t>on</a:t>
            </a:r>
            <a:r>
              <a:rPr lang="en-US" sz="2400" dirty="0">
                <a:solidFill>
                  <a:srgbClr val="C00000"/>
                </a:solidFill>
                <a:latin typeface="Times New Roman"/>
                <a:cs typeface="Times New Roman"/>
              </a:rPr>
              <a:t> </a:t>
            </a:r>
            <a:r>
              <a:rPr lang="en-US" sz="2400" spc="-55" dirty="0">
                <a:solidFill>
                  <a:srgbClr val="C00000"/>
                </a:solidFill>
                <a:latin typeface="Times New Roman"/>
                <a:cs typeface="Times New Roman"/>
              </a:rPr>
              <a:t>Indian</a:t>
            </a:r>
            <a:r>
              <a:rPr lang="en-US" sz="2400" spc="-14" dirty="0">
                <a:solidFill>
                  <a:srgbClr val="C00000"/>
                </a:solidFill>
                <a:latin typeface="Times New Roman"/>
                <a:cs typeface="Times New Roman"/>
              </a:rPr>
              <a:t> </a:t>
            </a:r>
            <a:r>
              <a:rPr lang="en-US" sz="2400" spc="-45" dirty="0">
                <a:solidFill>
                  <a:srgbClr val="C00000"/>
                </a:solidFill>
                <a:latin typeface="Times New Roman"/>
                <a:cs typeface="Times New Roman"/>
              </a:rPr>
              <a:t>products.</a:t>
            </a:r>
            <a:r>
              <a:rPr lang="en-US" sz="2400" dirty="0">
                <a:solidFill>
                  <a:prstClr val="black"/>
                </a:solidFill>
                <a:latin typeface="Times New Roman"/>
                <a:cs typeface="Times New Roman"/>
              </a:rPr>
              <a:t> </a:t>
            </a:r>
            <a:r>
              <a:rPr lang="en-US" sz="2400" spc="-50" dirty="0">
                <a:solidFill>
                  <a:prstClr val="black"/>
                </a:solidFill>
                <a:latin typeface="Times New Roman"/>
                <a:cs typeface="Times New Roman"/>
              </a:rPr>
              <a:t>Industrially</a:t>
            </a:r>
            <a:r>
              <a:rPr lang="en-US" sz="2400" spc="-25" dirty="0">
                <a:solidFill>
                  <a:prstClr val="black"/>
                </a:solidFill>
                <a:latin typeface="Times New Roman"/>
                <a:cs typeface="Times New Roman"/>
              </a:rPr>
              <a:t> </a:t>
            </a:r>
            <a:r>
              <a:rPr lang="en-US" sz="2400" spc="-45" dirty="0">
                <a:solidFill>
                  <a:prstClr val="black"/>
                </a:solidFill>
                <a:latin typeface="Times New Roman"/>
                <a:cs typeface="Times New Roman"/>
              </a:rPr>
              <a:t>produced</a:t>
            </a:r>
            <a:r>
              <a:rPr lang="en-US" sz="2400" spc="-14" dirty="0">
                <a:solidFill>
                  <a:prstClr val="black"/>
                </a:solidFill>
                <a:latin typeface="Times New Roman"/>
                <a:cs typeface="Times New Roman"/>
              </a:rPr>
              <a:t> </a:t>
            </a:r>
            <a:r>
              <a:rPr lang="en-US" sz="2400" spc="-20" dirty="0">
                <a:solidFill>
                  <a:prstClr val="black"/>
                </a:solidFill>
                <a:latin typeface="Times New Roman"/>
                <a:cs typeface="Times New Roman"/>
              </a:rPr>
              <a:t>iron </a:t>
            </a:r>
            <a:r>
              <a:rPr lang="en-US" sz="2400" spc="-40" dirty="0">
                <a:solidFill>
                  <a:prstClr val="black"/>
                </a:solidFill>
                <a:latin typeface="Times New Roman"/>
                <a:cs typeface="Times New Roman"/>
              </a:rPr>
              <a:t>and </a:t>
            </a:r>
            <a:r>
              <a:rPr lang="en-US" sz="2400" spc="-45" dirty="0">
                <a:solidFill>
                  <a:prstClr val="black"/>
                </a:solidFill>
                <a:latin typeface="Times New Roman"/>
                <a:cs typeface="Times New Roman"/>
              </a:rPr>
              <a:t>steel </a:t>
            </a:r>
            <a:r>
              <a:rPr lang="en-US" sz="2400" spc="-50" dirty="0">
                <a:solidFill>
                  <a:prstClr val="black"/>
                </a:solidFill>
                <a:latin typeface="Times New Roman"/>
                <a:cs typeface="Times New Roman"/>
              </a:rPr>
              <a:t>unavoidably</a:t>
            </a:r>
            <a:r>
              <a:rPr lang="en-US" sz="2400" spc="-80" dirty="0">
                <a:solidFill>
                  <a:prstClr val="black"/>
                </a:solidFill>
                <a:latin typeface="Times New Roman"/>
                <a:cs typeface="Times New Roman"/>
              </a:rPr>
              <a:t> </a:t>
            </a:r>
            <a:r>
              <a:rPr lang="en-US" sz="2400" spc="-35" dirty="0">
                <a:solidFill>
                  <a:prstClr val="black"/>
                </a:solidFill>
                <a:latin typeface="Times New Roman"/>
                <a:cs typeface="Times New Roman"/>
              </a:rPr>
              <a:t>put</a:t>
            </a:r>
            <a:r>
              <a:rPr lang="en-US" sz="2400" spc="-30" dirty="0">
                <a:solidFill>
                  <a:prstClr val="black"/>
                </a:solidFill>
                <a:latin typeface="Times New Roman"/>
                <a:cs typeface="Times New Roman"/>
              </a:rPr>
              <a:t> </a:t>
            </a:r>
            <a:r>
              <a:rPr lang="en-US" sz="2400" spc="-10" dirty="0">
                <a:solidFill>
                  <a:prstClr val="black"/>
                </a:solidFill>
                <a:latin typeface="Times New Roman"/>
                <a:cs typeface="Times New Roman"/>
              </a:rPr>
              <a:t>a</a:t>
            </a:r>
            <a:r>
              <a:rPr lang="en-US" sz="2400" spc="-55" dirty="0">
                <a:solidFill>
                  <a:prstClr val="black"/>
                </a:solidFill>
                <a:latin typeface="Times New Roman"/>
                <a:cs typeface="Times New Roman"/>
              </a:rPr>
              <a:t> </a:t>
            </a:r>
            <a:r>
              <a:rPr lang="en-US" sz="2400" spc="-45" dirty="0">
                <a:solidFill>
                  <a:prstClr val="black"/>
                </a:solidFill>
                <a:latin typeface="Times New Roman"/>
                <a:cs typeface="Times New Roman"/>
              </a:rPr>
              <a:t>final</a:t>
            </a:r>
            <a:r>
              <a:rPr lang="en-US" sz="2400" spc="-30" dirty="0">
                <a:solidFill>
                  <a:prstClr val="black"/>
                </a:solidFill>
                <a:latin typeface="Times New Roman"/>
                <a:cs typeface="Times New Roman"/>
              </a:rPr>
              <a:t> </a:t>
            </a:r>
            <a:r>
              <a:rPr lang="en-US" sz="2400" spc="-45" dirty="0">
                <a:solidFill>
                  <a:prstClr val="black"/>
                </a:solidFill>
                <a:latin typeface="Times New Roman"/>
                <a:cs typeface="Times New Roman"/>
              </a:rPr>
              <a:t>stop</a:t>
            </a:r>
            <a:r>
              <a:rPr lang="en-US" sz="2400" spc="-50" dirty="0">
                <a:solidFill>
                  <a:prstClr val="black"/>
                </a:solidFill>
                <a:latin typeface="Times New Roman"/>
                <a:cs typeface="Times New Roman"/>
              </a:rPr>
              <a:t> </a:t>
            </a:r>
            <a:r>
              <a:rPr lang="en-US" sz="2400" spc="-30" dirty="0">
                <a:solidFill>
                  <a:prstClr val="black"/>
                </a:solidFill>
                <a:latin typeface="Times New Roman"/>
                <a:cs typeface="Times New Roman"/>
              </a:rPr>
              <a:t>to</a:t>
            </a:r>
            <a:r>
              <a:rPr lang="en-US" sz="2400" spc="-50" dirty="0">
                <a:solidFill>
                  <a:prstClr val="black"/>
                </a:solidFill>
                <a:latin typeface="Times New Roman"/>
                <a:cs typeface="Times New Roman"/>
              </a:rPr>
              <a:t> </a:t>
            </a:r>
            <a:r>
              <a:rPr lang="en-US" sz="2400" spc="-40" dirty="0">
                <a:solidFill>
                  <a:prstClr val="black"/>
                </a:solidFill>
                <a:latin typeface="Times New Roman"/>
                <a:cs typeface="Times New Roman"/>
              </a:rPr>
              <a:t>most</a:t>
            </a:r>
            <a:r>
              <a:rPr lang="en-US" sz="2400" spc="-45" dirty="0">
                <a:solidFill>
                  <a:prstClr val="black"/>
                </a:solidFill>
                <a:latin typeface="Times New Roman"/>
                <a:cs typeface="Times New Roman"/>
              </a:rPr>
              <a:t> </a:t>
            </a:r>
            <a:r>
              <a:rPr lang="en-US" sz="2400" spc="-30" dirty="0">
                <a:solidFill>
                  <a:prstClr val="black"/>
                </a:solidFill>
                <a:latin typeface="Times New Roman"/>
                <a:cs typeface="Times New Roman"/>
              </a:rPr>
              <a:t>of</a:t>
            </a:r>
            <a:r>
              <a:rPr lang="en-US" sz="2400" spc="-45" dirty="0">
                <a:solidFill>
                  <a:prstClr val="black"/>
                </a:solidFill>
                <a:latin typeface="Times New Roman"/>
                <a:cs typeface="Times New Roman"/>
              </a:rPr>
              <a:t> </a:t>
            </a:r>
            <a:r>
              <a:rPr lang="en-US" sz="2400" spc="-50" dirty="0">
                <a:solidFill>
                  <a:prstClr val="black"/>
                </a:solidFill>
                <a:latin typeface="Times New Roman"/>
                <a:cs typeface="Times New Roman"/>
              </a:rPr>
              <a:t>India‘s</a:t>
            </a:r>
            <a:r>
              <a:rPr lang="en-US" sz="2400" spc="-35" dirty="0">
                <a:solidFill>
                  <a:prstClr val="black"/>
                </a:solidFill>
                <a:latin typeface="Times New Roman"/>
                <a:cs typeface="Times New Roman"/>
              </a:rPr>
              <a:t> </a:t>
            </a:r>
            <a:r>
              <a:rPr lang="en-US" sz="2400" spc="-50" dirty="0">
                <a:solidFill>
                  <a:prstClr val="black"/>
                </a:solidFill>
                <a:latin typeface="Times New Roman"/>
                <a:cs typeface="Times New Roman"/>
              </a:rPr>
              <a:t>traditional </a:t>
            </a:r>
            <a:r>
              <a:rPr lang="en-US" sz="2400" spc="-10" dirty="0">
                <a:solidFill>
                  <a:prstClr val="black"/>
                </a:solidFill>
                <a:latin typeface="Times New Roman"/>
                <a:cs typeface="Times New Roman"/>
              </a:rPr>
              <a:t>production.</a:t>
            </a:r>
            <a:endParaRPr lang="en-US" sz="2400" dirty="0">
              <a:solidFill>
                <a:prstClr val="black"/>
              </a:solidFill>
              <a:latin typeface="Times New Roman"/>
              <a:cs typeface="Times New Roman"/>
            </a:endParaRPr>
          </a:p>
        </p:txBody>
      </p:sp>
    </p:spTree>
    <p:extLst>
      <p:ext uri="{BB962C8B-B14F-4D97-AF65-F5344CB8AC3E}">
        <p14:creationId xmlns:p14="http://schemas.microsoft.com/office/powerpoint/2010/main" val="197033456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788897" y="805600"/>
            <a:ext cx="8677835" cy="5793829"/>
          </a:xfrm>
          <a:prstGeom prst="rect">
            <a:avLst/>
          </a:prstGeom>
        </p:spPr>
        <p:txBody>
          <a:bodyPr wrap="square" lIns="91378" tIns="45688" rIns="91378" bIns="45688">
            <a:spAutoFit/>
          </a:bodyPr>
          <a:lstStyle/>
          <a:p>
            <a:pPr marL="380973" lvl="2" indent="-342900" algn="just">
              <a:buFont typeface="Arial" panose="020B0604020202020204" pitchFamily="34" charset="0"/>
              <a:buChar char="•"/>
              <a:tabLst>
                <a:tab pos="492414" algn="l"/>
              </a:tabLst>
            </a:pPr>
            <a:endParaRPr lang="en-US" sz="2400" b="1" spc="-45" dirty="0">
              <a:solidFill>
                <a:srgbClr val="002060"/>
              </a:solidFill>
              <a:latin typeface="Times New Roman"/>
              <a:cs typeface="Times New Roman"/>
            </a:endParaRPr>
          </a:p>
          <a:p>
            <a:pPr marL="38076" lvl="2" algn="ctr">
              <a:tabLst>
                <a:tab pos="492414" algn="l"/>
              </a:tabLst>
            </a:pPr>
            <a:r>
              <a:rPr lang="en-US" sz="2800" b="1" u="sng" spc="-45" dirty="0">
                <a:solidFill>
                  <a:srgbClr val="002060"/>
                </a:solidFill>
                <a:latin typeface="Times New Roman"/>
                <a:cs typeface="Times New Roman"/>
              </a:rPr>
              <a:t>Textual</a:t>
            </a:r>
            <a:r>
              <a:rPr lang="en-US" sz="2800" b="1" u="sng" spc="-25" dirty="0">
                <a:solidFill>
                  <a:srgbClr val="002060"/>
                </a:solidFill>
                <a:latin typeface="Times New Roman"/>
                <a:cs typeface="Times New Roman"/>
              </a:rPr>
              <a:t> </a:t>
            </a:r>
            <a:r>
              <a:rPr lang="en-US" sz="2800" b="1" u="sng" spc="-50" dirty="0">
                <a:solidFill>
                  <a:srgbClr val="002060"/>
                </a:solidFill>
                <a:latin typeface="Times New Roman"/>
                <a:cs typeface="Times New Roman"/>
              </a:rPr>
              <a:t>reference </a:t>
            </a:r>
            <a:r>
              <a:rPr lang="en-US" sz="2800" b="1" u="sng" spc="-30" dirty="0">
                <a:solidFill>
                  <a:srgbClr val="002060"/>
                </a:solidFill>
                <a:latin typeface="Times New Roman"/>
                <a:cs typeface="Times New Roman"/>
              </a:rPr>
              <a:t>on</a:t>
            </a:r>
            <a:r>
              <a:rPr lang="en-US" sz="2800" b="1" u="sng" spc="-20" dirty="0">
                <a:solidFill>
                  <a:srgbClr val="002060"/>
                </a:solidFill>
                <a:latin typeface="Times New Roman"/>
                <a:cs typeface="Times New Roman"/>
              </a:rPr>
              <a:t> </a:t>
            </a:r>
            <a:r>
              <a:rPr lang="en-US" sz="2800" b="1" u="sng" spc="-50" dirty="0">
                <a:solidFill>
                  <a:srgbClr val="002060"/>
                </a:solidFill>
                <a:latin typeface="Times New Roman"/>
                <a:cs typeface="Times New Roman"/>
              </a:rPr>
              <a:t>ancient</a:t>
            </a:r>
            <a:r>
              <a:rPr lang="en-US" sz="2800" b="1" u="sng" spc="-40" dirty="0">
                <a:solidFill>
                  <a:srgbClr val="002060"/>
                </a:solidFill>
                <a:latin typeface="Times New Roman"/>
                <a:cs typeface="Times New Roman"/>
              </a:rPr>
              <a:t> </a:t>
            </a:r>
            <a:r>
              <a:rPr lang="en-US" sz="2800" b="1" u="sng" spc="-45" dirty="0">
                <a:solidFill>
                  <a:srgbClr val="002060"/>
                </a:solidFill>
                <a:latin typeface="Times New Roman"/>
                <a:cs typeface="Times New Roman"/>
              </a:rPr>
              <a:t>Indian</a:t>
            </a:r>
            <a:r>
              <a:rPr lang="en-US" sz="2800" b="1" u="sng" spc="-35" dirty="0">
                <a:solidFill>
                  <a:srgbClr val="002060"/>
                </a:solidFill>
                <a:latin typeface="Times New Roman"/>
                <a:cs typeface="Times New Roman"/>
              </a:rPr>
              <a:t> </a:t>
            </a:r>
            <a:r>
              <a:rPr lang="en-US" sz="2800" b="1" u="sng" spc="-10" dirty="0" smtClean="0">
                <a:solidFill>
                  <a:srgbClr val="002060"/>
                </a:solidFill>
                <a:latin typeface="Times New Roman"/>
                <a:cs typeface="Times New Roman"/>
              </a:rPr>
              <a:t>Metallurgy</a:t>
            </a:r>
          </a:p>
          <a:p>
            <a:pPr marL="495276" lvl="2" indent="-457200" algn="just">
              <a:buFont typeface="Arial" panose="020B0604020202020204" pitchFamily="34" charset="0"/>
              <a:buChar char="•"/>
              <a:tabLst>
                <a:tab pos="492414" algn="l"/>
              </a:tabLst>
            </a:pPr>
            <a:endParaRPr lang="en-US" sz="2800" b="1" u="sng" spc="-10" dirty="0">
              <a:solidFill>
                <a:srgbClr val="C00000"/>
              </a:solidFill>
              <a:latin typeface="Times New Roman"/>
              <a:cs typeface="Times New Roman"/>
            </a:endParaRPr>
          </a:p>
          <a:p>
            <a:pPr marL="380973" marR="32997" indent="-342900" algn="just">
              <a:lnSpc>
                <a:spcPct val="150000"/>
              </a:lnSpc>
              <a:spcBef>
                <a:spcPts val="55"/>
              </a:spcBef>
              <a:buFont typeface="Arial" panose="020B0604020202020204" pitchFamily="34" charset="0"/>
              <a:buChar char="•"/>
            </a:pPr>
            <a:r>
              <a:rPr lang="en-US" sz="2400" dirty="0" smtClean="0">
                <a:latin typeface="Times New Roman"/>
                <a:cs typeface="Times New Roman"/>
              </a:rPr>
              <a:t>Many</a:t>
            </a:r>
            <a:r>
              <a:rPr lang="en-US" sz="2400" spc="-4" dirty="0" smtClean="0">
                <a:latin typeface="Times New Roman"/>
                <a:cs typeface="Times New Roman"/>
              </a:rPr>
              <a:t> </a:t>
            </a:r>
            <a:r>
              <a:rPr lang="en-US" sz="2400" dirty="0" smtClean="0">
                <a:latin typeface="Times New Roman"/>
                <a:cs typeface="Times New Roman"/>
              </a:rPr>
              <a:t>texts</a:t>
            </a:r>
            <a:r>
              <a:rPr lang="en-US" sz="2400" spc="30" dirty="0">
                <a:latin typeface="Times New Roman"/>
                <a:cs typeface="Times New Roman"/>
              </a:rPr>
              <a:t> </a:t>
            </a:r>
            <a:r>
              <a:rPr lang="en-US" sz="2400" dirty="0" smtClean="0">
                <a:latin typeface="Times New Roman"/>
                <a:cs typeface="Times New Roman"/>
              </a:rPr>
              <a:t>in </a:t>
            </a:r>
            <a:r>
              <a:rPr lang="en-US" sz="2400" spc="-25" dirty="0" smtClean="0">
                <a:latin typeface="Times New Roman"/>
                <a:cs typeface="Times New Roman"/>
              </a:rPr>
              <a:t>chemistry</a:t>
            </a:r>
            <a:r>
              <a:rPr lang="en-US" sz="2400" dirty="0" smtClean="0">
                <a:latin typeface="Times New Roman"/>
                <a:cs typeface="Times New Roman"/>
              </a:rPr>
              <a:t> refer</a:t>
            </a:r>
            <a:r>
              <a:rPr lang="en-US" sz="2400" spc="20" dirty="0">
                <a:latin typeface="Times New Roman"/>
                <a:cs typeface="Times New Roman"/>
              </a:rPr>
              <a:t> </a:t>
            </a:r>
            <a:r>
              <a:rPr lang="en-US" sz="2400" dirty="0" smtClean="0">
                <a:latin typeface="Times New Roman"/>
                <a:cs typeface="Times New Roman"/>
              </a:rPr>
              <a:t>to</a:t>
            </a:r>
            <a:r>
              <a:rPr lang="en-US" sz="2400" spc="25" dirty="0">
                <a:latin typeface="Times New Roman"/>
                <a:cs typeface="Times New Roman"/>
              </a:rPr>
              <a:t> </a:t>
            </a:r>
            <a:r>
              <a:rPr lang="en-US" sz="2400" dirty="0" smtClean="0">
                <a:latin typeface="Times New Roman"/>
                <a:cs typeface="Times New Roman"/>
              </a:rPr>
              <a:t>the</a:t>
            </a:r>
            <a:r>
              <a:rPr lang="en-US" sz="2400" spc="25" dirty="0">
                <a:latin typeface="Times New Roman"/>
                <a:cs typeface="Times New Roman"/>
              </a:rPr>
              <a:t> </a:t>
            </a:r>
            <a:r>
              <a:rPr lang="en-US" sz="2400" spc="-10" dirty="0">
                <a:latin typeface="Times New Roman"/>
                <a:cs typeface="Times New Roman"/>
              </a:rPr>
              <a:t>working</a:t>
            </a:r>
            <a:r>
              <a:rPr lang="en-US" sz="2400" spc="20" dirty="0">
                <a:latin typeface="Times New Roman"/>
                <a:cs typeface="Times New Roman"/>
              </a:rPr>
              <a:t> </a:t>
            </a:r>
            <a:r>
              <a:rPr lang="en-US" sz="2400" dirty="0" smtClean="0">
                <a:latin typeface="Times New Roman"/>
                <a:cs typeface="Times New Roman"/>
              </a:rPr>
              <a:t>of</a:t>
            </a:r>
            <a:r>
              <a:rPr lang="en-US" sz="2400" spc="20" dirty="0">
                <a:latin typeface="Times New Roman"/>
                <a:cs typeface="Times New Roman"/>
              </a:rPr>
              <a:t> </a:t>
            </a:r>
            <a:r>
              <a:rPr lang="en-US" sz="2400" spc="-10" dirty="0">
                <a:latin typeface="Times New Roman"/>
                <a:cs typeface="Times New Roman"/>
              </a:rPr>
              <a:t>metals,</a:t>
            </a:r>
            <a:r>
              <a:rPr lang="en-US" sz="2400" spc="25" dirty="0">
                <a:latin typeface="Times New Roman"/>
                <a:cs typeface="Times New Roman"/>
              </a:rPr>
              <a:t> </a:t>
            </a:r>
            <a:r>
              <a:rPr lang="en-US" sz="2400" spc="-30" dirty="0">
                <a:latin typeface="Times New Roman"/>
                <a:cs typeface="Times New Roman"/>
              </a:rPr>
              <a:t>especially</a:t>
            </a:r>
            <a:r>
              <a:rPr lang="en-US" sz="2400" dirty="0" smtClean="0">
                <a:latin typeface="Times New Roman"/>
                <a:cs typeface="Times New Roman"/>
              </a:rPr>
              <a:t> </a:t>
            </a:r>
            <a:r>
              <a:rPr lang="en-US" sz="2400" spc="-20" dirty="0">
                <a:latin typeface="Times New Roman"/>
                <a:cs typeface="Times New Roman"/>
              </a:rPr>
              <a:t>precious</a:t>
            </a:r>
            <a:r>
              <a:rPr lang="en-US" sz="2400" spc="30" dirty="0">
                <a:latin typeface="Times New Roman"/>
                <a:cs typeface="Times New Roman"/>
              </a:rPr>
              <a:t> </a:t>
            </a:r>
            <a:r>
              <a:rPr lang="en-US" sz="2400" dirty="0" smtClean="0">
                <a:latin typeface="Times New Roman"/>
                <a:cs typeface="Times New Roman"/>
              </a:rPr>
              <a:t>ones</a:t>
            </a:r>
            <a:r>
              <a:rPr lang="en-US" sz="2400" spc="25" dirty="0">
                <a:latin typeface="Times New Roman"/>
                <a:cs typeface="Times New Roman"/>
              </a:rPr>
              <a:t> </a:t>
            </a:r>
            <a:r>
              <a:rPr lang="en-US" sz="2400" dirty="0" smtClean="0">
                <a:solidFill>
                  <a:srgbClr val="00B050"/>
                </a:solidFill>
                <a:latin typeface="Times New Roman"/>
                <a:cs typeface="Times New Roman"/>
              </a:rPr>
              <a:t>(a</a:t>
            </a:r>
            <a:r>
              <a:rPr lang="en-US" sz="2400" spc="25" dirty="0">
                <a:solidFill>
                  <a:srgbClr val="00B050"/>
                </a:solidFill>
                <a:latin typeface="Times New Roman"/>
                <a:cs typeface="Times New Roman"/>
              </a:rPr>
              <a:t> </a:t>
            </a:r>
            <a:r>
              <a:rPr lang="en-US" sz="2400" spc="-25" dirty="0">
                <a:solidFill>
                  <a:srgbClr val="00B050"/>
                </a:solidFill>
                <a:latin typeface="Times New Roman"/>
                <a:cs typeface="Times New Roman"/>
              </a:rPr>
              <a:t>few </a:t>
            </a:r>
            <a:r>
              <a:rPr lang="en-US" sz="2400" spc="-50" dirty="0">
                <a:solidFill>
                  <a:srgbClr val="00B050"/>
                </a:solidFill>
                <a:latin typeface="Times New Roman"/>
                <a:cs typeface="Times New Roman"/>
              </a:rPr>
              <a:t>extracts</a:t>
            </a:r>
            <a:r>
              <a:rPr lang="en-US" sz="2400" spc="-10" dirty="0">
                <a:solidFill>
                  <a:srgbClr val="00B050"/>
                </a:solidFill>
                <a:latin typeface="Times New Roman"/>
                <a:cs typeface="Times New Roman"/>
              </a:rPr>
              <a:t> </a:t>
            </a:r>
            <a:r>
              <a:rPr lang="en-US" sz="2400" spc="-60" dirty="0">
                <a:solidFill>
                  <a:srgbClr val="00B050"/>
                </a:solidFill>
                <a:latin typeface="Times New Roman"/>
                <a:cs typeface="Times New Roman"/>
              </a:rPr>
              <a:t>are</a:t>
            </a:r>
            <a:r>
              <a:rPr lang="en-US" sz="2400" spc="-4" dirty="0">
                <a:solidFill>
                  <a:srgbClr val="00B050"/>
                </a:solidFill>
                <a:latin typeface="Times New Roman"/>
                <a:cs typeface="Times New Roman"/>
              </a:rPr>
              <a:t> </a:t>
            </a:r>
            <a:r>
              <a:rPr lang="en-US" sz="2400" spc="-50" dirty="0">
                <a:solidFill>
                  <a:srgbClr val="00B050"/>
                </a:solidFill>
                <a:latin typeface="Times New Roman"/>
                <a:cs typeface="Times New Roman"/>
              </a:rPr>
              <a:t>below</a:t>
            </a:r>
            <a:r>
              <a:rPr lang="en-US" sz="2400" spc="-50" dirty="0" smtClean="0">
                <a:solidFill>
                  <a:srgbClr val="00B050"/>
                </a:solidFill>
                <a:latin typeface="Times New Roman"/>
                <a:cs typeface="Times New Roman"/>
              </a:rPr>
              <a:t>).</a:t>
            </a:r>
          </a:p>
          <a:p>
            <a:pPr marL="380973" marR="32997" indent="-342900" algn="just">
              <a:lnSpc>
                <a:spcPct val="150000"/>
              </a:lnSpc>
              <a:spcBef>
                <a:spcPts val="55"/>
              </a:spcBef>
              <a:buFont typeface="Arial" panose="020B0604020202020204" pitchFamily="34" charset="0"/>
              <a:buChar char="•"/>
            </a:pPr>
            <a:r>
              <a:rPr lang="en-US" sz="2400" spc="-55" dirty="0" smtClean="0">
                <a:latin typeface="Times New Roman"/>
                <a:cs typeface="Times New Roman"/>
              </a:rPr>
              <a:t>But</a:t>
            </a:r>
            <a:r>
              <a:rPr lang="en-US" sz="2400" spc="-14" dirty="0" smtClean="0">
                <a:latin typeface="Times New Roman"/>
                <a:cs typeface="Times New Roman"/>
              </a:rPr>
              <a:t> </a:t>
            </a:r>
            <a:r>
              <a:rPr lang="en-US" sz="2400" spc="-60" dirty="0">
                <a:latin typeface="Times New Roman"/>
                <a:cs typeface="Times New Roman"/>
              </a:rPr>
              <a:t>it</a:t>
            </a:r>
            <a:r>
              <a:rPr lang="en-US" sz="2400" spc="-10" dirty="0">
                <a:latin typeface="Times New Roman"/>
                <a:cs typeface="Times New Roman"/>
              </a:rPr>
              <a:t> </a:t>
            </a:r>
            <a:r>
              <a:rPr lang="en-US" sz="2400" spc="-45" dirty="0">
                <a:latin typeface="Times New Roman"/>
                <a:cs typeface="Times New Roman"/>
              </a:rPr>
              <a:t>should</a:t>
            </a:r>
            <a:r>
              <a:rPr lang="en-US" sz="2400" dirty="0" smtClean="0">
                <a:latin typeface="Times New Roman"/>
                <a:cs typeface="Times New Roman"/>
              </a:rPr>
              <a:t> </a:t>
            </a:r>
            <a:r>
              <a:rPr lang="en-US" sz="2400" spc="-65" dirty="0">
                <a:latin typeface="Times New Roman"/>
                <a:cs typeface="Times New Roman"/>
              </a:rPr>
              <a:t>be</a:t>
            </a:r>
            <a:r>
              <a:rPr lang="en-US" sz="2400" spc="-10" dirty="0">
                <a:latin typeface="Times New Roman"/>
                <a:cs typeface="Times New Roman"/>
              </a:rPr>
              <a:t> </a:t>
            </a:r>
            <a:r>
              <a:rPr lang="en-US" sz="2400" spc="-55" dirty="0">
                <a:latin typeface="Times New Roman"/>
                <a:cs typeface="Times New Roman"/>
              </a:rPr>
              <a:t>kept</a:t>
            </a:r>
            <a:r>
              <a:rPr lang="en-US" sz="2400" spc="4" dirty="0">
                <a:latin typeface="Times New Roman"/>
                <a:cs typeface="Times New Roman"/>
              </a:rPr>
              <a:t> </a:t>
            </a:r>
            <a:r>
              <a:rPr lang="en-US" sz="2400" spc="-60" dirty="0">
                <a:latin typeface="Times New Roman"/>
                <a:cs typeface="Times New Roman"/>
              </a:rPr>
              <a:t>in</a:t>
            </a:r>
            <a:r>
              <a:rPr lang="en-US" sz="2400" dirty="0" smtClean="0">
                <a:latin typeface="Times New Roman"/>
                <a:cs typeface="Times New Roman"/>
              </a:rPr>
              <a:t> </a:t>
            </a:r>
            <a:r>
              <a:rPr lang="en-US" sz="2400" spc="-55" dirty="0">
                <a:latin typeface="Times New Roman"/>
                <a:cs typeface="Times New Roman"/>
              </a:rPr>
              <a:t>mind</a:t>
            </a:r>
            <a:r>
              <a:rPr lang="en-US" sz="2400" dirty="0" smtClean="0">
                <a:latin typeface="Times New Roman"/>
                <a:cs typeface="Times New Roman"/>
              </a:rPr>
              <a:t> </a:t>
            </a:r>
            <a:r>
              <a:rPr lang="en-US" sz="2400" spc="-60" dirty="0">
                <a:latin typeface="Times New Roman"/>
                <a:cs typeface="Times New Roman"/>
              </a:rPr>
              <a:t>that</a:t>
            </a:r>
            <a:r>
              <a:rPr lang="en-US" sz="2400" spc="-10" dirty="0">
                <a:latin typeface="Times New Roman"/>
                <a:cs typeface="Times New Roman"/>
              </a:rPr>
              <a:t> </a:t>
            </a:r>
            <a:r>
              <a:rPr lang="en-US" sz="2400" spc="-50" dirty="0">
                <a:latin typeface="Times New Roman"/>
                <a:cs typeface="Times New Roman"/>
              </a:rPr>
              <a:t>some</a:t>
            </a:r>
            <a:r>
              <a:rPr lang="en-US" sz="2400" spc="-20" dirty="0">
                <a:latin typeface="Times New Roman"/>
                <a:cs typeface="Times New Roman"/>
              </a:rPr>
              <a:t> </a:t>
            </a:r>
            <a:r>
              <a:rPr lang="en-US" sz="2400" spc="-50" dirty="0">
                <a:latin typeface="Times New Roman"/>
                <a:cs typeface="Times New Roman"/>
              </a:rPr>
              <a:t>of</a:t>
            </a:r>
            <a:r>
              <a:rPr lang="en-US" sz="2400" spc="-4" dirty="0">
                <a:latin typeface="Times New Roman"/>
                <a:cs typeface="Times New Roman"/>
              </a:rPr>
              <a:t> </a:t>
            </a:r>
            <a:r>
              <a:rPr lang="en-US" sz="2400" spc="-50" dirty="0">
                <a:latin typeface="Times New Roman"/>
                <a:cs typeface="Times New Roman"/>
              </a:rPr>
              <a:t>India‘s</a:t>
            </a:r>
            <a:r>
              <a:rPr lang="en-US" sz="2400" dirty="0" smtClean="0">
                <a:latin typeface="Times New Roman"/>
                <a:cs typeface="Times New Roman"/>
              </a:rPr>
              <a:t> </a:t>
            </a:r>
            <a:r>
              <a:rPr lang="en-US" sz="2400" spc="-50" dirty="0">
                <a:latin typeface="Times New Roman"/>
                <a:cs typeface="Times New Roman"/>
              </a:rPr>
              <a:t>greatest</a:t>
            </a:r>
            <a:r>
              <a:rPr lang="en-US" sz="2400" spc="-14" dirty="0">
                <a:latin typeface="Times New Roman"/>
                <a:cs typeface="Times New Roman"/>
              </a:rPr>
              <a:t> </a:t>
            </a:r>
            <a:r>
              <a:rPr lang="en-US" sz="2400" spc="-50" dirty="0">
                <a:latin typeface="Times New Roman"/>
                <a:cs typeface="Times New Roman"/>
              </a:rPr>
              <a:t>metallurgical</a:t>
            </a:r>
            <a:r>
              <a:rPr lang="en-US" sz="2400" spc="10" dirty="0">
                <a:latin typeface="Times New Roman"/>
                <a:cs typeface="Times New Roman"/>
              </a:rPr>
              <a:t> </a:t>
            </a:r>
            <a:r>
              <a:rPr lang="en-US" sz="2400" spc="-55" dirty="0">
                <a:latin typeface="Times New Roman"/>
                <a:cs typeface="Times New Roman"/>
              </a:rPr>
              <a:t>advances-</a:t>
            </a:r>
            <a:r>
              <a:rPr lang="en-US" sz="2400" spc="-50" dirty="0">
                <a:latin typeface="Times New Roman"/>
                <a:cs typeface="Times New Roman"/>
              </a:rPr>
              <a:t>such</a:t>
            </a:r>
            <a:r>
              <a:rPr lang="en-US" sz="2400" dirty="0" smtClean="0">
                <a:latin typeface="Times New Roman"/>
                <a:cs typeface="Times New Roman"/>
              </a:rPr>
              <a:t> </a:t>
            </a:r>
            <a:r>
              <a:rPr lang="en-US" sz="2400" spc="-25" dirty="0">
                <a:latin typeface="Times New Roman"/>
                <a:cs typeface="Times New Roman"/>
              </a:rPr>
              <a:t>as </a:t>
            </a:r>
            <a:r>
              <a:rPr lang="en-US" sz="2400" b="1" u="sng" spc="-20" dirty="0" err="1">
                <a:solidFill>
                  <a:srgbClr val="00B050"/>
                </a:solidFill>
                <a:latin typeface="Times New Roman"/>
                <a:cs typeface="Times New Roman"/>
              </a:rPr>
              <a:t>wootz</a:t>
            </a:r>
            <a:r>
              <a:rPr lang="en-US" sz="2400" b="1" u="sng" spc="-25" dirty="0">
                <a:solidFill>
                  <a:srgbClr val="00B050"/>
                </a:solidFill>
                <a:latin typeface="Times New Roman"/>
                <a:cs typeface="Times New Roman"/>
              </a:rPr>
              <a:t> steel </a:t>
            </a:r>
            <a:r>
              <a:rPr lang="en-US" sz="2400" b="1" u="sng" dirty="0" smtClean="0">
                <a:solidFill>
                  <a:srgbClr val="00B050"/>
                </a:solidFill>
                <a:latin typeface="Times New Roman"/>
                <a:cs typeface="Times New Roman"/>
              </a:rPr>
              <a:t>or</a:t>
            </a:r>
            <a:r>
              <a:rPr lang="en-US" sz="2400" b="1" u="sng" spc="-20" dirty="0">
                <a:solidFill>
                  <a:srgbClr val="00B050"/>
                </a:solidFill>
                <a:latin typeface="Times New Roman"/>
                <a:cs typeface="Times New Roman"/>
              </a:rPr>
              <a:t> </a:t>
            </a:r>
            <a:r>
              <a:rPr lang="en-US" sz="2400" b="1" u="sng" spc="-55" dirty="0">
                <a:solidFill>
                  <a:srgbClr val="00B050"/>
                </a:solidFill>
                <a:latin typeface="Times New Roman"/>
                <a:cs typeface="Times New Roman"/>
              </a:rPr>
              <a:t>rust-</a:t>
            </a:r>
            <a:r>
              <a:rPr lang="en-US" sz="2400" b="1" u="sng" spc="-40" dirty="0">
                <a:solidFill>
                  <a:srgbClr val="00B050"/>
                </a:solidFill>
                <a:latin typeface="Times New Roman"/>
                <a:cs typeface="Times New Roman"/>
              </a:rPr>
              <a:t>resistant</a:t>
            </a:r>
            <a:r>
              <a:rPr lang="en-US" sz="2400" b="1" u="sng" spc="-25" dirty="0">
                <a:solidFill>
                  <a:srgbClr val="00B050"/>
                </a:solidFill>
                <a:latin typeface="Times New Roman"/>
                <a:cs typeface="Times New Roman"/>
              </a:rPr>
              <a:t> </a:t>
            </a:r>
            <a:r>
              <a:rPr lang="en-US" sz="2400" b="1" u="sng" spc="-50" dirty="0">
                <a:solidFill>
                  <a:srgbClr val="00B050"/>
                </a:solidFill>
                <a:latin typeface="Times New Roman"/>
                <a:cs typeface="Times New Roman"/>
              </a:rPr>
              <a:t>iron-</a:t>
            </a:r>
            <a:r>
              <a:rPr lang="en-US" sz="2400" b="1" u="sng" dirty="0" smtClean="0">
                <a:solidFill>
                  <a:srgbClr val="00B050"/>
                </a:solidFill>
                <a:latin typeface="Times New Roman"/>
                <a:cs typeface="Times New Roman"/>
              </a:rPr>
              <a:t>do</a:t>
            </a:r>
            <a:r>
              <a:rPr lang="en-US" sz="2400" b="1" u="sng" spc="-30" dirty="0">
                <a:solidFill>
                  <a:srgbClr val="00B050"/>
                </a:solidFill>
                <a:latin typeface="Times New Roman"/>
                <a:cs typeface="Times New Roman"/>
              </a:rPr>
              <a:t> </a:t>
            </a:r>
            <a:r>
              <a:rPr lang="en-US" sz="2400" b="1" u="sng" dirty="0" smtClean="0">
                <a:solidFill>
                  <a:srgbClr val="00B050"/>
                </a:solidFill>
                <a:latin typeface="Times New Roman"/>
                <a:cs typeface="Times New Roman"/>
              </a:rPr>
              <a:t>not</a:t>
            </a:r>
            <a:r>
              <a:rPr lang="en-US" sz="2400" b="1" u="sng" spc="-20" dirty="0">
                <a:solidFill>
                  <a:srgbClr val="00B050"/>
                </a:solidFill>
                <a:latin typeface="Times New Roman"/>
                <a:cs typeface="Times New Roman"/>
              </a:rPr>
              <a:t> </a:t>
            </a:r>
            <a:r>
              <a:rPr lang="en-US" sz="2400" b="1" u="sng" spc="-30" dirty="0">
                <a:solidFill>
                  <a:srgbClr val="00B050"/>
                </a:solidFill>
                <a:latin typeface="Times New Roman"/>
                <a:cs typeface="Times New Roman"/>
              </a:rPr>
              <a:t>figure</a:t>
            </a:r>
            <a:r>
              <a:rPr lang="en-US" sz="2400" b="1" u="sng" spc="-20" dirty="0">
                <a:solidFill>
                  <a:srgbClr val="00B050"/>
                </a:solidFill>
                <a:latin typeface="Times New Roman"/>
                <a:cs typeface="Times New Roman"/>
              </a:rPr>
              <a:t> </a:t>
            </a:r>
            <a:r>
              <a:rPr lang="en-US" sz="2400" b="1" u="sng" dirty="0" smtClean="0">
                <a:solidFill>
                  <a:srgbClr val="00B050"/>
                </a:solidFill>
                <a:latin typeface="Times New Roman"/>
                <a:cs typeface="Times New Roman"/>
              </a:rPr>
              <a:t>in</a:t>
            </a:r>
            <a:r>
              <a:rPr lang="en-US" sz="2400" b="1" u="sng" spc="-20" dirty="0">
                <a:solidFill>
                  <a:srgbClr val="00B050"/>
                </a:solidFill>
                <a:latin typeface="Times New Roman"/>
                <a:cs typeface="Times New Roman"/>
              </a:rPr>
              <a:t> </a:t>
            </a:r>
            <a:r>
              <a:rPr lang="en-US" sz="2400" b="1" u="sng" dirty="0" smtClean="0">
                <a:solidFill>
                  <a:srgbClr val="00B050"/>
                </a:solidFill>
                <a:latin typeface="Times New Roman"/>
                <a:cs typeface="Times New Roman"/>
              </a:rPr>
              <a:t>any</a:t>
            </a:r>
            <a:r>
              <a:rPr lang="en-US" sz="2400" b="1" u="sng" spc="-35" dirty="0">
                <a:solidFill>
                  <a:srgbClr val="00B050"/>
                </a:solidFill>
                <a:latin typeface="Times New Roman"/>
                <a:cs typeface="Times New Roman"/>
              </a:rPr>
              <a:t> </a:t>
            </a:r>
            <a:r>
              <a:rPr lang="en-US" sz="2400" b="1" u="sng" spc="-20" dirty="0">
                <a:solidFill>
                  <a:srgbClr val="00B050"/>
                </a:solidFill>
                <a:latin typeface="Times New Roman"/>
                <a:cs typeface="Times New Roman"/>
              </a:rPr>
              <a:t>known</a:t>
            </a:r>
            <a:r>
              <a:rPr lang="en-US" sz="2400" b="1" u="sng" spc="-30" dirty="0">
                <a:solidFill>
                  <a:srgbClr val="00B050"/>
                </a:solidFill>
                <a:latin typeface="Times New Roman"/>
                <a:cs typeface="Times New Roman"/>
              </a:rPr>
              <a:t> </a:t>
            </a:r>
            <a:r>
              <a:rPr lang="en-US" sz="2400" b="1" u="sng" spc="-30" dirty="0" smtClean="0">
                <a:solidFill>
                  <a:srgbClr val="00B050"/>
                </a:solidFill>
                <a:latin typeface="Times New Roman"/>
                <a:cs typeface="Times New Roman"/>
              </a:rPr>
              <a:t>texts</a:t>
            </a:r>
            <a:r>
              <a:rPr lang="en-US" sz="2400" b="1" u="sng" spc="-30" dirty="0">
                <a:latin typeface="Times New Roman"/>
                <a:cs typeface="Times New Roman"/>
              </a:rPr>
              <a:t>.</a:t>
            </a:r>
            <a:endParaRPr lang="en-US" sz="2400" spc="-25" dirty="0" smtClean="0">
              <a:latin typeface="Times New Roman"/>
              <a:cs typeface="Times New Roman"/>
            </a:endParaRPr>
          </a:p>
          <a:p>
            <a:pPr marL="380973" marR="32997" indent="-342900" algn="just">
              <a:lnSpc>
                <a:spcPct val="150000"/>
              </a:lnSpc>
              <a:spcBef>
                <a:spcPts val="55"/>
              </a:spcBef>
              <a:buFont typeface="Arial" panose="020B0604020202020204" pitchFamily="34" charset="0"/>
              <a:buChar char="•"/>
            </a:pPr>
            <a:r>
              <a:rPr lang="en-US" sz="2400" spc="-20" dirty="0" smtClean="0">
                <a:latin typeface="Times New Roman"/>
                <a:cs typeface="Times New Roman"/>
              </a:rPr>
              <a:t>They</a:t>
            </a:r>
            <a:r>
              <a:rPr lang="en-US" sz="2400" spc="-50" dirty="0" smtClean="0">
                <a:latin typeface="Times New Roman"/>
                <a:cs typeface="Times New Roman"/>
              </a:rPr>
              <a:t> </a:t>
            </a:r>
            <a:r>
              <a:rPr lang="en-US" sz="2400" spc="-10" dirty="0">
                <a:latin typeface="Times New Roman"/>
                <a:cs typeface="Times New Roman"/>
              </a:rPr>
              <a:t>were</a:t>
            </a:r>
            <a:r>
              <a:rPr lang="en-US" sz="2400" spc="-20" dirty="0">
                <a:latin typeface="Times New Roman"/>
                <a:cs typeface="Times New Roman"/>
              </a:rPr>
              <a:t> </a:t>
            </a:r>
            <a:r>
              <a:rPr lang="en-US" sz="2400" dirty="0" smtClean="0">
                <a:latin typeface="Times New Roman"/>
                <a:cs typeface="Times New Roman"/>
              </a:rPr>
              <a:t>the</a:t>
            </a:r>
            <a:r>
              <a:rPr lang="en-US" sz="2400" spc="-20" dirty="0">
                <a:latin typeface="Times New Roman"/>
                <a:cs typeface="Times New Roman"/>
              </a:rPr>
              <a:t> </a:t>
            </a:r>
            <a:r>
              <a:rPr lang="en-US" sz="2400" spc="-10" dirty="0">
                <a:latin typeface="Times New Roman"/>
                <a:cs typeface="Times New Roman"/>
              </a:rPr>
              <a:t>work</a:t>
            </a:r>
            <a:r>
              <a:rPr lang="en-US" sz="2400" spc="-30" dirty="0">
                <a:latin typeface="Times New Roman"/>
                <a:cs typeface="Times New Roman"/>
              </a:rPr>
              <a:t> </a:t>
            </a:r>
            <a:r>
              <a:rPr lang="en-US" sz="2400" dirty="0" smtClean="0">
                <a:latin typeface="Times New Roman"/>
                <a:cs typeface="Times New Roman"/>
              </a:rPr>
              <a:t>of</a:t>
            </a:r>
            <a:r>
              <a:rPr lang="en-US" sz="2400" spc="-25" dirty="0">
                <a:latin typeface="Times New Roman"/>
                <a:cs typeface="Times New Roman"/>
              </a:rPr>
              <a:t> </a:t>
            </a:r>
            <a:r>
              <a:rPr lang="en-US" sz="2400" spc="-40" dirty="0">
                <a:latin typeface="Times New Roman"/>
                <a:cs typeface="Times New Roman"/>
              </a:rPr>
              <a:t>communities</a:t>
            </a:r>
            <a:r>
              <a:rPr lang="en-US" sz="2400" spc="-25" dirty="0">
                <a:latin typeface="Times New Roman"/>
                <a:cs typeface="Times New Roman"/>
              </a:rPr>
              <a:t> of </a:t>
            </a:r>
            <a:r>
              <a:rPr lang="en-US" sz="2400" spc="-35" dirty="0">
                <a:latin typeface="Times New Roman"/>
                <a:cs typeface="Times New Roman"/>
              </a:rPr>
              <a:t>craftsmen</a:t>
            </a:r>
            <a:r>
              <a:rPr lang="en-US" sz="2400" spc="-25" dirty="0">
                <a:latin typeface="Times New Roman"/>
                <a:cs typeface="Times New Roman"/>
              </a:rPr>
              <a:t> </a:t>
            </a:r>
            <a:r>
              <a:rPr lang="en-US" sz="2400" dirty="0" smtClean="0">
                <a:latin typeface="Times New Roman"/>
                <a:cs typeface="Times New Roman"/>
              </a:rPr>
              <a:t>who</a:t>
            </a:r>
            <a:r>
              <a:rPr lang="en-US" sz="2400" spc="-20" dirty="0">
                <a:latin typeface="Times New Roman"/>
                <a:cs typeface="Times New Roman"/>
              </a:rPr>
              <a:t> </a:t>
            </a:r>
            <a:r>
              <a:rPr lang="en-US" sz="2400" spc="-35" dirty="0">
                <a:latin typeface="Times New Roman"/>
                <a:cs typeface="Times New Roman"/>
              </a:rPr>
              <a:t>perfected</a:t>
            </a:r>
            <a:r>
              <a:rPr lang="en-US" sz="2400" spc="-20" dirty="0">
                <a:latin typeface="Times New Roman"/>
                <a:cs typeface="Times New Roman"/>
              </a:rPr>
              <a:t> </a:t>
            </a:r>
            <a:r>
              <a:rPr lang="en-US" sz="2400" spc="-10" dirty="0">
                <a:latin typeface="Times New Roman"/>
                <a:cs typeface="Times New Roman"/>
              </a:rPr>
              <a:t>such</a:t>
            </a:r>
            <a:r>
              <a:rPr lang="en-US" sz="2400" spc="-14" dirty="0">
                <a:latin typeface="Times New Roman"/>
                <a:cs typeface="Times New Roman"/>
              </a:rPr>
              <a:t> </a:t>
            </a:r>
            <a:r>
              <a:rPr lang="en-US" sz="2400" spc="-35" dirty="0">
                <a:latin typeface="Times New Roman"/>
                <a:cs typeface="Times New Roman"/>
              </a:rPr>
              <a:t>practices</a:t>
            </a:r>
            <a:r>
              <a:rPr lang="en-US" sz="2400" spc="-10" dirty="0">
                <a:latin typeface="Times New Roman"/>
                <a:cs typeface="Times New Roman"/>
              </a:rPr>
              <a:t> </a:t>
            </a:r>
            <a:r>
              <a:rPr lang="en-US" sz="2400" spc="-20" dirty="0">
                <a:latin typeface="Times New Roman"/>
                <a:cs typeface="Times New Roman"/>
              </a:rPr>
              <a:t>from </a:t>
            </a:r>
            <a:r>
              <a:rPr lang="en-US" sz="2400" spc="-40" dirty="0">
                <a:latin typeface="Times New Roman"/>
                <a:cs typeface="Times New Roman"/>
              </a:rPr>
              <a:t>generation</a:t>
            </a:r>
            <a:r>
              <a:rPr lang="en-US" sz="2400" spc="-20" dirty="0">
                <a:latin typeface="Times New Roman"/>
                <a:cs typeface="Times New Roman"/>
              </a:rPr>
              <a:t> </a:t>
            </a:r>
            <a:r>
              <a:rPr lang="en-US" sz="2400" dirty="0" smtClean="0">
                <a:latin typeface="Times New Roman"/>
                <a:cs typeface="Times New Roman"/>
              </a:rPr>
              <a:t>to</a:t>
            </a:r>
            <a:r>
              <a:rPr lang="en-US" sz="2400" spc="-14" dirty="0">
                <a:latin typeface="Times New Roman"/>
                <a:cs typeface="Times New Roman"/>
              </a:rPr>
              <a:t> </a:t>
            </a:r>
            <a:r>
              <a:rPr lang="en-US" sz="2400" spc="-40" dirty="0">
                <a:latin typeface="Times New Roman"/>
                <a:cs typeface="Times New Roman"/>
              </a:rPr>
              <a:t>generation,</a:t>
            </a:r>
            <a:r>
              <a:rPr lang="en-US" sz="2400" spc="-14" dirty="0">
                <a:latin typeface="Times New Roman"/>
                <a:cs typeface="Times New Roman"/>
              </a:rPr>
              <a:t> </a:t>
            </a:r>
            <a:r>
              <a:rPr lang="en-US" sz="2400" dirty="0" smtClean="0">
                <a:latin typeface="Times New Roman"/>
                <a:cs typeface="Times New Roman"/>
              </a:rPr>
              <a:t>but</a:t>
            </a:r>
            <a:r>
              <a:rPr lang="en-US" sz="2400" spc="-20" dirty="0">
                <a:latin typeface="Times New Roman"/>
                <a:cs typeface="Times New Roman"/>
              </a:rPr>
              <a:t> </a:t>
            </a:r>
            <a:r>
              <a:rPr lang="en-US" sz="2400" dirty="0" smtClean="0">
                <a:latin typeface="Times New Roman"/>
                <a:cs typeface="Times New Roman"/>
              </a:rPr>
              <a:t>did</a:t>
            </a:r>
            <a:r>
              <a:rPr lang="en-US" sz="2400" spc="-20" dirty="0">
                <a:latin typeface="Times New Roman"/>
                <a:cs typeface="Times New Roman"/>
              </a:rPr>
              <a:t> </a:t>
            </a:r>
            <a:r>
              <a:rPr lang="en-US" sz="2400" dirty="0" smtClean="0">
                <a:latin typeface="Times New Roman"/>
                <a:cs typeface="Times New Roman"/>
              </a:rPr>
              <a:t>not</a:t>
            </a:r>
            <a:r>
              <a:rPr lang="en-US" sz="2400" spc="-25" dirty="0">
                <a:latin typeface="Times New Roman"/>
                <a:cs typeface="Times New Roman"/>
              </a:rPr>
              <a:t> </a:t>
            </a:r>
            <a:r>
              <a:rPr lang="en-US" sz="2400" spc="-40" dirty="0">
                <a:latin typeface="Times New Roman"/>
                <a:cs typeface="Times New Roman"/>
              </a:rPr>
              <a:t>generally</a:t>
            </a:r>
            <a:r>
              <a:rPr lang="en-US" sz="2400" spc="-35" dirty="0">
                <a:latin typeface="Times New Roman"/>
                <a:cs typeface="Times New Roman"/>
              </a:rPr>
              <a:t> </a:t>
            </a:r>
            <a:r>
              <a:rPr lang="en-US" sz="2400" spc="-20" dirty="0">
                <a:latin typeface="Times New Roman"/>
                <a:cs typeface="Times New Roman"/>
              </a:rPr>
              <a:t>leave</a:t>
            </a:r>
            <a:r>
              <a:rPr lang="en-US" sz="2400" spc="-14" dirty="0">
                <a:latin typeface="Times New Roman"/>
                <a:cs typeface="Times New Roman"/>
              </a:rPr>
              <a:t> </a:t>
            </a:r>
            <a:r>
              <a:rPr lang="en-US" sz="2400" spc="-10" dirty="0">
                <a:latin typeface="Times New Roman"/>
                <a:cs typeface="Times New Roman"/>
              </a:rPr>
              <a:t>written </a:t>
            </a:r>
            <a:r>
              <a:rPr lang="en-US" sz="2400" spc="-50" dirty="0">
                <a:latin typeface="Times New Roman"/>
                <a:cs typeface="Times New Roman"/>
              </a:rPr>
              <a:t>testimonies</a:t>
            </a:r>
            <a:r>
              <a:rPr lang="en-US" sz="2400" spc="-4" dirty="0">
                <a:latin typeface="Times New Roman"/>
                <a:cs typeface="Times New Roman"/>
              </a:rPr>
              <a:t> </a:t>
            </a:r>
            <a:r>
              <a:rPr lang="en-US" sz="2400" spc="-10" dirty="0">
                <a:latin typeface="Times New Roman"/>
                <a:cs typeface="Times New Roman"/>
              </a:rPr>
              <a:t>behind</a:t>
            </a:r>
            <a:r>
              <a:rPr lang="en-US" sz="2400" spc="-10" dirty="0" smtClean="0">
                <a:latin typeface="Times New Roman"/>
                <a:cs typeface="Times New Roman"/>
              </a:rPr>
              <a:t>.</a:t>
            </a:r>
            <a:endParaRPr lang="en-US" sz="2400" dirty="0" smtClean="0">
              <a:latin typeface="Times New Roman"/>
              <a:cs typeface="Times New Roman"/>
            </a:endParaRPr>
          </a:p>
        </p:txBody>
      </p:sp>
    </p:spTree>
    <p:extLst>
      <p:ext uri="{BB962C8B-B14F-4D97-AF65-F5344CB8AC3E}">
        <p14:creationId xmlns:p14="http://schemas.microsoft.com/office/powerpoint/2010/main" val="300363073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788897" y="805600"/>
            <a:ext cx="8431303" cy="5498877"/>
          </a:xfrm>
          <a:prstGeom prst="rect">
            <a:avLst/>
          </a:prstGeom>
        </p:spPr>
        <p:txBody>
          <a:bodyPr wrap="square" lIns="91378" tIns="45688" rIns="91378" bIns="45688">
            <a:spAutoFit/>
          </a:bodyPr>
          <a:lstStyle/>
          <a:p>
            <a:pPr marL="491780" lvl="3" indent="-469571" algn="just">
              <a:lnSpc>
                <a:spcPct val="150000"/>
              </a:lnSpc>
              <a:buFont typeface="+mj-lt"/>
              <a:buAutoNum type="alphaUcPeriod"/>
              <a:tabLst>
                <a:tab pos="491780" algn="l"/>
              </a:tabLst>
            </a:pPr>
            <a:r>
              <a:rPr lang="en-US" sz="2400" b="1" spc="-50" dirty="0" smtClean="0">
                <a:solidFill>
                  <a:srgbClr val="00823B"/>
                </a:solidFill>
                <a:latin typeface="Times New Roman"/>
                <a:cs typeface="Times New Roman"/>
              </a:rPr>
              <a:t>Rig-</a:t>
            </a:r>
            <a:r>
              <a:rPr lang="en-US" sz="2400" b="1" spc="-10" dirty="0" smtClean="0">
                <a:solidFill>
                  <a:srgbClr val="00823B"/>
                </a:solidFill>
                <a:latin typeface="Times New Roman"/>
                <a:cs typeface="Times New Roman"/>
              </a:rPr>
              <a:t>Veda</a:t>
            </a:r>
            <a:r>
              <a:rPr lang="en-US" sz="2400" b="1" spc="-10" dirty="0">
                <a:solidFill>
                  <a:srgbClr val="00823B"/>
                </a:solidFill>
                <a:latin typeface="Times New Roman"/>
                <a:cs typeface="Times New Roman"/>
              </a:rPr>
              <a:t>:</a:t>
            </a:r>
            <a:endParaRPr lang="en-US" sz="2400" b="1" dirty="0" smtClean="0">
              <a:solidFill>
                <a:srgbClr val="00823B"/>
              </a:solidFill>
              <a:latin typeface="Times New Roman"/>
              <a:cs typeface="Times New Roman"/>
            </a:endParaRPr>
          </a:p>
          <a:p>
            <a:pPr marL="38073" marR="32997" indent="456244" algn="just">
              <a:lnSpc>
                <a:spcPct val="150000"/>
              </a:lnSpc>
              <a:spcBef>
                <a:spcPts val="55"/>
              </a:spcBef>
            </a:pPr>
            <a:r>
              <a:rPr lang="en-US" sz="2400" spc="-40" dirty="0">
                <a:latin typeface="Times New Roman"/>
                <a:cs typeface="Times New Roman"/>
              </a:rPr>
              <a:t>There</a:t>
            </a:r>
            <a:r>
              <a:rPr lang="en-US" sz="2400" spc="-65" dirty="0">
                <a:latin typeface="Times New Roman"/>
                <a:cs typeface="Times New Roman"/>
              </a:rPr>
              <a:t> </a:t>
            </a:r>
            <a:r>
              <a:rPr lang="en-US" sz="2400" spc="-35" dirty="0">
                <a:latin typeface="Times New Roman"/>
                <a:cs typeface="Times New Roman"/>
              </a:rPr>
              <a:t>are</a:t>
            </a:r>
            <a:r>
              <a:rPr lang="en-US" sz="2400" spc="-65" dirty="0">
                <a:latin typeface="Times New Roman"/>
                <a:cs typeface="Times New Roman"/>
              </a:rPr>
              <a:t> </a:t>
            </a:r>
            <a:r>
              <a:rPr lang="en-US" sz="2400" spc="-30" dirty="0">
                <a:latin typeface="Times New Roman"/>
                <a:cs typeface="Times New Roman"/>
              </a:rPr>
              <a:t>many</a:t>
            </a:r>
            <a:r>
              <a:rPr lang="en-US" sz="2400" spc="-100" dirty="0">
                <a:latin typeface="Times New Roman"/>
                <a:cs typeface="Times New Roman"/>
              </a:rPr>
              <a:t> </a:t>
            </a:r>
            <a:r>
              <a:rPr lang="en-US" sz="2400" spc="-35" dirty="0">
                <a:latin typeface="Times New Roman"/>
                <a:cs typeface="Times New Roman"/>
              </a:rPr>
              <a:t>more</a:t>
            </a:r>
            <a:r>
              <a:rPr lang="en-US" sz="2400" spc="-65" dirty="0">
                <a:latin typeface="Times New Roman"/>
                <a:cs typeface="Times New Roman"/>
              </a:rPr>
              <a:t> </a:t>
            </a:r>
            <a:r>
              <a:rPr lang="en-US" sz="2400" spc="-45" dirty="0">
                <a:latin typeface="Times New Roman"/>
                <a:cs typeface="Times New Roman"/>
              </a:rPr>
              <a:t>references</a:t>
            </a:r>
            <a:r>
              <a:rPr lang="en-US" sz="2400" spc="-60" dirty="0">
                <a:latin typeface="Times New Roman"/>
                <a:cs typeface="Times New Roman"/>
              </a:rPr>
              <a:t> </a:t>
            </a:r>
            <a:r>
              <a:rPr lang="en-US" sz="2400" spc="-25" dirty="0">
                <a:latin typeface="Times New Roman"/>
                <a:cs typeface="Times New Roman"/>
              </a:rPr>
              <a:t>in</a:t>
            </a:r>
            <a:r>
              <a:rPr lang="en-US" sz="2400" spc="-75" dirty="0">
                <a:latin typeface="Times New Roman"/>
                <a:cs typeface="Times New Roman"/>
              </a:rPr>
              <a:t> </a:t>
            </a:r>
            <a:r>
              <a:rPr lang="en-US" sz="2400" spc="-30" dirty="0">
                <a:latin typeface="Times New Roman"/>
                <a:cs typeface="Times New Roman"/>
              </a:rPr>
              <a:t>the</a:t>
            </a:r>
            <a:r>
              <a:rPr lang="en-US" sz="2400" spc="-65" dirty="0">
                <a:latin typeface="Times New Roman"/>
                <a:cs typeface="Times New Roman"/>
              </a:rPr>
              <a:t> </a:t>
            </a:r>
            <a:r>
              <a:rPr lang="en-US" sz="2400" spc="-40" dirty="0">
                <a:latin typeface="Times New Roman"/>
                <a:cs typeface="Times New Roman"/>
              </a:rPr>
              <a:t>Vedas</a:t>
            </a:r>
            <a:r>
              <a:rPr lang="en-US" sz="2400" spc="-60" dirty="0">
                <a:latin typeface="Times New Roman"/>
                <a:cs typeface="Times New Roman"/>
              </a:rPr>
              <a:t> </a:t>
            </a:r>
            <a:r>
              <a:rPr lang="en-US" sz="2400" spc="-30" dirty="0">
                <a:latin typeface="Times New Roman"/>
                <a:cs typeface="Times New Roman"/>
              </a:rPr>
              <a:t>to</a:t>
            </a:r>
            <a:r>
              <a:rPr lang="en-US" sz="2400" spc="-60" dirty="0">
                <a:latin typeface="Times New Roman"/>
                <a:cs typeface="Times New Roman"/>
              </a:rPr>
              <a:t> </a:t>
            </a:r>
            <a:r>
              <a:rPr lang="en-US" sz="2400" spc="-45" dirty="0">
                <a:latin typeface="Times New Roman"/>
                <a:cs typeface="Times New Roman"/>
              </a:rPr>
              <a:t>metal</a:t>
            </a:r>
            <a:r>
              <a:rPr lang="en-US" sz="2400" spc="-70" dirty="0">
                <a:latin typeface="Times New Roman"/>
                <a:cs typeface="Times New Roman"/>
              </a:rPr>
              <a:t> </a:t>
            </a:r>
            <a:r>
              <a:rPr lang="en-US" sz="2400" spc="-35" dirty="0">
                <a:latin typeface="Times New Roman"/>
                <a:cs typeface="Times New Roman"/>
              </a:rPr>
              <a:t>and</a:t>
            </a:r>
            <a:r>
              <a:rPr lang="en-US" sz="2400" spc="-60" dirty="0">
                <a:latin typeface="Times New Roman"/>
                <a:cs typeface="Times New Roman"/>
              </a:rPr>
              <a:t> </a:t>
            </a:r>
            <a:r>
              <a:rPr lang="en-US" sz="2400" spc="-50" dirty="0">
                <a:latin typeface="Times New Roman"/>
                <a:cs typeface="Times New Roman"/>
              </a:rPr>
              <a:t>metal-</a:t>
            </a:r>
            <a:r>
              <a:rPr lang="en-US" sz="2400" spc="-45" dirty="0">
                <a:latin typeface="Times New Roman"/>
                <a:cs typeface="Times New Roman"/>
              </a:rPr>
              <a:t>working,</a:t>
            </a:r>
            <a:r>
              <a:rPr lang="en-US" sz="2400" spc="-60" dirty="0">
                <a:latin typeface="Times New Roman"/>
                <a:cs typeface="Times New Roman"/>
              </a:rPr>
              <a:t> </a:t>
            </a:r>
            <a:r>
              <a:rPr lang="en-US" sz="2400" spc="-40" dirty="0">
                <a:latin typeface="Times New Roman"/>
                <a:cs typeface="Times New Roman"/>
              </a:rPr>
              <a:t>often</a:t>
            </a:r>
            <a:r>
              <a:rPr lang="en-US" sz="2400" spc="-75" dirty="0">
                <a:latin typeface="Times New Roman"/>
                <a:cs typeface="Times New Roman"/>
              </a:rPr>
              <a:t> </a:t>
            </a:r>
            <a:r>
              <a:rPr lang="en-US" sz="2400" spc="-35" dirty="0">
                <a:latin typeface="Times New Roman"/>
                <a:cs typeface="Times New Roman"/>
              </a:rPr>
              <a:t>used</a:t>
            </a:r>
            <a:r>
              <a:rPr lang="en-US" sz="2400" spc="-60" dirty="0">
                <a:latin typeface="Times New Roman"/>
                <a:cs typeface="Times New Roman"/>
              </a:rPr>
              <a:t> </a:t>
            </a:r>
            <a:r>
              <a:rPr lang="en-US" sz="2400" spc="-30" dirty="0">
                <a:latin typeface="Times New Roman"/>
                <a:cs typeface="Times New Roman"/>
              </a:rPr>
              <a:t>as</a:t>
            </a:r>
            <a:r>
              <a:rPr lang="en-US" sz="2400" spc="-60" dirty="0">
                <a:latin typeface="Times New Roman"/>
                <a:cs typeface="Times New Roman"/>
              </a:rPr>
              <a:t> </a:t>
            </a:r>
            <a:r>
              <a:rPr lang="en-US" sz="2400" spc="-10" dirty="0">
                <a:latin typeface="Times New Roman"/>
                <a:cs typeface="Times New Roman"/>
              </a:rPr>
              <a:t>a</a:t>
            </a:r>
            <a:r>
              <a:rPr lang="en-US" sz="2400" spc="-80" dirty="0">
                <a:latin typeface="Times New Roman"/>
                <a:cs typeface="Times New Roman"/>
              </a:rPr>
              <a:t> </a:t>
            </a:r>
            <a:r>
              <a:rPr lang="en-US" sz="2400" spc="-45" dirty="0">
                <a:solidFill>
                  <a:srgbClr val="C00000"/>
                </a:solidFill>
                <a:latin typeface="Times New Roman"/>
                <a:cs typeface="Times New Roman"/>
              </a:rPr>
              <a:t>metaphor</a:t>
            </a:r>
            <a:r>
              <a:rPr lang="en-US" sz="2400" spc="-45" dirty="0">
                <a:latin typeface="Times New Roman"/>
                <a:cs typeface="Times New Roman"/>
              </a:rPr>
              <a:t>.</a:t>
            </a:r>
            <a:r>
              <a:rPr lang="en-US" sz="2400" dirty="0" smtClean="0">
                <a:latin typeface="Times New Roman"/>
                <a:cs typeface="Times New Roman"/>
              </a:rPr>
              <a:t> </a:t>
            </a:r>
          </a:p>
          <a:p>
            <a:pPr marL="38073" marR="32997" indent="456244" algn="just">
              <a:lnSpc>
                <a:spcPct val="150000"/>
              </a:lnSpc>
              <a:spcBef>
                <a:spcPts val="55"/>
              </a:spcBef>
            </a:pPr>
            <a:r>
              <a:rPr lang="en-US" sz="2400" spc="-35" dirty="0" smtClean="0">
                <a:latin typeface="Times New Roman"/>
                <a:cs typeface="Times New Roman"/>
              </a:rPr>
              <a:t>The</a:t>
            </a:r>
            <a:r>
              <a:rPr lang="en-US" sz="2400" spc="135" dirty="0" smtClean="0">
                <a:latin typeface="Times New Roman"/>
                <a:cs typeface="Times New Roman"/>
              </a:rPr>
              <a:t> </a:t>
            </a:r>
            <a:r>
              <a:rPr lang="en-US" sz="2400" spc="-35" dirty="0">
                <a:latin typeface="Times New Roman"/>
                <a:cs typeface="Times New Roman"/>
              </a:rPr>
              <a:t>word</a:t>
            </a:r>
            <a:r>
              <a:rPr lang="en-US" sz="2400" spc="140" dirty="0">
                <a:latin typeface="Times New Roman"/>
                <a:cs typeface="Times New Roman"/>
              </a:rPr>
              <a:t> </a:t>
            </a:r>
            <a:r>
              <a:rPr lang="en-US" sz="2400" spc="-35" dirty="0">
                <a:latin typeface="Times New Roman"/>
                <a:cs typeface="Times New Roman"/>
              </a:rPr>
              <a:t>for</a:t>
            </a:r>
            <a:r>
              <a:rPr lang="en-US" sz="2400" spc="135" dirty="0">
                <a:latin typeface="Times New Roman"/>
                <a:cs typeface="Times New Roman"/>
              </a:rPr>
              <a:t> </a:t>
            </a:r>
            <a:r>
              <a:rPr lang="en-US" sz="2400" spc="-45" dirty="0">
                <a:latin typeface="Times New Roman"/>
                <a:cs typeface="Times New Roman"/>
              </a:rPr>
              <a:t>metal</a:t>
            </a:r>
            <a:r>
              <a:rPr lang="en-US" sz="2400" spc="145" dirty="0">
                <a:latin typeface="Times New Roman"/>
                <a:cs typeface="Times New Roman"/>
              </a:rPr>
              <a:t> </a:t>
            </a:r>
            <a:r>
              <a:rPr lang="en-US" sz="2400" spc="-35" dirty="0">
                <a:latin typeface="Times New Roman"/>
                <a:cs typeface="Times New Roman"/>
              </a:rPr>
              <a:t>was</a:t>
            </a:r>
            <a:r>
              <a:rPr lang="en-US" sz="2400" spc="140" dirty="0">
                <a:latin typeface="Times New Roman"/>
                <a:cs typeface="Times New Roman"/>
              </a:rPr>
              <a:t> </a:t>
            </a:r>
            <a:r>
              <a:rPr lang="en-US" sz="2400" b="1" i="1" spc="-35" dirty="0" err="1">
                <a:solidFill>
                  <a:srgbClr val="C00000"/>
                </a:solidFill>
                <a:latin typeface="Times New Roman"/>
                <a:cs typeface="Times New Roman"/>
              </a:rPr>
              <a:t>ayas</a:t>
            </a:r>
            <a:r>
              <a:rPr lang="en-US" sz="2400" spc="-35" dirty="0">
                <a:latin typeface="Times New Roman"/>
                <a:cs typeface="Times New Roman"/>
              </a:rPr>
              <a:t>,</a:t>
            </a:r>
            <a:r>
              <a:rPr lang="en-US" sz="2400" spc="140" dirty="0">
                <a:latin typeface="Times New Roman"/>
                <a:cs typeface="Times New Roman"/>
              </a:rPr>
              <a:t> </a:t>
            </a:r>
            <a:r>
              <a:rPr lang="en-US" sz="2400" spc="-40" dirty="0">
                <a:latin typeface="Times New Roman"/>
                <a:cs typeface="Times New Roman"/>
              </a:rPr>
              <a:t>which</a:t>
            </a:r>
            <a:r>
              <a:rPr lang="en-US" sz="2400" spc="140" dirty="0">
                <a:latin typeface="Times New Roman"/>
                <a:cs typeface="Times New Roman"/>
              </a:rPr>
              <a:t> </a:t>
            </a:r>
            <a:r>
              <a:rPr lang="en-US" sz="2400" spc="-25" dirty="0">
                <a:latin typeface="Times New Roman"/>
                <a:cs typeface="Times New Roman"/>
              </a:rPr>
              <a:t>in</a:t>
            </a:r>
            <a:r>
              <a:rPr lang="en-US" sz="2400" spc="130" dirty="0">
                <a:latin typeface="Times New Roman"/>
                <a:cs typeface="Times New Roman"/>
              </a:rPr>
              <a:t> </a:t>
            </a:r>
            <a:r>
              <a:rPr lang="en-US" sz="2400" spc="-30" dirty="0">
                <a:latin typeface="Times New Roman"/>
                <a:cs typeface="Times New Roman"/>
              </a:rPr>
              <a:t>the</a:t>
            </a:r>
            <a:r>
              <a:rPr lang="en-US" sz="2400" spc="125" dirty="0">
                <a:latin typeface="Times New Roman"/>
                <a:cs typeface="Times New Roman"/>
              </a:rPr>
              <a:t> </a:t>
            </a:r>
            <a:r>
              <a:rPr lang="en-US" sz="2400" spc="-45" dirty="0">
                <a:latin typeface="Times New Roman"/>
                <a:cs typeface="Times New Roman"/>
              </a:rPr>
              <a:t>Rig-</a:t>
            </a:r>
            <a:r>
              <a:rPr lang="en-US" sz="2400" spc="-40" dirty="0">
                <a:latin typeface="Times New Roman"/>
                <a:cs typeface="Times New Roman"/>
              </a:rPr>
              <a:t>Veda,</a:t>
            </a:r>
            <a:r>
              <a:rPr lang="en-US" sz="2400" spc="140" dirty="0">
                <a:latin typeface="Times New Roman"/>
                <a:cs typeface="Times New Roman"/>
              </a:rPr>
              <a:t> </a:t>
            </a:r>
            <a:r>
              <a:rPr lang="en-US" sz="2400" spc="-40" dirty="0">
                <a:latin typeface="Times New Roman"/>
                <a:cs typeface="Times New Roman"/>
              </a:rPr>
              <a:t>refers</a:t>
            </a:r>
            <a:r>
              <a:rPr lang="en-US" sz="2400" spc="140" dirty="0">
                <a:latin typeface="Times New Roman"/>
                <a:cs typeface="Times New Roman"/>
              </a:rPr>
              <a:t> </a:t>
            </a:r>
            <a:r>
              <a:rPr lang="en-US" sz="2400" spc="-30" dirty="0">
                <a:latin typeface="Times New Roman"/>
                <a:cs typeface="Times New Roman"/>
              </a:rPr>
              <a:t>to</a:t>
            </a:r>
            <a:r>
              <a:rPr lang="en-US" sz="2400" spc="140" dirty="0">
                <a:latin typeface="Times New Roman"/>
                <a:cs typeface="Times New Roman"/>
              </a:rPr>
              <a:t> </a:t>
            </a:r>
            <a:r>
              <a:rPr lang="en-US" sz="2400" spc="-40" dirty="0">
                <a:solidFill>
                  <a:srgbClr val="00823B"/>
                </a:solidFill>
                <a:latin typeface="Times New Roman"/>
                <a:cs typeface="Times New Roman"/>
              </a:rPr>
              <a:t>copper</a:t>
            </a:r>
            <a:r>
              <a:rPr lang="en-US" sz="2400" spc="135" dirty="0">
                <a:solidFill>
                  <a:srgbClr val="00823B"/>
                </a:solidFill>
                <a:latin typeface="Times New Roman"/>
                <a:cs typeface="Times New Roman"/>
              </a:rPr>
              <a:t> </a:t>
            </a:r>
            <a:r>
              <a:rPr lang="en-US" sz="2400" spc="-25" dirty="0">
                <a:solidFill>
                  <a:srgbClr val="00823B"/>
                </a:solidFill>
                <a:latin typeface="Times New Roman"/>
                <a:cs typeface="Times New Roman"/>
              </a:rPr>
              <a:t>or</a:t>
            </a:r>
            <a:r>
              <a:rPr lang="en-US" sz="2400" spc="135" dirty="0">
                <a:solidFill>
                  <a:srgbClr val="00823B"/>
                </a:solidFill>
                <a:latin typeface="Times New Roman"/>
                <a:cs typeface="Times New Roman"/>
              </a:rPr>
              <a:t> </a:t>
            </a:r>
            <a:r>
              <a:rPr lang="en-US" sz="2400" spc="-40" dirty="0">
                <a:solidFill>
                  <a:srgbClr val="00823B"/>
                </a:solidFill>
                <a:latin typeface="Times New Roman"/>
                <a:cs typeface="Times New Roman"/>
              </a:rPr>
              <a:t>bronze</a:t>
            </a:r>
            <a:r>
              <a:rPr lang="en-US" sz="2400" spc="-40" dirty="0">
                <a:latin typeface="Times New Roman"/>
                <a:cs typeface="Times New Roman"/>
              </a:rPr>
              <a:t>,</a:t>
            </a:r>
            <a:r>
              <a:rPr lang="en-US" sz="2400" spc="140" dirty="0">
                <a:latin typeface="Times New Roman"/>
                <a:cs typeface="Times New Roman"/>
              </a:rPr>
              <a:t> </a:t>
            </a:r>
            <a:r>
              <a:rPr lang="en-US" sz="2400" spc="-35" dirty="0">
                <a:solidFill>
                  <a:srgbClr val="7030A0"/>
                </a:solidFill>
                <a:latin typeface="Times New Roman"/>
                <a:cs typeface="Times New Roman"/>
              </a:rPr>
              <a:t>not</a:t>
            </a:r>
            <a:r>
              <a:rPr lang="en-US" sz="2400" spc="130" dirty="0">
                <a:solidFill>
                  <a:srgbClr val="7030A0"/>
                </a:solidFill>
                <a:latin typeface="Times New Roman"/>
                <a:cs typeface="Times New Roman"/>
              </a:rPr>
              <a:t> </a:t>
            </a:r>
            <a:r>
              <a:rPr lang="en-US" sz="2400" spc="-25" dirty="0">
                <a:solidFill>
                  <a:srgbClr val="7030A0"/>
                </a:solidFill>
                <a:latin typeface="Times New Roman"/>
                <a:cs typeface="Times New Roman"/>
              </a:rPr>
              <a:t>to</a:t>
            </a:r>
            <a:r>
              <a:rPr lang="en-US" sz="2400" spc="140" dirty="0">
                <a:solidFill>
                  <a:srgbClr val="7030A0"/>
                </a:solidFill>
                <a:latin typeface="Times New Roman"/>
                <a:cs typeface="Times New Roman"/>
              </a:rPr>
              <a:t> </a:t>
            </a:r>
            <a:r>
              <a:rPr lang="en-US" sz="2400" spc="-40" dirty="0">
                <a:solidFill>
                  <a:srgbClr val="7030A0"/>
                </a:solidFill>
                <a:latin typeface="Times New Roman"/>
                <a:cs typeface="Times New Roman"/>
              </a:rPr>
              <a:t>iron</a:t>
            </a:r>
            <a:r>
              <a:rPr lang="en-US" sz="2400" spc="-40" dirty="0">
                <a:latin typeface="Times New Roman"/>
                <a:cs typeface="Times New Roman"/>
              </a:rPr>
              <a:t>.</a:t>
            </a:r>
            <a:r>
              <a:rPr lang="en-US" sz="2400" spc="140" dirty="0">
                <a:latin typeface="Times New Roman"/>
                <a:cs typeface="Times New Roman"/>
              </a:rPr>
              <a:t> </a:t>
            </a:r>
            <a:endParaRPr lang="en-US" sz="2400" spc="140" dirty="0" smtClean="0">
              <a:latin typeface="Times New Roman"/>
              <a:cs typeface="Times New Roman"/>
            </a:endParaRPr>
          </a:p>
          <a:p>
            <a:pPr marL="38073" marR="32997" indent="456244" algn="just">
              <a:lnSpc>
                <a:spcPct val="150000"/>
              </a:lnSpc>
              <a:spcBef>
                <a:spcPts val="55"/>
              </a:spcBef>
            </a:pPr>
            <a:r>
              <a:rPr lang="en-US" sz="2400" spc="-35" dirty="0" smtClean="0">
                <a:latin typeface="Times New Roman"/>
                <a:cs typeface="Times New Roman"/>
              </a:rPr>
              <a:t>In</a:t>
            </a:r>
            <a:r>
              <a:rPr lang="en-US" sz="2400" spc="140" dirty="0" smtClean="0">
                <a:latin typeface="Times New Roman"/>
                <a:cs typeface="Times New Roman"/>
              </a:rPr>
              <a:t> </a:t>
            </a:r>
            <a:r>
              <a:rPr lang="en-US" sz="2400" spc="-40" dirty="0">
                <a:latin typeface="Times New Roman"/>
                <a:cs typeface="Times New Roman"/>
              </a:rPr>
              <a:t>later</a:t>
            </a:r>
            <a:r>
              <a:rPr lang="en-US" sz="2400" spc="-4" dirty="0">
                <a:latin typeface="Times New Roman"/>
                <a:cs typeface="Times New Roman"/>
              </a:rPr>
              <a:t> </a:t>
            </a:r>
            <a:r>
              <a:rPr lang="en-US" sz="2400" spc="-45" dirty="0">
                <a:latin typeface="Times New Roman"/>
                <a:cs typeface="Times New Roman"/>
              </a:rPr>
              <a:t>literature,</a:t>
            </a:r>
            <a:r>
              <a:rPr lang="en-US" sz="2400" spc="-60" dirty="0">
                <a:latin typeface="Times New Roman"/>
                <a:cs typeface="Times New Roman"/>
              </a:rPr>
              <a:t> </a:t>
            </a:r>
            <a:r>
              <a:rPr lang="en-US" sz="2400" spc="-40" dirty="0">
                <a:latin typeface="Times New Roman"/>
                <a:cs typeface="Times New Roman"/>
              </a:rPr>
              <a:t>terms</a:t>
            </a:r>
            <a:r>
              <a:rPr lang="en-US" sz="2400" spc="-60" dirty="0">
                <a:latin typeface="Times New Roman"/>
                <a:cs typeface="Times New Roman"/>
              </a:rPr>
              <a:t> </a:t>
            </a:r>
            <a:r>
              <a:rPr lang="en-US" sz="2400" spc="-40" dirty="0">
                <a:latin typeface="Times New Roman"/>
                <a:cs typeface="Times New Roman"/>
              </a:rPr>
              <a:t>like</a:t>
            </a:r>
            <a:r>
              <a:rPr lang="en-US" sz="2400" spc="-65" dirty="0">
                <a:latin typeface="Times New Roman"/>
                <a:cs typeface="Times New Roman"/>
              </a:rPr>
              <a:t> </a:t>
            </a:r>
            <a:r>
              <a:rPr lang="en-US" sz="2400" i="1" spc="-40" dirty="0" err="1">
                <a:solidFill>
                  <a:srgbClr val="C00000"/>
                </a:solidFill>
                <a:latin typeface="Times New Roman"/>
                <a:cs typeface="Times New Roman"/>
              </a:rPr>
              <a:t>krsnayas</a:t>
            </a:r>
            <a:r>
              <a:rPr lang="en-US" sz="2400" i="1" spc="-40" dirty="0">
                <a:solidFill>
                  <a:srgbClr val="C00000"/>
                </a:solidFill>
                <a:latin typeface="Times New Roman"/>
                <a:cs typeface="Times New Roman"/>
              </a:rPr>
              <a:t>,</a:t>
            </a:r>
            <a:r>
              <a:rPr lang="en-US" sz="2400" i="1" spc="-60" dirty="0">
                <a:solidFill>
                  <a:srgbClr val="C00000"/>
                </a:solidFill>
                <a:latin typeface="Times New Roman"/>
                <a:cs typeface="Times New Roman"/>
              </a:rPr>
              <a:t> </a:t>
            </a:r>
            <a:r>
              <a:rPr lang="en-US" sz="2400" i="1" spc="-45" dirty="0" err="1">
                <a:solidFill>
                  <a:srgbClr val="C00000"/>
                </a:solidFill>
                <a:latin typeface="Times New Roman"/>
                <a:cs typeface="Times New Roman"/>
              </a:rPr>
              <a:t>kalayasa</a:t>
            </a:r>
            <a:r>
              <a:rPr lang="en-US" sz="2400" i="1" spc="-60" dirty="0">
                <a:solidFill>
                  <a:srgbClr val="C00000"/>
                </a:solidFill>
                <a:latin typeface="Times New Roman"/>
                <a:cs typeface="Times New Roman"/>
              </a:rPr>
              <a:t> </a:t>
            </a:r>
            <a:r>
              <a:rPr lang="en-US" sz="2400" i="1" spc="-40" dirty="0">
                <a:solidFill>
                  <a:srgbClr val="C00000"/>
                </a:solidFill>
                <a:latin typeface="Times New Roman"/>
                <a:cs typeface="Times New Roman"/>
              </a:rPr>
              <a:t>o</a:t>
            </a:r>
            <a:r>
              <a:rPr lang="en-US" sz="2400" i="1" dirty="0" smtClean="0">
                <a:solidFill>
                  <a:srgbClr val="C00000"/>
                </a:solidFill>
                <a:latin typeface="Times New Roman"/>
                <a:cs typeface="Times New Roman"/>
              </a:rPr>
              <a:t>r</a:t>
            </a:r>
            <a:r>
              <a:rPr lang="en-US" sz="2400" i="1" spc="-60" dirty="0">
                <a:solidFill>
                  <a:srgbClr val="C00000"/>
                </a:solidFill>
                <a:latin typeface="Times New Roman"/>
                <a:cs typeface="Times New Roman"/>
              </a:rPr>
              <a:t> </a:t>
            </a:r>
            <a:r>
              <a:rPr lang="en-US" sz="2400" i="1" spc="-40" dirty="0" err="1">
                <a:solidFill>
                  <a:srgbClr val="C00000"/>
                </a:solidFill>
                <a:latin typeface="Times New Roman"/>
                <a:cs typeface="Times New Roman"/>
              </a:rPr>
              <a:t>syamayas</a:t>
            </a:r>
            <a:r>
              <a:rPr lang="en-US" sz="2400" spc="-40" dirty="0">
                <a:latin typeface="Times New Roman"/>
                <a:cs typeface="Times New Roman"/>
              </a:rPr>
              <a:t>,</a:t>
            </a:r>
            <a:r>
              <a:rPr lang="en-US" sz="2400" spc="-60" dirty="0">
                <a:latin typeface="Times New Roman"/>
                <a:cs typeface="Times New Roman"/>
              </a:rPr>
              <a:t> </a:t>
            </a:r>
            <a:r>
              <a:rPr lang="en-US" sz="2400" spc="-40" dirty="0">
                <a:latin typeface="Times New Roman"/>
                <a:cs typeface="Times New Roman"/>
              </a:rPr>
              <a:t>i.e.,</a:t>
            </a:r>
            <a:r>
              <a:rPr lang="en-US" sz="2400" spc="-60" dirty="0">
                <a:latin typeface="Times New Roman"/>
                <a:cs typeface="Times New Roman"/>
              </a:rPr>
              <a:t> </a:t>
            </a:r>
            <a:r>
              <a:rPr lang="en-US" sz="2400" b="1" u="sng" spc="-80" dirty="0" smtClean="0">
                <a:latin typeface="Times New Roman"/>
                <a:cs typeface="Times New Roman"/>
              </a:rPr>
              <a:t>‘dark</a:t>
            </a:r>
            <a:r>
              <a:rPr lang="en-US" sz="2400" b="1" u="sng" spc="-60" dirty="0" smtClean="0">
                <a:latin typeface="Times New Roman"/>
                <a:cs typeface="Times New Roman"/>
              </a:rPr>
              <a:t> </a:t>
            </a:r>
            <a:r>
              <a:rPr lang="en-US" sz="2400" b="1" u="sng" spc="-45" dirty="0" smtClean="0">
                <a:latin typeface="Times New Roman"/>
                <a:cs typeface="Times New Roman"/>
              </a:rPr>
              <a:t>metal’,</a:t>
            </a:r>
            <a:r>
              <a:rPr lang="en-US" sz="2400" b="1" u="sng" spc="-50" dirty="0" smtClean="0">
                <a:latin typeface="Times New Roman"/>
                <a:cs typeface="Times New Roman"/>
              </a:rPr>
              <a:t> </a:t>
            </a:r>
            <a:r>
              <a:rPr lang="en-US" sz="2400" spc="-45" dirty="0">
                <a:latin typeface="Times New Roman"/>
                <a:cs typeface="Times New Roman"/>
              </a:rPr>
              <a:t>came</a:t>
            </a:r>
            <a:r>
              <a:rPr lang="en-US" sz="2400" spc="-65" dirty="0">
                <a:latin typeface="Times New Roman"/>
                <a:cs typeface="Times New Roman"/>
              </a:rPr>
              <a:t> </a:t>
            </a:r>
            <a:r>
              <a:rPr lang="en-US" sz="2400" spc="-35" dirty="0">
                <a:latin typeface="Times New Roman"/>
                <a:cs typeface="Times New Roman"/>
              </a:rPr>
              <a:t>into</a:t>
            </a:r>
            <a:r>
              <a:rPr lang="en-US" sz="2400" spc="-75" dirty="0">
                <a:latin typeface="Times New Roman"/>
                <a:cs typeface="Times New Roman"/>
              </a:rPr>
              <a:t> </a:t>
            </a:r>
            <a:r>
              <a:rPr lang="en-US" sz="2400" spc="-35" dirty="0">
                <a:latin typeface="Times New Roman"/>
                <a:cs typeface="Times New Roman"/>
              </a:rPr>
              <a:t>use,</a:t>
            </a:r>
            <a:r>
              <a:rPr lang="en-US" sz="2400" spc="-60" dirty="0">
                <a:latin typeface="Times New Roman"/>
                <a:cs typeface="Times New Roman"/>
              </a:rPr>
              <a:t> </a:t>
            </a:r>
            <a:r>
              <a:rPr lang="en-US" sz="2400" spc="-40" dirty="0">
                <a:latin typeface="Times New Roman"/>
                <a:cs typeface="Times New Roman"/>
              </a:rPr>
              <a:t>which</a:t>
            </a:r>
            <a:r>
              <a:rPr lang="en-US" sz="2400" spc="-60" dirty="0">
                <a:latin typeface="Times New Roman"/>
                <a:cs typeface="Times New Roman"/>
              </a:rPr>
              <a:t> </a:t>
            </a:r>
            <a:r>
              <a:rPr lang="en-US" sz="2400" spc="-45" dirty="0">
                <a:latin typeface="Times New Roman"/>
                <a:cs typeface="Times New Roman"/>
              </a:rPr>
              <a:t>clearly</a:t>
            </a:r>
            <a:r>
              <a:rPr lang="en-US" sz="2400" spc="-85" dirty="0">
                <a:latin typeface="Times New Roman"/>
                <a:cs typeface="Times New Roman"/>
              </a:rPr>
              <a:t> </a:t>
            </a:r>
            <a:r>
              <a:rPr lang="en-US" sz="2400" spc="-45" dirty="0">
                <a:latin typeface="Times New Roman"/>
                <a:cs typeface="Times New Roman"/>
              </a:rPr>
              <a:t>referred</a:t>
            </a:r>
            <a:r>
              <a:rPr lang="en-US" sz="2400" dirty="0" smtClean="0">
                <a:latin typeface="Times New Roman"/>
                <a:cs typeface="Times New Roman"/>
              </a:rPr>
              <a:t> </a:t>
            </a:r>
            <a:r>
              <a:rPr lang="en-US" sz="2400" spc="-25" dirty="0">
                <a:latin typeface="Times New Roman"/>
                <a:cs typeface="Times New Roman"/>
              </a:rPr>
              <a:t>to</a:t>
            </a:r>
            <a:r>
              <a:rPr lang="en-US" sz="2400" spc="-60" dirty="0">
                <a:latin typeface="Times New Roman"/>
                <a:cs typeface="Times New Roman"/>
              </a:rPr>
              <a:t> </a:t>
            </a:r>
            <a:r>
              <a:rPr lang="en-US" sz="2400" spc="-40" dirty="0">
                <a:solidFill>
                  <a:srgbClr val="7030A0"/>
                </a:solidFill>
                <a:latin typeface="Times New Roman"/>
                <a:cs typeface="Times New Roman"/>
              </a:rPr>
              <a:t>iron;</a:t>
            </a:r>
            <a:r>
              <a:rPr lang="en-US" sz="2400" spc="-60" dirty="0">
                <a:solidFill>
                  <a:srgbClr val="7030A0"/>
                </a:solidFill>
                <a:latin typeface="Times New Roman"/>
                <a:cs typeface="Times New Roman"/>
              </a:rPr>
              <a:t> </a:t>
            </a:r>
            <a:r>
              <a:rPr lang="en-US" sz="2400" spc="-35" dirty="0" err="1">
                <a:solidFill>
                  <a:srgbClr val="7030A0"/>
                </a:solidFill>
                <a:latin typeface="Times New Roman"/>
                <a:cs typeface="Times New Roman"/>
              </a:rPr>
              <a:t>loha</a:t>
            </a:r>
            <a:r>
              <a:rPr lang="en-US" sz="2400" spc="-55" dirty="0">
                <a:solidFill>
                  <a:srgbClr val="7030A0"/>
                </a:solidFill>
                <a:latin typeface="Times New Roman"/>
                <a:cs typeface="Times New Roman"/>
              </a:rPr>
              <a:t> </a:t>
            </a:r>
            <a:r>
              <a:rPr lang="en-US" sz="2400" spc="-50" dirty="0">
                <a:solidFill>
                  <a:srgbClr val="7030A0"/>
                </a:solidFill>
                <a:latin typeface="Times New Roman"/>
                <a:cs typeface="Times New Roman"/>
              </a:rPr>
              <a:t>(literally, </a:t>
            </a:r>
            <a:r>
              <a:rPr lang="en-US" sz="2400" spc="-75" dirty="0" smtClean="0">
                <a:solidFill>
                  <a:srgbClr val="7030A0"/>
                </a:solidFill>
                <a:latin typeface="Times New Roman"/>
                <a:cs typeface="Times New Roman"/>
              </a:rPr>
              <a:t>‘red’)</a:t>
            </a:r>
            <a:r>
              <a:rPr lang="en-US" sz="2400" spc="-55" dirty="0" smtClean="0">
                <a:solidFill>
                  <a:srgbClr val="7030A0"/>
                </a:solidFill>
                <a:latin typeface="Times New Roman"/>
                <a:cs typeface="Times New Roman"/>
              </a:rPr>
              <a:t> </a:t>
            </a:r>
            <a:r>
              <a:rPr lang="en-US" sz="2400" spc="-25" dirty="0">
                <a:solidFill>
                  <a:srgbClr val="7030A0"/>
                </a:solidFill>
                <a:latin typeface="Times New Roman"/>
                <a:cs typeface="Times New Roman"/>
              </a:rPr>
              <a:t>or</a:t>
            </a:r>
            <a:r>
              <a:rPr lang="en-US" sz="2400" spc="-65" dirty="0">
                <a:solidFill>
                  <a:srgbClr val="7030A0"/>
                </a:solidFill>
                <a:latin typeface="Times New Roman"/>
                <a:cs typeface="Times New Roman"/>
              </a:rPr>
              <a:t> </a:t>
            </a:r>
            <a:r>
              <a:rPr lang="en-US" sz="2400" spc="-45" dirty="0" err="1">
                <a:solidFill>
                  <a:srgbClr val="7030A0"/>
                </a:solidFill>
                <a:latin typeface="Times New Roman"/>
                <a:cs typeface="Times New Roman"/>
              </a:rPr>
              <a:t>lohāyas</a:t>
            </a:r>
            <a:r>
              <a:rPr lang="en-US" sz="2400" spc="-50" dirty="0">
                <a:solidFill>
                  <a:srgbClr val="7030A0"/>
                </a:solidFill>
                <a:latin typeface="Times New Roman"/>
                <a:cs typeface="Times New Roman"/>
              </a:rPr>
              <a:t> </a:t>
            </a:r>
            <a:r>
              <a:rPr lang="en-US" sz="2400" spc="-50" dirty="0" smtClean="0">
                <a:solidFill>
                  <a:srgbClr val="7030A0"/>
                </a:solidFill>
                <a:latin typeface="Times New Roman"/>
                <a:cs typeface="Times New Roman"/>
              </a:rPr>
              <a:t>.</a:t>
            </a:r>
          </a:p>
          <a:p>
            <a:pPr marL="38073" marR="32997" indent="456244" algn="just">
              <a:lnSpc>
                <a:spcPct val="150000"/>
              </a:lnSpc>
              <a:spcBef>
                <a:spcPts val="55"/>
              </a:spcBef>
            </a:pPr>
            <a:endParaRPr lang="en-US" sz="2400" spc="-40" dirty="0" smtClean="0">
              <a:latin typeface="Times New Roman"/>
              <a:cs typeface="Times New Roman"/>
            </a:endParaRPr>
          </a:p>
          <a:p>
            <a:pPr marL="38073" marR="32361" indent="456244" algn="just">
              <a:spcBef>
                <a:spcPts val="14"/>
              </a:spcBef>
            </a:pPr>
            <a:r>
              <a:rPr lang="en-US" sz="2400" spc="-25" dirty="0" smtClean="0">
                <a:latin typeface="Times New Roman"/>
                <a:cs typeface="Times New Roman"/>
              </a:rPr>
              <a:t> </a:t>
            </a:r>
            <a:endParaRPr lang="en-US" sz="2400" dirty="0">
              <a:latin typeface="Times New Roman"/>
              <a:cs typeface="Times New Roman"/>
            </a:endParaRPr>
          </a:p>
        </p:txBody>
      </p:sp>
    </p:spTree>
    <p:extLst>
      <p:ext uri="{BB962C8B-B14F-4D97-AF65-F5344CB8AC3E}">
        <p14:creationId xmlns:p14="http://schemas.microsoft.com/office/powerpoint/2010/main" val="16389276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90600" y="1219200"/>
            <a:ext cx="8039324" cy="3898488"/>
          </a:xfrm>
          <a:prstGeom prst="rect">
            <a:avLst/>
          </a:prstGeom>
        </p:spPr>
        <p:txBody>
          <a:bodyPr vert="horz" wrap="square" lIns="0" tIns="20305" rIns="0" bIns="0" rtlCol="0">
            <a:spAutoFit/>
          </a:bodyPr>
          <a:lstStyle/>
          <a:p>
            <a:pPr marL="491780" lvl="3" indent="-469571" algn="just">
              <a:lnSpc>
                <a:spcPct val="150000"/>
              </a:lnSpc>
              <a:buFont typeface="+mj-lt"/>
              <a:buAutoNum type="alphaUcPeriod" startAt="2"/>
              <a:tabLst>
                <a:tab pos="491780" algn="l"/>
              </a:tabLst>
            </a:pPr>
            <a:r>
              <a:rPr lang="en-US" sz="2400" b="1" spc="-10" dirty="0" err="1">
                <a:solidFill>
                  <a:srgbClr val="00823B"/>
                </a:solidFill>
                <a:latin typeface="Times New Roman"/>
                <a:cs typeface="Times New Roman"/>
              </a:rPr>
              <a:t>Arthasastra</a:t>
            </a:r>
            <a:r>
              <a:rPr lang="en-US" sz="2400" b="1" spc="-10" dirty="0">
                <a:solidFill>
                  <a:srgbClr val="00823B"/>
                </a:solidFill>
                <a:latin typeface="Times New Roman"/>
                <a:cs typeface="Times New Roman"/>
              </a:rPr>
              <a:t>:</a:t>
            </a:r>
            <a:endParaRPr lang="en-US" sz="2400" dirty="0">
              <a:solidFill>
                <a:srgbClr val="00823B"/>
              </a:solidFill>
              <a:latin typeface="Times New Roman"/>
              <a:cs typeface="Times New Roman"/>
            </a:endParaRPr>
          </a:p>
          <a:p>
            <a:pPr marL="38073" marR="32361" lvl="0" indent="456244" algn="just">
              <a:lnSpc>
                <a:spcPct val="150000"/>
              </a:lnSpc>
              <a:spcBef>
                <a:spcPts val="14"/>
              </a:spcBef>
            </a:pPr>
            <a:r>
              <a:rPr lang="en-US" sz="2400" spc="-50" dirty="0" err="1">
                <a:solidFill>
                  <a:srgbClr val="C00000"/>
                </a:solidFill>
                <a:latin typeface="Times New Roman"/>
                <a:cs typeface="Times New Roman"/>
              </a:rPr>
              <a:t>Kautilya‘s</a:t>
            </a:r>
            <a:r>
              <a:rPr lang="en-US" sz="2400" spc="10" dirty="0">
                <a:solidFill>
                  <a:srgbClr val="C00000"/>
                </a:solidFill>
                <a:latin typeface="Times New Roman"/>
                <a:cs typeface="Times New Roman"/>
              </a:rPr>
              <a:t> </a:t>
            </a:r>
            <a:r>
              <a:rPr lang="en-US" sz="2400" spc="-45" dirty="0">
                <a:solidFill>
                  <a:srgbClr val="C00000"/>
                </a:solidFill>
                <a:latin typeface="Times New Roman"/>
                <a:cs typeface="Times New Roman"/>
              </a:rPr>
              <a:t>famous</a:t>
            </a:r>
            <a:r>
              <a:rPr lang="en-US" sz="2400" dirty="0">
                <a:solidFill>
                  <a:srgbClr val="C00000"/>
                </a:solidFill>
                <a:latin typeface="Times New Roman"/>
                <a:cs typeface="Times New Roman"/>
              </a:rPr>
              <a:t> </a:t>
            </a:r>
            <a:r>
              <a:rPr lang="en-US" sz="2400" spc="-55" dirty="0">
                <a:solidFill>
                  <a:prstClr val="black"/>
                </a:solidFill>
                <a:latin typeface="Times New Roman"/>
                <a:cs typeface="Times New Roman"/>
              </a:rPr>
              <a:t>treatise</a:t>
            </a:r>
            <a:r>
              <a:rPr lang="en-US" sz="2400" spc="-4" dirty="0">
                <a:solidFill>
                  <a:prstClr val="black"/>
                </a:solidFill>
                <a:latin typeface="Times New Roman"/>
                <a:cs typeface="Times New Roman"/>
              </a:rPr>
              <a:t> </a:t>
            </a:r>
            <a:r>
              <a:rPr lang="en-US" sz="2400" spc="-30" dirty="0">
                <a:solidFill>
                  <a:prstClr val="black"/>
                </a:solidFill>
                <a:latin typeface="Times New Roman"/>
                <a:cs typeface="Times New Roman"/>
              </a:rPr>
              <a:t>of</a:t>
            </a:r>
            <a:r>
              <a:rPr lang="en-US" sz="2400" spc="4" dirty="0">
                <a:solidFill>
                  <a:prstClr val="black"/>
                </a:solidFill>
                <a:latin typeface="Times New Roman"/>
                <a:cs typeface="Times New Roman"/>
              </a:rPr>
              <a:t> </a:t>
            </a:r>
            <a:r>
              <a:rPr lang="en-US" sz="2400" spc="-50" dirty="0">
                <a:solidFill>
                  <a:prstClr val="black"/>
                </a:solidFill>
                <a:latin typeface="Times New Roman"/>
                <a:cs typeface="Times New Roman"/>
              </a:rPr>
              <a:t>governance</a:t>
            </a:r>
            <a:r>
              <a:rPr lang="en-US" sz="2400" spc="-4" dirty="0">
                <a:solidFill>
                  <a:prstClr val="black"/>
                </a:solidFill>
                <a:latin typeface="Times New Roman"/>
                <a:cs typeface="Times New Roman"/>
              </a:rPr>
              <a:t> </a:t>
            </a:r>
            <a:r>
              <a:rPr lang="en-US" sz="2400" spc="-45" dirty="0">
                <a:solidFill>
                  <a:prstClr val="black"/>
                </a:solidFill>
                <a:latin typeface="Times New Roman"/>
                <a:cs typeface="Times New Roman"/>
              </a:rPr>
              <a:t>and</a:t>
            </a:r>
            <a:r>
              <a:rPr lang="en-US" sz="2400" dirty="0">
                <a:solidFill>
                  <a:prstClr val="black"/>
                </a:solidFill>
                <a:latin typeface="Times New Roman"/>
                <a:cs typeface="Times New Roman"/>
              </a:rPr>
              <a:t> </a:t>
            </a:r>
            <a:r>
              <a:rPr lang="en-US" sz="2400" spc="-50" dirty="0">
                <a:solidFill>
                  <a:prstClr val="black"/>
                </a:solidFill>
                <a:latin typeface="Times New Roman"/>
                <a:cs typeface="Times New Roman"/>
              </a:rPr>
              <a:t>administration,</a:t>
            </a:r>
            <a:r>
              <a:rPr lang="en-US" sz="2400" dirty="0">
                <a:solidFill>
                  <a:prstClr val="black"/>
                </a:solidFill>
                <a:latin typeface="Times New Roman"/>
                <a:cs typeface="Times New Roman"/>
              </a:rPr>
              <a:t> </a:t>
            </a:r>
            <a:r>
              <a:rPr lang="en-US" sz="2400" spc="-40" dirty="0">
                <a:solidFill>
                  <a:prstClr val="black"/>
                </a:solidFill>
                <a:latin typeface="Times New Roman"/>
                <a:cs typeface="Times New Roman"/>
              </a:rPr>
              <a:t>the</a:t>
            </a:r>
            <a:r>
              <a:rPr lang="en-US" sz="2400" spc="4" dirty="0">
                <a:solidFill>
                  <a:prstClr val="black"/>
                </a:solidFill>
                <a:latin typeface="Times New Roman"/>
                <a:cs typeface="Times New Roman"/>
              </a:rPr>
              <a:t> </a:t>
            </a:r>
            <a:r>
              <a:rPr lang="en-US" sz="2400" spc="-50" dirty="0" err="1">
                <a:solidFill>
                  <a:srgbClr val="C00000"/>
                </a:solidFill>
                <a:latin typeface="Times New Roman"/>
                <a:cs typeface="Times New Roman"/>
              </a:rPr>
              <a:t>Arthasastra</a:t>
            </a:r>
            <a:r>
              <a:rPr lang="en-US" sz="2400" spc="-50" dirty="0">
                <a:solidFill>
                  <a:srgbClr val="C00000"/>
                </a:solidFill>
                <a:latin typeface="Times New Roman"/>
                <a:cs typeface="Times New Roman"/>
              </a:rPr>
              <a:t>,</a:t>
            </a:r>
            <a:r>
              <a:rPr lang="en-US" sz="2400" spc="14" dirty="0">
                <a:solidFill>
                  <a:prstClr val="black"/>
                </a:solidFill>
                <a:latin typeface="Times New Roman"/>
                <a:cs typeface="Times New Roman"/>
              </a:rPr>
              <a:t> </a:t>
            </a:r>
            <a:r>
              <a:rPr lang="en-US" sz="2400" spc="-55" dirty="0">
                <a:solidFill>
                  <a:prstClr val="black"/>
                </a:solidFill>
                <a:latin typeface="Times New Roman"/>
                <a:cs typeface="Times New Roman"/>
              </a:rPr>
              <a:t>dates</a:t>
            </a:r>
            <a:r>
              <a:rPr lang="en-US" sz="2400" spc="14" dirty="0">
                <a:solidFill>
                  <a:prstClr val="black"/>
                </a:solidFill>
                <a:latin typeface="Times New Roman"/>
                <a:cs typeface="Times New Roman"/>
              </a:rPr>
              <a:t> </a:t>
            </a:r>
            <a:r>
              <a:rPr lang="en-US" sz="2400" spc="-50" dirty="0">
                <a:solidFill>
                  <a:prstClr val="black"/>
                </a:solidFill>
                <a:latin typeface="Times New Roman"/>
                <a:cs typeface="Times New Roman"/>
              </a:rPr>
              <a:t>back</a:t>
            </a:r>
            <a:r>
              <a:rPr lang="en-US" sz="2400" dirty="0">
                <a:solidFill>
                  <a:prstClr val="black"/>
                </a:solidFill>
                <a:latin typeface="Times New Roman"/>
                <a:cs typeface="Times New Roman"/>
              </a:rPr>
              <a:t> </a:t>
            </a:r>
            <a:r>
              <a:rPr lang="en-US" sz="2400" spc="-35" dirty="0">
                <a:solidFill>
                  <a:prstClr val="black"/>
                </a:solidFill>
                <a:latin typeface="Times New Roman"/>
                <a:cs typeface="Times New Roman"/>
              </a:rPr>
              <a:t>to</a:t>
            </a:r>
            <a:r>
              <a:rPr lang="en-US" sz="2400" spc="10" dirty="0">
                <a:solidFill>
                  <a:prstClr val="black"/>
                </a:solidFill>
                <a:latin typeface="Times New Roman"/>
                <a:cs typeface="Times New Roman"/>
              </a:rPr>
              <a:t> </a:t>
            </a:r>
            <a:r>
              <a:rPr lang="en-US" sz="2400" spc="-10" dirty="0" err="1">
                <a:solidFill>
                  <a:prstClr val="black"/>
                </a:solidFill>
                <a:latin typeface="Times New Roman"/>
                <a:cs typeface="Times New Roman"/>
              </a:rPr>
              <a:t>Mauryan</a:t>
            </a:r>
            <a:r>
              <a:rPr lang="en-US" sz="2400" spc="-10" dirty="0">
                <a:solidFill>
                  <a:prstClr val="black"/>
                </a:solidFill>
                <a:latin typeface="Times New Roman"/>
                <a:cs typeface="Times New Roman"/>
              </a:rPr>
              <a:t> </a:t>
            </a:r>
            <a:r>
              <a:rPr lang="en-US" sz="2400" spc="-50" dirty="0">
                <a:solidFill>
                  <a:prstClr val="black"/>
                </a:solidFill>
                <a:latin typeface="Times New Roman"/>
                <a:cs typeface="Times New Roman"/>
              </a:rPr>
              <a:t>times,</a:t>
            </a:r>
            <a:r>
              <a:rPr lang="en-US" sz="2400" spc="-25" dirty="0">
                <a:solidFill>
                  <a:prstClr val="black"/>
                </a:solidFill>
                <a:latin typeface="Times New Roman"/>
                <a:cs typeface="Times New Roman"/>
              </a:rPr>
              <a:t> </a:t>
            </a:r>
            <a:r>
              <a:rPr lang="en-US" sz="2400" dirty="0">
                <a:solidFill>
                  <a:prstClr val="black"/>
                </a:solidFill>
                <a:latin typeface="Times New Roman"/>
                <a:cs typeface="Times New Roman"/>
              </a:rPr>
              <a:t>a</a:t>
            </a:r>
            <a:r>
              <a:rPr lang="en-US" sz="2400" spc="-55" dirty="0">
                <a:solidFill>
                  <a:prstClr val="black"/>
                </a:solidFill>
                <a:latin typeface="Times New Roman"/>
                <a:cs typeface="Times New Roman"/>
              </a:rPr>
              <a:t> </a:t>
            </a:r>
            <a:r>
              <a:rPr lang="en-US" sz="2400" dirty="0">
                <a:solidFill>
                  <a:prstClr val="black"/>
                </a:solidFill>
                <a:latin typeface="Times New Roman"/>
                <a:cs typeface="Times New Roman"/>
              </a:rPr>
              <a:t>4</a:t>
            </a:r>
            <a:r>
              <a:rPr lang="en-US" sz="2400" baseline="38194" dirty="0">
                <a:solidFill>
                  <a:prstClr val="black"/>
                </a:solidFill>
                <a:latin typeface="Times New Roman"/>
                <a:cs typeface="Times New Roman"/>
              </a:rPr>
              <a:t>th</a:t>
            </a:r>
            <a:r>
              <a:rPr lang="en-US" sz="2400" spc="127" baseline="38194" dirty="0">
                <a:solidFill>
                  <a:prstClr val="black"/>
                </a:solidFill>
                <a:latin typeface="Times New Roman"/>
                <a:cs typeface="Times New Roman"/>
              </a:rPr>
              <a:t> </a:t>
            </a:r>
            <a:r>
              <a:rPr lang="en-US" sz="2400" spc="-45" dirty="0">
                <a:solidFill>
                  <a:prstClr val="black"/>
                </a:solidFill>
                <a:latin typeface="Times New Roman"/>
                <a:cs typeface="Times New Roman"/>
              </a:rPr>
              <a:t>centuries</a:t>
            </a:r>
            <a:r>
              <a:rPr lang="en-US" sz="2400" dirty="0">
                <a:solidFill>
                  <a:prstClr val="black"/>
                </a:solidFill>
                <a:latin typeface="Times New Roman"/>
                <a:cs typeface="Times New Roman"/>
              </a:rPr>
              <a:t> </a:t>
            </a:r>
            <a:r>
              <a:rPr lang="en-US" sz="2400" spc="-50" dirty="0">
                <a:solidFill>
                  <a:prstClr val="black"/>
                </a:solidFill>
                <a:latin typeface="Times New Roman"/>
                <a:cs typeface="Times New Roman"/>
              </a:rPr>
              <a:t>BCE.</a:t>
            </a:r>
            <a:r>
              <a:rPr lang="en-US" sz="2400" spc="-25" dirty="0">
                <a:solidFill>
                  <a:prstClr val="black"/>
                </a:solidFill>
                <a:latin typeface="Times New Roman"/>
                <a:cs typeface="Times New Roman"/>
              </a:rPr>
              <a:t> </a:t>
            </a:r>
          </a:p>
          <a:p>
            <a:pPr marL="38073" marR="32361" lvl="0" indent="456244" algn="just">
              <a:lnSpc>
                <a:spcPct val="150000"/>
              </a:lnSpc>
              <a:spcBef>
                <a:spcPts val="14"/>
              </a:spcBef>
            </a:pPr>
            <a:r>
              <a:rPr lang="en-US" sz="2400" dirty="0">
                <a:solidFill>
                  <a:prstClr val="black"/>
                </a:solidFill>
                <a:latin typeface="Times New Roman"/>
                <a:cs typeface="Times New Roman"/>
              </a:rPr>
              <a:t>A</a:t>
            </a:r>
            <a:r>
              <a:rPr lang="en-US" sz="2400" spc="-10" dirty="0">
                <a:solidFill>
                  <a:prstClr val="black"/>
                </a:solidFill>
                <a:latin typeface="Times New Roman"/>
                <a:cs typeface="Times New Roman"/>
              </a:rPr>
              <a:t> </a:t>
            </a:r>
            <a:r>
              <a:rPr lang="en-US" sz="2400" spc="-45" dirty="0">
                <a:solidFill>
                  <a:prstClr val="black"/>
                </a:solidFill>
                <a:latin typeface="Times New Roman"/>
                <a:cs typeface="Times New Roman"/>
              </a:rPr>
              <a:t>passage,</a:t>
            </a:r>
            <a:r>
              <a:rPr lang="en-US" sz="2400" spc="-10" dirty="0">
                <a:solidFill>
                  <a:prstClr val="black"/>
                </a:solidFill>
                <a:latin typeface="Times New Roman"/>
                <a:cs typeface="Times New Roman"/>
              </a:rPr>
              <a:t> </a:t>
            </a:r>
            <a:r>
              <a:rPr lang="en-US" sz="2400" spc="-45" dirty="0">
                <a:solidFill>
                  <a:prstClr val="black"/>
                </a:solidFill>
                <a:latin typeface="Times New Roman"/>
                <a:cs typeface="Times New Roman"/>
              </a:rPr>
              <a:t>from</a:t>
            </a:r>
            <a:r>
              <a:rPr lang="en-US" sz="2400" spc="-4" dirty="0">
                <a:solidFill>
                  <a:prstClr val="black"/>
                </a:solidFill>
                <a:latin typeface="Times New Roman"/>
                <a:cs typeface="Times New Roman"/>
              </a:rPr>
              <a:t> </a:t>
            </a:r>
            <a:r>
              <a:rPr lang="en-US" sz="2400" dirty="0">
                <a:solidFill>
                  <a:prstClr val="black"/>
                </a:solidFill>
                <a:latin typeface="Times New Roman"/>
                <a:cs typeface="Times New Roman"/>
              </a:rPr>
              <a:t>a</a:t>
            </a:r>
            <a:r>
              <a:rPr lang="en-US" sz="2400" spc="-25" dirty="0">
                <a:solidFill>
                  <a:prstClr val="black"/>
                </a:solidFill>
                <a:latin typeface="Times New Roman"/>
                <a:cs typeface="Times New Roman"/>
              </a:rPr>
              <a:t> </a:t>
            </a:r>
            <a:r>
              <a:rPr lang="en-US" sz="2400" spc="-45" dirty="0">
                <a:solidFill>
                  <a:prstClr val="black"/>
                </a:solidFill>
                <a:latin typeface="Times New Roman"/>
                <a:cs typeface="Times New Roman"/>
              </a:rPr>
              <a:t>long</a:t>
            </a:r>
            <a:r>
              <a:rPr lang="en-US" sz="2400" spc="-25" dirty="0">
                <a:solidFill>
                  <a:prstClr val="black"/>
                </a:solidFill>
                <a:latin typeface="Times New Roman"/>
                <a:cs typeface="Times New Roman"/>
              </a:rPr>
              <a:t> </a:t>
            </a:r>
            <a:r>
              <a:rPr lang="en-US" sz="2400" spc="-45" dirty="0">
                <a:solidFill>
                  <a:prstClr val="black"/>
                </a:solidFill>
                <a:latin typeface="Times New Roman"/>
                <a:cs typeface="Times New Roman"/>
              </a:rPr>
              <a:t>chapter</a:t>
            </a:r>
            <a:r>
              <a:rPr lang="en-US" sz="2400" spc="-25" dirty="0">
                <a:solidFill>
                  <a:prstClr val="black"/>
                </a:solidFill>
                <a:latin typeface="Times New Roman"/>
                <a:cs typeface="Times New Roman"/>
              </a:rPr>
              <a:t> </a:t>
            </a:r>
            <a:r>
              <a:rPr lang="en-US" sz="2400" spc="-20" dirty="0">
                <a:solidFill>
                  <a:prstClr val="black"/>
                </a:solidFill>
                <a:latin typeface="Times New Roman"/>
                <a:cs typeface="Times New Roman"/>
              </a:rPr>
              <a:t>on </a:t>
            </a:r>
            <a:r>
              <a:rPr lang="en-US" sz="2400" spc="-40" dirty="0">
                <a:solidFill>
                  <a:prstClr val="black"/>
                </a:solidFill>
                <a:latin typeface="Times New Roman"/>
                <a:cs typeface="Times New Roman"/>
              </a:rPr>
              <a:t>the</a:t>
            </a:r>
            <a:r>
              <a:rPr lang="en-US" sz="2400" spc="-25" dirty="0">
                <a:solidFill>
                  <a:prstClr val="black"/>
                </a:solidFill>
                <a:latin typeface="Times New Roman"/>
                <a:cs typeface="Times New Roman"/>
              </a:rPr>
              <a:t> </a:t>
            </a:r>
            <a:r>
              <a:rPr lang="en-US" sz="2400" spc="-75" dirty="0">
                <a:solidFill>
                  <a:srgbClr val="C00000"/>
                </a:solidFill>
                <a:latin typeface="Times New Roman"/>
                <a:cs typeface="Times New Roman"/>
              </a:rPr>
              <a:t>‘department</a:t>
            </a:r>
            <a:r>
              <a:rPr lang="en-US" sz="2400" dirty="0">
                <a:solidFill>
                  <a:srgbClr val="C00000"/>
                </a:solidFill>
                <a:latin typeface="Times New Roman"/>
                <a:cs typeface="Times New Roman"/>
              </a:rPr>
              <a:t> </a:t>
            </a:r>
            <a:r>
              <a:rPr lang="en-US" sz="2400" spc="-35" dirty="0">
                <a:solidFill>
                  <a:srgbClr val="C00000"/>
                </a:solidFill>
                <a:latin typeface="Times New Roman"/>
                <a:cs typeface="Times New Roman"/>
              </a:rPr>
              <a:t>of</a:t>
            </a:r>
            <a:r>
              <a:rPr lang="en-US" sz="2400" spc="-40" dirty="0">
                <a:solidFill>
                  <a:srgbClr val="C00000"/>
                </a:solidFill>
                <a:latin typeface="Times New Roman"/>
                <a:cs typeface="Times New Roman"/>
              </a:rPr>
              <a:t> </a:t>
            </a:r>
            <a:r>
              <a:rPr lang="en-US" sz="2400" spc="-50" dirty="0">
                <a:solidFill>
                  <a:srgbClr val="C00000"/>
                </a:solidFill>
                <a:latin typeface="Times New Roman"/>
                <a:cs typeface="Times New Roman"/>
              </a:rPr>
              <a:t>mines’,</a:t>
            </a:r>
            <a:r>
              <a:rPr lang="en-US" sz="2400" spc="-20" dirty="0">
                <a:solidFill>
                  <a:srgbClr val="C00000"/>
                </a:solidFill>
                <a:latin typeface="Times New Roman"/>
                <a:cs typeface="Times New Roman"/>
              </a:rPr>
              <a:t> </a:t>
            </a:r>
            <a:r>
              <a:rPr lang="en-US" sz="2400" spc="-45" dirty="0">
                <a:solidFill>
                  <a:prstClr val="black"/>
                </a:solidFill>
                <a:latin typeface="Times New Roman"/>
                <a:cs typeface="Times New Roman"/>
              </a:rPr>
              <a:t>reveals</a:t>
            </a:r>
            <a:r>
              <a:rPr lang="en-US" sz="2400" spc="-4" dirty="0">
                <a:solidFill>
                  <a:prstClr val="black"/>
                </a:solidFill>
                <a:latin typeface="Times New Roman"/>
                <a:cs typeface="Times New Roman"/>
              </a:rPr>
              <a:t> </a:t>
            </a:r>
            <a:r>
              <a:rPr lang="en-US" sz="2400" spc="-30" dirty="0">
                <a:solidFill>
                  <a:prstClr val="black"/>
                </a:solidFill>
                <a:latin typeface="Times New Roman"/>
                <a:cs typeface="Times New Roman"/>
              </a:rPr>
              <a:t>an</a:t>
            </a:r>
            <a:r>
              <a:rPr lang="en-US" sz="2400" spc="-20" dirty="0">
                <a:solidFill>
                  <a:prstClr val="black"/>
                </a:solidFill>
                <a:latin typeface="Times New Roman"/>
                <a:cs typeface="Times New Roman"/>
              </a:rPr>
              <a:t> </a:t>
            </a:r>
            <a:r>
              <a:rPr lang="en-US" sz="2400" spc="-10" dirty="0">
                <a:solidFill>
                  <a:prstClr val="black"/>
                </a:solidFill>
                <a:latin typeface="Times New Roman"/>
                <a:cs typeface="Times New Roman"/>
              </a:rPr>
              <a:t>intimate </a:t>
            </a:r>
            <a:r>
              <a:rPr lang="en-US" sz="2400" spc="-40" dirty="0">
                <a:solidFill>
                  <a:prstClr val="black"/>
                </a:solidFill>
                <a:latin typeface="Times New Roman"/>
                <a:cs typeface="Times New Roman"/>
              </a:rPr>
              <a:t>knowledge</a:t>
            </a:r>
            <a:r>
              <a:rPr lang="en-US" sz="2400" spc="-35" dirty="0">
                <a:solidFill>
                  <a:prstClr val="black"/>
                </a:solidFill>
                <a:latin typeface="Times New Roman"/>
                <a:cs typeface="Times New Roman"/>
              </a:rPr>
              <a:t> </a:t>
            </a:r>
            <a:r>
              <a:rPr lang="en-US" sz="2400" dirty="0">
                <a:solidFill>
                  <a:prstClr val="black"/>
                </a:solidFill>
                <a:latin typeface="Times New Roman"/>
                <a:cs typeface="Times New Roman"/>
              </a:rPr>
              <a:t>of</a:t>
            </a:r>
            <a:r>
              <a:rPr lang="en-US" sz="2400" spc="-60" dirty="0">
                <a:solidFill>
                  <a:prstClr val="black"/>
                </a:solidFill>
                <a:latin typeface="Times New Roman"/>
                <a:cs typeface="Times New Roman"/>
              </a:rPr>
              <a:t> </a:t>
            </a:r>
            <a:r>
              <a:rPr lang="en-US" sz="2400" spc="-20" dirty="0">
                <a:solidFill>
                  <a:prstClr val="black"/>
                </a:solidFill>
                <a:latin typeface="Times New Roman"/>
                <a:cs typeface="Times New Roman"/>
              </a:rPr>
              <a:t>the</a:t>
            </a:r>
            <a:r>
              <a:rPr lang="en-US" sz="2400" spc="-45" dirty="0">
                <a:solidFill>
                  <a:prstClr val="black"/>
                </a:solidFill>
                <a:latin typeface="Times New Roman"/>
                <a:cs typeface="Times New Roman"/>
              </a:rPr>
              <a:t> </a:t>
            </a:r>
            <a:r>
              <a:rPr lang="en-US" sz="2400" spc="-40" dirty="0">
                <a:solidFill>
                  <a:prstClr val="black"/>
                </a:solidFill>
                <a:latin typeface="Times New Roman"/>
                <a:cs typeface="Times New Roman"/>
              </a:rPr>
              <a:t>different</a:t>
            </a:r>
            <a:r>
              <a:rPr lang="en-US" sz="2400" spc="-35" dirty="0">
                <a:solidFill>
                  <a:prstClr val="black"/>
                </a:solidFill>
                <a:latin typeface="Times New Roman"/>
                <a:cs typeface="Times New Roman"/>
              </a:rPr>
              <a:t> </a:t>
            </a:r>
            <a:r>
              <a:rPr lang="en-US" sz="2400" spc="-30" dirty="0">
                <a:solidFill>
                  <a:prstClr val="black"/>
                </a:solidFill>
                <a:latin typeface="Times New Roman"/>
                <a:cs typeface="Times New Roman"/>
              </a:rPr>
              <a:t>types</a:t>
            </a:r>
            <a:r>
              <a:rPr lang="en-US" sz="2400" spc="-25" dirty="0">
                <a:solidFill>
                  <a:prstClr val="black"/>
                </a:solidFill>
                <a:latin typeface="Times New Roman"/>
                <a:cs typeface="Times New Roman"/>
              </a:rPr>
              <a:t> </a:t>
            </a:r>
            <a:r>
              <a:rPr lang="en-US" sz="2400" dirty="0">
                <a:solidFill>
                  <a:prstClr val="black"/>
                </a:solidFill>
                <a:latin typeface="Times New Roman"/>
                <a:cs typeface="Times New Roman"/>
              </a:rPr>
              <a:t>of</a:t>
            </a:r>
            <a:r>
              <a:rPr lang="en-US" sz="2400" spc="-40" dirty="0">
                <a:solidFill>
                  <a:prstClr val="black"/>
                </a:solidFill>
                <a:latin typeface="Times New Roman"/>
                <a:cs typeface="Times New Roman"/>
              </a:rPr>
              <a:t> </a:t>
            </a:r>
            <a:r>
              <a:rPr lang="en-US" sz="2400" spc="-35" dirty="0">
                <a:solidFill>
                  <a:prstClr val="black"/>
                </a:solidFill>
                <a:latin typeface="Times New Roman"/>
                <a:cs typeface="Times New Roman"/>
              </a:rPr>
              <a:t>metal </a:t>
            </a:r>
            <a:r>
              <a:rPr lang="en-US" sz="2400" spc="-20" dirty="0">
                <a:solidFill>
                  <a:prstClr val="black"/>
                </a:solidFill>
                <a:latin typeface="Times New Roman"/>
                <a:cs typeface="Times New Roman"/>
              </a:rPr>
              <a:t>ores</a:t>
            </a:r>
            <a:r>
              <a:rPr lang="en-US" sz="2400" spc="-30" dirty="0">
                <a:solidFill>
                  <a:prstClr val="black"/>
                </a:solidFill>
                <a:latin typeface="Times New Roman"/>
                <a:cs typeface="Times New Roman"/>
              </a:rPr>
              <a:t> </a:t>
            </a:r>
            <a:r>
              <a:rPr lang="en-US" sz="2400" spc="-20" dirty="0">
                <a:solidFill>
                  <a:prstClr val="black"/>
                </a:solidFill>
                <a:latin typeface="Times New Roman"/>
                <a:cs typeface="Times New Roman"/>
              </a:rPr>
              <a:t>and</a:t>
            </a:r>
            <a:r>
              <a:rPr lang="en-US" sz="2400" spc="-50" dirty="0">
                <a:solidFill>
                  <a:prstClr val="black"/>
                </a:solidFill>
                <a:latin typeface="Times New Roman"/>
                <a:cs typeface="Times New Roman"/>
              </a:rPr>
              <a:t> </a:t>
            </a:r>
            <a:r>
              <a:rPr lang="en-US" sz="2400" spc="-10" dirty="0">
                <a:solidFill>
                  <a:prstClr val="black"/>
                </a:solidFill>
                <a:latin typeface="Times New Roman"/>
                <a:cs typeface="Times New Roman"/>
              </a:rPr>
              <a:t>the</a:t>
            </a:r>
            <a:r>
              <a:rPr lang="en-US" sz="2400" spc="-30" dirty="0">
                <a:solidFill>
                  <a:prstClr val="black"/>
                </a:solidFill>
                <a:latin typeface="Times New Roman"/>
                <a:cs typeface="Times New Roman"/>
              </a:rPr>
              <a:t> </a:t>
            </a:r>
            <a:r>
              <a:rPr lang="en-US" sz="2400" spc="-25" dirty="0">
                <a:solidFill>
                  <a:prstClr val="black"/>
                </a:solidFill>
                <a:latin typeface="Times New Roman"/>
                <a:cs typeface="Times New Roman"/>
              </a:rPr>
              <a:t>ways </a:t>
            </a:r>
            <a:r>
              <a:rPr lang="en-US" sz="2400" dirty="0">
                <a:solidFill>
                  <a:prstClr val="black"/>
                </a:solidFill>
                <a:latin typeface="Times New Roman"/>
                <a:cs typeface="Times New Roman"/>
              </a:rPr>
              <a:t>to</a:t>
            </a:r>
            <a:r>
              <a:rPr lang="en-US" sz="2400" spc="-40" dirty="0">
                <a:solidFill>
                  <a:prstClr val="black"/>
                </a:solidFill>
                <a:latin typeface="Times New Roman"/>
                <a:cs typeface="Times New Roman"/>
              </a:rPr>
              <a:t> </a:t>
            </a:r>
            <a:r>
              <a:rPr lang="en-US" sz="2400" spc="-25" dirty="0">
                <a:solidFill>
                  <a:prstClr val="black"/>
                </a:solidFill>
                <a:latin typeface="Times New Roman"/>
                <a:cs typeface="Times New Roman"/>
              </a:rPr>
              <a:t>test </a:t>
            </a:r>
            <a:r>
              <a:rPr lang="en-US" sz="2400" spc="-20" dirty="0">
                <a:solidFill>
                  <a:prstClr val="black"/>
                </a:solidFill>
                <a:latin typeface="Times New Roman"/>
                <a:cs typeface="Times New Roman"/>
              </a:rPr>
              <a:t>and</a:t>
            </a:r>
            <a:r>
              <a:rPr lang="en-US" sz="2400" spc="-40" dirty="0">
                <a:solidFill>
                  <a:prstClr val="black"/>
                </a:solidFill>
                <a:latin typeface="Times New Roman"/>
                <a:cs typeface="Times New Roman"/>
              </a:rPr>
              <a:t> </a:t>
            </a:r>
            <a:r>
              <a:rPr lang="en-US" sz="2400" spc="-35" dirty="0">
                <a:solidFill>
                  <a:prstClr val="black"/>
                </a:solidFill>
                <a:latin typeface="Times New Roman"/>
                <a:cs typeface="Times New Roman"/>
              </a:rPr>
              <a:t>purify</a:t>
            </a:r>
            <a:r>
              <a:rPr lang="en-US" sz="2400" spc="-40" dirty="0">
                <a:solidFill>
                  <a:prstClr val="black"/>
                </a:solidFill>
                <a:latin typeface="Times New Roman"/>
                <a:cs typeface="Times New Roman"/>
              </a:rPr>
              <a:t> different</a:t>
            </a:r>
            <a:r>
              <a:rPr lang="en-US" sz="2400" spc="-35" dirty="0">
                <a:solidFill>
                  <a:prstClr val="black"/>
                </a:solidFill>
                <a:latin typeface="Times New Roman"/>
                <a:cs typeface="Times New Roman"/>
              </a:rPr>
              <a:t> </a:t>
            </a:r>
            <a:r>
              <a:rPr lang="en-US" sz="2400" spc="-40" dirty="0">
                <a:solidFill>
                  <a:prstClr val="black"/>
                </a:solidFill>
                <a:latin typeface="Times New Roman"/>
                <a:cs typeface="Times New Roman"/>
              </a:rPr>
              <a:t>metals,</a:t>
            </a:r>
            <a:r>
              <a:rPr lang="en-US" sz="2400" spc="-35" dirty="0">
                <a:solidFill>
                  <a:prstClr val="black"/>
                </a:solidFill>
                <a:latin typeface="Times New Roman"/>
                <a:cs typeface="Times New Roman"/>
              </a:rPr>
              <a:t> </a:t>
            </a:r>
            <a:r>
              <a:rPr lang="en-US" sz="2400" dirty="0">
                <a:solidFill>
                  <a:prstClr val="black"/>
                </a:solidFill>
                <a:latin typeface="Times New Roman"/>
                <a:cs typeface="Times New Roman"/>
              </a:rPr>
              <a:t>or</a:t>
            </a:r>
            <a:r>
              <a:rPr lang="en-US" sz="2400" spc="-35" dirty="0">
                <a:solidFill>
                  <a:prstClr val="black"/>
                </a:solidFill>
                <a:latin typeface="Times New Roman"/>
                <a:cs typeface="Times New Roman"/>
              </a:rPr>
              <a:t> </a:t>
            </a:r>
            <a:r>
              <a:rPr lang="en-US" sz="2400" dirty="0">
                <a:solidFill>
                  <a:prstClr val="black"/>
                </a:solidFill>
                <a:latin typeface="Times New Roman"/>
                <a:cs typeface="Times New Roman"/>
              </a:rPr>
              <a:t>to</a:t>
            </a:r>
            <a:r>
              <a:rPr lang="en-US" sz="2400" spc="-40" dirty="0">
                <a:solidFill>
                  <a:prstClr val="black"/>
                </a:solidFill>
                <a:latin typeface="Times New Roman"/>
                <a:cs typeface="Times New Roman"/>
              </a:rPr>
              <a:t> </a:t>
            </a:r>
            <a:r>
              <a:rPr lang="en-US" sz="2400" spc="-10" dirty="0">
                <a:solidFill>
                  <a:prstClr val="black"/>
                </a:solidFill>
                <a:latin typeface="Times New Roman"/>
                <a:cs typeface="Times New Roman"/>
              </a:rPr>
              <a:t>create </a:t>
            </a:r>
            <a:r>
              <a:rPr lang="en-US" sz="2400" spc="-30" dirty="0">
                <a:solidFill>
                  <a:prstClr val="black"/>
                </a:solidFill>
                <a:latin typeface="Times New Roman"/>
                <a:cs typeface="Times New Roman"/>
              </a:rPr>
              <a:t>alloys. </a:t>
            </a:r>
            <a:endParaRPr lang="en-US" sz="2400" spc="-25" dirty="0">
              <a:solidFill>
                <a:prstClr val="black"/>
              </a:solidFill>
              <a:latin typeface="Times New Roman"/>
              <a:cs typeface="Times New Roman"/>
            </a:endParaRPr>
          </a:p>
          <a:p>
            <a:pPr marL="38073" marR="32361" lvl="0" indent="456244" algn="just">
              <a:lnSpc>
                <a:spcPct val="150000"/>
              </a:lnSpc>
              <a:spcBef>
                <a:spcPts val="14"/>
              </a:spcBef>
            </a:pPr>
            <a:r>
              <a:rPr lang="en-US" sz="2400" spc="-10" dirty="0" smtClean="0">
                <a:solidFill>
                  <a:prstClr val="black"/>
                </a:solidFill>
                <a:latin typeface="Times New Roman"/>
                <a:cs typeface="Times New Roman"/>
              </a:rPr>
              <a:t> </a:t>
            </a:r>
            <a:endParaRPr lang="en-US" sz="2400" dirty="0">
              <a:solidFill>
                <a:prstClr val="black"/>
              </a:solidFill>
              <a:latin typeface="Times New Roman"/>
              <a:cs typeface="Times New Roman"/>
            </a:endParaRPr>
          </a:p>
        </p:txBody>
      </p:sp>
    </p:spTree>
    <p:extLst>
      <p:ext uri="{BB962C8B-B14F-4D97-AF65-F5344CB8AC3E}">
        <p14:creationId xmlns:p14="http://schemas.microsoft.com/office/powerpoint/2010/main" val="419347242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753865" y="690881"/>
            <a:ext cx="8550673" cy="6319519"/>
          </a:xfrm>
        </p:spPr>
        <p:txBody>
          <a:bodyPr>
            <a:normAutofit fontScale="90000"/>
          </a:bodyPr>
          <a:lstStyle/>
          <a:p>
            <a:pPr marL="380973" marR="32361" lvl="0" indent="-342900" algn="l" defTabSz="457200">
              <a:lnSpc>
                <a:spcPct val="150000"/>
              </a:lnSpc>
              <a:spcBef>
                <a:spcPts val="14"/>
              </a:spcBef>
              <a:buFont typeface="Arial" panose="020B0604020202020204" pitchFamily="34" charset="0"/>
              <a:buChar char="•"/>
            </a:pPr>
            <a:r>
              <a:rPr lang="en-US" sz="2400" cap="none" spc="-35" dirty="0" err="1" smtClean="0">
                <a:solidFill>
                  <a:srgbClr val="C00000"/>
                </a:solidFill>
                <a:latin typeface="Times New Roman"/>
                <a:ea typeface="+mn-ea"/>
                <a:cs typeface="Times New Roman"/>
              </a:rPr>
              <a:t>Kautilya</a:t>
            </a:r>
            <a:r>
              <a:rPr lang="en-US" sz="2400" cap="none" spc="-20" dirty="0">
                <a:solidFill>
                  <a:prstClr val="black"/>
                </a:solidFill>
                <a:latin typeface="Times New Roman"/>
                <a:ea typeface="+mn-ea"/>
                <a:cs typeface="Times New Roman"/>
              </a:rPr>
              <a:t/>
            </a:r>
            <a:br>
              <a:rPr lang="en-US" sz="2400" cap="none" spc="-20" dirty="0">
                <a:solidFill>
                  <a:prstClr val="black"/>
                </a:solidFill>
                <a:latin typeface="Times New Roman"/>
                <a:ea typeface="+mn-ea"/>
                <a:cs typeface="Times New Roman"/>
              </a:rPr>
            </a:br>
            <a:r>
              <a:rPr lang="en-US" sz="2400" cap="none" spc="-30" dirty="0">
                <a:solidFill>
                  <a:srgbClr val="00823B"/>
                </a:solidFill>
                <a:latin typeface="Times New Roman"/>
                <a:ea typeface="+mn-ea"/>
                <a:cs typeface="Times New Roman"/>
              </a:rPr>
              <a:t>The Director</a:t>
            </a:r>
            <a:r>
              <a:rPr lang="en-US" sz="2400" cap="none" spc="-35" dirty="0">
                <a:solidFill>
                  <a:srgbClr val="00823B"/>
                </a:solidFill>
                <a:latin typeface="Times New Roman"/>
                <a:ea typeface="+mn-ea"/>
                <a:cs typeface="Times New Roman"/>
              </a:rPr>
              <a:t> </a:t>
            </a:r>
            <a:r>
              <a:rPr lang="en-US" sz="2400" cap="none" dirty="0">
                <a:solidFill>
                  <a:srgbClr val="00823B"/>
                </a:solidFill>
                <a:latin typeface="Times New Roman"/>
                <a:ea typeface="+mn-ea"/>
                <a:cs typeface="Times New Roman"/>
              </a:rPr>
              <a:t>of</a:t>
            </a:r>
            <a:r>
              <a:rPr lang="en-US" sz="2400" cap="none" spc="-20" dirty="0">
                <a:solidFill>
                  <a:srgbClr val="00823B"/>
                </a:solidFill>
                <a:latin typeface="Times New Roman"/>
                <a:ea typeface="+mn-ea"/>
                <a:cs typeface="Times New Roman"/>
              </a:rPr>
              <a:t> </a:t>
            </a:r>
            <a:r>
              <a:rPr lang="en-US" sz="2400" cap="none" spc="-25" dirty="0">
                <a:solidFill>
                  <a:srgbClr val="00823B"/>
                </a:solidFill>
                <a:latin typeface="Times New Roman"/>
                <a:ea typeface="+mn-ea"/>
                <a:cs typeface="Times New Roman"/>
              </a:rPr>
              <a:t>Mines</a:t>
            </a:r>
            <a:r>
              <a:rPr lang="en-US" sz="2400" cap="none" spc="-25" dirty="0">
                <a:solidFill>
                  <a:prstClr val="black"/>
                </a:solidFill>
                <a:latin typeface="Times New Roman"/>
                <a:ea typeface="+mn-ea"/>
                <a:cs typeface="Times New Roman"/>
              </a:rPr>
              <a:t>,</a:t>
            </a:r>
            <a:r>
              <a:rPr lang="en-US" sz="2400" cap="none" spc="-20" dirty="0">
                <a:solidFill>
                  <a:prstClr val="black"/>
                </a:solidFill>
                <a:latin typeface="Times New Roman"/>
                <a:ea typeface="+mn-ea"/>
                <a:cs typeface="Times New Roman"/>
              </a:rPr>
              <a:t> being</a:t>
            </a:r>
            <a:r>
              <a:rPr lang="en-US" sz="2400" cap="none" spc="-25" dirty="0">
                <a:solidFill>
                  <a:prstClr val="black"/>
                </a:solidFill>
                <a:latin typeface="Times New Roman"/>
                <a:ea typeface="+mn-ea"/>
                <a:cs typeface="Times New Roman"/>
              </a:rPr>
              <a:t> </a:t>
            </a:r>
            <a:r>
              <a:rPr lang="en-US" sz="2400" cap="none" spc="-35" dirty="0">
                <a:solidFill>
                  <a:prstClr val="black"/>
                </a:solidFill>
                <a:latin typeface="Times New Roman"/>
                <a:ea typeface="+mn-ea"/>
                <a:cs typeface="Times New Roman"/>
              </a:rPr>
              <a:t>conversant</a:t>
            </a:r>
            <a:r>
              <a:rPr lang="en-US" sz="2400" cap="none" spc="-20" dirty="0">
                <a:solidFill>
                  <a:prstClr val="black"/>
                </a:solidFill>
                <a:latin typeface="Times New Roman"/>
                <a:ea typeface="+mn-ea"/>
                <a:cs typeface="Times New Roman"/>
              </a:rPr>
              <a:t> </a:t>
            </a:r>
            <a:r>
              <a:rPr lang="en-US" sz="2400" cap="none" spc="-10" dirty="0">
                <a:solidFill>
                  <a:prstClr val="black"/>
                </a:solidFill>
                <a:latin typeface="Times New Roman"/>
                <a:ea typeface="+mn-ea"/>
                <a:cs typeface="Times New Roman"/>
              </a:rPr>
              <a:t>with</a:t>
            </a:r>
            <a:r>
              <a:rPr lang="en-US" sz="2400" cap="none" spc="-25" dirty="0">
                <a:solidFill>
                  <a:prstClr val="black"/>
                </a:solidFill>
                <a:latin typeface="Times New Roman"/>
                <a:ea typeface="+mn-ea"/>
                <a:cs typeface="Times New Roman"/>
              </a:rPr>
              <a:t> </a:t>
            </a:r>
            <a:r>
              <a:rPr lang="en-US" sz="2400" cap="none" dirty="0">
                <a:solidFill>
                  <a:prstClr val="black"/>
                </a:solidFill>
                <a:latin typeface="Times New Roman"/>
                <a:ea typeface="+mn-ea"/>
                <a:cs typeface="Times New Roman"/>
              </a:rPr>
              <a:t>the</a:t>
            </a:r>
            <a:r>
              <a:rPr lang="en-US" sz="2400" cap="none" spc="-25" dirty="0">
                <a:solidFill>
                  <a:prstClr val="black"/>
                </a:solidFill>
                <a:latin typeface="Times New Roman"/>
                <a:ea typeface="+mn-ea"/>
                <a:cs typeface="Times New Roman"/>
              </a:rPr>
              <a:t> </a:t>
            </a:r>
            <a:r>
              <a:rPr lang="en-US" sz="2400" cap="none" spc="-35" dirty="0">
                <a:solidFill>
                  <a:prstClr val="black"/>
                </a:solidFill>
                <a:latin typeface="Times New Roman"/>
                <a:ea typeface="+mn-ea"/>
                <a:cs typeface="Times New Roman"/>
              </a:rPr>
              <a:t>sciences</a:t>
            </a:r>
            <a:r>
              <a:rPr lang="en-US" sz="2400" cap="none" spc="-14" dirty="0">
                <a:solidFill>
                  <a:prstClr val="black"/>
                </a:solidFill>
                <a:latin typeface="Times New Roman"/>
                <a:ea typeface="+mn-ea"/>
                <a:cs typeface="Times New Roman"/>
              </a:rPr>
              <a:t> </a:t>
            </a:r>
            <a:r>
              <a:rPr lang="en-US" sz="2400" cap="none" dirty="0">
                <a:solidFill>
                  <a:prstClr val="black"/>
                </a:solidFill>
                <a:latin typeface="Times New Roman"/>
                <a:ea typeface="+mn-ea"/>
                <a:cs typeface="Times New Roman"/>
              </a:rPr>
              <a:t>of</a:t>
            </a:r>
            <a:r>
              <a:rPr lang="en-US" sz="2400" cap="none" spc="-35" dirty="0">
                <a:solidFill>
                  <a:prstClr val="black"/>
                </a:solidFill>
                <a:latin typeface="Times New Roman"/>
                <a:ea typeface="+mn-ea"/>
                <a:cs typeface="Times New Roman"/>
              </a:rPr>
              <a:t> </a:t>
            </a:r>
            <a:r>
              <a:rPr lang="en-US" sz="2400" cap="none" spc="-25" dirty="0">
                <a:solidFill>
                  <a:prstClr val="black"/>
                </a:solidFill>
                <a:latin typeface="Times New Roman"/>
                <a:ea typeface="+mn-ea"/>
                <a:cs typeface="Times New Roman"/>
              </a:rPr>
              <a:t>metal </a:t>
            </a:r>
            <a:r>
              <a:rPr lang="en-US" sz="2400" cap="none" spc="-20" dirty="0">
                <a:solidFill>
                  <a:prstClr val="black"/>
                </a:solidFill>
                <a:latin typeface="Times New Roman"/>
                <a:ea typeface="+mn-ea"/>
                <a:cs typeface="Times New Roman"/>
              </a:rPr>
              <a:t>veins</a:t>
            </a:r>
            <a:r>
              <a:rPr lang="en-US" sz="2400" cap="none" spc="-30" dirty="0">
                <a:solidFill>
                  <a:prstClr val="black"/>
                </a:solidFill>
                <a:latin typeface="Times New Roman"/>
                <a:ea typeface="+mn-ea"/>
                <a:cs typeface="Times New Roman"/>
              </a:rPr>
              <a:t> </a:t>
            </a:r>
            <a:r>
              <a:rPr lang="en-US" sz="2400" cap="none" dirty="0">
                <a:solidFill>
                  <a:prstClr val="black"/>
                </a:solidFill>
                <a:latin typeface="Times New Roman"/>
                <a:ea typeface="+mn-ea"/>
                <a:cs typeface="Times New Roman"/>
              </a:rPr>
              <a:t>in</a:t>
            </a:r>
            <a:r>
              <a:rPr lang="en-US" sz="2400" cap="none" spc="-30" dirty="0">
                <a:solidFill>
                  <a:prstClr val="black"/>
                </a:solidFill>
                <a:latin typeface="Times New Roman"/>
                <a:ea typeface="+mn-ea"/>
                <a:cs typeface="Times New Roman"/>
              </a:rPr>
              <a:t> </a:t>
            </a:r>
            <a:r>
              <a:rPr lang="en-US" sz="2400" cap="none" spc="-25" dirty="0">
                <a:solidFill>
                  <a:prstClr val="black"/>
                </a:solidFill>
                <a:latin typeface="Times New Roman"/>
                <a:ea typeface="+mn-ea"/>
                <a:cs typeface="Times New Roman"/>
              </a:rPr>
              <a:t>the </a:t>
            </a:r>
            <a:r>
              <a:rPr lang="en-US" sz="2400" cap="none" spc="-40" dirty="0">
                <a:solidFill>
                  <a:prstClr val="black"/>
                </a:solidFill>
                <a:latin typeface="Times New Roman"/>
                <a:ea typeface="+mn-ea"/>
                <a:cs typeface="Times New Roman"/>
              </a:rPr>
              <a:t>earth</a:t>
            </a:r>
            <a:r>
              <a:rPr lang="en-US" sz="2400" cap="none" spc="-25" dirty="0">
                <a:solidFill>
                  <a:prstClr val="black"/>
                </a:solidFill>
                <a:latin typeface="Times New Roman"/>
                <a:ea typeface="+mn-ea"/>
                <a:cs typeface="Times New Roman"/>
              </a:rPr>
              <a:t> </a:t>
            </a:r>
            <a:r>
              <a:rPr lang="en-US" sz="2400" cap="none" spc="-45" dirty="0">
                <a:solidFill>
                  <a:prstClr val="black"/>
                </a:solidFill>
                <a:latin typeface="Times New Roman"/>
                <a:ea typeface="+mn-ea"/>
                <a:cs typeface="Times New Roman"/>
              </a:rPr>
              <a:t>and</a:t>
            </a:r>
            <a:r>
              <a:rPr lang="en-US" sz="2400" cap="none" spc="-20" dirty="0">
                <a:solidFill>
                  <a:prstClr val="black"/>
                </a:solidFill>
                <a:latin typeface="Times New Roman"/>
                <a:ea typeface="+mn-ea"/>
                <a:cs typeface="Times New Roman"/>
              </a:rPr>
              <a:t> </a:t>
            </a:r>
            <a:r>
              <a:rPr lang="en-US" sz="2400" cap="none" spc="-50" dirty="0">
                <a:solidFill>
                  <a:prstClr val="black"/>
                </a:solidFill>
                <a:latin typeface="Times New Roman"/>
                <a:ea typeface="+mn-ea"/>
                <a:cs typeface="Times New Roman"/>
              </a:rPr>
              <a:t>metallurgy, </a:t>
            </a:r>
            <a:r>
              <a:rPr lang="en-US" sz="2400" cap="none" spc="-40" dirty="0">
                <a:solidFill>
                  <a:prstClr val="black"/>
                </a:solidFill>
                <a:latin typeface="Times New Roman"/>
                <a:ea typeface="+mn-ea"/>
                <a:cs typeface="Times New Roman"/>
              </a:rPr>
              <a:t>the art</a:t>
            </a:r>
            <a:r>
              <a:rPr lang="en-US" sz="2400" cap="none" spc="-4" dirty="0">
                <a:solidFill>
                  <a:prstClr val="black"/>
                </a:solidFill>
                <a:latin typeface="Times New Roman"/>
                <a:ea typeface="+mn-ea"/>
                <a:cs typeface="Times New Roman"/>
              </a:rPr>
              <a:t> </a:t>
            </a:r>
            <a:r>
              <a:rPr lang="en-US" sz="2400" cap="none" spc="-30" dirty="0">
                <a:solidFill>
                  <a:prstClr val="black"/>
                </a:solidFill>
                <a:latin typeface="Times New Roman"/>
                <a:ea typeface="+mn-ea"/>
                <a:cs typeface="Times New Roman"/>
              </a:rPr>
              <a:t>of </a:t>
            </a:r>
            <a:r>
              <a:rPr lang="en-US" sz="2400" cap="none" spc="-45" dirty="0">
                <a:solidFill>
                  <a:prstClr val="black"/>
                </a:solidFill>
                <a:latin typeface="Times New Roman"/>
                <a:ea typeface="+mn-ea"/>
                <a:cs typeface="Times New Roman"/>
              </a:rPr>
              <a:t>smelting</a:t>
            </a:r>
            <a:r>
              <a:rPr lang="en-US" sz="2400" cap="none" spc="-20" dirty="0">
                <a:solidFill>
                  <a:prstClr val="black"/>
                </a:solidFill>
                <a:latin typeface="Times New Roman"/>
                <a:ea typeface="+mn-ea"/>
                <a:cs typeface="Times New Roman"/>
              </a:rPr>
              <a:t> </a:t>
            </a:r>
            <a:r>
              <a:rPr lang="en-US" sz="2400" cap="none" spc="-40" dirty="0">
                <a:solidFill>
                  <a:prstClr val="black"/>
                </a:solidFill>
                <a:latin typeface="Times New Roman"/>
                <a:ea typeface="+mn-ea"/>
                <a:cs typeface="Times New Roman"/>
              </a:rPr>
              <a:t>and</a:t>
            </a:r>
            <a:r>
              <a:rPr lang="en-US" sz="2400" cap="none" spc="-20" dirty="0">
                <a:solidFill>
                  <a:prstClr val="black"/>
                </a:solidFill>
                <a:latin typeface="Times New Roman"/>
                <a:ea typeface="+mn-ea"/>
                <a:cs typeface="Times New Roman"/>
              </a:rPr>
              <a:t> </a:t>
            </a:r>
            <a:r>
              <a:rPr lang="en-US" sz="2400" cap="none" spc="-40" dirty="0">
                <a:solidFill>
                  <a:prstClr val="black"/>
                </a:solidFill>
                <a:latin typeface="Times New Roman"/>
                <a:ea typeface="+mn-ea"/>
                <a:cs typeface="Times New Roman"/>
              </a:rPr>
              <a:t>the</a:t>
            </a:r>
            <a:r>
              <a:rPr lang="en-US" sz="2400" cap="none" spc="-30" dirty="0">
                <a:solidFill>
                  <a:prstClr val="black"/>
                </a:solidFill>
                <a:latin typeface="Times New Roman"/>
                <a:ea typeface="+mn-ea"/>
                <a:cs typeface="Times New Roman"/>
              </a:rPr>
              <a:t> </a:t>
            </a:r>
            <a:r>
              <a:rPr lang="en-US" sz="2400" cap="none" spc="-45" dirty="0">
                <a:solidFill>
                  <a:prstClr val="black"/>
                </a:solidFill>
                <a:latin typeface="Times New Roman"/>
                <a:ea typeface="+mn-ea"/>
                <a:cs typeface="Times New Roman"/>
              </a:rPr>
              <a:t>art</a:t>
            </a:r>
            <a:r>
              <a:rPr lang="en-US" sz="2400" cap="none" spc="-20" dirty="0">
                <a:solidFill>
                  <a:prstClr val="black"/>
                </a:solidFill>
                <a:latin typeface="Times New Roman"/>
                <a:ea typeface="+mn-ea"/>
                <a:cs typeface="Times New Roman"/>
              </a:rPr>
              <a:t> </a:t>
            </a:r>
            <a:r>
              <a:rPr lang="en-US" sz="2400" cap="none" spc="-30" dirty="0">
                <a:solidFill>
                  <a:prstClr val="black"/>
                </a:solidFill>
                <a:latin typeface="Times New Roman"/>
                <a:ea typeface="+mn-ea"/>
                <a:cs typeface="Times New Roman"/>
              </a:rPr>
              <a:t>of</a:t>
            </a:r>
            <a:r>
              <a:rPr lang="en-US" sz="2400" cap="none" spc="-25" dirty="0">
                <a:solidFill>
                  <a:prstClr val="black"/>
                </a:solidFill>
                <a:latin typeface="Times New Roman"/>
                <a:ea typeface="+mn-ea"/>
                <a:cs typeface="Times New Roman"/>
              </a:rPr>
              <a:t> </a:t>
            </a:r>
            <a:r>
              <a:rPr lang="en-US" sz="2400" cap="none" spc="-45" dirty="0" err="1">
                <a:solidFill>
                  <a:prstClr val="black"/>
                </a:solidFill>
                <a:latin typeface="Times New Roman"/>
                <a:ea typeface="+mn-ea"/>
                <a:cs typeface="Times New Roman"/>
              </a:rPr>
              <a:t>colouring</a:t>
            </a:r>
            <a:r>
              <a:rPr lang="en-US" sz="2400" cap="none" spc="-25" dirty="0">
                <a:solidFill>
                  <a:prstClr val="black"/>
                </a:solidFill>
                <a:latin typeface="Times New Roman"/>
                <a:ea typeface="+mn-ea"/>
                <a:cs typeface="Times New Roman"/>
              </a:rPr>
              <a:t> </a:t>
            </a:r>
            <a:r>
              <a:rPr lang="en-US" sz="2400" cap="none" spc="-40" dirty="0" smtClean="0">
                <a:solidFill>
                  <a:prstClr val="black"/>
                </a:solidFill>
                <a:latin typeface="Times New Roman"/>
                <a:ea typeface="+mn-ea"/>
                <a:cs typeface="Times New Roman"/>
              </a:rPr>
              <a:t>gems</a:t>
            </a:r>
            <a:r>
              <a:rPr lang="en-US" sz="2400" cap="none" spc="-40" dirty="0">
                <a:solidFill>
                  <a:prstClr val="black"/>
                </a:solidFill>
                <a:latin typeface="Times New Roman"/>
                <a:ea typeface="+mn-ea"/>
                <a:cs typeface="Times New Roman"/>
              </a:rPr>
              <a:t>,</a:t>
            </a:r>
            <a:r>
              <a:rPr lang="en-US" sz="2400" cap="none" spc="-10" dirty="0">
                <a:solidFill>
                  <a:prstClr val="black"/>
                </a:solidFill>
                <a:latin typeface="Times New Roman"/>
                <a:ea typeface="+mn-ea"/>
                <a:cs typeface="Times New Roman"/>
              </a:rPr>
              <a:t> </a:t>
            </a:r>
            <a:r>
              <a:rPr lang="en-US" sz="2400" cap="none" spc="-30" dirty="0">
                <a:solidFill>
                  <a:prstClr val="black"/>
                </a:solidFill>
                <a:latin typeface="Times New Roman"/>
                <a:ea typeface="+mn-ea"/>
                <a:cs typeface="Times New Roman"/>
              </a:rPr>
              <a:t>or</a:t>
            </a:r>
            <a:r>
              <a:rPr lang="en-US" sz="2400" cap="none" spc="-25" dirty="0">
                <a:solidFill>
                  <a:prstClr val="black"/>
                </a:solidFill>
                <a:latin typeface="Times New Roman"/>
                <a:ea typeface="+mn-ea"/>
                <a:cs typeface="Times New Roman"/>
              </a:rPr>
              <a:t>  </a:t>
            </a:r>
            <a:r>
              <a:rPr lang="en-US" sz="2400" cap="none" spc="-50" dirty="0">
                <a:solidFill>
                  <a:prstClr val="black"/>
                </a:solidFill>
                <a:latin typeface="Times New Roman"/>
                <a:ea typeface="+mn-ea"/>
                <a:cs typeface="Times New Roman"/>
              </a:rPr>
              <a:t>having</a:t>
            </a:r>
            <a:r>
              <a:rPr lang="en-US" sz="2400" cap="none" spc="-25" dirty="0">
                <a:solidFill>
                  <a:prstClr val="black"/>
                </a:solidFill>
                <a:latin typeface="Times New Roman"/>
                <a:ea typeface="+mn-ea"/>
                <a:cs typeface="Times New Roman"/>
              </a:rPr>
              <a:t> </a:t>
            </a:r>
            <a:r>
              <a:rPr lang="en-US" sz="2400" cap="none" spc="-35" dirty="0">
                <a:solidFill>
                  <a:prstClr val="black"/>
                </a:solidFill>
                <a:latin typeface="Times New Roman"/>
                <a:ea typeface="+mn-ea"/>
                <a:cs typeface="Times New Roman"/>
              </a:rPr>
              <a:t>the</a:t>
            </a:r>
            <a:r>
              <a:rPr lang="en-US" sz="2400" cap="none" spc="-14" dirty="0">
                <a:solidFill>
                  <a:prstClr val="black"/>
                </a:solidFill>
                <a:latin typeface="Times New Roman"/>
                <a:ea typeface="+mn-ea"/>
                <a:cs typeface="Times New Roman"/>
              </a:rPr>
              <a:t> </a:t>
            </a:r>
            <a:r>
              <a:rPr lang="en-US" sz="2400" cap="none" spc="-45" dirty="0">
                <a:solidFill>
                  <a:prstClr val="black"/>
                </a:solidFill>
                <a:latin typeface="Times New Roman"/>
                <a:ea typeface="+mn-ea"/>
                <a:cs typeface="Times New Roman"/>
              </a:rPr>
              <a:t>assistance</a:t>
            </a:r>
            <a:r>
              <a:rPr lang="en-US" sz="2400" cap="none" spc="-20" dirty="0">
                <a:solidFill>
                  <a:prstClr val="black"/>
                </a:solidFill>
                <a:latin typeface="Times New Roman"/>
                <a:ea typeface="+mn-ea"/>
                <a:cs typeface="Times New Roman"/>
              </a:rPr>
              <a:t> </a:t>
            </a:r>
            <a:r>
              <a:rPr lang="en-US" sz="2400" cap="none" spc="-30" dirty="0">
                <a:solidFill>
                  <a:prstClr val="black"/>
                </a:solidFill>
                <a:latin typeface="Times New Roman"/>
                <a:ea typeface="+mn-ea"/>
                <a:cs typeface="Times New Roman"/>
              </a:rPr>
              <a:t>of</a:t>
            </a:r>
            <a:r>
              <a:rPr lang="en-US" sz="2400" cap="none" spc="-25" dirty="0">
                <a:solidFill>
                  <a:prstClr val="black"/>
                </a:solidFill>
                <a:latin typeface="Times New Roman"/>
                <a:ea typeface="+mn-ea"/>
                <a:cs typeface="Times New Roman"/>
              </a:rPr>
              <a:t> </a:t>
            </a:r>
            <a:r>
              <a:rPr lang="en-US" sz="2400" cap="none" spc="-45" dirty="0">
                <a:solidFill>
                  <a:prstClr val="black"/>
                </a:solidFill>
                <a:latin typeface="Times New Roman"/>
                <a:ea typeface="+mn-ea"/>
                <a:cs typeface="Times New Roman"/>
              </a:rPr>
              <a:t>experts</a:t>
            </a:r>
            <a:r>
              <a:rPr lang="en-US" sz="2400" cap="none" spc="-30" dirty="0">
                <a:solidFill>
                  <a:prstClr val="black"/>
                </a:solidFill>
                <a:latin typeface="Times New Roman"/>
                <a:ea typeface="+mn-ea"/>
                <a:cs typeface="Times New Roman"/>
              </a:rPr>
              <a:t> </a:t>
            </a:r>
            <a:r>
              <a:rPr lang="en-US" sz="2400" cap="none" spc="-25" dirty="0">
                <a:solidFill>
                  <a:prstClr val="black"/>
                </a:solidFill>
                <a:latin typeface="Times New Roman"/>
                <a:ea typeface="+mn-ea"/>
                <a:cs typeface="Times New Roman"/>
              </a:rPr>
              <a:t>in </a:t>
            </a:r>
            <a:r>
              <a:rPr lang="en-US" sz="2400" cap="none" spc="-55" dirty="0">
                <a:solidFill>
                  <a:prstClr val="black"/>
                </a:solidFill>
                <a:latin typeface="Times New Roman"/>
                <a:ea typeface="+mn-ea"/>
                <a:cs typeface="Times New Roman"/>
              </a:rPr>
              <a:t>these,</a:t>
            </a:r>
            <a:r>
              <a:rPr lang="en-US" sz="2400" cap="none" spc="-20" dirty="0">
                <a:solidFill>
                  <a:prstClr val="black"/>
                </a:solidFill>
                <a:latin typeface="Times New Roman"/>
                <a:ea typeface="+mn-ea"/>
                <a:cs typeface="Times New Roman"/>
              </a:rPr>
              <a:t> </a:t>
            </a:r>
            <a:r>
              <a:rPr lang="en-US" sz="2400" cap="none" spc="-50" dirty="0">
                <a:solidFill>
                  <a:prstClr val="black"/>
                </a:solidFill>
                <a:latin typeface="Times New Roman"/>
                <a:ea typeface="+mn-ea"/>
                <a:cs typeface="Times New Roman"/>
              </a:rPr>
              <a:t>and</a:t>
            </a:r>
            <a:r>
              <a:rPr lang="en-US" sz="2400" cap="none" spc="10" dirty="0">
                <a:solidFill>
                  <a:prstClr val="black"/>
                </a:solidFill>
                <a:latin typeface="Times New Roman"/>
                <a:ea typeface="+mn-ea"/>
                <a:cs typeface="Times New Roman"/>
              </a:rPr>
              <a:t> </a:t>
            </a:r>
            <a:r>
              <a:rPr lang="en-US" sz="2400" cap="none" spc="-60" dirty="0">
                <a:solidFill>
                  <a:prstClr val="black"/>
                </a:solidFill>
                <a:latin typeface="Times New Roman"/>
                <a:ea typeface="+mn-ea"/>
                <a:cs typeface="Times New Roman"/>
              </a:rPr>
              <a:t>fully</a:t>
            </a:r>
            <a:r>
              <a:rPr lang="en-US" sz="2400" cap="none" spc="-14" dirty="0">
                <a:solidFill>
                  <a:prstClr val="black"/>
                </a:solidFill>
                <a:latin typeface="Times New Roman"/>
                <a:ea typeface="+mn-ea"/>
                <a:cs typeface="Times New Roman"/>
              </a:rPr>
              <a:t> </a:t>
            </a:r>
            <a:r>
              <a:rPr lang="en-US" sz="2400" cap="none" spc="-45" dirty="0">
                <a:solidFill>
                  <a:prstClr val="black"/>
                </a:solidFill>
                <a:latin typeface="Times New Roman"/>
                <a:ea typeface="+mn-ea"/>
                <a:cs typeface="Times New Roman"/>
              </a:rPr>
              <a:t>equipped</a:t>
            </a:r>
            <a:r>
              <a:rPr lang="en-US" sz="2400" cap="none" spc="4" dirty="0">
                <a:solidFill>
                  <a:prstClr val="black"/>
                </a:solidFill>
                <a:latin typeface="Times New Roman"/>
                <a:ea typeface="+mn-ea"/>
                <a:cs typeface="Times New Roman"/>
              </a:rPr>
              <a:t> </a:t>
            </a:r>
            <a:r>
              <a:rPr lang="en-US" sz="2400" cap="none" spc="-55" dirty="0">
                <a:solidFill>
                  <a:prstClr val="black"/>
                </a:solidFill>
                <a:latin typeface="Times New Roman"/>
                <a:ea typeface="+mn-ea"/>
                <a:cs typeface="Times New Roman"/>
              </a:rPr>
              <a:t>with</a:t>
            </a:r>
            <a:r>
              <a:rPr lang="en-US" sz="2400" cap="none" spc="-4" dirty="0">
                <a:solidFill>
                  <a:prstClr val="black"/>
                </a:solidFill>
                <a:latin typeface="Times New Roman"/>
                <a:ea typeface="+mn-ea"/>
                <a:cs typeface="Times New Roman"/>
              </a:rPr>
              <a:t> </a:t>
            </a:r>
            <a:r>
              <a:rPr lang="en-US" sz="2400" cap="none" spc="-55" dirty="0">
                <a:solidFill>
                  <a:prstClr val="black"/>
                </a:solidFill>
                <a:latin typeface="Times New Roman"/>
                <a:ea typeface="+mn-ea"/>
                <a:cs typeface="Times New Roman"/>
              </a:rPr>
              <a:t>workmen</a:t>
            </a:r>
            <a:r>
              <a:rPr lang="en-US" sz="2400" cap="none" spc="-4" dirty="0">
                <a:solidFill>
                  <a:prstClr val="black"/>
                </a:solidFill>
                <a:latin typeface="Times New Roman"/>
                <a:ea typeface="+mn-ea"/>
                <a:cs typeface="Times New Roman"/>
              </a:rPr>
              <a:t> </a:t>
            </a:r>
            <a:r>
              <a:rPr lang="en-US" sz="2400" cap="none" spc="-50" dirty="0">
                <a:solidFill>
                  <a:prstClr val="black"/>
                </a:solidFill>
                <a:latin typeface="Times New Roman"/>
                <a:ea typeface="+mn-ea"/>
                <a:cs typeface="Times New Roman"/>
              </a:rPr>
              <a:t>skilled</a:t>
            </a:r>
            <a:r>
              <a:rPr lang="en-US" sz="2400" cap="none" spc="10" dirty="0">
                <a:solidFill>
                  <a:prstClr val="black"/>
                </a:solidFill>
                <a:latin typeface="Times New Roman"/>
                <a:ea typeface="+mn-ea"/>
                <a:cs typeface="Times New Roman"/>
              </a:rPr>
              <a:t> </a:t>
            </a:r>
            <a:r>
              <a:rPr lang="en-US" sz="2400" cap="none" spc="-60" dirty="0">
                <a:solidFill>
                  <a:prstClr val="black"/>
                </a:solidFill>
                <a:latin typeface="Times New Roman"/>
                <a:ea typeface="+mn-ea"/>
                <a:cs typeface="Times New Roman"/>
              </a:rPr>
              <a:t>in</a:t>
            </a:r>
            <a:r>
              <a:rPr lang="en-US" sz="2400" cap="none" spc="4" dirty="0">
                <a:solidFill>
                  <a:prstClr val="black"/>
                </a:solidFill>
                <a:latin typeface="Times New Roman"/>
                <a:ea typeface="+mn-ea"/>
                <a:cs typeface="Times New Roman"/>
              </a:rPr>
              <a:t> </a:t>
            </a:r>
            <a:r>
              <a:rPr lang="en-US" sz="2400" cap="none" spc="-60" dirty="0">
                <a:solidFill>
                  <a:prstClr val="black"/>
                </a:solidFill>
                <a:latin typeface="Times New Roman"/>
                <a:ea typeface="+mn-ea"/>
                <a:cs typeface="Times New Roman"/>
              </a:rPr>
              <a:t>the</a:t>
            </a:r>
            <a:r>
              <a:rPr lang="en-US" sz="2400" cap="none" spc="-10" dirty="0">
                <a:solidFill>
                  <a:prstClr val="black"/>
                </a:solidFill>
                <a:latin typeface="Times New Roman"/>
                <a:ea typeface="+mn-ea"/>
                <a:cs typeface="Times New Roman"/>
              </a:rPr>
              <a:t> </a:t>
            </a:r>
            <a:r>
              <a:rPr lang="en-US" sz="2400" cap="none" spc="-50" dirty="0">
                <a:solidFill>
                  <a:prstClr val="black"/>
                </a:solidFill>
                <a:latin typeface="Times New Roman"/>
                <a:ea typeface="+mn-ea"/>
                <a:cs typeface="Times New Roman"/>
              </a:rPr>
              <a:t>work</a:t>
            </a:r>
            <a:r>
              <a:rPr lang="en-US" sz="2400" cap="none" spc="10" dirty="0">
                <a:solidFill>
                  <a:prstClr val="black"/>
                </a:solidFill>
                <a:latin typeface="Times New Roman"/>
                <a:ea typeface="+mn-ea"/>
                <a:cs typeface="Times New Roman"/>
              </a:rPr>
              <a:t> </a:t>
            </a:r>
            <a:r>
              <a:rPr lang="en-US" sz="2400" cap="none" spc="-60" dirty="0">
                <a:solidFill>
                  <a:prstClr val="black"/>
                </a:solidFill>
                <a:latin typeface="Times New Roman"/>
                <a:ea typeface="+mn-ea"/>
                <a:cs typeface="Times New Roman"/>
              </a:rPr>
              <a:t>and</a:t>
            </a:r>
            <a:r>
              <a:rPr lang="en-US" sz="2400" cap="none" spc="-10" dirty="0">
                <a:solidFill>
                  <a:prstClr val="black"/>
                </a:solidFill>
                <a:latin typeface="Times New Roman"/>
                <a:ea typeface="+mn-ea"/>
                <a:cs typeface="Times New Roman"/>
              </a:rPr>
              <a:t> </a:t>
            </a:r>
            <a:r>
              <a:rPr lang="en-US" sz="2400" cap="none" spc="-55" dirty="0">
                <a:solidFill>
                  <a:prstClr val="black"/>
                </a:solidFill>
                <a:latin typeface="Times New Roman"/>
                <a:ea typeface="+mn-ea"/>
                <a:cs typeface="Times New Roman"/>
              </a:rPr>
              <a:t>with</a:t>
            </a:r>
            <a:r>
              <a:rPr lang="en-US" sz="2400" cap="none" spc="-4" dirty="0">
                <a:solidFill>
                  <a:prstClr val="black"/>
                </a:solidFill>
                <a:latin typeface="Times New Roman"/>
                <a:ea typeface="+mn-ea"/>
                <a:cs typeface="Times New Roman"/>
              </a:rPr>
              <a:t> </a:t>
            </a:r>
            <a:r>
              <a:rPr lang="en-US" sz="2400" cap="none" spc="-50" dirty="0">
                <a:solidFill>
                  <a:prstClr val="black"/>
                </a:solidFill>
                <a:latin typeface="Times New Roman"/>
                <a:ea typeface="+mn-ea"/>
                <a:cs typeface="Times New Roman"/>
              </a:rPr>
              <a:t>implements,</a:t>
            </a:r>
            <a:r>
              <a:rPr lang="en-US" sz="2400" cap="none" spc="-45" dirty="0">
                <a:solidFill>
                  <a:prstClr val="black"/>
                </a:solidFill>
                <a:latin typeface="Times New Roman"/>
                <a:ea typeface="+mn-ea"/>
                <a:cs typeface="Times New Roman"/>
              </a:rPr>
              <a:t> should</a:t>
            </a:r>
            <a:r>
              <a:rPr lang="en-US" sz="2400" cap="none" spc="-4" dirty="0">
                <a:solidFill>
                  <a:prstClr val="black"/>
                </a:solidFill>
                <a:latin typeface="Times New Roman"/>
                <a:ea typeface="+mn-ea"/>
                <a:cs typeface="Times New Roman"/>
              </a:rPr>
              <a:t> </a:t>
            </a:r>
            <a:r>
              <a:rPr lang="en-US" sz="2400" cap="none" spc="-50" dirty="0">
                <a:solidFill>
                  <a:prstClr val="black"/>
                </a:solidFill>
                <a:latin typeface="Times New Roman"/>
                <a:ea typeface="+mn-ea"/>
                <a:cs typeface="Times New Roman"/>
              </a:rPr>
              <a:t>inspect</a:t>
            </a:r>
            <a:r>
              <a:rPr lang="en-US" sz="2400" cap="none" spc="-4" dirty="0">
                <a:solidFill>
                  <a:prstClr val="black"/>
                </a:solidFill>
                <a:latin typeface="Times New Roman"/>
                <a:ea typeface="+mn-ea"/>
                <a:cs typeface="Times New Roman"/>
              </a:rPr>
              <a:t> </a:t>
            </a:r>
            <a:r>
              <a:rPr lang="en-US" sz="2400" cap="none" spc="-20" dirty="0">
                <a:solidFill>
                  <a:prstClr val="black"/>
                </a:solidFill>
                <a:latin typeface="Times New Roman"/>
                <a:ea typeface="+mn-ea"/>
                <a:cs typeface="Times New Roman"/>
              </a:rPr>
              <a:t/>
            </a:r>
            <a:br>
              <a:rPr lang="en-US" sz="2400" cap="none" spc="-20" dirty="0">
                <a:solidFill>
                  <a:prstClr val="black"/>
                </a:solidFill>
                <a:latin typeface="Times New Roman"/>
                <a:ea typeface="+mn-ea"/>
                <a:cs typeface="Times New Roman"/>
              </a:rPr>
            </a:br>
            <a:r>
              <a:rPr lang="en-US" sz="2400" cap="none" spc="-55" dirty="0">
                <a:solidFill>
                  <a:srgbClr val="00823B"/>
                </a:solidFill>
                <a:latin typeface="Times New Roman"/>
                <a:ea typeface="+mn-ea"/>
                <a:cs typeface="Times New Roman"/>
              </a:rPr>
              <a:t>an</a:t>
            </a:r>
            <a:r>
              <a:rPr lang="en-US" sz="2400" cap="none" spc="10" dirty="0">
                <a:solidFill>
                  <a:srgbClr val="00823B"/>
                </a:solidFill>
                <a:latin typeface="Times New Roman"/>
                <a:ea typeface="+mn-ea"/>
                <a:cs typeface="Times New Roman"/>
              </a:rPr>
              <a:t> </a:t>
            </a:r>
            <a:r>
              <a:rPr lang="en-US" sz="2400" cap="none" spc="-60" dirty="0">
                <a:solidFill>
                  <a:srgbClr val="00823B"/>
                </a:solidFill>
                <a:latin typeface="Times New Roman"/>
                <a:ea typeface="+mn-ea"/>
                <a:cs typeface="Times New Roman"/>
              </a:rPr>
              <a:t>old</a:t>
            </a:r>
            <a:r>
              <a:rPr lang="en-US" sz="2400" cap="none" spc="-10" dirty="0">
                <a:solidFill>
                  <a:srgbClr val="00823B"/>
                </a:solidFill>
                <a:latin typeface="Times New Roman"/>
                <a:ea typeface="+mn-ea"/>
                <a:cs typeface="Times New Roman"/>
              </a:rPr>
              <a:t> </a:t>
            </a:r>
            <a:r>
              <a:rPr lang="en-US" sz="2400" cap="none" spc="-20" dirty="0">
                <a:solidFill>
                  <a:srgbClr val="00823B"/>
                </a:solidFill>
                <a:latin typeface="Times New Roman"/>
                <a:ea typeface="+mn-ea"/>
                <a:cs typeface="Times New Roman"/>
              </a:rPr>
              <a:t>mine </a:t>
            </a:r>
            <a:r>
              <a:rPr lang="en-US" sz="2400" cap="none" spc="-30" dirty="0">
                <a:solidFill>
                  <a:prstClr val="black"/>
                </a:solidFill>
                <a:latin typeface="Times New Roman"/>
                <a:ea typeface="+mn-ea"/>
                <a:cs typeface="Times New Roman"/>
              </a:rPr>
              <a:t>by</a:t>
            </a:r>
            <a:r>
              <a:rPr lang="en-US" sz="2400" cap="none" spc="-45" dirty="0">
                <a:solidFill>
                  <a:prstClr val="black"/>
                </a:solidFill>
                <a:latin typeface="Times New Roman"/>
                <a:ea typeface="+mn-ea"/>
                <a:cs typeface="Times New Roman"/>
              </a:rPr>
              <a:t> </a:t>
            </a:r>
            <a:r>
              <a:rPr lang="en-US" sz="2400" cap="none" spc="-35" dirty="0">
                <a:solidFill>
                  <a:prstClr val="black"/>
                </a:solidFill>
                <a:latin typeface="Times New Roman"/>
                <a:ea typeface="+mn-ea"/>
                <a:cs typeface="Times New Roman"/>
              </a:rPr>
              <a:t>the</a:t>
            </a:r>
            <a:r>
              <a:rPr lang="en-US" sz="2400" cap="none" spc="-25" dirty="0">
                <a:solidFill>
                  <a:prstClr val="black"/>
                </a:solidFill>
                <a:latin typeface="Times New Roman"/>
                <a:ea typeface="+mn-ea"/>
                <a:cs typeface="Times New Roman"/>
              </a:rPr>
              <a:t> </a:t>
            </a:r>
            <a:r>
              <a:rPr lang="en-US" sz="2400" cap="none" spc="-50" dirty="0">
                <a:solidFill>
                  <a:prstClr val="black"/>
                </a:solidFill>
                <a:latin typeface="Times New Roman"/>
                <a:ea typeface="+mn-ea"/>
                <a:cs typeface="Times New Roman"/>
              </a:rPr>
              <a:t>marks</a:t>
            </a:r>
            <a:r>
              <a:rPr lang="en-US" sz="2400" cap="none" spc="-20" dirty="0">
                <a:solidFill>
                  <a:prstClr val="black"/>
                </a:solidFill>
                <a:latin typeface="Times New Roman"/>
                <a:ea typeface="+mn-ea"/>
                <a:cs typeface="Times New Roman"/>
              </a:rPr>
              <a:t> </a:t>
            </a:r>
            <a:r>
              <a:rPr lang="en-US" sz="2400" cap="none" spc="-30" dirty="0">
                <a:solidFill>
                  <a:prstClr val="black"/>
                </a:solidFill>
                <a:latin typeface="Times New Roman"/>
                <a:ea typeface="+mn-ea"/>
                <a:cs typeface="Times New Roman"/>
              </a:rPr>
              <a:t>of </a:t>
            </a:r>
            <a:r>
              <a:rPr lang="en-US" sz="2400" cap="none" spc="-40" dirty="0">
                <a:solidFill>
                  <a:prstClr val="black"/>
                </a:solidFill>
                <a:latin typeface="Times New Roman"/>
                <a:ea typeface="+mn-ea"/>
                <a:cs typeface="Times New Roman"/>
              </a:rPr>
              <a:t>dross,</a:t>
            </a:r>
            <a:r>
              <a:rPr lang="en-US" sz="2400" cap="none" spc="-20" dirty="0">
                <a:solidFill>
                  <a:prstClr val="black"/>
                </a:solidFill>
                <a:latin typeface="Times New Roman"/>
                <a:ea typeface="+mn-ea"/>
                <a:cs typeface="Times New Roman"/>
              </a:rPr>
              <a:t> </a:t>
            </a:r>
            <a:r>
              <a:rPr lang="en-US" sz="2400" cap="none" spc="-45" dirty="0">
                <a:solidFill>
                  <a:prstClr val="black"/>
                </a:solidFill>
                <a:latin typeface="Times New Roman"/>
                <a:ea typeface="+mn-ea"/>
                <a:cs typeface="Times New Roman"/>
              </a:rPr>
              <a:t>crucibles,</a:t>
            </a:r>
            <a:r>
              <a:rPr lang="en-US" sz="2400" cap="none" spc="-20" dirty="0">
                <a:solidFill>
                  <a:prstClr val="black"/>
                </a:solidFill>
                <a:latin typeface="Times New Roman"/>
                <a:ea typeface="+mn-ea"/>
                <a:cs typeface="Times New Roman"/>
              </a:rPr>
              <a:t> </a:t>
            </a:r>
            <a:r>
              <a:rPr lang="en-US" sz="2400" cap="none" spc="-50" dirty="0">
                <a:solidFill>
                  <a:prstClr val="black"/>
                </a:solidFill>
                <a:latin typeface="Times New Roman"/>
                <a:ea typeface="+mn-ea"/>
                <a:cs typeface="Times New Roman"/>
              </a:rPr>
              <a:t>coal</a:t>
            </a:r>
            <a:r>
              <a:rPr lang="en-US" sz="2400" cap="none" spc="-25" dirty="0">
                <a:solidFill>
                  <a:prstClr val="black"/>
                </a:solidFill>
                <a:latin typeface="Times New Roman"/>
                <a:ea typeface="+mn-ea"/>
                <a:cs typeface="Times New Roman"/>
              </a:rPr>
              <a:t> </a:t>
            </a:r>
            <a:r>
              <a:rPr lang="en-US" sz="2400" cap="none" spc="-40" dirty="0">
                <a:solidFill>
                  <a:prstClr val="black"/>
                </a:solidFill>
                <a:latin typeface="Times New Roman"/>
                <a:ea typeface="+mn-ea"/>
                <a:cs typeface="Times New Roman"/>
              </a:rPr>
              <a:t>and</a:t>
            </a:r>
            <a:r>
              <a:rPr lang="en-US" sz="2400" cap="none" spc="-10" dirty="0">
                <a:solidFill>
                  <a:prstClr val="black"/>
                </a:solidFill>
                <a:latin typeface="Times New Roman"/>
                <a:ea typeface="+mn-ea"/>
                <a:cs typeface="Times New Roman"/>
              </a:rPr>
              <a:t> </a:t>
            </a:r>
            <a:r>
              <a:rPr lang="en-US" sz="2400" cap="none" spc="-50" dirty="0">
                <a:solidFill>
                  <a:prstClr val="black"/>
                </a:solidFill>
                <a:latin typeface="Times New Roman"/>
                <a:ea typeface="+mn-ea"/>
                <a:cs typeface="Times New Roman"/>
              </a:rPr>
              <a:t>ashes,</a:t>
            </a:r>
            <a:r>
              <a:rPr lang="en-US" sz="2400" cap="none" spc="-10" dirty="0">
                <a:solidFill>
                  <a:prstClr val="black"/>
                </a:solidFill>
                <a:latin typeface="Times New Roman"/>
                <a:ea typeface="+mn-ea"/>
                <a:cs typeface="Times New Roman"/>
              </a:rPr>
              <a:t> </a:t>
            </a:r>
            <a:r>
              <a:rPr lang="en-US" sz="2400" cap="none" spc="-30" dirty="0" smtClean="0">
                <a:solidFill>
                  <a:srgbClr val="00823B"/>
                </a:solidFill>
                <a:latin typeface="Times New Roman"/>
                <a:ea typeface="+mn-ea"/>
                <a:cs typeface="Times New Roman"/>
              </a:rPr>
              <a:t>or </a:t>
            </a:r>
            <a:r>
              <a:rPr lang="en-US" sz="2400" cap="none" dirty="0">
                <a:solidFill>
                  <a:srgbClr val="00823B"/>
                </a:solidFill>
                <a:latin typeface="Times New Roman"/>
                <a:ea typeface="+mn-ea"/>
                <a:cs typeface="Times New Roman"/>
              </a:rPr>
              <a:t>a</a:t>
            </a:r>
            <a:r>
              <a:rPr lang="en-US" sz="2400" cap="none" spc="-25" dirty="0">
                <a:solidFill>
                  <a:srgbClr val="00823B"/>
                </a:solidFill>
                <a:latin typeface="Times New Roman"/>
                <a:ea typeface="+mn-ea"/>
                <a:cs typeface="Times New Roman"/>
              </a:rPr>
              <a:t> </a:t>
            </a:r>
            <a:r>
              <a:rPr lang="en-US" sz="2400" cap="none" spc="-40" dirty="0">
                <a:solidFill>
                  <a:srgbClr val="00823B"/>
                </a:solidFill>
                <a:latin typeface="Times New Roman"/>
                <a:ea typeface="+mn-ea"/>
                <a:cs typeface="Times New Roman"/>
              </a:rPr>
              <a:t>new</a:t>
            </a:r>
            <a:r>
              <a:rPr lang="en-US" sz="2400" cap="none" spc="-10" dirty="0">
                <a:solidFill>
                  <a:srgbClr val="00823B"/>
                </a:solidFill>
                <a:latin typeface="Times New Roman"/>
                <a:ea typeface="+mn-ea"/>
                <a:cs typeface="Times New Roman"/>
              </a:rPr>
              <a:t> </a:t>
            </a:r>
            <a:r>
              <a:rPr lang="en-US" sz="2400" cap="none" spc="-50" dirty="0">
                <a:solidFill>
                  <a:srgbClr val="00823B"/>
                </a:solidFill>
                <a:latin typeface="Times New Roman"/>
                <a:ea typeface="+mn-ea"/>
                <a:cs typeface="Times New Roman"/>
              </a:rPr>
              <a:t>mine</a:t>
            </a:r>
            <a:r>
              <a:rPr lang="en-US" sz="2400" cap="none" spc="-50" dirty="0">
                <a:solidFill>
                  <a:prstClr val="black"/>
                </a:solidFill>
                <a:latin typeface="Times New Roman"/>
                <a:ea typeface="+mn-ea"/>
                <a:cs typeface="Times New Roman"/>
              </a:rPr>
              <a:t>,</a:t>
            </a:r>
            <a:r>
              <a:rPr lang="en-US" sz="2400" cap="none" spc="-25" dirty="0">
                <a:solidFill>
                  <a:prstClr val="black"/>
                </a:solidFill>
                <a:latin typeface="Times New Roman"/>
                <a:ea typeface="+mn-ea"/>
                <a:cs typeface="Times New Roman"/>
              </a:rPr>
              <a:t> </a:t>
            </a:r>
            <a:r>
              <a:rPr lang="en-US" sz="2400" cap="none" spc="-40" dirty="0">
                <a:solidFill>
                  <a:prstClr val="black"/>
                </a:solidFill>
                <a:latin typeface="Times New Roman"/>
                <a:ea typeface="+mn-ea"/>
                <a:cs typeface="Times New Roman"/>
              </a:rPr>
              <a:t>where</a:t>
            </a:r>
            <a:r>
              <a:rPr lang="en-US" sz="2400" cap="none" spc="-25" dirty="0">
                <a:solidFill>
                  <a:prstClr val="black"/>
                </a:solidFill>
                <a:latin typeface="Times New Roman"/>
                <a:ea typeface="+mn-ea"/>
                <a:cs typeface="Times New Roman"/>
              </a:rPr>
              <a:t> </a:t>
            </a:r>
            <a:r>
              <a:rPr lang="en-US" sz="2400" cap="none" spc="-50" dirty="0">
                <a:solidFill>
                  <a:prstClr val="black"/>
                </a:solidFill>
                <a:latin typeface="Times New Roman"/>
                <a:ea typeface="+mn-ea"/>
                <a:cs typeface="Times New Roman"/>
              </a:rPr>
              <a:t>there</a:t>
            </a:r>
            <a:r>
              <a:rPr lang="en-US" sz="2400" cap="none" spc="-20" dirty="0">
                <a:solidFill>
                  <a:prstClr val="black"/>
                </a:solidFill>
                <a:latin typeface="Times New Roman"/>
                <a:ea typeface="+mn-ea"/>
                <a:cs typeface="Times New Roman"/>
              </a:rPr>
              <a:t> </a:t>
            </a:r>
            <a:r>
              <a:rPr lang="en-US" sz="2400" cap="none" spc="-45" dirty="0">
                <a:solidFill>
                  <a:prstClr val="black"/>
                </a:solidFill>
                <a:latin typeface="Times New Roman"/>
                <a:ea typeface="+mn-ea"/>
                <a:cs typeface="Times New Roman"/>
              </a:rPr>
              <a:t>are</a:t>
            </a:r>
            <a:r>
              <a:rPr lang="en-US" sz="2400" cap="none" spc="-25" dirty="0">
                <a:solidFill>
                  <a:prstClr val="black"/>
                </a:solidFill>
                <a:latin typeface="Times New Roman"/>
                <a:ea typeface="+mn-ea"/>
                <a:cs typeface="Times New Roman"/>
              </a:rPr>
              <a:t> </a:t>
            </a:r>
            <a:r>
              <a:rPr lang="en-US" sz="2400" cap="none" spc="-35" dirty="0">
                <a:solidFill>
                  <a:prstClr val="black"/>
                </a:solidFill>
                <a:latin typeface="Times New Roman"/>
                <a:ea typeface="+mn-ea"/>
                <a:cs typeface="Times New Roman"/>
              </a:rPr>
              <a:t>ores</a:t>
            </a:r>
            <a:r>
              <a:rPr lang="en-US" sz="2400" cap="none" spc="-4" dirty="0">
                <a:solidFill>
                  <a:prstClr val="black"/>
                </a:solidFill>
                <a:latin typeface="Times New Roman"/>
                <a:ea typeface="+mn-ea"/>
                <a:cs typeface="Times New Roman"/>
              </a:rPr>
              <a:t> </a:t>
            </a:r>
            <a:r>
              <a:rPr lang="en-US" sz="2400" cap="none" spc="-35" dirty="0">
                <a:solidFill>
                  <a:prstClr val="black"/>
                </a:solidFill>
                <a:latin typeface="Times New Roman"/>
                <a:ea typeface="+mn-ea"/>
                <a:cs typeface="Times New Roman"/>
              </a:rPr>
              <a:t>in</a:t>
            </a:r>
            <a:r>
              <a:rPr lang="en-US" sz="2400" cap="none" spc="-25" dirty="0">
                <a:solidFill>
                  <a:prstClr val="black"/>
                </a:solidFill>
                <a:latin typeface="Times New Roman"/>
                <a:ea typeface="+mn-ea"/>
                <a:cs typeface="Times New Roman"/>
              </a:rPr>
              <a:t> </a:t>
            </a:r>
            <a:r>
              <a:rPr lang="en-US" sz="2400" cap="none" spc="-40" dirty="0">
                <a:solidFill>
                  <a:prstClr val="black"/>
                </a:solidFill>
                <a:latin typeface="Times New Roman"/>
                <a:ea typeface="+mn-ea"/>
                <a:cs typeface="Times New Roman"/>
              </a:rPr>
              <a:t>the</a:t>
            </a:r>
            <a:r>
              <a:rPr lang="en-US" sz="2400" cap="none" spc="-25" dirty="0">
                <a:solidFill>
                  <a:prstClr val="black"/>
                </a:solidFill>
                <a:latin typeface="Times New Roman"/>
                <a:ea typeface="+mn-ea"/>
                <a:cs typeface="Times New Roman"/>
              </a:rPr>
              <a:t> </a:t>
            </a:r>
            <a:r>
              <a:rPr lang="en-US" sz="2400" cap="none" spc="-45" dirty="0">
                <a:solidFill>
                  <a:prstClr val="black"/>
                </a:solidFill>
                <a:latin typeface="Times New Roman"/>
                <a:ea typeface="+mn-ea"/>
                <a:cs typeface="Times New Roman"/>
              </a:rPr>
              <a:t>earth,</a:t>
            </a:r>
            <a:r>
              <a:rPr lang="en-US" sz="2400" cap="none" spc="-25" dirty="0">
                <a:solidFill>
                  <a:prstClr val="black"/>
                </a:solidFill>
                <a:latin typeface="Times New Roman"/>
                <a:ea typeface="+mn-ea"/>
                <a:cs typeface="Times New Roman"/>
              </a:rPr>
              <a:t> </a:t>
            </a:r>
            <a:r>
              <a:rPr lang="en-US" sz="2400" cap="none" spc="-20" dirty="0">
                <a:solidFill>
                  <a:prstClr val="black"/>
                </a:solidFill>
                <a:latin typeface="Times New Roman"/>
                <a:ea typeface="+mn-ea"/>
                <a:cs typeface="Times New Roman"/>
              </a:rPr>
              <a:t>in </a:t>
            </a:r>
            <a:r>
              <a:rPr lang="en-US" sz="2400" cap="none" spc="-40" dirty="0">
                <a:solidFill>
                  <a:prstClr val="black"/>
                </a:solidFill>
                <a:latin typeface="Times New Roman"/>
                <a:ea typeface="+mn-ea"/>
                <a:cs typeface="Times New Roman"/>
              </a:rPr>
              <a:t>rocks</a:t>
            </a:r>
            <a:r>
              <a:rPr lang="en-US" sz="2400" cap="none" spc="-20" dirty="0">
                <a:solidFill>
                  <a:prstClr val="black"/>
                </a:solidFill>
                <a:latin typeface="Times New Roman"/>
                <a:ea typeface="+mn-ea"/>
                <a:cs typeface="Times New Roman"/>
              </a:rPr>
              <a:t> </a:t>
            </a:r>
            <a:r>
              <a:rPr lang="en-US" sz="2400" cap="none" spc="-25" dirty="0">
                <a:solidFill>
                  <a:prstClr val="black"/>
                </a:solidFill>
                <a:latin typeface="Times New Roman"/>
                <a:ea typeface="+mn-ea"/>
                <a:cs typeface="Times New Roman"/>
              </a:rPr>
              <a:t>or </a:t>
            </a:r>
            <a:r>
              <a:rPr lang="en-US" sz="2400" cap="none" spc="-30" dirty="0">
                <a:solidFill>
                  <a:prstClr val="black"/>
                </a:solidFill>
                <a:latin typeface="Times New Roman"/>
                <a:ea typeface="+mn-ea"/>
                <a:cs typeface="Times New Roman"/>
              </a:rPr>
              <a:t>in</a:t>
            </a:r>
            <a:r>
              <a:rPr lang="en-US" sz="2400" cap="none" spc="-55" dirty="0">
                <a:solidFill>
                  <a:prstClr val="black"/>
                </a:solidFill>
                <a:latin typeface="Times New Roman"/>
                <a:ea typeface="+mn-ea"/>
                <a:cs typeface="Times New Roman"/>
              </a:rPr>
              <a:t> </a:t>
            </a:r>
            <a:r>
              <a:rPr lang="en-US" sz="2400" cap="none" spc="-45" dirty="0">
                <a:solidFill>
                  <a:prstClr val="black"/>
                </a:solidFill>
                <a:latin typeface="Times New Roman"/>
                <a:ea typeface="+mn-ea"/>
                <a:cs typeface="Times New Roman"/>
              </a:rPr>
              <a:t>liquid</a:t>
            </a:r>
            <a:r>
              <a:rPr lang="en-US" sz="2400" cap="none" spc="-40" dirty="0">
                <a:solidFill>
                  <a:prstClr val="black"/>
                </a:solidFill>
                <a:latin typeface="Times New Roman"/>
                <a:ea typeface="+mn-ea"/>
                <a:cs typeface="Times New Roman"/>
              </a:rPr>
              <a:t> </a:t>
            </a:r>
            <a:r>
              <a:rPr lang="en-US" sz="2400" cap="none" spc="-45" dirty="0">
                <a:solidFill>
                  <a:prstClr val="black"/>
                </a:solidFill>
                <a:latin typeface="Times New Roman"/>
                <a:ea typeface="+mn-ea"/>
                <a:cs typeface="Times New Roman"/>
              </a:rPr>
              <a:t>form,</a:t>
            </a:r>
            <a:r>
              <a:rPr lang="en-US" sz="2400" cap="none" spc="-50" dirty="0">
                <a:solidFill>
                  <a:prstClr val="black"/>
                </a:solidFill>
                <a:latin typeface="Times New Roman"/>
                <a:ea typeface="+mn-ea"/>
                <a:cs typeface="Times New Roman"/>
              </a:rPr>
              <a:t> </a:t>
            </a:r>
            <a:r>
              <a:rPr lang="en-US" sz="2400" cap="none" spc="-40" dirty="0">
                <a:solidFill>
                  <a:prstClr val="black"/>
                </a:solidFill>
                <a:latin typeface="Times New Roman"/>
                <a:ea typeface="+mn-ea"/>
                <a:cs typeface="Times New Roman"/>
              </a:rPr>
              <a:t>with</a:t>
            </a:r>
            <a:r>
              <a:rPr lang="en-US" sz="2400" cap="none" spc="-50" dirty="0">
                <a:solidFill>
                  <a:prstClr val="black"/>
                </a:solidFill>
                <a:latin typeface="Times New Roman"/>
                <a:ea typeface="+mn-ea"/>
                <a:cs typeface="Times New Roman"/>
              </a:rPr>
              <a:t> excessive</a:t>
            </a:r>
            <a:r>
              <a:rPr lang="en-US" sz="2400" cap="none" spc="-45" dirty="0">
                <a:solidFill>
                  <a:prstClr val="black"/>
                </a:solidFill>
                <a:latin typeface="Times New Roman"/>
                <a:ea typeface="+mn-ea"/>
                <a:cs typeface="Times New Roman"/>
              </a:rPr>
              <a:t> </a:t>
            </a:r>
            <a:r>
              <a:rPr lang="en-US" sz="2400" cap="none" spc="-45" dirty="0" err="1">
                <a:solidFill>
                  <a:prstClr val="black"/>
                </a:solidFill>
                <a:latin typeface="Times New Roman"/>
                <a:ea typeface="+mn-ea"/>
                <a:cs typeface="Times New Roman"/>
              </a:rPr>
              <a:t>colour</a:t>
            </a:r>
            <a:r>
              <a:rPr lang="en-US" sz="2400" cap="none" spc="-45" dirty="0">
                <a:solidFill>
                  <a:prstClr val="black"/>
                </a:solidFill>
                <a:latin typeface="Times New Roman"/>
                <a:ea typeface="+mn-ea"/>
                <a:cs typeface="Times New Roman"/>
              </a:rPr>
              <a:t> </a:t>
            </a:r>
            <a:r>
              <a:rPr lang="en-US" sz="2400" cap="none" spc="-40" dirty="0">
                <a:solidFill>
                  <a:prstClr val="black"/>
                </a:solidFill>
                <a:latin typeface="Times New Roman"/>
                <a:ea typeface="+mn-ea"/>
                <a:cs typeface="Times New Roman"/>
              </a:rPr>
              <a:t>and</a:t>
            </a:r>
            <a:r>
              <a:rPr lang="en-US" sz="2400" cap="none" spc="-50" dirty="0">
                <a:solidFill>
                  <a:prstClr val="black"/>
                </a:solidFill>
                <a:latin typeface="Times New Roman"/>
                <a:ea typeface="+mn-ea"/>
                <a:cs typeface="Times New Roman"/>
              </a:rPr>
              <a:t> heaviness</a:t>
            </a:r>
            <a:r>
              <a:rPr lang="en-US" sz="2400" cap="none" spc="-40" dirty="0">
                <a:solidFill>
                  <a:prstClr val="black"/>
                </a:solidFill>
                <a:latin typeface="Times New Roman"/>
                <a:ea typeface="+mn-ea"/>
                <a:cs typeface="Times New Roman"/>
              </a:rPr>
              <a:t> and with</a:t>
            </a:r>
            <a:r>
              <a:rPr lang="en-US" sz="2400" cap="none" spc="-55" dirty="0">
                <a:solidFill>
                  <a:prstClr val="black"/>
                </a:solidFill>
                <a:latin typeface="Times New Roman"/>
                <a:ea typeface="+mn-ea"/>
                <a:cs typeface="Times New Roman"/>
              </a:rPr>
              <a:t> </a:t>
            </a:r>
            <a:r>
              <a:rPr lang="en-US" sz="2400" cap="none" spc="-10" dirty="0">
                <a:solidFill>
                  <a:prstClr val="black"/>
                </a:solidFill>
                <a:latin typeface="Times New Roman"/>
                <a:ea typeface="+mn-ea"/>
                <a:cs typeface="Times New Roman"/>
              </a:rPr>
              <a:t>a</a:t>
            </a:r>
            <a:r>
              <a:rPr lang="en-US" sz="2400" cap="none" spc="-45" dirty="0">
                <a:solidFill>
                  <a:prstClr val="black"/>
                </a:solidFill>
                <a:latin typeface="Times New Roman"/>
                <a:ea typeface="+mn-ea"/>
                <a:cs typeface="Times New Roman"/>
              </a:rPr>
              <a:t> strong</a:t>
            </a:r>
            <a:r>
              <a:rPr lang="en-US" sz="2400" cap="none" spc="-65" dirty="0">
                <a:solidFill>
                  <a:prstClr val="black"/>
                </a:solidFill>
                <a:latin typeface="Times New Roman"/>
                <a:ea typeface="+mn-ea"/>
                <a:cs typeface="Times New Roman"/>
              </a:rPr>
              <a:t> </a:t>
            </a:r>
            <a:r>
              <a:rPr lang="en-US" sz="2400" cap="none" spc="-45" dirty="0">
                <a:solidFill>
                  <a:prstClr val="black"/>
                </a:solidFill>
                <a:latin typeface="Times New Roman"/>
                <a:ea typeface="+mn-ea"/>
                <a:cs typeface="Times New Roman"/>
              </a:rPr>
              <a:t>smell</a:t>
            </a:r>
            <a:r>
              <a:rPr lang="en-US" sz="2400" cap="none" spc="-35" dirty="0">
                <a:solidFill>
                  <a:prstClr val="black"/>
                </a:solidFill>
                <a:latin typeface="Times New Roman"/>
                <a:ea typeface="+mn-ea"/>
                <a:cs typeface="Times New Roman"/>
              </a:rPr>
              <a:t> </a:t>
            </a:r>
            <a:r>
              <a:rPr lang="en-US" sz="2400" cap="none" spc="-40" dirty="0" smtClean="0">
                <a:solidFill>
                  <a:prstClr val="black"/>
                </a:solidFill>
                <a:latin typeface="Times New Roman"/>
                <a:ea typeface="+mn-ea"/>
                <a:cs typeface="Times New Roman"/>
              </a:rPr>
              <a:t>and</a:t>
            </a:r>
            <a:r>
              <a:rPr lang="en-US" sz="2400" cap="none" spc="-50" dirty="0" smtClean="0">
                <a:solidFill>
                  <a:prstClr val="black"/>
                </a:solidFill>
                <a:latin typeface="Times New Roman"/>
                <a:ea typeface="+mn-ea"/>
                <a:cs typeface="Times New Roman"/>
              </a:rPr>
              <a:t> </a:t>
            </a:r>
            <a:r>
              <a:rPr lang="en-US" sz="2400" cap="none" spc="-10" dirty="0" smtClean="0">
                <a:solidFill>
                  <a:prstClr val="black"/>
                </a:solidFill>
                <a:latin typeface="Times New Roman"/>
                <a:ea typeface="+mn-ea"/>
                <a:cs typeface="Times New Roman"/>
              </a:rPr>
              <a:t>taste</a:t>
            </a:r>
            <a:r>
              <a:rPr lang="en-US" sz="2400" cap="none" spc="-10" dirty="0">
                <a:solidFill>
                  <a:prstClr val="black"/>
                </a:solidFill>
                <a:latin typeface="Times New Roman"/>
                <a:ea typeface="+mn-ea"/>
                <a:cs typeface="Times New Roman"/>
              </a:rPr>
              <a:t>.</a:t>
            </a:r>
            <a:br>
              <a:rPr lang="en-US" sz="2400" cap="none" spc="-10" dirty="0">
                <a:solidFill>
                  <a:prstClr val="black"/>
                </a:solidFill>
                <a:latin typeface="Times New Roman"/>
                <a:ea typeface="+mn-ea"/>
                <a:cs typeface="Times New Roman"/>
              </a:rPr>
            </a:br>
            <a:endParaRPr lang="en-US" dirty="0"/>
          </a:p>
        </p:txBody>
      </p:sp>
    </p:spTree>
    <p:extLst>
      <p:ext uri="{BB962C8B-B14F-4D97-AF65-F5344CB8AC3E}">
        <p14:creationId xmlns:p14="http://schemas.microsoft.com/office/powerpoint/2010/main" val="391395154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887511" y="517975"/>
            <a:ext cx="8184776" cy="4311693"/>
          </a:xfrm>
          <a:prstGeom prst="rect">
            <a:avLst/>
          </a:prstGeom>
        </p:spPr>
        <p:txBody>
          <a:bodyPr wrap="square" lIns="91378" tIns="45688" rIns="91378" bIns="45688">
            <a:spAutoFit/>
          </a:bodyPr>
          <a:lstStyle/>
          <a:p>
            <a:pPr marL="38073" marR="32361" algn="just">
              <a:spcBef>
                <a:spcPts val="14"/>
              </a:spcBef>
            </a:pPr>
            <a:endParaRPr lang="en-US" sz="2400" spc="-10" dirty="0">
              <a:latin typeface="Times New Roman"/>
              <a:cs typeface="Times New Roman"/>
            </a:endParaRPr>
          </a:p>
          <a:p>
            <a:pPr marL="491780" lvl="3" indent="-469571" algn="just">
              <a:lnSpc>
                <a:spcPct val="150000"/>
              </a:lnSpc>
              <a:buFont typeface="+mj-lt"/>
              <a:buAutoNum type="alphaUcPeriod" startAt="3"/>
              <a:tabLst>
                <a:tab pos="491780" algn="l"/>
              </a:tabLst>
            </a:pPr>
            <a:r>
              <a:rPr lang="en-US" sz="2400" b="1" spc="-50" dirty="0" err="1">
                <a:solidFill>
                  <a:srgbClr val="00B050"/>
                </a:solidFill>
                <a:latin typeface="Times New Roman"/>
                <a:cs typeface="Times New Roman"/>
              </a:rPr>
              <a:t>Varahamihira</a:t>
            </a:r>
            <a:r>
              <a:rPr lang="en-US" sz="2400" b="1" spc="-14" dirty="0">
                <a:solidFill>
                  <a:srgbClr val="00B050"/>
                </a:solidFill>
                <a:latin typeface="Times New Roman"/>
                <a:cs typeface="Times New Roman"/>
              </a:rPr>
              <a:t> </a:t>
            </a:r>
            <a:r>
              <a:rPr lang="en-US" sz="2400" spc="-45" dirty="0">
                <a:solidFill>
                  <a:srgbClr val="00B050"/>
                </a:solidFill>
                <a:latin typeface="Times New Roman"/>
                <a:cs typeface="Times New Roman"/>
              </a:rPr>
              <a:t>(5th</a:t>
            </a:r>
            <a:r>
              <a:rPr lang="en-US" sz="2400" spc="-14" dirty="0">
                <a:solidFill>
                  <a:srgbClr val="00B050"/>
                </a:solidFill>
                <a:latin typeface="Times New Roman"/>
                <a:cs typeface="Times New Roman"/>
              </a:rPr>
              <a:t> </a:t>
            </a:r>
            <a:r>
              <a:rPr lang="en-US" sz="2400" spc="-20" dirty="0">
                <a:solidFill>
                  <a:srgbClr val="00B050"/>
                </a:solidFill>
                <a:latin typeface="Times New Roman"/>
                <a:cs typeface="Times New Roman"/>
              </a:rPr>
              <a:t>CE):</a:t>
            </a:r>
            <a:endParaRPr lang="en-US" sz="2400" dirty="0" smtClean="0">
              <a:solidFill>
                <a:srgbClr val="00B050"/>
              </a:solidFill>
              <a:latin typeface="Times New Roman"/>
              <a:cs typeface="Times New Roman"/>
            </a:endParaRPr>
          </a:p>
          <a:p>
            <a:pPr marL="38073" marR="35535" indent="456244" algn="just">
              <a:lnSpc>
                <a:spcPct val="150000"/>
              </a:lnSpc>
              <a:spcBef>
                <a:spcPts val="65"/>
              </a:spcBef>
            </a:pPr>
            <a:r>
              <a:rPr lang="en-US" sz="2400" dirty="0" smtClean="0">
                <a:latin typeface="Times New Roman"/>
                <a:cs typeface="Times New Roman"/>
              </a:rPr>
              <a:t>In</a:t>
            </a:r>
            <a:r>
              <a:rPr lang="en-US" sz="2400" spc="50" dirty="0">
                <a:latin typeface="Times New Roman"/>
                <a:cs typeface="Times New Roman"/>
              </a:rPr>
              <a:t> </a:t>
            </a:r>
            <a:r>
              <a:rPr lang="en-US" sz="2400" spc="-30" dirty="0" err="1">
                <a:latin typeface="Times New Roman"/>
                <a:cs typeface="Times New Roman"/>
              </a:rPr>
              <a:t>Khaḍgalakṣaṇam</a:t>
            </a:r>
            <a:r>
              <a:rPr lang="en-US" sz="2400" spc="-30" dirty="0">
                <a:latin typeface="Times New Roman"/>
                <a:cs typeface="Times New Roman"/>
              </a:rPr>
              <a:t>,</a:t>
            </a:r>
            <a:r>
              <a:rPr lang="en-US" sz="2400" spc="55" dirty="0">
                <a:latin typeface="Times New Roman"/>
                <a:cs typeface="Times New Roman"/>
              </a:rPr>
              <a:t> </a:t>
            </a:r>
            <a:r>
              <a:rPr lang="en-US" sz="2400" spc="-30" dirty="0" err="1">
                <a:latin typeface="Times New Roman"/>
                <a:cs typeface="Times New Roman"/>
              </a:rPr>
              <a:t>Varahamihira</a:t>
            </a:r>
            <a:r>
              <a:rPr lang="en-US" sz="2400" spc="50" dirty="0">
                <a:latin typeface="Times New Roman"/>
                <a:cs typeface="Times New Roman"/>
              </a:rPr>
              <a:t> </a:t>
            </a:r>
            <a:r>
              <a:rPr lang="en-US" sz="2400" spc="-10" dirty="0">
                <a:latin typeface="Times New Roman"/>
                <a:cs typeface="Times New Roman"/>
              </a:rPr>
              <a:t>explains</a:t>
            </a:r>
            <a:r>
              <a:rPr lang="en-US" sz="2400" spc="50" dirty="0">
                <a:latin typeface="Times New Roman"/>
                <a:cs typeface="Times New Roman"/>
              </a:rPr>
              <a:t> </a:t>
            </a:r>
            <a:r>
              <a:rPr lang="en-US" sz="2400" dirty="0" smtClean="0">
                <a:latin typeface="Times New Roman"/>
                <a:cs typeface="Times New Roman"/>
              </a:rPr>
              <a:t>the</a:t>
            </a:r>
            <a:r>
              <a:rPr lang="en-US" sz="2400" spc="50" dirty="0">
                <a:latin typeface="Times New Roman"/>
                <a:cs typeface="Times New Roman"/>
              </a:rPr>
              <a:t> </a:t>
            </a:r>
            <a:r>
              <a:rPr lang="en-US" sz="2400" spc="-10" dirty="0">
                <a:latin typeface="Times New Roman"/>
                <a:cs typeface="Times New Roman"/>
              </a:rPr>
              <a:t>process</a:t>
            </a:r>
            <a:r>
              <a:rPr lang="en-US" sz="2400" spc="55" dirty="0">
                <a:latin typeface="Times New Roman"/>
                <a:cs typeface="Times New Roman"/>
              </a:rPr>
              <a:t> </a:t>
            </a:r>
            <a:r>
              <a:rPr lang="en-US" sz="2400" dirty="0" smtClean="0">
                <a:latin typeface="Times New Roman"/>
                <a:cs typeface="Times New Roman"/>
              </a:rPr>
              <a:t>of</a:t>
            </a:r>
            <a:r>
              <a:rPr lang="en-US" sz="2400" spc="50" dirty="0">
                <a:latin typeface="Times New Roman"/>
                <a:cs typeface="Times New Roman"/>
              </a:rPr>
              <a:t> </a:t>
            </a:r>
            <a:r>
              <a:rPr lang="en-US" sz="2400" spc="-30" dirty="0">
                <a:solidFill>
                  <a:srgbClr val="C00000"/>
                </a:solidFill>
                <a:latin typeface="Times New Roman"/>
                <a:cs typeface="Times New Roman"/>
              </a:rPr>
              <a:t>carburization</a:t>
            </a:r>
            <a:r>
              <a:rPr lang="en-US" sz="2400" spc="55" dirty="0">
                <a:solidFill>
                  <a:srgbClr val="C00000"/>
                </a:solidFill>
                <a:latin typeface="Times New Roman"/>
                <a:cs typeface="Times New Roman"/>
              </a:rPr>
              <a:t> </a:t>
            </a:r>
            <a:r>
              <a:rPr lang="en-US" sz="2400" dirty="0" smtClean="0">
                <a:solidFill>
                  <a:srgbClr val="C00000"/>
                </a:solidFill>
                <a:latin typeface="Times New Roman"/>
                <a:cs typeface="Times New Roman"/>
              </a:rPr>
              <a:t>and</a:t>
            </a:r>
            <a:r>
              <a:rPr lang="en-US" sz="2400" spc="45" dirty="0">
                <a:solidFill>
                  <a:srgbClr val="C00000"/>
                </a:solidFill>
                <a:latin typeface="Times New Roman"/>
                <a:cs typeface="Times New Roman"/>
              </a:rPr>
              <a:t> </a:t>
            </a:r>
            <a:r>
              <a:rPr lang="en-US" sz="2400" spc="-20" dirty="0">
                <a:solidFill>
                  <a:srgbClr val="C00000"/>
                </a:solidFill>
                <a:latin typeface="Times New Roman"/>
                <a:cs typeface="Times New Roman"/>
              </a:rPr>
              <a:t>hardening</a:t>
            </a:r>
            <a:r>
              <a:rPr lang="en-US" sz="2400" spc="40" dirty="0">
                <a:solidFill>
                  <a:srgbClr val="C00000"/>
                </a:solidFill>
                <a:latin typeface="Times New Roman"/>
                <a:cs typeface="Times New Roman"/>
              </a:rPr>
              <a:t> </a:t>
            </a:r>
            <a:r>
              <a:rPr lang="en-US" sz="2400" dirty="0" smtClean="0">
                <a:solidFill>
                  <a:srgbClr val="C00000"/>
                </a:solidFill>
                <a:latin typeface="Times New Roman"/>
                <a:cs typeface="Times New Roman"/>
              </a:rPr>
              <a:t>of</a:t>
            </a:r>
            <a:r>
              <a:rPr lang="en-US" sz="2400" spc="50" dirty="0">
                <a:solidFill>
                  <a:srgbClr val="C00000"/>
                </a:solidFill>
                <a:latin typeface="Times New Roman"/>
                <a:cs typeface="Times New Roman"/>
              </a:rPr>
              <a:t> </a:t>
            </a:r>
            <a:r>
              <a:rPr lang="en-US" sz="2400" spc="-20" dirty="0">
                <a:solidFill>
                  <a:srgbClr val="C00000"/>
                </a:solidFill>
                <a:latin typeface="Times New Roman"/>
                <a:cs typeface="Times New Roman"/>
              </a:rPr>
              <a:t>iron </a:t>
            </a:r>
            <a:r>
              <a:rPr lang="en-US" sz="2400" spc="-40" dirty="0">
                <a:solidFill>
                  <a:srgbClr val="C00000"/>
                </a:solidFill>
                <a:latin typeface="Times New Roman"/>
                <a:cs typeface="Times New Roman"/>
              </a:rPr>
              <a:t>swords</a:t>
            </a:r>
            <a:r>
              <a:rPr lang="en-US" sz="2400" spc="-40" dirty="0">
                <a:latin typeface="Times New Roman"/>
                <a:cs typeface="Times New Roman"/>
              </a:rPr>
              <a:t>.</a:t>
            </a:r>
            <a:r>
              <a:rPr lang="en-US" sz="2400" spc="-35" dirty="0">
                <a:latin typeface="Times New Roman"/>
                <a:cs typeface="Times New Roman"/>
              </a:rPr>
              <a:t> </a:t>
            </a:r>
          </a:p>
          <a:p>
            <a:pPr marL="38073" marR="35535" indent="456244" algn="just">
              <a:lnSpc>
                <a:spcPct val="150000"/>
              </a:lnSpc>
              <a:spcBef>
                <a:spcPts val="65"/>
              </a:spcBef>
            </a:pPr>
            <a:r>
              <a:rPr lang="en-US" sz="2400" spc="-50" dirty="0">
                <a:latin typeface="Times New Roman"/>
                <a:cs typeface="Times New Roman"/>
              </a:rPr>
              <a:t>Carburization</a:t>
            </a:r>
            <a:r>
              <a:rPr lang="en-US" sz="2400" spc="-25" dirty="0">
                <a:latin typeface="Times New Roman"/>
                <a:cs typeface="Times New Roman"/>
              </a:rPr>
              <a:t> </a:t>
            </a:r>
            <a:r>
              <a:rPr lang="en-US" sz="2400" spc="-20" dirty="0">
                <a:latin typeface="Times New Roman"/>
                <a:cs typeface="Times New Roman"/>
              </a:rPr>
              <a:t>is</a:t>
            </a:r>
            <a:r>
              <a:rPr lang="en-US" sz="2400" spc="-55" dirty="0">
                <a:latin typeface="Times New Roman"/>
                <a:cs typeface="Times New Roman"/>
              </a:rPr>
              <a:t> </a:t>
            </a:r>
            <a:r>
              <a:rPr lang="en-US" sz="2400" spc="-45" dirty="0">
                <a:latin typeface="Times New Roman"/>
                <a:cs typeface="Times New Roman"/>
              </a:rPr>
              <a:t>the</a:t>
            </a:r>
            <a:r>
              <a:rPr lang="en-US" sz="2400" spc="-30" dirty="0">
                <a:latin typeface="Times New Roman"/>
                <a:cs typeface="Times New Roman"/>
              </a:rPr>
              <a:t> </a:t>
            </a:r>
            <a:r>
              <a:rPr lang="en-US" sz="2400" spc="-45" dirty="0">
                <a:latin typeface="Times New Roman"/>
                <a:cs typeface="Times New Roman"/>
              </a:rPr>
              <a:t>controlled</a:t>
            </a:r>
            <a:r>
              <a:rPr lang="en-US" sz="2400" spc="-30" dirty="0">
                <a:latin typeface="Times New Roman"/>
                <a:cs typeface="Times New Roman"/>
              </a:rPr>
              <a:t> </a:t>
            </a:r>
            <a:r>
              <a:rPr lang="en-US" sz="2400" spc="-45" dirty="0">
                <a:solidFill>
                  <a:srgbClr val="C00000"/>
                </a:solidFill>
                <a:latin typeface="Times New Roman"/>
                <a:cs typeface="Times New Roman"/>
              </a:rPr>
              <a:t>addition</a:t>
            </a:r>
            <a:r>
              <a:rPr lang="en-US" sz="2400" spc="-20" dirty="0">
                <a:solidFill>
                  <a:srgbClr val="C00000"/>
                </a:solidFill>
                <a:latin typeface="Times New Roman"/>
                <a:cs typeface="Times New Roman"/>
              </a:rPr>
              <a:t> </a:t>
            </a:r>
            <a:r>
              <a:rPr lang="en-US" sz="2400" spc="-10" dirty="0">
                <a:solidFill>
                  <a:srgbClr val="C00000"/>
                </a:solidFill>
                <a:latin typeface="Times New Roman"/>
                <a:cs typeface="Times New Roman"/>
              </a:rPr>
              <a:t>of</a:t>
            </a:r>
            <a:r>
              <a:rPr lang="en-US" sz="2400" spc="-25" dirty="0">
                <a:solidFill>
                  <a:srgbClr val="C00000"/>
                </a:solidFill>
                <a:latin typeface="Times New Roman"/>
                <a:cs typeface="Times New Roman"/>
              </a:rPr>
              <a:t> </a:t>
            </a:r>
            <a:r>
              <a:rPr lang="en-US" sz="2400" spc="-45" dirty="0">
                <a:solidFill>
                  <a:srgbClr val="C00000"/>
                </a:solidFill>
                <a:latin typeface="Times New Roman"/>
                <a:cs typeface="Times New Roman"/>
              </a:rPr>
              <a:t>carbon</a:t>
            </a:r>
            <a:r>
              <a:rPr lang="en-US" sz="2400" spc="-30" dirty="0">
                <a:solidFill>
                  <a:srgbClr val="C00000"/>
                </a:solidFill>
                <a:latin typeface="Times New Roman"/>
                <a:cs typeface="Times New Roman"/>
              </a:rPr>
              <a:t> </a:t>
            </a:r>
            <a:r>
              <a:rPr lang="en-US" sz="2400" spc="-20" dirty="0">
                <a:solidFill>
                  <a:srgbClr val="C00000"/>
                </a:solidFill>
                <a:latin typeface="Times New Roman"/>
                <a:cs typeface="Times New Roman"/>
              </a:rPr>
              <a:t>to</a:t>
            </a:r>
            <a:r>
              <a:rPr lang="en-US" sz="2400" spc="-35" dirty="0">
                <a:solidFill>
                  <a:srgbClr val="C00000"/>
                </a:solidFill>
                <a:latin typeface="Times New Roman"/>
                <a:cs typeface="Times New Roman"/>
              </a:rPr>
              <a:t> </a:t>
            </a:r>
            <a:r>
              <a:rPr lang="en-US" sz="2400" spc="-45" dirty="0">
                <a:solidFill>
                  <a:srgbClr val="C00000"/>
                </a:solidFill>
                <a:latin typeface="Times New Roman"/>
                <a:cs typeface="Times New Roman"/>
              </a:rPr>
              <a:t>iron</a:t>
            </a:r>
            <a:r>
              <a:rPr lang="en-US" sz="2400" spc="-45" dirty="0">
                <a:latin typeface="Times New Roman"/>
                <a:cs typeface="Times New Roman"/>
              </a:rPr>
              <a:t>,</a:t>
            </a:r>
            <a:r>
              <a:rPr lang="en-US" sz="2400" spc="-25" dirty="0">
                <a:latin typeface="Times New Roman"/>
                <a:cs typeface="Times New Roman"/>
              </a:rPr>
              <a:t> </a:t>
            </a:r>
            <a:r>
              <a:rPr lang="en-US" sz="2400" dirty="0" smtClean="0">
                <a:latin typeface="Times New Roman"/>
                <a:cs typeface="Times New Roman"/>
              </a:rPr>
              <a:t>so</a:t>
            </a:r>
            <a:r>
              <a:rPr lang="en-US" sz="2400" spc="-20" dirty="0">
                <a:latin typeface="Times New Roman"/>
                <a:cs typeface="Times New Roman"/>
              </a:rPr>
              <a:t> </a:t>
            </a:r>
            <a:r>
              <a:rPr lang="en-US" sz="2400" spc="-30" dirty="0">
                <a:latin typeface="Times New Roman"/>
                <a:cs typeface="Times New Roman"/>
              </a:rPr>
              <a:t>as</a:t>
            </a:r>
            <a:r>
              <a:rPr lang="en-US" sz="2400" spc="-20" dirty="0">
                <a:latin typeface="Times New Roman"/>
                <a:cs typeface="Times New Roman"/>
              </a:rPr>
              <a:t> </a:t>
            </a:r>
            <a:r>
              <a:rPr lang="en-US" sz="2400" spc="-30" dirty="0">
                <a:solidFill>
                  <a:srgbClr val="C00000"/>
                </a:solidFill>
                <a:latin typeface="Times New Roman"/>
                <a:cs typeface="Times New Roman"/>
              </a:rPr>
              <a:t>to</a:t>
            </a:r>
            <a:r>
              <a:rPr lang="en-US" sz="2400" spc="-25" dirty="0">
                <a:solidFill>
                  <a:srgbClr val="C00000"/>
                </a:solidFill>
                <a:latin typeface="Times New Roman"/>
                <a:cs typeface="Times New Roman"/>
              </a:rPr>
              <a:t> </a:t>
            </a:r>
            <a:r>
              <a:rPr lang="en-US" sz="2400" spc="-45" dirty="0">
                <a:solidFill>
                  <a:srgbClr val="C00000"/>
                </a:solidFill>
                <a:latin typeface="Times New Roman"/>
                <a:cs typeface="Times New Roman"/>
              </a:rPr>
              <a:t>turn</a:t>
            </a:r>
            <a:r>
              <a:rPr lang="en-US" sz="2400" spc="-30" dirty="0">
                <a:solidFill>
                  <a:srgbClr val="C00000"/>
                </a:solidFill>
                <a:latin typeface="Times New Roman"/>
                <a:cs typeface="Times New Roman"/>
              </a:rPr>
              <a:t> it </a:t>
            </a:r>
            <a:r>
              <a:rPr lang="en-US" sz="2400" spc="-35" dirty="0">
                <a:solidFill>
                  <a:srgbClr val="C00000"/>
                </a:solidFill>
                <a:latin typeface="Times New Roman"/>
                <a:cs typeface="Times New Roman"/>
              </a:rPr>
              <a:t>into</a:t>
            </a:r>
            <a:r>
              <a:rPr lang="en-US" sz="2400" spc="-25" dirty="0">
                <a:solidFill>
                  <a:srgbClr val="C00000"/>
                </a:solidFill>
                <a:latin typeface="Times New Roman"/>
                <a:cs typeface="Times New Roman"/>
              </a:rPr>
              <a:t> </a:t>
            </a:r>
            <a:r>
              <a:rPr lang="en-US" sz="2400" spc="-45" dirty="0" smtClean="0">
                <a:solidFill>
                  <a:srgbClr val="C00000"/>
                </a:solidFill>
                <a:latin typeface="Times New Roman"/>
                <a:cs typeface="Times New Roman"/>
              </a:rPr>
              <a:t>steel</a:t>
            </a:r>
            <a:r>
              <a:rPr lang="en-US" sz="2400" spc="-45" dirty="0">
                <a:latin typeface="Times New Roman"/>
                <a:cs typeface="Times New Roman"/>
              </a:rPr>
              <a:t>.</a:t>
            </a:r>
            <a:r>
              <a:rPr lang="en-US" sz="2400" spc="-20" dirty="0" smtClean="0">
                <a:latin typeface="Times New Roman"/>
                <a:cs typeface="Times New Roman"/>
              </a:rPr>
              <a:t> </a:t>
            </a:r>
          </a:p>
          <a:p>
            <a:pPr marL="38073" marR="35535" indent="456244" algn="just">
              <a:lnSpc>
                <a:spcPct val="150000"/>
              </a:lnSpc>
              <a:spcBef>
                <a:spcPts val="65"/>
              </a:spcBef>
            </a:pPr>
            <a:r>
              <a:rPr lang="en-US" sz="2400" spc="-45" dirty="0" smtClean="0">
                <a:latin typeface="Times New Roman"/>
                <a:cs typeface="Times New Roman"/>
              </a:rPr>
              <a:t>It</a:t>
            </a:r>
            <a:r>
              <a:rPr lang="en-US" sz="2400" spc="-30" dirty="0" smtClean="0">
                <a:latin typeface="Times New Roman"/>
                <a:cs typeface="Times New Roman"/>
              </a:rPr>
              <a:t> </a:t>
            </a:r>
            <a:r>
              <a:rPr lang="en-US" sz="2400" spc="-10" dirty="0">
                <a:latin typeface="Times New Roman"/>
                <a:cs typeface="Times New Roman"/>
              </a:rPr>
              <a:t>is</a:t>
            </a:r>
            <a:r>
              <a:rPr lang="en-US" sz="2400" spc="-14" dirty="0">
                <a:latin typeface="Times New Roman"/>
                <a:cs typeface="Times New Roman"/>
              </a:rPr>
              <a:t> </a:t>
            </a:r>
            <a:r>
              <a:rPr lang="en-US" sz="2400" spc="-45" dirty="0">
                <a:latin typeface="Times New Roman"/>
                <a:cs typeface="Times New Roman"/>
              </a:rPr>
              <a:t>usually</a:t>
            </a:r>
            <a:r>
              <a:rPr lang="en-US" sz="2400" spc="-30" dirty="0">
                <a:latin typeface="Times New Roman"/>
                <a:cs typeface="Times New Roman"/>
              </a:rPr>
              <a:t> </a:t>
            </a:r>
            <a:r>
              <a:rPr lang="en-US" sz="2400" spc="-20" dirty="0">
                <a:latin typeface="Times New Roman"/>
                <a:cs typeface="Times New Roman"/>
              </a:rPr>
              <a:t>done by</a:t>
            </a:r>
            <a:r>
              <a:rPr lang="en-US" sz="2400" spc="-90" dirty="0">
                <a:latin typeface="Times New Roman"/>
                <a:cs typeface="Times New Roman"/>
              </a:rPr>
              <a:t> </a:t>
            </a:r>
            <a:r>
              <a:rPr lang="en-US" sz="2400" spc="-45" dirty="0">
                <a:latin typeface="Times New Roman"/>
                <a:cs typeface="Times New Roman"/>
              </a:rPr>
              <a:t>adding organic </a:t>
            </a:r>
            <a:r>
              <a:rPr lang="en-US" sz="2400" spc="-50" dirty="0">
                <a:latin typeface="Times New Roman"/>
                <a:cs typeface="Times New Roman"/>
              </a:rPr>
              <a:t>substances,</a:t>
            </a:r>
            <a:r>
              <a:rPr lang="en-US" sz="2400" spc="-35" dirty="0">
                <a:latin typeface="Times New Roman"/>
                <a:cs typeface="Times New Roman"/>
              </a:rPr>
              <a:t> </a:t>
            </a:r>
            <a:r>
              <a:rPr lang="en-US" sz="2400" spc="-45" dirty="0">
                <a:latin typeface="Times New Roman"/>
                <a:cs typeface="Times New Roman"/>
              </a:rPr>
              <a:t>whether</a:t>
            </a:r>
            <a:r>
              <a:rPr lang="en-US" sz="2400" spc="-55" dirty="0">
                <a:latin typeface="Times New Roman"/>
                <a:cs typeface="Times New Roman"/>
              </a:rPr>
              <a:t> </a:t>
            </a:r>
            <a:r>
              <a:rPr lang="en-US" sz="2400" spc="-50" dirty="0">
                <a:solidFill>
                  <a:srgbClr val="C00000"/>
                </a:solidFill>
                <a:latin typeface="Times New Roman"/>
                <a:cs typeface="Times New Roman"/>
              </a:rPr>
              <a:t>vegetal</a:t>
            </a:r>
            <a:r>
              <a:rPr lang="en-US" sz="2400" spc="-45" dirty="0">
                <a:solidFill>
                  <a:srgbClr val="C00000"/>
                </a:solidFill>
                <a:latin typeface="Times New Roman"/>
                <a:cs typeface="Times New Roman"/>
              </a:rPr>
              <a:t> </a:t>
            </a:r>
            <a:r>
              <a:rPr lang="en-US" sz="2400" spc="-30" dirty="0">
                <a:solidFill>
                  <a:srgbClr val="C00000"/>
                </a:solidFill>
                <a:latin typeface="Times New Roman"/>
                <a:cs typeface="Times New Roman"/>
              </a:rPr>
              <a:t>or</a:t>
            </a:r>
            <a:r>
              <a:rPr lang="en-US" sz="2400" spc="-45" dirty="0">
                <a:solidFill>
                  <a:srgbClr val="C00000"/>
                </a:solidFill>
                <a:latin typeface="Times New Roman"/>
                <a:cs typeface="Times New Roman"/>
              </a:rPr>
              <a:t> </a:t>
            </a:r>
            <a:r>
              <a:rPr lang="en-US" sz="2400" spc="-50" dirty="0">
                <a:solidFill>
                  <a:srgbClr val="C00000"/>
                </a:solidFill>
                <a:latin typeface="Times New Roman"/>
                <a:cs typeface="Times New Roman"/>
              </a:rPr>
              <a:t>animal</a:t>
            </a:r>
            <a:r>
              <a:rPr lang="en-US" sz="2400" spc="-50" dirty="0">
                <a:latin typeface="Times New Roman"/>
                <a:cs typeface="Times New Roman"/>
              </a:rPr>
              <a:t>,</a:t>
            </a:r>
            <a:r>
              <a:rPr lang="en-US" sz="2400" spc="-45" dirty="0">
                <a:latin typeface="Times New Roman"/>
                <a:cs typeface="Times New Roman"/>
              </a:rPr>
              <a:t> </a:t>
            </a:r>
            <a:r>
              <a:rPr lang="en-US" sz="2400" spc="-30" dirty="0">
                <a:latin typeface="Times New Roman"/>
                <a:cs typeface="Times New Roman"/>
              </a:rPr>
              <a:t>in</a:t>
            </a:r>
            <a:r>
              <a:rPr lang="en-US" sz="2400" spc="-50" dirty="0">
                <a:latin typeface="Times New Roman"/>
                <a:cs typeface="Times New Roman"/>
              </a:rPr>
              <a:t> </a:t>
            </a:r>
            <a:r>
              <a:rPr lang="en-US" sz="2400" spc="-35" dirty="0">
                <a:latin typeface="Times New Roman"/>
                <a:cs typeface="Times New Roman"/>
              </a:rPr>
              <a:t>the</a:t>
            </a:r>
            <a:r>
              <a:rPr lang="en-US" sz="2400" spc="-55" dirty="0">
                <a:latin typeface="Times New Roman"/>
                <a:cs typeface="Times New Roman"/>
              </a:rPr>
              <a:t> </a:t>
            </a:r>
            <a:r>
              <a:rPr lang="en-US" sz="2400" spc="-45" dirty="0">
                <a:latin typeface="Times New Roman"/>
                <a:cs typeface="Times New Roman"/>
              </a:rPr>
              <a:t>course</a:t>
            </a:r>
            <a:r>
              <a:rPr lang="en-US" sz="2400" spc="-40" dirty="0">
                <a:latin typeface="Times New Roman"/>
                <a:cs typeface="Times New Roman"/>
              </a:rPr>
              <a:t> </a:t>
            </a:r>
            <a:r>
              <a:rPr lang="en-US" sz="2400" spc="-30" dirty="0">
                <a:latin typeface="Times New Roman"/>
                <a:cs typeface="Times New Roman"/>
              </a:rPr>
              <a:t>of</a:t>
            </a:r>
            <a:r>
              <a:rPr lang="en-US" sz="2400" spc="-55" dirty="0">
                <a:latin typeface="Times New Roman"/>
                <a:cs typeface="Times New Roman"/>
              </a:rPr>
              <a:t> </a:t>
            </a:r>
            <a:r>
              <a:rPr lang="en-US" sz="2400" spc="-35" dirty="0">
                <a:latin typeface="Times New Roman"/>
                <a:cs typeface="Times New Roman"/>
              </a:rPr>
              <a:t>the</a:t>
            </a:r>
            <a:r>
              <a:rPr lang="en-US" sz="2400" spc="-50" dirty="0">
                <a:latin typeface="Times New Roman"/>
                <a:cs typeface="Times New Roman"/>
              </a:rPr>
              <a:t> </a:t>
            </a:r>
            <a:r>
              <a:rPr lang="en-US" sz="2400" spc="-10" dirty="0">
                <a:latin typeface="Times New Roman"/>
                <a:cs typeface="Times New Roman"/>
              </a:rPr>
              <a:t>smelting</a:t>
            </a:r>
            <a:r>
              <a:rPr lang="en-US" sz="2400" spc="-10" dirty="0" smtClean="0">
                <a:latin typeface="Times New Roman"/>
                <a:cs typeface="Times New Roman"/>
              </a:rPr>
              <a:t>.</a:t>
            </a:r>
            <a:endParaRPr lang="en-US" sz="2400" spc="-10" dirty="0">
              <a:latin typeface="Times New Roman"/>
              <a:cs typeface="Times New Roman"/>
            </a:endParaRPr>
          </a:p>
        </p:txBody>
      </p:sp>
    </p:spTree>
    <p:extLst>
      <p:ext uri="{BB962C8B-B14F-4D97-AF65-F5344CB8AC3E}">
        <p14:creationId xmlns:p14="http://schemas.microsoft.com/office/powerpoint/2010/main" val="2767665045"/>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887511" y="517975"/>
            <a:ext cx="8184776" cy="6804362"/>
          </a:xfrm>
          <a:prstGeom prst="rect">
            <a:avLst/>
          </a:prstGeom>
        </p:spPr>
        <p:txBody>
          <a:bodyPr wrap="square" lIns="91378" tIns="45688" rIns="91378" bIns="45688">
            <a:spAutoFit/>
          </a:bodyPr>
          <a:lstStyle/>
          <a:p>
            <a:pPr marL="491780" lvl="3" indent="-469571" algn="just">
              <a:lnSpc>
                <a:spcPct val="150000"/>
              </a:lnSpc>
              <a:buFont typeface="+mj-lt"/>
              <a:buAutoNum type="alphaUcPeriod" startAt="4"/>
              <a:tabLst>
                <a:tab pos="491780" algn="l"/>
              </a:tabLst>
            </a:pPr>
            <a:r>
              <a:rPr lang="en-US" sz="2400" b="1" spc="-45" dirty="0" err="1" smtClean="0">
                <a:solidFill>
                  <a:srgbClr val="00B050"/>
                </a:solidFill>
                <a:latin typeface="Times New Roman"/>
                <a:cs typeface="Times New Roman"/>
              </a:rPr>
              <a:t>Nagarjuna</a:t>
            </a:r>
            <a:r>
              <a:rPr lang="en-US" sz="2400" b="1" spc="-35" dirty="0" smtClean="0">
                <a:solidFill>
                  <a:srgbClr val="00B050"/>
                </a:solidFill>
                <a:latin typeface="Times New Roman"/>
                <a:cs typeface="Times New Roman"/>
              </a:rPr>
              <a:t> </a:t>
            </a:r>
            <a:r>
              <a:rPr lang="en-US" sz="2400" spc="-45" dirty="0">
                <a:solidFill>
                  <a:srgbClr val="00B050"/>
                </a:solidFill>
                <a:latin typeface="Times New Roman"/>
                <a:cs typeface="Times New Roman"/>
              </a:rPr>
              <a:t>(7th </a:t>
            </a:r>
            <a:r>
              <a:rPr lang="en-US" sz="2400" spc="-30" dirty="0">
                <a:solidFill>
                  <a:srgbClr val="00B050"/>
                </a:solidFill>
                <a:latin typeface="Times New Roman"/>
                <a:cs typeface="Times New Roman"/>
              </a:rPr>
              <a:t>or</a:t>
            </a:r>
            <a:r>
              <a:rPr lang="en-US" sz="2400" spc="-50" dirty="0">
                <a:solidFill>
                  <a:srgbClr val="00B050"/>
                </a:solidFill>
                <a:latin typeface="Times New Roman"/>
                <a:cs typeface="Times New Roman"/>
              </a:rPr>
              <a:t> </a:t>
            </a:r>
            <a:r>
              <a:rPr lang="en-US" sz="2400" spc="-40" dirty="0">
                <a:solidFill>
                  <a:srgbClr val="00B050"/>
                </a:solidFill>
                <a:latin typeface="Times New Roman"/>
                <a:cs typeface="Times New Roman"/>
              </a:rPr>
              <a:t>8th</a:t>
            </a:r>
            <a:r>
              <a:rPr lang="en-US" sz="2400" spc="-30" dirty="0">
                <a:solidFill>
                  <a:srgbClr val="00B050"/>
                </a:solidFill>
                <a:latin typeface="Times New Roman"/>
                <a:cs typeface="Times New Roman"/>
              </a:rPr>
              <a:t> </a:t>
            </a:r>
            <a:r>
              <a:rPr lang="en-US" sz="2400" spc="-50" dirty="0">
                <a:solidFill>
                  <a:srgbClr val="00B050"/>
                </a:solidFill>
                <a:latin typeface="Times New Roman"/>
                <a:cs typeface="Times New Roman"/>
              </a:rPr>
              <a:t>century</a:t>
            </a:r>
            <a:r>
              <a:rPr lang="en-US" sz="2400" spc="-75" dirty="0">
                <a:solidFill>
                  <a:srgbClr val="00B050"/>
                </a:solidFill>
                <a:latin typeface="Times New Roman"/>
                <a:cs typeface="Times New Roman"/>
              </a:rPr>
              <a:t> </a:t>
            </a:r>
            <a:r>
              <a:rPr lang="en-US" sz="2400" spc="-20" dirty="0">
                <a:solidFill>
                  <a:srgbClr val="00B050"/>
                </a:solidFill>
                <a:latin typeface="Times New Roman"/>
                <a:cs typeface="Times New Roman"/>
              </a:rPr>
              <a:t>CE):</a:t>
            </a:r>
            <a:endParaRPr lang="en-US" sz="2400" dirty="0" smtClean="0">
              <a:solidFill>
                <a:srgbClr val="00B050"/>
              </a:solidFill>
              <a:latin typeface="Times New Roman"/>
              <a:cs typeface="Times New Roman"/>
            </a:endParaRPr>
          </a:p>
          <a:p>
            <a:pPr marL="12691" algn="just">
              <a:lnSpc>
                <a:spcPct val="150000"/>
              </a:lnSpc>
              <a:spcBef>
                <a:spcPts val="100"/>
              </a:spcBef>
            </a:pPr>
            <a:r>
              <a:rPr lang="en-US" sz="2400" b="1" spc="-10" dirty="0" smtClean="0">
                <a:latin typeface="Times New Roman"/>
                <a:cs typeface="Times New Roman"/>
              </a:rPr>
              <a:t>	</a:t>
            </a:r>
            <a:r>
              <a:rPr lang="en-US" sz="2400" b="1" spc="-10" dirty="0" err="1" smtClean="0">
                <a:latin typeface="Times New Roman"/>
                <a:cs typeface="Times New Roman"/>
              </a:rPr>
              <a:t>Narjuna</a:t>
            </a:r>
            <a:r>
              <a:rPr lang="en-US" sz="2400" spc="-10" dirty="0">
                <a:latin typeface="Times New Roman"/>
                <a:cs typeface="Times New Roman"/>
              </a:rPr>
              <a:t>,</a:t>
            </a:r>
            <a:r>
              <a:rPr lang="en-US" sz="2400" spc="60" dirty="0">
                <a:latin typeface="Times New Roman"/>
                <a:cs typeface="Times New Roman"/>
              </a:rPr>
              <a:t> </a:t>
            </a:r>
            <a:r>
              <a:rPr lang="en-US" sz="2400" dirty="0" smtClean="0">
                <a:latin typeface="Times New Roman"/>
                <a:cs typeface="Times New Roman"/>
              </a:rPr>
              <a:t>in</a:t>
            </a:r>
            <a:r>
              <a:rPr lang="en-US" sz="2400" spc="55" dirty="0">
                <a:latin typeface="Times New Roman"/>
                <a:cs typeface="Times New Roman"/>
              </a:rPr>
              <a:t> </a:t>
            </a:r>
            <a:r>
              <a:rPr lang="en-US" sz="2400" dirty="0" smtClean="0">
                <a:latin typeface="Times New Roman"/>
                <a:cs typeface="Times New Roman"/>
              </a:rPr>
              <a:t>his,</a:t>
            </a:r>
            <a:r>
              <a:rPr lang="en-US" sz="2400" spc="65" dirty="0">
                <a:latin typeface="Times New Roman"/>
                <a:cs typeface="Times New Roman"/>
              </a:rPr>
              <a:t> </a:t>
            </a:r>
            <a:r>
              <a:rPr lang="en-US" sz="2400" spc="-35" dirty="0" err="1">
                <a:solidFill>
                  <a:srgbClr val="C00000"/>
                </a:solidFill>
                <a:latin typeface="Times New Roman"/>
                <a:cs typeface="Times New Roman"/>
              </a:rPr>
              <a:t>Rasendramaṅgalam</a:t>
            </a:r>
            <a:r>
              <a:rPr lang="en-US" sz="2400" spc="-35" dirty="0">
                <a:latin typeface="Times New Roman"/>
                <a:cs typeface="Times New Roman"/>
              </a:rPr>
              <a:t>,</a:t>
            </a:r>
            <a:r>
              <a:rPr lang="en-US" sz="2400" spc="65" dirty="0">
                <a:latin typeface="Times New Roman"/>
                <a:cs typeface="Times New Roman"/>
              </a:rPr>
              <a:t> </a:t>
            </a:r>
            <a:r>
              <a:rPr lang="en-US" sz="2400" dirty="0" smtClean="0">
                <a:latin typeface="Times New Roman"/>
                <a:cs typeface="Times New Roman"/>
              </a:rPr>
              <a:t>a</a:t>
            </a:r>
            <a:r>
              <a:rPr lang="en-US" sz="2400" spc="60" dirty="0">
                <a:latin typeface="Times New Roman"/>
                <a:cs typeface="Times New Roman"/>
              </a:rPr>
              <a:t> </a:t>
            </a:r>
            <a:r>
              <a:rPr lang="en-US" sz="2400" spc="-10" dirty="0">
                <a:latin typeface="Times New Roman"/>
                <a:cs typeface="Times New Roman"/>
              </a:rPr>
              <a:t>process</a:t>
            </a:r>
            <a:r>
              <a:rPr lang="en-US" sz="2400" spc="60" dirty="0">
                <a:latin typeface="Times New Roman"/>
                <a:cs typeface="Times New Roman"/>
              </a:rPr>
              <a:t> </a:t>
            </a:r>
            <a:r>
              <a:rPr lang="en-US" sz="2400" dirty="0" smtClean="0">
                <a:latin typeface="Times New Roman"/>
                <a:cs typeface="Times New Roman"/>
              </a:rPr>
              <a:t>for</a:t>
            </a:r>
            <a:r>
              <a:rPr lang="en-US" sz="2400" spc="55" dirty="0">
                <a:latin typeface="Times New Roman"/>
                <a:cs typeface="Times New Roman"/>
              </a:rPr>
              <a:t> </a:t>
            </a:r>
            <a:r>
              <a:rPr lang="en-US" sz="2400" spc="-20" dirty="0">
                <a:solidFill>
                  <a:srgbClr val="C00000"/>
                </a:solidFill>
                <a:latin typeface="Times New Roman"/>
                <a:cs typeface="Times New Roman"/>
              </a:rPr>
              <a:t>whitening</a:t>
            </a:r>
            <a:r>
              <a:rPr lang="en-US" sz="2400" spc="55" dirty="0">
                <a:solidFill>
                  <a:srgbClr val="C00000"/>
                </a:solidFill>
                <a:latin typeface="Times New Roman"/>
                <a:cs typeface="Times New Roman"/>
              </a:rPr>
              <a:t> </a:t>
            </a:r>
            <a:r>
              <a:rPr lang="en-US" sz="2400" dirty="0" smtClean="0">
                <a:solidFill>
                  <a:srgbClr val="C00000"/>
                </a:solidFill>
                <a:latin typeface="Times New Roman"/>
                <a:cs typeface="Times New Roman"/>
              </a:rPr>
              <a:t>copper</a:t>
            </a:r>
            <a:r>
              <a:rPr lang="en-US" sz="2400" spc="60" dirty="0">
                <a:solidFill>
                  <a:srgbClr val="C00000"/>
                </a:solidFill>
                <a:latin typeface="Times New Roman"/>
                <a:cs typeface="Times New Roman"/>
              </a:rPr>
              <a:t> </a:t>
            </a:r>
            <a:r>
              <a:rPr lang="en-US" sz="2400" dirty="0" smtClean="0">
                <a:solidFill>
                  <a:srgbClr val="C00000"/>
                </a:solidFill>
                <a:latin typeface="Times New Roman"/>
                <a:cs typeface="Times New Roman"/>
              </a:rPr>
              <a:t>is</a:t>
            </a:r>
            <a:r>
              <a:rPr lang="en-US" sz="2400" spc="65" dirty="0">
                <a:solidFill>
                  <a:srgbClr val="C00000"/>
                </a:solidFill>
                <a:latin typeface="Times New Roman"/>
                <a:cs typeface="Times New Roman"/>
              </a:rPr>
              <a:t> </a:t>
            </a:r>
            <a:r>
              <a:rPr lang="en-US" sz="2400" spc="-20" dirty="0">
                <a:solidFill>
                  <a:srgbClr val="C00000"/>
                </a:solidFill>
                <a:latin typeface="Times New Roman"/>
                <a:cs typeface="Times New Roman"/>
              </a:rPr>
              <a:t>described</a:t>
            </a:r>
            <a:r>
              <a:rPr lang="en-US" sz="2400" spc="-20" dirty="0">
                <a:latin typeface="Times New Roman"/>
                <a:cs typeface="Times New Roman"/>
              </a:rPr>
              <a:t>.</a:t>
            </a:r>
            <a:r>
              <a:rPr lang="en-US" sz="2400" spc="65" dirty="0">
                <a:latin typeface="Times New Roman"/>
                <a:cs typeface="Times New Roman"/>
              </a:rPr>
              <a:t> </a:t>
            </a:r>
            <a:endParaRPr lang="en-US" sz="2400" spc="65" dirty="0" smtClean="0">
              <a:latin typeface="Times New Roman"/>
              <a:cs typeface="Times New Roman"/>
            </a:endParaRPr>
          </a:p>
          <a:p>
            <a:pPr marL="12691" algn="just">
              <a:lnSpc>
                <a:spcPct val="150000"/>
              </a:lnSpc>
              <a:spcBef>
                <a:spcPts val="100"/>
              </a:spcBef>
            </a:pPr>
            <a:r>
              <a:rPr lang="en-US" sz="2400" spc="65" dirty="0">
                <a:latin typeface="Times New Roman"/>
                <a:cs typeface="Times New Roman"/>
              </a:rPr>
              <a:t>	</a:t>
            </a:r>
            <a:r>
              <a:rPr lang="en-US" sz="2400" dirty="0" smtClean="0">
                <a:latin typeface="Times New Roman"/>
                <a:cs typeface="Times New Roman"/>
              </a:rPr>
              <a:t>It</a:t>
            </a:r>
            <a:r>
              <a:rPr lang="en-US" sz="2400" spc="65" dirty="0" smtClean="0">
                <a:latin typeface="Times New Roman"/>
                <a:cs typeface="Times New Roman"/>
              </a:rPr>
              <a:t> </a:t>
            </a:r>
            <a:r>
              <a:rPr lang="en-US" sz="2400" dirty="0" smtClean="0">
                <a:latin typeface="Times New Roman"/>
                <a:cs typeface="Times New Roman"/>
              </a:rPr>
              <a:t>would</a:t>
            </a:r>
            <a:r>
              <a:rPr lang="en-US" sz="2400" spc="55" dirty="0">
                <a:latin typeface="Times New Roman"/>
                <a:cs typeface="Times New Roman"/>
              </a:rPr>
              <a:t> </a:t>
            </a:r>
            <a:r>
              <a:rPr lang="en-US" sz="2400" spc="-25" dirty="0">
                <a:latin typeface="Times New Roman"/>
                <a:cs typeface="Times New Roman"/>
              </a:rPr>
              <a:t>be </a:t>
            </a:r>
            <a:r>
              <a:rPr lang="en-US" sz="2400" spc="-50" dirty="0">
                <a:latin typeface="Times New Roman"/>
                <a:cs typeface="Times New Roman"/>
              </a:rPr>
              <a:t>interesting</a:t>
            </a:r>
            <a:r>
              <a:rPr lang="en-US" sz="2400" spc="-55" dirty="0">
                <a:latin typeface="Times New Roman"/>
                <a:cs typeface="Times New Roman"/>
              </a:rPr>
              <a:t> </a:t>
            </a:r>
            <a:r>
              <a:rPr lang="en-US" sz="2400" spc="-35" dirty="0">
                <a:latin typeface="Times New Roman"/>
                <a:cs typeface="Times New Roman"/>
              </a:rPr>
              <a:t>to</a:t>
            </a:r>
            <a:r>
              <a:rPr lang="en-US" sz="2400" spc="-55" dirty="0">
                <a:latin typeface="Times New Roman"/>
                <a:cs typeface="Times New Roman"/>
              </a:rPr>
              <a:t> </a:t>
            </a:r>
            <a:r>
              <a:rPr lang="en-US" sz="2400" spc="-35" dirty="0">
                <a:latin typeface="Times New Roman"/>
                <a:cs typeface="Times New Roman"/>
              </a:rPr>
              <a:t>try</a:t>
            </a:r>
            <a:r>
              <a:rPr lang="en-US" sz="2400" spc="-80" dirty="0">
                <a:latin typeface="Times New Roman"/>
                <a:cs typeface="Times New Roman"/>
              </a:rPr>
              <a:t> </a:t>
            </a:r>
            <a:r>
              <a:rPr lang="en-US" sz="2400" spc="-40" dirty="0">
                <a:latin typeface="Times New Roman"/>
                <a:cs typeface="Times New Roman"/>
              </a:rPr>
              <a:t>and</a:t>
            </a:r>
            <a:r>
              <a:rPr lang="en-US" sz="2400" spc="-45" dirty="0">
                <a:latin typeface="Times New Roman"/>
                <a:cs typeface="Times New Roman"/>
              </a:rPr>
              <a:t> </a:t>
            </a:r>
            <a:r>
              <a:rPr lang="en-US" sz="2400" spc="-35" dirty="0">
                <a:latin typeface="Times New Roman"/>
                <a:cs typeface="Times New Roman"/>
              </a:rPr>
              <a:t>put</a:t>
            </a:r>
            <a:r>
              <a:rPr lang="en-US" sz="2400" spc="-55" dirty="0">
                <a:latin typeface="Times New Roman"/>
                <a:cs typeface="Times New Roman"/>
              </a:rPr>
              <a:t> </a:t>
            </a:r>
            <a:r>
              <a:rPr lang="en-US" sz="2400" spc="-40" dirty="0">
                <a:latin typeface="Times New Roman"/>
                <a:cs typeface="Times New Roman"/>
              </a:rPr>
              <a:t>such </a:t>
            </a:r>
            <a:r>
              <a:rPr lang="en-US" sz="2400" spc="-50" dirty="0">
                <a:latin typeface="Times New Roman"/>
                <a:cs typeface="Times New Roman"/>
              </a:rPr>
              <a:t>recipes</a:t>
            </a:r>
            <a:r>
              <a:rPr lang="en-US" sz="2400" spc="-55" dirty="0">
                <a:latin typeface="Times New Roman"/>
                <a:cs typeface="Times New Roman"/>
              </a:rPr>
              <a:t> </a:t>
            </a:r>
            <a:r>
              <a:rPr lang="en-US" sz="2400" spc="-30" dirty="0">
                <a:latin typeface="Times New Roman"/>
                <a:cs typeface="Times New Roman"/>
              </a:rPr>
              <a:t>to</a:t>
            </a:r>
            <a:r>
              <a:rPr lang="en-US" sz="2400" spc="-50" dirty="0">
                <a:latin typeface="Times New Roman"/>
                <a:cs typeface="Times New Roman"/>
              </a:rPr>
              <a:t> </a:t>
            </a:r>
            <a:r>
              <a:rPr lang="en-US" sz="2400" spc="-45" dirty="0">
                <a:latin typeface="Times New Roman"/>
                <a:cs typeface="Times New Roman"/>
              </a:rPr>
              <a:t>test</a:t>
            </a:r>
            <a:r>
              <a:rPr lang="en-US" sz="2400" spc="-40" dirty="0">
                <a:latin typeface="Times New Roman"/>
                <a:cs typeface="Times New Roman"/>
              </a:rPr>
              <a:t> </a:t>
            </a:r>
            <a:r>
              <a:rPr lang="en-US" sz="2400" spc="-25" dirty="0">
                <a:latin typeface="Times New Roman"/>
                <a:cs typeface="Times New Roman"/>
              </a:rPr>
              <a:t>so</a:t>
            </a:r>
            <a:r>
              <a:rPr lang="en-US" sz="2400" spc="-40" dirty="0">
                <a:latin typeface="Times New Roman"/>
                <a:cs typeface="Times New Roman"/>
              </a:rPr>
              <a:t> as </a:t>
            </a:r>
            <a:r>
              <a:rPr lang="en-US" sz="2400" spc="-35" dirty="0">
                <a:latin typeface="Times New Roman"/>
                <a:cs typeface="Times New Roman"/>
              </a:rPr>
              <a:t>to</a:t>
            </a:r>
            <a:r>
              <a:rPr lang="en-US" sz="2400" spc="-45" dirty="0">
                <a:latin typeface="Times New Roman"/>
                <a:cs typeface="Times New Roman"/>
              </a:rPr>
              <a:t> assess</a:t>
            </a:r>
            <a:r>
              <a:rPr lang="en-US" sz="2400" spc="-55" dirty="0">
                <a:latin typeface="Times New Roman"/>
                <a:cs typeface="Times New Roman"/>
              </a:rPr>
              <a:t> </a:t>
            </a:r>
            <a:r>
              <a:rPr lang="en-US" sz="2400" spc="-45" dirty="0">
                <a:latin typeface="Times New Roman"/>
                <a:cs typeface="Times New Roman"/>
              </a:rPr>
              <a:t>their</a:t>
            </a:r>
            <a:r>
              <a:rPr lang="en-US" sz="2400" spc="-55" dirty="0">
                <a:latin typeface="Times New Roman"/>
                <a:cs typeface="Times New Roman"/>
              </a:rPr>
              <a:t> </a:t>
            </a:r>
            <a:r>
              <a:rPr lang="en-US" sz="2400" spc="-10" dirty="0">
                <a:latin typeface="Times New Roman"/>
                <a:cs typeface="Times New Roman"/>
              </a:rPr>
              <a:t>value.</a:t>
            </a:r>
          </a:p>
          <a:p>
            <a:pPr marL="12691" algn="just">
              <a:lnSpc>
                <a:spcPct val="150000"/>
              </a:lnSpc>
              <a:spcBef>
                <a:spcPts val="100"/>
              </a:spcBef>
            </a:pPr>
            <a:r>
              <a:rPr lang="en-US" sz="2400" b="1" spc="-40" dirty="0" smtClean="0">
                <a:latin typeface="Times New Roman"/>
                <a:cs typeface="Times New Roman"/>
              </a:rPr>
              <a:t> </a:t>
            </a:r>
            <a:r>
              <a:rPr lang="en-US" sz="2400" b="1" spc="-40" dirty="0">
                <a:solidFill>
                  <a:srgbClr val="00B050"/>
                </a:solidFill>
                <a:latin typeface="Times New Roman"/>
                <a:cs typeface="Times New Roman"/>
              </a:rPr>
              <a:t>E.</a:t>
            </a:r>
            <a:r>
              <a:rPr lang="en-US" sz="2400" b="1" spc="-4" dirty="0">
                <a:solidFill>
                  <a:srgbClr val="00B050"/>
                </a:solidFill>
                <a:latin typeface="Times New Roman"/>
                <a:cs typeface="Times New Roman"/>
              </a:rPr>
              <a:t>    </a:t>
            </a:r>
            <a:r>
              <a:rPr lang="en-US" sz="2400" b="1" spc="-10" dirty="0" err="1">
                <a:solidFill>
                  <a:srgbClr val="00B050"/>
                </a:solidFill>
                <a:latin typeface="Times New Roman"/>
                <a:cs typeface="Times New Roman"/>
              </a:rPr>
              <a:t>Vagbhata</a:t>
            </a:r>
            <a:r>
              <a:rPr lang="en-US" sz="2400" b="1" spc="-10" dirty="0">
                <a:solidFill>
                  <a:srgbClr val="00B050"/>
                </a:solidFill>
                <a:latin typeface="Times New Roman"/>
                <a:cs typeface="Times New Roman"/>
              </a:rPr>
              <a:t> </a:t>
            </a:r>
            <a:r>
              <a:rPr lang="en-US" sz="2400" b="1" dirty="0" smtClean="0">
                <a:solidFill>
                  <a:srgbClr val="00B050"/>
                </a:solidFill>
                <a:latin typeface="Times New Roman"/>
                <a:cs typeface="Times New Roman"/>
              </a:rPr>
              <a:t>(</a:t>
            </a:r>
            <a:r>
              <a:rPr lang="en-US" sz="2400" dirty="0" smtClean="0">
                <a:solidFill>
                  <a:srgbClr val="00B050"/>
                </a:solidFill>
                <a:latin typeface="Times New Roman"/>
                <a:cs typeface="Times New Roman"/>
              </a:rPr>
              <a:t>13th</a:t>
            </a:r>
            <a:r>
              <a:rPr lang="en-US" sz="2400" spc="90" dirty="0">
                <a:solidFill>
                  <a:srgbClr val="00B050"/>
                </a:solidFill>
                <a:latin typeface="Times New Roman"/>
                <a:cs typeface="Times New Roman"/>
              </a:rPr>
              <a:t> </a:t>
            </a:r>
            <a:r>
              <a:rPr lang="en-US" sz="2400" spc="-10" dirty="0">
                <a:solidFill>
                  <a:srgbClr val="00B050"/>
                </a:solidFill>
                <a:latin typeface="Times New Roman"/>
                <a:cs typeface="Times New Roman"/>
              </a:rPr>
              <a:t>century):</a:t>
            </a:r>
            <a:r>
              <a:rPr lang="en-US" sz="2400" spc="100" dirty="0">
                <a:solidFill>
                  <a:srgbClr val="00B050"/>
                </a:solidFill>
                <a:latin typeface="Times New Roman"/>
                <a:cs typeface="Times New Roman"/>
              </a:rPr>
              <a:t> </a:t>
            </a:r>
            <a:endParaRPr lang="en-US" sz="2400" dirty="0" smtClean="0">
              <a:solidFill>
                <a:srgbClr val="00B050"/>
              </a:solidFill>
              <a:latin typeface="Times New Roman"/>
              <a:cs typeface="Times New Roman"/>
            </a:endParaRPr>
          </a:p>
          <a:p>
            <a:pPr marL="355591" marR="5080" indent="-342900" algn="just">
              <a:lnSpc>
                <a:spcPct val="150000"/>
              </a:lnSpc>
              <a:spcBef>
                <a:spcPts val="55"/>
              </a:spcBef>
              <a:buFont typeface="Arial" panose="020B0604020202020204" pitchFamily="34" charset="0"/>
              <a:buChar char="•"/>
            </a:pPr>
            <a:r>
              <a:rPr lang="en-US" sz="2400" b="1" dirty="0" err="1" smtClean="0">
                <a:latin typeface="Times New Roman"/>
                <a:cs typeface="Times New Roman"/>
              </a:rPr>
              <a:t>Vagbhaṭa</a:t>
            </a:r>
            <a:r>
              <a:rPr lang="en-US" sz="2400" b="1" i="1" spc="114" dirty="0" smtClean="0">
                <a:latin typeface="Times New Roman"/>
                <a:cs typeface="Times New Roman"/>
              </a:rPr>
              <a:t> </a:t>
            </a:r>
            <a:r>
              <a:rPr lang="en-US" sz="2400" dirty="0" smtClean="0">
                <a:latin typeface="Times New Roman"/>
                <a:cs typeface="Times New Roman"/>
              </a:rPr>
              <a:t>in</a:t>
            </a:r>
            <a:r>
              <a:rPr lang="en-US" sz="2400" spc="95" dirty="0">
                <a:latin typeface="Times New Roman"/>
                <a:cs typeface="Times New Roman"/>
              </a:rPr>
              <a:t> </a:t>
            </a:r>
            <a:r>
              <a:rPr lang="en-US" sz="2400" dirty="0" smtClean="0">
                <a:latin typeface="Times New Roman"/>
                <a:cs typeface="Times New Roman"/>
              </a:rPr>
              <a:t>his</a:t>
            </a:r>
            <a:r>
              <a:rPr lang="en-US" sz="2400" spc="85" dirty="0">
                <a:latin typeface="Times New Roman"/>
                <a:cs typeface="Times New Roman"/>
              </a:rPr>
              <a:t> </a:t>
            </a:r>
            <a:r>
              <a:rPr lang="en-US" sz="2400" spc="-35" dirty="0" err="1">
                <a:solidFill>
                  <a:srgbClr val="C00000"/>
                </a:solidFill>
                <a:latin typeface="Times New Roman"/>
                <a:cs typeface="Times New Roman"/>
              </a:rPr>
              <a:t>Rasaratnasamuccaya</a:t>
            </a:r>
            <a:r>
              <a:rPr lang="en-US" sz="2400" spc="105" dirty="0">
                <a:latin typeface="Times New Roman"/>
                <a:cs typeface="Times New Roman"/>
              </a:rPr>
              <a:t> </a:t>
            </a:r>
            <a:r>
              <a:rPr lang="en-US" sz="2400" dirty="0" smtClean="0">
                <a:latin typeface="Times New Roman"/>
                <a:cs typeface="Times New Roman"/>
              </a:rPr>
              <a:t>gives</a:t>
            </a:r>
            <a:r>
              <a:rPr lang="en-US" sz="2400" spc="100" dirty="0">
                <a:latin typeface="Times New Roman"/>
                <a:cs typeface="Times New Roman"/>
              </a:rPr>
              <a:t> </a:t>
            </a:r>
            <a:r>
              <a:rPr lang="en-US" sz="2400" dirty="0" smtClean="0">
                <a:latin typeface="Times New Roman"/>
                <a:cs typeface="Times New Roman"/>
              </a:rPr>
              <a:t>us</a:t>
            </a:r>
            <a:r>
              <a:rPr lang="en-US" sz="2400" spc="95" dirty="0">
                <a:latin typeface="Times New Roman"/>
                <a:cs typeface="Times New Roman"/>
              </a:rPr>
              <a:t> </a:t>
            </a:r>
            <a:r>
              <a:rPr lang="en-US" sz="2400" dirty="0" smtClean="0">
                <a:latin typeface="Times New Roman"/>
                <a:cs typeface="Times New Roman"/>
              </a:rPr>
              <a:t>a</a:t>
            </a:r>
            <a:r>
              <a:rPr lang="en-US" sz="2400" spc="85" dirty="0">
                <a:latin typeface="Times New Roman"/>
                <a:cs typeface="Times New Roman"/>
              </a:rPr>
              <a:t> </a:t>
            </a:r>
            <a:r>
              <a:rPr lang="en-US" sz="2400" spc="-20" dirty="0">
                <a:latin typeface="Times New Roman"/>
                <a:cs typeface="Times New Roman"/>
              </a:rPr>
              <a:t>systematic</a:t>
            </a:r>
            <a:r>
              <a:rPr lang="en-US" sz="2400" spc="90" dirty="0">
                <a:latin typeface="Times New Roman"/>
                <a:cs typeface="Times New Roman"/>
              </a:rPr>
              <a:t> </a:t>
            </a:r>
            <a:r>
              <a:rPr lang="en-US" sz="2400" spc="-10" dirty="0">
                <a:latin typeface="Times New Roman"/>
                <a:cs typeface="Times New Roman"/>
              </a:rPr>
              <a:t>exposition</a:t>
            </a:r>
            <a:r>
              <a:rPr lang="en-US" sz="2400" spc="95" dirty="0">
                <a:latin typeface="Times New Roman"/>
                <a:cs typeface="Times New Roman"/>
              </a:rPr>
              <a:t> </a:t>
            </a:r>
            <a:r>
              <a:rPr lang="en-US" sz="2400" dirty="0" smtClean="0">
                <a:latin typeface="Times New Roman"/>
                <a:cs typeface="Times New Roman"/>
              </a:rPr>
              <a:t>of</a:t>
            </a:r>
            <a:r>
              <a:rPr lang="en-US" sz="2400" spc="80" dirty="0">
                <a:latin typeface="Times New Roman"/>
                <a:cs typeface="Times New Roman"/>
              </a:rPr>
              <a:t> </a:t>
            </a:r>
            <a:r>
              <a:rPr lang="en-US" sz="2400" spc="-25" dirty="0">
                <a:latin typeface="Times New Roman"/>
                <a:cs typeface="Times New Roman"/>
              </a:rPr>
              <a:t>the </a:t>
            </a:r>
            <a:r>
              <a:rPr lang="en-US" sz="2400" spc="-35" dirty="0">
                <a:latin typeface="Times New Roman"/>
                <a:cs typeface="Times New Roman"/>
              </a:rPr>
              <a:t>principal</a:t>
            </a:r>
            <a:r>
              <a:rPr lang="en-US" sz="2400" spc="-14" dirty="0">
                <a:latin typeface="Times New Roman"/>
                <a:cs typeface="Times New Roman"/>
              </a:rPr>
              <a:t> </a:t>
            </a:r>
            <a:r>
              <a:rPr lang="en-US" sz="2400" spc="-25" dirty="0">
                <a:latin typeface="Times New Roman"/>
                <a:cs typeface="Times New Roman"/>
              </a:rPr>
              <a:t>metals</a:t>
            </a:r>
            <a:r>
              <a:rPr lang="en-US" sz="2400" spc="-14" dirty="0">
                <a:latin typeface="Times New Roman"/>
                <a:cs typeface="Times New Roman"/>
              </a:rPr>
              <a:t> </a:t>
            </a:r>
            <a:r>
              <a:rPr lang="en-US" sz="2400" dirty="0" smtClean="0">
                <a:latin typeface="Times New Roman"/>
                <a:cs typeface="Times New Roman"/>
              </a:rPr>
              <a:t>in</a:t>
            </a:r>
            <a:r>
              <a:rPr lang="en-US" sz="2400" spc="-25" dirty="0">
                <a:latin typeface="Times New Roman"/>
                <a:cs typeface="Times New Roman"/>
              </a:rPr>
              <a:t> </a:t>
            </a:r>
            <a:r>
              <a:rPr lang="en-US" sz="2400" dirty="0" smtClean="0">
                <a:latin typeface="Times New Roman"/>
                <a:cs typeface="Times New Roman"/>
              </a:rPr>
              <a:t>a</a:t>
            </a:r>
            <a:r>
              <a:rPr lang="en-US" sz="2400" spc="-14" dirty="0">
                <a:latin typeface="Times New Roman"/>
                <a:cs typeface="Times New Roman"/>
              </a:rPr>
              <a:t> </a:t>
            </a:r>
            <a:r>
              <a:rPr lang="en-US" sz="2400" spc="-55" dirty="0">
                <a:latin typeface="Times New Roman"/>
                <a:cs typeface="Times New Roman"/>
              </a:rPr>
              <a:t>well-</a:t>
            </a:r>
            <a:r>
              <a:rPr lang="en-US" sz="2400" spc="-10" dirty="0">
                <a:latin typeface="Times New Roman"/>
                <a:cs typeface="Times New Roman"/>
              </a:rPr>
              <a:t>known</a:t>
            </a:r>
            <a:r>
              <a:rPr lang="en-US" sz="2400" spc="-20" dirty="0">
                <a:latin typeface="Times New Roman"/>
                <a:cs typeface="Times New Roman"/>
              </a:rPr>
              <a:t> </a:t>
            </a:r>
            <a:r>
              <a:rPr lang="en-US" sz="2400" spc="-10" dirty="0">
                <a:latin typeface="Times New Roman"/>
                <a:cs typeface="Times New Roman"/>
              </a:rPr>
              <a:t>text</a:t>
            </a:r>
            <a:r>
              <a:rPr lang="en-US" sz="2400" spc="-20" dirty="0">
                <a:latin typeface="Times New Roman"/>
                <a:cs typeface="Times New Roman"/>
              </a:rPr>
              <a:t> </a:t>
            </a:r>
            <a:r>
              <a:rPr lang="en-US" sz="2400" dirty="0" smtClean="0">
                <a:latin typeface="Times New Roman"/>
                <a:cs typeface="Times New Roman"/>
              </a:rPr>
              <a:t>of</a:t>
            </a:r>
            <a:r>
              <a:rPr lang="en-US" sz="2400" spc="-14" dirty="0">
                <a:latin typeface="Times New Roman"/>
                <a:cs typeface="Times New Roman"/>
              </a:rPr>
              <a:t> </a:t>
            </a:r>
            <a:r>
              <a:rPr lang="en-US" sz="2400" spc="-35" dirty="0">
                <a:latin typeface="Times New Roman"/>
                <a:cs typeface="Times New Roman"/>
              </a:rPr>
              <a:t>alchemy.</a:t>
            </a:r>
            <a:r>
              <a:rPr lang="en-US" sz="2400" spc="-10" dirty="0">
                <a:latin typeface="Times New Roman"/>
                <a:cs typeface="Times New Roman"/>
              </a:rPr>
              <a:t> </a:t>
            </a:r>
            <a:endParaRPr lang="en-US" sz="2400" spc="-10" dirty="0" smtClean="0">
              <a:latin typeface="Times New Roman"/>
              <a:cs typeface="Times New Roman"/>
            </a:endParaRPr>
          </a:p>
          <a:p>
            <a:pPr marL="355591" marR="5080" indent="-342900" algn="just">
              <a:lnSpc>
                <a:spcPct val="150000"/>
              </a:lnSpc>
              <a:spcBef>
                <a:spcPts val="55"/>
              </a:spcBef>
              <a:buFont typeface="Arial" panose="020B0604020202020204" pitchFamily="34" charset="0"/>
              <a:buChar char="•"/>
            </a:pPr>
            <a:r>
              <a:rPr lang="en-US" sz="2400" spc="-10" dirty="0" smtClean="0">
                <a:latin typeface="Times New Roman"/>
                <a:cs typeface="Times New Roman"/>
              </a:rPr>
              <a:t>	Each </a:t>
            </a:r>
            <a:r>
              <a:rPr lang="en-US" sz="2400" spc="-30" dirty="0">
                <a:latin typeface="Times New Roman"/>
                <a:cs typeface="Times New Roman"/>
              </a:rPr>
              <a:t>metal‘s</a:t>
            </a:r>
            <a:r>
              <a:rPr lang="en-US" sz="2400" spc="-10" dirty="0">
                <a:latin typeface="Times New Roman"/>
                <a:cs typeface="Times New Roman"/>
              </a:rPr>
              <a:t> </a:t>
            </a:r>
            <a:r>
              <a:rPr lang="en-US" sz="2400" spc="-35" dirty="0">
                <a:latin typeface="Times New Roman"/>
                <a:cs typeface="Times New Roman"/>
              </a:rPr>
              <a:t>properties</a:t>
            </a:r>
            <a:r>
              <a:rPr lang="en-US" sz="2400" spc="-25" dirty="0">
                <a:latin typeface="Times New Roman"/>
                <a:cs typeface="Times New Roman"/>
              </a:rPr>
              <a:t> </a:t>
            </a:r>
            <a:r>
              <a:rPr lang="en-US" sz="2400" dirty="0" smtClean="0">
                <a:latin typeface="Times New Roman"/>
                <a:cs typeface="Times New Roman"/>
              </a:rPr>
              <a:t>and</a:t>
            </a:r>
            <a:r>
              <a:rPr lang="en-US" sz="2400" spc="-20" dirty="0">
                <a:latin typeface="Times New Roman"/>
                <a:cs typeface="Times New Roman"/>
              </a:rPr>
              <a:t> </a:t>
            </a:r>
            <a:r>
              <a:rPr lang="en-US" sz="2400" spc="-35" dirty="0">
                <a:latin typeface="Times New Roman"/>
                <a:cs typeface="Times New Roman"/>
              </a:rPr>
              <a:t>medicinal</a:t>
            </a:r>
            <a:r>
              <a:rPr lang="en-US" sz="2400" spc="-20" dirty="0">
                <a:latin typeface="Times New Roman"/>
                <a:cs typeface="Times New Roman"/>
              </a:rPr>
              <a:t> </a:t>
            </a:r>
            <a:r>
              <a:rPr lang="en-US" sz="2400" dirty="0" smtClean="0">
                <a:latin typeface="Times New Roman"/>
                <a:cs typeface="Times New Roman"/>
              </a:rPr>
              <a:t>uses</a:t>
            </a:r>
            <a:r>
              <a:rPr lang="en-US" sz="2400" spc="-10" dirty="0">
                <a:latin typeface="Times New Roman"/>
                <a:cs typeface="Times New Roman"/>
              </a:rPr>
              <a:t> </a:t>
            </a:r>
            <a:r>
              <a:rPr lang="en-US" sz="2400" dirty="0" smtClean="0">
                <a:latin typeface="Times New Roman"/>
                <a:cs typeface="Times New Roman"/>
              </a:rPr>
              <a:t>are</a:t>
            </a:r>
            <a:r>
              <a:rPr lang="en-US" sz="2400" spc="-14" dirty="0">
                <a:latin typeface="Times New Roman"/>
                <a:cs typeface="Times New Roman"/>
              </a:rPr>
              <a:t> </a:t>
            </a:r>
            <a:r>
              <a:rPr lang="en-US" sz="2400" spc="-10" dirty="0">
                <a:latin typeface="Times New Roman"/>
                <a:cs typeface="Times New Roman"/>
              </a:rPr>
              <a:t>clearly </a:t>
            </a:r>
            <a:r>
              <a:rPr lang="en-US" sz="2400" spc="-45" dirty="0">
                <a:latin typeface="Times New Roman"/>
                <a:cs typeface="Times New Roman"/>
              </a:rPr>
              <a:t>brought</a:t>
            </a:r>
            <a:r>
              <a:rPr lang="en-US" sz="2400" spc="-50" dirty="0">
                <a:latin typeface="Times New Roman"/>
                <a:cs typeface="Times New Roman"/>
              </a:rPr>
              <a:t> </a:t>
            </a:r>
            <a:r>
              <a:rPr lang="en-US" sz="2400" spc="-40" dirty="0">
                <a:latin typeface="Times New Roman"/>
                <a:cs typeface="Times New Roman"/>
              </a:rPr>
              <a:t>out,</a:t>
            </a:r>
            <a:r>
              <a:rPr lang="en-US" sz="2400" spc="-35" dirty="0">
                <a:latin typeface="Times New Roman"/>
                <a:cs typeface="Times New Roman"/>
              </a:rPr>
              <a:t> </a:t>
            </a:r>
            <a:r>
              <a:rPr lang="en-US" sz="2400" spc="-50" dirty="0">
                <a:latin typeface="Times New Roman"/>
                <a:cs typeface="Times New Roman"/>
              </a:rPr>
              <a:t>although,</a:t>
            </a:r>
            <a:r>
              <a:rPr lang="en-US" sz="2400" spc="-45" dirty="0">
                <a:latin typeface="Times New Roman"/>
                <a:cs typeface="Times New Roman"/>
              </a:rPr>
              <a:t> </a:t>
            </a:r>
            <a:r>
              <a:rPr lang="en-US" sz="2400" spc="-30" dirty="0">
                <a:latin typeface="Times New Roman"/>
                <a:cs typeface="Times New Roman"/>
              </a:rPr>
              <a:t>of</a:t>
            </a:r>
            <a:r>
              <a:rPr lang="en-US" sz="2400" spc="-40" dirty="0">
                <a:latin typeface="Times New Roman"/>
                <a:cs typeface="Times New Roman"/>
              </a:rPr>
              <a:t> course,</a:t>
            </a:r>
            <a:r>
              <a:rPr lang="en-US" sz="2400" spc="-35" dirty="0">
                <a:latin typeface="Times New Roman"/>
                <a:cs typeface="Times New Roman"/>
              </a:rPr>
              <a:t> </a:t>
            </a:r>
            <a:r>
              <a:rPr lang="en-US" sz="2400" spc="-50" dirty="0">
                <a:latin typeface="Times New Roman"/>
                <a:cs typeface="Times New Roman"/>
              </a:rPr>
              <a:t>within</a:t>
            </a:r>
            <a:r>
              <a:rPr lang="en-US" sz="2400" spc="-45" dirty="0">
                <a:latin typeface="Times New Roman"/>
                <a:cs typeface="Times New Roman"/>
              </a:rPr>
              <a:t> </a:t>
            </a:r>
            <a:r>
              <a:rPr lang="en-US" sz="2400" spc="-35" dirty="0">
                <a:latin typeface="Times New Roman"/>
                <a:cs typeface="Times New Roman"/>
              </a:rPr>
              <a:t>the</a:t>
            </a:r>
            <a:r>
              <a:rPr lang="en-US" sz="2400" spc="-40" dirty="0">
                <a:latin typeface="Times New Roman"/>
                <a:cs typeface="Times New Roman"/>
              </a:rPr>
              <a:t> </a:t>
            </a:r>
            <a:r>
              <a:rPr lang="en-US" sz="2400" spc="-55" dirty="0">
                <a:latin typeface="Times New Roman"/>
                <a:cs typeface="Times New Roman"/>
              </a:rPr>
              <a:t>alchemical</a:t>
            </a:r>
            <a:r>
              <a:rPr lang="en-US" sz="2400" spc="-50" dirty="0">
                <a:latin typeface="Times New Roman"/>
                <a:cs typeface="Times New Roman"/>
              </a:rPr>
              <a:t> </a:t>
            </a:r>
            <a:r>
              <a:rPr lang="en-US" sz="2400" spc="-45" dirty="0">
                <a:latin typeface="Times New Roman"/>
                <a:cs typeface="Times New Roman"/>
              </a:rPr>
              <a:t>framework </a:t>
            </a:r>
            <a:r>
              <a:rPr lang="en-US" sz="2400" spc="-30" dirty="0">
                <a:latin typeface="Times New Roman"/>
                <a:cs typeface="Times New Roman"/>
              </a:rPr>
              <a:t>of</a:t>
            </a:r>
            <a:r>
              <a:rPr lang="en-US" sz="2400" spc="-50" dirty="0">
                <a:latin typeface="Times New Roman"/>
                <a:cs typeface="Times New Roman"/>
              </a:rPr>
              <a:t> </a:t>
            </a:r>
            <a:r>
              <a:rPr lang="en-US" sz="2400" spc="-35" dirty="0">
                <a:latin typeface="Times New Roman"/>
                <a:cs typeface="Times New Roman"/>
              </a:rPr>
              <a:t>the</a:t>
            </a:r>
            <a:r>
              <a:rPr lang="en-US" sz="2400" spc="-55" dirty="0">
                <a:latin typeface="Times New Roman"/>
                <a:cs typeface="Times New Roman"/>
              </a:rPr>
              <a:t> </a:t>
            </a:r>
            <a:r>
              <a:rPr lang="en-US" sz="2400" spc="-10" dirty="0">
                <a:latin typeface="Times New Roman"/>
                <a:cs typeface="Times New Roman"/>
              </a:rPr>
              <a:t>times.</a:t>
            </a:r>
          </a:p>
        </p:txBody>
      </p:sp>
    </p:spTree>
    <p:extLst>
      <p:ext uri="{BB962C8B-B14F-4D97-AF65-F5344CB8AC3E}">
        <p14:creationId xmlns:p14="http://schemas.microsoft.com/office/powerpoint/2010/main" val="14063487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048973" y="616695"/>
            <a:ext cx="7971939" cy="4950064"/>
          </a:xfrm>
          <a:prstGeom prst="rect">
            <a:avLst/>
          </a:prstGeom>
        </p:spPr>
        <p:txBody>
          <a:bodyPr vert="horz" wrap="square" lIns="0" tIns="12691" rIns="0" bIns="0" rtlCol="0">
            <a:spAutoFit/>
          </a:bodyPr>
          <a:lstStyle/>
          <a:p>
            <a:pPr marL="467031" lvl="2" indent="-454338" algn="just">
              <a:lnSpc>
                <a:spcPct val="150000"/>
              </a:lnSpc>
              <a:buAutoNum type="arabicPeriod" startAt="8"/>
              <a:tabLst>
                <a:tab pos="467031" algn="l"/>
              </a:tabLst>
            </a:pPr>
            <a:r>
              <a:rPr sz="2600" b="1" u="sng" spc="-50" dirty="0">
                <a:solidFill>
                  <a:srgbClr val="002060"/>
                </a:solidFill>
                <a:latin typeface="Times New Roman"/>
                <a:cs typeface="Times New Roman"/>
              </a:rPr>
              <a:t>Classification</a:t>
            </a:r>
            <a:r>
              <a:rPr sz="2600" b="1" u="sng" spc="-20" dirty="0">
                <a:solidFill>
                  <a:srgbClr val="002060"/>
                </a:solidFill>
                <a:latin typeface="Times New Roman"/>
                <a:cs typeface="Times New Roman"/>
              </a:rPr>
              <a:t> </a:t>
            </a:r>
            <a:r>
              <a:rPr sz="2600" b="1" u="sng" spc="-35" dirty="0">
                <a:solidFill>
                  <a:srgbClr val="002060"/>
                </a:solidFill>
                <a:latin typeface="Times New Roman"/>
                <a:cs typeface="Times New Roman"/>
              </a:rPr>
              <a:t>of</a:t>
            </a:r>
            <a:r>
              <a:rPr sz="2600" b="1" u="sng" spc="-30" dirty="0">
                <a:solidFill>
                  <a:srgbClr val="002060"/>
                </a:solidFill>
                <a:latin typeface="Times New Roman"/>
                <a:cs typeface="Times New Roman"/>
              </a:rPr>
              <a:t> </a:t>
            </a:r>
            <a:r>
              <a:rPr sz="2600" b="1" u="sng" spc="-50" dirty="0">
                <a:solidFill>
                  <a:srgbClr val="002060"/>
                </a:solidFill>
                <a:latin typeface="Times New Roman"/>
                <a:cs typeface="Times New Roman"/>
              </a:rPr>
              <a:t>metals</a:t>
            </a:r>
            <a:r>
              <a:rPr sz="2600" b="1" u="sng" spc="-40" dirty="0">
                <a:solidFill>
                  <a:srgbClr val="002060"/>
                </a:solidFill>
                <a:latin typeface="Times New Roman"/>
                <a:cs typeface="Times New Roman"/>
              </a:rPr>
              <a:t> </a:t>
            </a:r>
            <a:r>
              <a:rPr sz="2600" b="1" u="sng" spc="-35" dirty="0">
                <a:solidFill>
                  <a:srgbClr val="002060"/>
                </a:solidFill>
                <a:latin typeface="Times New Roman"/>
                <a:cs typeface="Times New Roman"/>
              </a:rPr>
              <a:t>in</a:t>
            </a:r>
            <a:r>
              <a:rPr sz="2600" b="1" u="sng" spc="-30" dirty="0">
                <a:solidFill>
                  <a:srgbClr val="002060"/>
                </a:solidFill>
                <a:latin typeface="Times New Roman"/>
                <a:cs typeface="Times New Roman"/>
              </a:rPr>
              <a:t> </a:t>
            </a:r>
            <a:r>
              <a:rPr sz="2600" b="1" u="sng" spc="-45" dirty="0">
                <a:solidFill>
                  <a:srgbClr val="002060"/>
                </a:solidFill>
                <a:latin typeface="Times New Roman"/>
                <a:cs typeface="Times New Roman"/>
              </a:rPr>
              <a:t>Ancient</a:t>
            </a:r>
            <a:r>
              <a:rPr sz="2600" b="1" u="sng" spc="-40" dirty="0">
                <a:solidFill>
                  <a:srgbClr val="002060"/>
                </a:solidFill>
                <a:latin typeface="Times New Roman"/>
                <a:cs typeface="Times New Roman"/>
              </a:rPr>
              <a:t> </a:t>
            </a:r>
            <a:r>
              <a:rPr sz="2600" b="1" u="sng" spc="-45" dirty="0">
                <a:solidFill>
                  <a:srgbClr val="002060"/>
                </a:solidFill>
                <a:latin typeface="Times New Roman"/>
                <a:cs typeface="Times New Roman"/>
              </a:rPr>
              <a:t>Indian</a:t>
            </a:r>
            <a:r>
              <a:rPr sz="2600" b="1" u="sng" spc="-35" dirty="0">
                <a:solidFill>
                  <a:srgbClr val="002060"/>
                </a:solidFill>
                <a:latin typeface="Times New Roman"/>
                <a:cs typeface="Times New Roman"/>
              </a:rPr>
              <a:t> </a:t>
            </a:r>
            <a:r>
              <a:rPr sz="2600" b="1" u="sng" spc="-10" dirty="0">
                <a:solidFill>
                  <a:srgbClr val="002060"/>
                </a:solidFill>
                <a:latin typeface="Times New Roman"/>
                <a:cs typeface="Times New Roman"/>
              </a:rPr>
              <a:t>literature</a:t>
            </a:r>
            <a:endParaRPr lang="en-US" sz="2600" b="1" u="sng" spc="-10" dirty="0">
              <a:solidFill>
                <a:srgbClr val="002060"/>
              </a:solidFill>
              <a:latin typeface="Times New Roman"/>
              <a:cs typeface="Times New Roman"/>
            </a:endParaRPr>
          </a:p>
          <a:p>
            <a:pPr marL="12691" marR="5080" indent="456244" algn="just">
              <a:spcBef>
                <a:spcPts val="50"/>
              </a:spcBef>
            </a:pPr>
            <a:endParaRPr lang="en-US" sz="2400" spc="-40" dirty="0" smtClean="0">
              <a:latin typeface="Times New Roman"/>
              <a:cs typeface="Times New Roman"/>
            </a:endParaRPr>
          </a:p>
          <a:p>
            <a:pPr marL="12691" marR="5080" indent="456244" algn="just">
              <a:lnSpc>
                <a:spcPct val="150000"/>
              </a:lnSpc>
              <a:spcBef>
                <a:spcPts val="50"/>
              </a:spcBef>
            </a:pPr>
            <a:r>
              <a:rPr sz="2400" spc="-40" dirty="0" err="1" smtClean="0">
                <a:latin typeface="Times New Roman"/>
                <a:cs typeface="Times New Roman"/>
              </a:rPr>
              <a:t>Acoording</a:t>
            </a:r>
            <a:r>
              <a:rPr sz="2400" spc="-35" dirty="0" smtClean="0">
                <a:latin typeface="Times New Roman"/>
                <a:cs typeface="Times New Roman"/>
              </a:rPr>
              <a:t> </a:t>
            </a:r>
            <a:r>
              <a:rPr sz="2400" dirty="0">
                <a:latin typeface="Times New Roman"/>
                <a:cs typeface="Times New Roman"/>
              </a:rPr>
              <a:t>to</a:t>
            </a:r>
            <a:r>
              <a:rPr sz="2400" spc="-35" dirty="0">
                <a:latin typeface="Times New Roman"/>
                <a:cs typeface="Times New Roman"/>
              </a:rPr>
              <a:t> </a:t>
            </a:r>
            <a:r>
              <a:rPr sz="2400" spc="-40" dirty="0">
                <a:latin typeface="Times New Roman"/>
                <a:cs typeface="Times New Roman"/>
              </a:rPr>
              <a:t>ancient</a:t>
            </a:r>
            <a:r>
              <a:rPr sz="2400" spc="-14" dirty="0">
                <a:latin typeface="Times New Roman"/>
                <a:cs typeface="Times New Roman"/>
              </a:rPr>
              <a:t> </a:t>
            </a:r>
            <a:r>
              <a:rPr sz="2400" spc="-35" dirty="0">
                <a:latin typeface="Times New Roman"/>
                <a:cs typeface="Times New Roman"/>
              </a:rPr>
              <a:t>Indian</a:t>
            </a:r>
            <a:r>
              <a:rPr sz="2400" spc="-20" dirty="0">
                <a:latin typeface="Times New Roman"/>
                <a:cs typeface="Times New Roman"/>
              </a:rPr>
              <a:t> </a:t>
            </a:r>
            <a:r>
              <a:rPr sz="2400" spc="-45" dirty="0">
                <a:latin typeface="Times New Roman"/>
                <a:cs typeface="Times New Roman"/>
              </a:rPr>
              <a:t>literary</a:t>
            </a:r>
            <a:r>
              <a:rPr sz="2400" spc="-30" dirty="0">
                <a:latin typeface="Times New Roman"/>
                <a:cs typeface="Times New Roman"/>
              </a:rPr>
              <a:t> </a:t>
            </a:r>
            <a:r>
              <a:rPr sz="2400" spc="-45" dirty="0">
                <a:latin typeface="Times New Roman"/>
                <a:cs typeface="Times New Roman"/>
              </a:rPr>
              <a:t>reference,</a:t>
            </a:r>
            <a:r>
              <a:rPr sz="2400" spc="-14" dirty="0">
                <a:latin typeface="Times New Roman"/>
                <a:cs typeface="Times New Roman"/>
              </a:rPr>
              <a:t> </a:t>
            </a:r>
            <a:r>
              <a:rPr sz="2400" dirty="0">
                <a:latin typeface="Times New Roman"/>
                <a:cs typeface="Times New Roman"/>
              </a:rPr>
              <a:t>in</a:t>
            </a:r>
            <a:r>
              <a:rPr sz="2400" spc="-20" dirty="0">
                <a:latin typeface="Times New Roman"/>
                <a:cs typeface="Times New Roman"/>
              </a:rPr>
              <a:t> </a:t>
            </a:r>
            <a:r>
              <a:rPr sz="2400" spc="-40" dirty="0">
                <a:latin typeface="Times New Roman"/>
                <a:cs typeface="Times New Roman"/>
              </a:rPr>
              <a:t>nature</a:t>
            </a:r>
            <a:r>
              <a:rPr sz="2400" spc="-25" dirty="0">
                <a:latin typeface="Times New Roman"/>
                <a:cs typeface="Times New Roman"/>
              </a:rPr>
              <a:t> </a:t>
            </a:r>
            <a:r>
              <a:rPr sz="2400" spc="-30" dirty="0">
                <a:latin typeface="Times New Roman"/>
                <a:cs typeface="Times New Roman"/>
              </a:rPr>
              <a:t>there</a:t>
            </a:r>
            <a:r>
              <a:rPr sz="2400" spc="-20" dirty="0">
                <a:latin typeface="Times New Roman"/>
                <a:cs typeface="Times New Roman"/>
              </a:rPr>
              <a:t> are</a:t>
            </a:r>
            <a:r>
              <a:rPr sz="2400" spc="-25" dirty="0">
                <a:latin typeface="Times New Roman"/>
                <a:cs typeface="Times New Roman"/>
              </a:rPr>
              <a:t> </a:t>
            </a:r>
            <a:r>
              <a:rPr sz="2400" b="1" spc="-25" dirty="0">
                <a:solidFill>
                  <a:srgbClr val="00823B"/>
                </a:solidFill>
                <a:latin typeface="Times New Roman"/>
                <a:cs typeface="Times New Roman"/>
              </a:rPr>
              <a:t>four</a:t>
            </a:r>
            <a:r>
              <a:rPr sz="2400" b="1" spc="-35" dirty="0">
                <a:solidFill>
                  <a:srgbClr val="00823B"/>
                </a:solidFill>
                <a:latin typeface="Times New Roman"/>
                <a:cs typeface="Times New Roman"/>
              </a:rPr>
              <a:t> suddha</a:t>
            </a:r>
            <a:r>
              <a:rPr sz="2400" b="1" spc="-30" dirty="0">
                <a:solidFill>
                  <a:srgbClr val="00823B"/>
                </a:solidFill>
                <a:latin typeface="Times New Roman"/>
                <a:cs typeface="Times New Roman"/>
              </a:rPr>
              <a:t> lohas</a:t>
            </a:r>
            <a:r>
              <a:rPr sz="2400" b="1" spc="-14" dirty="0">
                <a:solidFill>
                  <a:srgbClr val="00823B"/>
                </a:solidFill>
                <a:latin typeface="Times New Roman"/>
                <a:cs typeface="Times New Roman"/>
              </a:rPr>
              <a:t> </a:t>
            </a:r>
            <a:r>
              <a:rPr sz="2400" b="1" spc="-40" dirty="0">
                <a:solidFill>
                  <a:srgbClr val="00823B"/>
                </a:solidFill>
                <a:latin typeface="Times New Roman"/>
                <a:cs typeface="Times New Roman"/>
              </a:rPr>
              <a:t>(native</a:t>
            </a:r>
            <a:r>
              <a:rPr sz="2400" b="1" spc="-30" dirty="0">
                <a:solidFill>
                  <a:srgbClr val="00823B"/>
                </a:solidFill>
                <a:latin typeface="Times New Roman"/>
                <a:cs typeface="Times New Roman"/>
              </a:rPr>
              <a:t> </a:t>
            </a:r>
            <a:r>
              <a:rPr sz="2400" b="1" spc="-10" dirty="0">
                <a:solidFill>
                  <a:srgbClr val="00823B"/>
                </a:solidFill>
                <a:latin typeface="Times New Roman"/>
                <a:cs typeface="Times New Roman"/>
              </a:rPr>
              <a:t>metals) </a:t>
            </a:r>
            <a:r>
              <a:rPr sz="2400" spc="-30" dirty="0">
                <a:latin typeface="Times New Roman"/>
                <a:cs typeface="Times New Roman"/>
              </a:rPr>
              <a:t>viz.,</a:t>
            </a:r>
            <a:r>
              <a:rPr sz="2400" spc="-45" dirty="0">
                <a:latin typeface="Times New Roman"/>
                <a:cs typeface="Times New Roman"/>
              </a:rPr>
              <a:t> </a:t>
            </a:r>
            <a:endParaRPr lang="en-US" sz="2400" spc="-45" dirty="0">
              <a:latin typeface="Times New Roman"/>
              <a:cs typeface="Times New Roman"/>
            </a:endParaRPr>
          </a:p>
          <a:p>
            <a:pPr marL="355592" marR="5080" indent="-342900" algn="just">
              <a:lnSpc>
                <a:spcPct val="150000"/>
              </a:lnSpc>
              <a:spcBef>
                <a:spcPts val="50"/>
              </a:spcBef>
              <a:buFont typeface="Arial" panose="020B0604020202020204" pitchFamily="34" charset="0"/>
              <a:buChar char="•"/>
            </a:pPr>
            <a:r>
              <a:rPr sz="2400" spc="-35" dirty="0" err="1">
                <a:latin typeface="Times New Roman"/>
                <a:cs typeface="Times New Roman"/>
              </a:rPr>
              <a:t>suvarṇa</a:t>
            </a:r>
            <a:r>
              <a:rPr sz="2400" spc="-35" dirty="0">
                <a:latin typeface="Times New Roman"/>
                <a:cs typeface="Times New Roman"/>
              </a:rPr>
              <a:t> (gold),</a:t>
            </a:r>
            <a:r>
              <a:rPr sz="2400" spc="-25" dirty="0">
                <a:latin typeface="Times New Roman"/>
                <a:cs typeface="Times New Roman"/>
              </a:rPr>
              <a:t> </a:t>
            </a:r>
            <a:endParaRPr lang="en-US" sz="2400" spc="-25" dirty="0">
              <a:latin typeface="Times New Roman"/>
              <a:cs typeface="Times New Roman"/>
            </a:endParaRPr>
          </a:p>
          <a:p>
            <a:pPr marL="355592" marR="5080" indent="-342900" algn="just">
              <a:lnSpc>
                <a:spcPct val="150000"/>
              </a:lnSpc>
              <a:spcBef>
                <a:spcPts val="50"/>
              </a:spcBef>
              <a:buFont typeface="Arial" panose="020B0604020202020204" pitchFamily="34" charset="0"/>
              <a:buChar char="•"/>
            </a:pPr>
            <a:r>
              <a:rPr sz="2400" spc="-40" dirty="0" err="1">
                <a:latin typeface="Times New Roman"/>
                <a:cs typeface="Times New Roman"/>
              </a:rPr>
              <a:t>rajata</a:t>
            </a:r>
            <a:r>
              <a:rPr sz="2400" spc="-35" dirty="0">
                <a:latin typeface="Times New Roman"/>
                <a:cs typeface="Times New Roman"/>
              </a:rPr>
              <a:t> </a:t>
            </a:r>
            <a:r>
              <a:rPr sz="2400" spc="-40" dirty="0">
                <a:latin typeface="Times New Roman"/>
                <a:cs typeface="Times New Roman"/>
              </a:rPr>
              <a:t>(silver),</a:t>
            </a:r>
            <a:r>
              <a:rPr sz="2400" spc="-35" dirty="0">
                <a:latin typeface="Times New Roman"/>
                <a:cs typeface="Times New Roman"/>
              </a:rPr>
              <a:t> </a:t>
            </a:r>
            <a:endParaRPr lang="en-US" sz="2400" spc="-35" dirty="0">
              <a:latin typeface="Times New Roman"/>
              <a:cs typeface="Times New Roman"/>
            </a:endParaRPr>
          </a:p>
          <a:p>
            <a:pPr marL="355592" marR="5080" indent="-342900" algn="just">
              <a:lnSpc>
                <a:spcPct val="150000"/>
              </a:lnSpc>
              <a:spcBef>
                <a:spcPts val="50"/>
              </a:spcBef>
              <a:buFont typeface="Arial" panose="020B0604020202020204" pitchFamily="34" charset="0"/>
              <a:buChar char="•"/>
            </a:pPr>
            <a:r>
              <a:rPr sz="2400" spc="-35" dirty="0" err="1">
                <a:latin typeface="Times New Roman"/>
                <a:cs typeface="Times New Roman"/>
              </a:rPr>
              <a:t>tamra</a:t>
            </a:r>
            <a:r>
              <a:rPr sz="2400" spc="-40" dirty="0">
                <a:latin typeface="Times New Roman"/>
                <a:cs typeface="Times New Roman"/>
              </a:rPr>
              <a:t> (copper)</a:t>
            </a:r>
            <a:r>
              <a:rPr sz="2400" spc="-25" dirty="0">
                <a:latin typeface="Times New Roman"/>
                <a:cs typeface="Times New Roman"/>
              </a:rPr>
              <a:t> </a:t>
            </a:r>
            <a:r>
              <a:rPr sz="2400" spc="-20" dirty="0">
                <a:latin typeface="Times New Roman"/>
                <a:cs typeface="Times New Roman"/>
              </a:rPr>
              <a:t>and</a:t>
            </a:r>
            <a:r>
              <a:rPr sz="2400" spc="-25" dirty="0">
                <a:latin typeface="Times New Roman"/>
                <a:cs typeface="Times New Roman"/>
              </a:rPr>
              <a:t> </a:t>
            </a:r>
            <a:endParaRPr lang="en-US" sz="2400" spc="-25" dirty="0">
              <a:latin typeface="Times New Roman"/>
              <a:cs typeface="Times New Roman"/>
            </a:endParaRPr>
          </a:p>
          <a:p>
            <a:pPr marL="355592" marR="5080" indent="-342900" algn="just">
              <a:lnSpc>
                <a:spcPct val="150000"/>
              </a:lnSpc>
              <a:spcBef>
                <a:spcPts val="50"/>
              </a:spcBef>
              <a:buFont typeface="Arial" panose="020B0604020202020204" pitchFamily="34" charset="0"/>
              <a:buChar char="•"/>
            </a:pPr>
            <a:r>
              <a:rPr sz="2400" spc="-25" dirty="0" err="1">
                <a:latin typeface="Times New Roman"/>
                <a:cs typeface="Times New Roman"/>
              </a:rPr>
              <a:t>loha</a:t>
            </a:r>
            <a:r>
              <a:rPr sz="2400" spc="-30" dirty="0">
                <a:latin typeface="Times New Roman"/>
                <a:cs typeface="Times New Roman"/>
              </a:rPr>
              <a:t> </a:t>
            </a:r>
            <a:r>
              <a:rPr sz="2400" spc="-35" dirty="0">
                <a:latin typeface="Times New Roman"/>
                <a:cs typeface="Times New Roman"/>
              </a:rPr>
              <a:t>(iron).</a:t>
            </a:r>
            <a:r>
              <a:rPr sz="2400" spc="-25" dirty="0">
                <a:latin typeface="Times New Roman"/>
                <a:cs typeface="Times New Roman"/>
              </a:rPr>
              <a:t> </a:t>
            </a:r>
            <a:endParaRPr lang="en-US" sz="2400" spc="-25" dirty="0">
              <a:latin typeface="Times New Roman"/>
              <a:cs typeface="Times New Roman"/>
            </a:endParaRPr>
          </a:p>
          <a:p>
            <a:pPr marL="12691" marR="5080" algn="just">
              <a:lnSpc>
                <a:spcPct val="150000"/>
              </a:lnSpc>
              <a:spcBef>
                <a:spcPts val="50"/>
              </a:spcBef>
            </a:pPr>
            <a:r>
              <a:rPr lang="en-US" sz="2400" spc="-25" dirty="0">
                <a:latin typeface="Times New Roman"/>
                <a:cs typeface="Times New Roman"/>
              </a:rPr>
              <a:t>  </a:t>
            </a:r>
            <a:r>
              <a:rPr lang="en-US" sz="2400" spc="-25" dirty="0" smtClean="0">
                <a:latin typeface="Times New Roman"/>
                <a:cs typeface="Times New Roman"/>
              </a:rPr>
              <a:t>	</a:t>
            </a:r>
            <a:endParaRPr sz="2400" u="sng" dirty="0">
              <a:solidFill>
                <a:srgbClr val="FF0000"/>
              </a:solidFill>
              <a:latin typeface="Times New Roman"/>
              <a:cs typeface="Times New Roman"/>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a:xfrm>
            <a:off x="753863" y="1295400"/>
            <a:ext cx="8550157" cy="5267961"/>
          </a:xfrm>
        </p:spPr>
        <p:txBody>
          <a:bodyPr/>
          <a:lstStyle/>
          <a:p>
            <a:pPr marL="12691" marR="5080" lvl="0" indent="0" algn="just" defTabSz="457200">
              <a:lnSpc>
                <a:spcPct val="150000"/>
              </a:lnSpc>
              <a:spcBef>
                <a:spcPts val="50"/>
              </a:spcBef>
              <a:buClrTx/>
              <a:buNone/>
            </a:pPr>
            <a:r>
              <a:rPr lang="en-US" sz="2400" b="1" cap="none" spc="-20" dirty="0" smtClean="0">
                <a:solidFill>
                  <a:srgbClr val="00823B"/>
                </a:solidFill>
                <a:latin typeface="Times New Roman"/>
                <a:cs typeface="Times New Roman"/>
              </a:rPr>
              <a:t>Two</a:t>
            </a:r>
            <a:r>
              <a:rPr lang="en-US" sz="2400" b="1" cap="none" spc="-35" dirty="0" smtClean="0">
                <a:solidFill>
                  <a:srgbClr val="00823B"/>
                </a:solidFill>
                <a:latin typeface="Times New Roman"/>
                <a:cs typeface="Times New Roman"/>
              </a:rPr>
              <a:t> </a:t>
            </a:r>
            <a:r>
              <a:rPr lang="en-US" sz="2400" b="1" cap="none" spc="-40" dirty="0" err="1">
                <a:solidFill>
                  <a:srgbClr val="00823B"/>
                </a:solidFill>
                <a:latin typeface="Times New Roman"/>
                <a:cs typeface="Times New Roman"/>
              </a:rPr>
              <a:t>putilohas</a:t>
            </a:r>
            <a:r>
              <a:rPr lang="en-US" sz="2400" b="1" cap="none" spc="-40" dirty="0">
                <a:solidFill>
                  <a:srgbClr val="00823B"/>
                </a:solidFill>
                <a:latin typeface="Times New Roman"/>
                <a:cs typeface="Times New Roman"/>
              </a:rPr>
              <a:t>-</a:t>
            </a:r>
            <a:r>
              <a:rPr lang="en-US" sz="2400" b="1" cap="none" spc="-25" dirty="0">
                <a:solidFill>
                  <a:srgbClr val="00823B"/>
                </a:solidFill>
                <a:latin typeface="Times New Roman"/>
                <a:cs typeface="Times New Roman"/>
              </a:rPr>
              <a:t> </a:t>
            </a:r>
          </a:p>
          <a:p>
            <a:pPr marL="355592" marR="5080" indent="-342900" algn="just" defTabSz="457200">
              <a:lnSpc>
                <a:spcPct val="150000"/>
              </a:lnSpc>
              <a:spcBef>
                <a:spcPts val="50"/>
              </a:spcBef>
              <a:buClrTx/>
            </a:pPr>
            <a:r>
              <a:rPr lang="en-US" sz="2400" cap="none" spc="-20" dirty="0">
                <a:solidFill>
                  <a:prstClr val="black"/>
                </a:solidFill>
                <a:latin typeface="Times New Roman"/>
                <a:cs typeface="Times New Roman"/>
              </a:rPr>
              <a:t>   </a:t>
            </a:r>
            <a:r>
              <a:rPr lang="en-US" sz="2400" cap="none" spc="-20" dirty="0" err="1">
                <a:solidFill>
                  <a:prstClr val="black"/>
                </a:solidFill>
                <a:latin typeface="Times New Roman"/>
                <a:cs typeface="Times New Roman"/>
              </a:rPr>
              <a:t>naga</a:t>
            </a:r>
            <a:r>
              <a:rPr lang="en-US" sz="2400" cap="none" spc="-20" dirty="0">
                <a:solidFill>
                  <a:prstClr val="black"/>
                </a:solidFill>
                <a:latin typeface="Times New Roman"/>
                <a:cs typeface="Times New Roman"/>
              </a:rPr>
              <a:t> </a:t>
            </a:r>
            <a:r>
              <a:rPr lang="en-US" sz="2400" cap="none" spc="-55" dirty="0">
                <a:solidFill>
                  <a:prstClr val="black"/>
                </a:solidFill>
                <a:latin typeface="Times New Roman"/>
                <a:cs typeface="Times New Roman"/>
              </a:rPr>
              <a:t>(lead)</a:t>
            </a:r>
            <a:r>
              <a:rPr lang="en-US" sz="2400" cap="none" spc="-4" dirty="0">
                <a:solidFill>
                  <a:prstClr val="black"/>
                </a:solidFill>
                <a:latin typeface="Times New Roman"/>
                <a:cs typeface="Times New Roman"/>
              </a:rPr>
              <a:t> </a:t>
            </a:r>
            <a:r>
              <a:rPr lang="en-US" sz="2400" cap="none" spc="-50" dirty="0">
                <a:solidFill>
                  <a:prstClr val="black"/>
                </a:solidFill>
                <a:latin typeface="Times New Roman"/>
                <a:cs typeface="Times New Roman"/>
              </a:rPr>
              <a:t>and</a:t>
            </a:r>
          </a:p>
          <a:p>
            <a:pPr marL="355592" marR="5080" indent="-342900" algn="just" defTabSz="457200">
              <a:lnSpc>
                <a:spcPct val="150000"/>
              </a:lnSpc>
              <a:spcBef>
                <a:spcPts val="50"/>
              </a:spcBef>
              <a:buClrTx/>
            </a:pPr>
            <a:r>
              <a:rPr lang="en-US" sz="2400" cap="none" spc="4" dirty="0">
                <a:solidFill>
                  <a:prstClr val="black"/>
                </a:solidFill>
                <a:latin typeface="Times New Roman"/>
                <a:cs typeface="Times New Roman"/>
              </a:rPr>
              <a:t>   </a:t>
            </a:r>
            <a:r>
              <a:rPr lang="en-US" sz="2400" cap="none" spc="-55" dirty="0" err="1">
                <a:solidFill>
                  <a:prstClr val="black"/>
                </a:solidFill>
                <a:latin typeface="Times New Roman"/>
                <a:cs typeface="Times New Roman"/>
              </a:rPr>
              <a:t>vaṅga</a:t>
            </a:r>
            <a:r>
              <a:rPr lang="en-US" sz="2400" cap="none" spc="20" dirty="0">
                <a:solidFill>
                  <a:prstClr val="black"/>
                </a:solidFill>
                <a:latin typeface="Times New Roman"/>
                <a:cs typeface="Times New Roman"/>
              </a:rPr>
              <a:t> </a:t>
            </a:r>
            <a:r>
              <a:rPr lang="en-US" sz="2400" cap="none" spc="-55" dirty="0">
                <a:solidFill>
                  <a:prstClr val="black"/>
                </a:solidFill>
                <a:latin typeface="Times New Roman"/>
                <a:cs typeface="Times New Roman"/>
              </a:rPr>
              <a:t>(tin)</a:t>
            </a:r>
            <a:r>
              <a:rPr lang="en-US" sz="2400" cap="none" spc="-4" dirty="0">
                <a:solidFill>
                  <a:prstClr val="black"/>
                </a:solidFill>
                <a:latin typeface="Times New Roman"/>
                <a:cs typeface="Times New Roman"/>
              </a:rPr>
              <a:t> </a:t>
            </a:r>
          </a:p>
          <a:p>
            <a:pPr marL="12691" marR="5080" lvl="0" indent="0" algn="just" defTabSz="457200">
              <a:lnSpc>
                <a:spcPct val="150000"/>
              </a:lnSpc>
              <a:spcBef>
                <a:spcPts val="50"/>
              </a:spcBef>
              <a:buClrTx/>
              <a:buNone/>
            </a:pPr>
            <a:r>
              <a:rPr lang="en-US" sz="2400" b="1" cap="none" spc="-60" dirty="0" smtClean="0">
                <a:solidFill>
                  <a:srgbClr val="00823B"/>
                </a:solidFill>
                <a:latin typeface="Times New Roman"/>
                <a:cs typeface="Times New Roman"/>
              </a:rPr>
              <a:t>Three</a:t>
            </a:r>
            <a:r>
              <a:rPr lang="en-US" sz="2400" b="1" cap="none" dirty="0" smtClean="0">
                <a:solidFill>
                  <a:srgbClr val="00823B"/>
                </a:solidFill>
                <a:latin typeface="Times New Roman"/>
                <a:cs typeface="Times New Roman"/>
              </a:rPr>
              <a:t> </a:t>
            </a:r>
            <a:r>
              <a:rPr lang="en-US" sz="2400" b="1" cap="none" spc="-55" dirty="0" err="1">
                <a:solidFill>
                  <a:srgbClr val="00823B"/>
                </a:solidFill>
                <a:latin typeface="Times New Roman"/>
                <a:cs typeface="Times New Roman"/>
              </a:rPr>
              <a:t>misra</a:t>
            </a:r>
            <a:r>
              <a:rPr lang="en-US" sz="2400" b="1" cap="none" spc="-4" dirty="0">
                <a:solidFill>
                  <a:srgbClr val="00823B"/>
                </a:solidFill>
                <a:latin typeface="Times New Roman"/>
                <a:cs typeface="Times New Roman"/>
              </a:rPr>
              <a:t> </a:t>
            </a:r>
            <a:r>
              <a:rPr lang="en-US" sz="2400" b="1" cap="none" spc="-50" dirty="0" err="1">
                <a:solidFill>
                  <a:srgbClr val="00823B"/>
                </a:solidFill>
                <a:latin typeface="Times New Roman"/>
                <a:cs typeface="Times New Roman"/>
              </a:rPr>
              <a:t>loha</a:t>
            </a:r>
            <a:r>
              <a:rPr lang="en-US" sz="2400" b="1" cap="none" dirty="0">
                <a:solidFill>
                  <a:srgbClr val="00823B"/>
                </a:solidFill>
                <a:latin typeface="Times New Roman"/>
                <a:cs typeface="Times New Roman"/>
              </a:rPr>
              <a:t> </a:t>
            </a:r>
            <a:r>
              <a:rPr lang="en-US" sz="2400" b="1" cap="none" spc="-50" dirty="0">
                <a:solidFill>
                  <a:srgbClr val="00823B"/>
                </a:solidFill>
                <a:latin typeface="Times New Roman"/>
                <a:cs typeface="Times New Roman"/>
              </a:rPr>
              <a:t>(alloys)</a:t>
            </a:r>
            <a:r>
              <a:rPr lang="en-US" sz="2400" b="1" cap="none" spc="14" dirty="0">
                <a:solidFill>
                  <a:srgbClr val="00823B"/>
                </a:solidFill>
                <a:latin typeface="Times New Roman"/>
                <a:cs typeface="Times New Roman"/>
              </a:rPr>
              <a:t> </a:t>
            </a:r>
            <a:r>
              <a:rPr lang="en-US" sz="2400" cap="none" spc="-55" dirty="0">
                <a:solidFill>
                  <a:prstClr val="black"/>
                </a:solidFill>
                <a:latin typeface="Times New Roman"/>
                <a:cs typeface="Times New Roman"/>
              </a:rPr>
              <a:t>viz.,</a:t>
            </a:r>
            <a:r>
              <a:rPr lang="en-US" sz="2400" cap="none" spc="4" dirty="0">
                <a:solidFill>
                  <a:prstClr val="black"/>
                </a:solidFill>
                <a:latin typeface="Times New Roman"/>
                <a:cs typeface="Times New Roman"/>
              </a:rPr>
              <a:t> </a:t>
            </a:r>
          </a:p>
          <a:p>
            <a:pPr marL="355592" marR="5080" indent="-342900" algn="just" defTabSz="457200">
              <a:lnSpc>
                <a:spcPct val="150000"/>
              </a:lnSpc>
              <a:spcBef>
                <a:spcPts val="50"/>
              </a:spcBef>
              <a:buClrTx/>
            </a:pPr>
            <a:r>
              <a:rPr lang="en-US" sz="2400" cap="none" spc="-50" dirty="0">
                <a:solidFill>
                  <a:prstClr val="black"/>
                </a:solidFill>
                <a:latin typeface="Times New Roman"/>
                <a:cs typeface="Times New Roman"/>
              </a:rPr>
              <a:t>    </a:t>
            </a:r>
            <a:r>
              <a:rPr lang="en-US" sz="2400" cap="none" spc="-50" dirty="0" err="1">
                <a:solidFill>
                  <a:prstClr val="black"/>
                </a:solidFill>
                <a:latin typeface="Times New Roman"/>
                <a:cs typeface="Times New Roman"/>
              </a:rPr>
              <a:t>pittala</a:t>
            </a:r>
            <a:r>
              <a:rPr lang="en-US" sz="2400" cap="none" dirty="0">
                <a:solidFill>
                  <a:prstClr val="black"/>
                </a:solidFill>
                <a:latin typeface="Times New Roman"/>
                <a:cs typeface="Times New Roman"/>
              </a:rPr>
              <a:t> </a:t>
            </a:r>
            <a:r>
              <a:rPr lang="en-US" sz="2400" cap="none" spc="-45" dirty="0">
                <a:solidFill>
                  <a:prstClr val="black"/>
                </a:solidFill>
                <a:latin typeface="Times New Roman"/>
                <a:cs typeface="Times New Roman"/>
              </a:rPr>
              <a:t>(brass),</a:t>
            </a:r>
            <a:r>
              <a:rPr lang="en-US" sz="2400" cap="none" spc="4" dirty="0">
                <a:solidFill>
                  <a:prstClr val="black"/>
                </a:solidFill>
                <a:latin typeface="Times New Roman"/>
                <a:cs typeface="Times New Roman"/>
              </a:rPr>
              <a:t> </a:t>
            </a:r>
          </a:p>
          <a:p>
            <a:pPr marL="355592" marR="5080" indent="-342900" algn="just" defTabSz="457200">
              <a:lnSpc>
                <a:spcPct val="150000"/>
              </a:lnSpc>
              <a:spcBef>
                <a:spcPts val="50"/>
              </a:spcBef>
              <a:buClrTx/>
            </a:pPr>
            <a:r>
              <a:rPr lang="en-US" sz="2400" cap="none" spc="-55" dirty="0">
                <a:solidFill>
                  <a:prstClr val="black"/>
                </a:solidFill>
                <a:latin typeface="Times New Roman"/>
                <a:cs typeface="Times New Roman"/>
              </a:rPr>
              <a:t>    </a:t>
            </a:r>
            <a:r>
              <a:rPr lang="en-US" sz="2400" cap="none" spc="-55" dirty="0" err="1">
                <a:solidFill>
                  <a:prstClr val="black"/>
                </a:solidFill>
                <a:latin typeface="Times New Roman"/>
                <a:cs typeface="Times New Roman"/>
              </a:rPr>
              <a:t>kaṃsya</a:t>
            </a:r>
            <a:r>
              <a:rPr lang="en-US" sz="2400" cap="none" spc="14" dirty="0">
                <a:solidFill>
                  <a:prstClr val="black"/>
                </a:solidFill>
                <a:latin typeface="Times New Roman"/>
                <a:cs typeface="Times New Roman"/>
              </a:rPr>
              <a:t> </a:t>
            </a:r>
            <a:r>
              <a:rPr lang="en-US" sz="2400" cap="none" spc="-55" dirty="0">
                <a:solidFill>
                  <a:prstClr val="black"/>
                </a:solidFill>
                <a:latin typeface="Times New Roman"/>
                <a:cs typeface="Times New Roman"/>
              </a:rPr>
              <a:t>(bell</a:t>
            </a:r>
            <a:r>
              <a:rPr lang="en-US" sz="2400" cap="none" spc="10" dirty="0">
                <a:solidFill>
                  <a:prstClr val="black"/>
                </a:solidFill>
                <a:latin typeface="Times New Roman"/>
                <a:cs typeface="Times New Roman"/>
              </a:rPr>
              <a:t> </a:t>
            </a:r>
            <a:r>
              <a:rPr lang="en-US" sz="2400" cap="none" spc="-50" dirty="0">
                <a:solidFill>
                  <a:prstClr val="black"/>
                </a:solidFill>
                <a:latin typeface="Times New Roman"/>
                <a:cs typeface="Times New Roman"/>
              </a:rPr>
              <a:t>metal)</a:t>
            </a:r>
            <a:r>
              <a:rPr lang="en-US" sz="2400" cap="none" dirty="0">
                <a:solidFill>
                  <a:prstClr val="black"/>
                </a:solidFill>
                <a:latin typeface="Times New Roman"/>
                <a:cs typeface="Times New Roman"/>
              </a:rPr>
              <a:t> </a:t>
            </a:r>
            <a:r>
              <a:rPr lang="en-US" sz="2400" cap="none" spc="-60" dirty="0">
                <a:solidFill>
                  <a:prstClr val="black"/>
                </a:solidFill>
                <a:latin typeface="Times New Roman"/>
                <a:cs typeface="Times New Roman"/>
              </a:rPr>
              <a:t>and</a:t>
            </a:r>
            <a:r>
              <a:rPr lang="en-US" sz="2400" cap="none" spc="4" dirty="0">
                <a:solidFill>
                  <a:prstClr val="black"/>
                </a:solidFill>
                <a:latin typeface="Times New Roman"/>
                <a:cs typeface="Times New Roman"/>
              </a:rPr>
              <a:t> </a:t>
            </a:r>
          </a:p>
          <a:p>
            <a:pPr marL="355592" marR="5080" indent="-342900" algn="just" defTabSz="457200">
              <a:lnSpc>
                <a:spcPct val="150000"/>
              </a:lnSpc>
              <a:spcBef>
                <a:spcPts val="50"/>
              </a:spcBef>
              <a:buClrTx/>
            </a:pPr>
            <a:r>
              <a:rPr lang="en-US" sz="2400" cap="none" spc="-55" dirty="0">
                <a:solidFill>
                  <a:prstClr val="black"/>
                </a:solidFill>
                <a:latin typeface="Times New Roman"/>
                <a:cs typeface="Times New Roman"/>
              </a:rPr>
              <a:t>    </a:t>
            </a:r>
            <a:r>
              <a:rPr lang="en-US" sz="2400" cap="none" spc="-55" dirty="0" err="1">
                <a:solidFill>
                  <a:prstClr val="black"/>
                </a:solidFill>
                <a:latin typeface="Times New Roman"/>
                <a:cs typeface="Times New Roman"/>
              </a:rPr>
              <a:t>varta</a:t>
            </a:r>
            <a:r>
              <a:rPr lang="en-US" sz="2400" cap="none" spc="-14" dirty="0">
                <a:solidFill>
                  <a:prstClr val="black"/>
                </a:solidFill>
                <a:latin typeface="Times New Roman"/>
                <a:cs typeface="Times New Roman"/>
              </a:rPr>
              <a:t> </a:t>
            </a:r>
            <a:r>
              <a:rPr lang="en-US" sz="2400" cap="none" spc="-50" dirty="0" err="1">
                <a:solidFill>
                  <a:prstClr val="black"/>
                </a:solidFill>
                <a:latin typeface="Times New Roman"/>
                <a:cs typeface="Times New Roman"/>
              </a:rPr>
              <a:t>loha</a:t>
            </a:r>
            <a:r>
              <a:rPr lang="en-US" sz="2400" cap="none" spc="-4" dirty="0">
                <a:solidFill>
                  <a:prstClr val="black"/>
                </a:solidFill>
                <a:latin typeface="Times New Roman"/>
                <a:cs typeface="Times New Roman"/>
              </a:rPr>
              <a:t> </a:t>
            </a:r>
            <a:r>
              <a:rPr lang="en-US" sz="2400" cap="none" spc="-25" dirty="0">
                <a:solidFill>
                  <a:prstClr val="black"/>
                </a:solidFill>
                <a:latin typeface="Times New Roman"/>
                <a:cs typeface="Times New Roman"/>
              </a:rPr>
              <a:t>(an </a:t>
            </a:r>
            <a:r>
              <a:rPr lang="en-US" sz="2400" cap="none" spc="-40" dirty="0">
                <a:solidFill>
                  <a:prstClr val="black"/>
                </a:solidFill>
                <a:latin typeface="Times New Roman"/>
                <a:cs typeface="Times New Roman"/>
              </a:rPr>
              <a:t>alloy</a:t>
            </a:r>
            <a:r>
              <a:rPr lang="en-US" sz="2400" cap="none" spc="-85" dirty="0">
                <a:solidFill>
                  <a:prstClr val="black"/>
                </a:solidFill>
                <a:latin typeface="Times New Roman"/>
                <a:cs typeface="Times New Roman"/>
              </a:rPr>
              <a:t> </a:t>
            </a:r>
            <a:r>
              <a:rPr lang="en-US" sz="2400" cap="none" spc="-45" dirty="0">
                <a:solidFill>
                  <a:prstClr val="black"/>
                </a:solidFill>
                <a:latin typeface="Times New Roman"/>
                <a:cs typeface="Times New Roman"/>
              </a:rPr>
              <a:t>made </a:t>
            </a:r>
            <a:r>
              <a:rPr lang="en-US" sz="2400" cap="none" spc="-30" dirty="0">
                <a:solidFill>
                  <a:prstClr val="black"/>
                </a:solidFill>
                <a:latin typeface="Times New Roman"/>
                <a:cs typeface="Times New Roman"/>
              </a:rPr>
              <a:t>of</a:t>
            </a:r>
            <a:r>
              <a:rPr lang="en-US" sz="2400" cap="none" spc="-50" dirty="0">
                <a:solidFill>
                  <a:prstClr val="black"/>
                </a:solidFill>
                <a:latin typeface="Times New Roman"/>
                <a:cs typeface="Times New Roman"/>
              </a:rPr>
              <a:t> </a:t>
            </a:r>
            <a:r>
              <a:rPr lang="en-US" sz="2400" cap="none" spc="-45" dirty="0">
                <a:solidFill>
                  <a:prstClr val="black"/>
                </a:solidFill>
                <a:latin typeface="Times New Roman"/>
                <a:cs typeface="Times New Roman"/>
              </a:rPr>
              <a:t>five</a:t>
            </a:r>
            <a:r>
              <a:rPr lang="en-US" sz="2400" cap="none" spc="-55" dirty="0">
                <a:solidFill>
                  <a:prstClr val="black"/>
                </a:solidFill>
                <a:latin typeface="Times New Roman"/>
                <a:cs typeface="Times New Roman"/>
              </a:rPr>
              <a:t> </a:t>
            </a:r>
            <a:r>
              <a:rPr lang="en-US" sz="2400" cap="none" spc="-45" dirty="0">
                <a:solidFill>
                  <a:prstClr val="black"/>
                </a:solidFill>
                <a:latin typeface="Times New Roman"/>
                <a:cs typeface="Times New Roman"/>
              </a:rPr>
              <a:t>metals).</a:t>
            </a:r>
            <a:r>
              <a:rPr lang="en-US" sz="2400" cap="none" spc="-70" dirty="0">
                <a:solidFill>
                  <a:prstClr val="black"/>
                </a:solidFill>
                <a:latin typeface="Times New Roman"/>
                <a:cs typeface="Times New Roman"/>
              </a:rPr>
              <a:t> </a:t>
            </a:r>
          </a:p>
          <a:p>
            <a:pPr marL="12691" marR="5080" lvl="0" indent="0" algn="just" defTabSz="457200">
              <a:lnSpc>
                <a:spcPct val="150000"/>
              </a:lnSpc>
              <a:spcBef>
                <a:spcPts val="50"/>
              </a:spcBef>
              <a:buClrTx/>
              <a:buNone/>
            </a:pPr>
            <a:r>
              <a:rPr lang="en-US" sz="2400" cap="none" spc="-40" dirty="0">
                <a:solidFill>
                  <a:srgbClr val="00B050"/>
                </a:solidFill>
                <a:latin typeface="Times New Roman"/>
                <a:cs typeface="Times New Roman"/>
              </a:rPr>
              <a:t>	</a:t>
            </a:r>
            <a:r>
              <a:rPr lang="en-US" sz="2400" cap="none" spc="-40" dirty="0">
                <a:solidFill>
                  <a:prstClr val="black"/>
                </a:solidFill>
                <a:latin typeface="Times New Roman"/>
                <a:cs typeface="Times New Roman"/>
              </a:rPr>
              <a:t>The</a:t>
            </a:r>
            <a:r>
              <a:rPr lang="en-US" sz="2400" cap="none" spc="-50" dirty="0">
                <a:solidFill>
                  <a:prstClr val="black"/>
                </a:solidFill>
                <a:latin typeface="Times New Roman"/>
                <a:cs typeface="Times New Roman"/>
              </a:rPr>
              <a:t> term </a:t>
            </a:r>
            <a:r>
              <a:rPr lang="en-US" sz="2400" cap="none" spc="-40" dirty="0" err="1">
                <a:solidFill>
                  <a:srgbClr val="C00000"/>
                </a:solidFill>
                <a:latin typeface="Times New Roman"/>
                <a:cs typeface="Times New Roman"/>
              </a:rPr>
              <a:t>loha</a:t>
            </a:r>
            <a:r>
              <a:rPr lang="en-US" sz="2400" cap="none" spc="-60" dirty="0">
                <a:solidFill>
                  <a:srgbClr val="C00000"/>
                </a:solidFill>
                <a:latin typeface="Times New Roman"/>
                <a:cs typeface="Times New Roman"/>
              </a:rPr>
              <a:t> </a:t>
            </a:r>
            <a:r>
              <a:rPr lang="en-US" sz="2400" cap="none" spc="-35" dirty="0">
                <a:solidFill>
                  <a:srgbClr val="C00000"/>
                </a:solidFill>
                <a:latin typeface="Times New Roman"/>
                <a:cs typeface="Times New Roman"/>
              </a:rPr>
              <a:t>is</a:t>
            </a:r>
            <a:r>
              <a:rPr lang="en-US" sz="2400" cap="none" spc="-40" dirty="0">
                <a:solidFill>
                  <a:srgbClr val="C00000"/>
                </a:solidFill>
                <a:latin typeface="Times New Roman"/>
                <a:cs typeface="Times New Roman"/>
              </a:rPr>
              <a:t> </a:t>
            </a:r>
            <a:r>
              <a:rPr lang="en-US" sz="2400" cap="none" spc="-50" dirty="0">
                <a:solidFill>
                  <a:srgbClr val="C00000"/>
                </a:solidFill>
                <a:latin typeface="Times New Roman"/>
                <a:cs typeface="Times New Roman"/>
              </a:rPr>
              <a:t>derived</a:t>
            </a:r>
            <a:r>
              <a:rPr lang="en-US" sz="2400" cap="none" spc="-55" dirty="0">
                <a:solidFill>
                  <a:srgbClr val="C00000"/>
                </a:solidFill>
                <a:latin typeface="Times New Roman"/>
                <a:cs typeface="Times New Roman"/>
              </a:rPr>
              <a:t> </a:t>
            </a:r>
            <a:r>
              <a:rPr lang="en-US" sz="2400" cap="none" spc="-45" dirty="0">
                <a:solidFill>
                  <a:prstClr val="black"/>
                </a:solidFill>
                <a:latin typeface="Times New Roman"/>
                <a:cs typeface="Times New Roman"/>
              </a:rPr>
              <a:t>from</a:t>
            </a:r>
            <a:r>
              <a:rPr lang="en-US" sz="2400" cap="none" spc="-50" dirty="0">
                <a:solidFill>
                  <a:prstClr val="black"/>
                </a:solidFill>
                <a:latin typeface="Times New Roman"/>
                <a:cs typeface="Times New Roman"/>
              </a:rPr>
              <a:t> </a:t>
            </a:r>
            <a:r>
              <a:rPr lang="en-US" sz="2400" cap="none" spc="-35" dirty="0">
                <a:solidFill>
                  <a:prstClr val="black"/>
                </a:solidFill>
                <a:latin typeface="Times New Roman"/>
                <a:cs typeface="Times New Roman"/>
              </a:rPr>
              <a:t>the</a:t>
            </a:r>
            <a:r>
              <a:rPr lang="en-US" sz="2400" cap="none" spc="-50" dirty="0">
                <a:solidFill>
                  <a:prstClr val="black"/>
                </a:solidFill>
                <a:latin typeface="Times New Roman"/>
                <a:cs typeface="Times New Roman"/>
              </a:rPr>
              <a:t> </a:t>
            </a:r>
            <a:r>
              <a:rPr lang="en-US" sz="2400" cap="none" spc="-45" dirty="0">
                <a:solidFill>
                  <a:srgbClr val="C00000"/>
                </a:solidFill>
                <a:latin typeface="Times New Roman"/>
                <a:cs typeface="Times New Roman"/>
              </a:rPr>
              <a:t>root</a:t>
            </a:r>
            <a:r>
              <a:rPr lang="en-US" sz="2400" cap="none" spc="-35" dirty="0">
                <a:solidFill>
                  <a:srgbClr val="C00000"/>
                </a:solidFill>
                <a:latin typeface="Times New Roman"/>
                <a:cs typeface="Times New Roman"/>
              </a:rPr>
              <a:t> </a:t>
            </a:r>
            <a:r>
              <a:rPr lang="en-US" sz="2400" cap="none" spc="-40" dirty="0" err="1">
                <a:solidFill>
                  <a:srgbClr val="C00000"/>
                </a:solidFill>
                <a:latin typeface="Times New Roman"/>
                <a:cs typeface="Times New Roman"/>
              </a:rPr>
              <a:t>luh</a:t>
            </a:r>
            <a:r>
              <a:rPr lang="en-US" sz="2400" cap="none" spc="-55" dirty="0">
                <a:solidFill>
                  <a:srgbClr val="C00000"/>
                </a:solidFill>
                <a:latin typeface="Times New Roman"/>
                <a:cs typeface="Times New Roman"/>
              </a:rPr>
              <a:t> </a:t>
            </a:r>
            <a:r>
              <a:rPr lang="en-US" sz="2400" cap="none" spc="-45" dirty="0">
                <a:solidFill>
                  <a:srgbClr val="C00000"/>
                </a:solidFill>
                <a:latin typeface="Times New Roman"/>
                <a:cs typeface="Times New Roman"/>
              </a:rPr>
              <a:t>which</a:t>
            </a:r>
            <a:r>
              <a:rPr lang="en-US" sz="2400" cap="none" spc="-50" dirty="0">
                <a:solidFill>
                  <a:srgbClr val="C00000"/>
                </a:solidFill>
                <a:latin typeface="Times New Roman"/>
                <a:cs typeface="Times New Roman"/>
              </a:rPr>
              <a:t> </a:t>
            </a:r>
            <a:r>
              <a:rPr lang="en-US" sz="2400" cap="none" spc="-45" dirty="0">
                <a:solidFill>
                  <a:srgbClr val="C00000"/>
                </a:solidFill>
                <a:latin typeface="Times New Roman"/>
                <a:cs typeface="Times New Roman"/>
              </a:rPr>
              <a:t>means</a:t>
            </a:r>
            <a:r>
              <a:rPr lang="en-US" sz="2400" cap="none" spc="-40" dirty="0">
                <a:solidFill>
                  <a:srgbClr val="C00000"/>
                </a:solidFill>
                <a:latin typeface="Times New Roman"/>
                <a:cs typeface="Times New Roman"/>
              </a:rPr>
              <a:t> </a:t>
            </a:r>
            <a:r>
              <a:rPr lang="en-US" sz="2400" cap="none" spc="-10" dirty="0" err="1">
                <a:solidFill>
                  <a:srgbClr val="C00000"/>
                </a:solidFill>
                <a:latin typeface="Times New Roman"/>
                <a:cs typeface="Times New Roman"/>
              </a:rPr>
              <a:t>karsana</a:t>
            </a:r>
            <a:r>
              <a:rPr lang="en-US" sz="2400" cap="none" spc="-10" dirty="0">
                <a:solidFill>
                  <a:srgbClr val="C00000"/>
                </a:solidFill>
                <a:latin typeface="Times New Roman"/>
                <a:cs typeface="Times New Roman"/>
              </a:rPr>
              <a:t>.</a:t>
            </a:r>
          </a:p>
          <a:p>
            <a:endParaRPr lang="en-US" dirty="0"/>
          </a:p>
        </p:txBody>
      </p:sp>
    </p:spTree>
    <p:extLst>
      <p:ext uri="{BB962C8B-B14F-4D97-AF65-F5344CB8AC3E}">
        <p14:creationId xmlns:p14="http://schemas.microsoft.com/office/powerpoint/2010/main" val="3040763941"/>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048973" y="616695"/>
            <a:ext cx="7866427" cy="5686804"/>
          </a:xfrm>
          <a:prstGeom prst="rect">
            <a:avLst/>
          </a:prstGeom>
        </p:spPr>
        <p:txBody>
          <a:bodyPr vert="horz" wrap="square" lIns="0" tIns="12691" rIns="0" bIns="0" rtlCol="0">
            <a:spAutoFit/>
          </a:bodyPr>
          <a:lstStyle/>
          <a:p>
            <a:pPr marL="467031" lvl="2" indent="-454338" algn="just">
              <a:lnSpc>
                <a:spcPts val="1325"/>
              </a:lnSpc>
              <a:buAutoNum type="arabicPeriod" startAt="9"/>
              <a:tabLst>
                <a:tab pos="467031" algn="l"/>
              </a:tabLst>
            </a:pPr>
            <a:r>
              <a:rPr lang="en-IN" sz="2800" b="1" u="sng" spc="-10" dirty="0" smtClean="0">
                <a:solidFill>
                  <a:srgbClr val="002060"/>
                </a:solidFill>
                <a:latin typeface="Times New Roman"/>
                <a:cs typeface="Times New Roman"/>
              </a:rPr>
              <a:t>CONCLUSIONS</a:t>
            </a:r>
          </a:p>
          <a:p>
            <a:pPr marL="12691" lvl="2" algn="just">
              <a:lnSpc>
                <a:spcPts val="1325"/>
              </a:lnSpc>
              <a:tabLst>
                <a:tab pos="467031" algn="l"/>
              </a:tabLst>
            </a:pPr>
            <a:endParaRPr sz="2400" u="sng" dirty="0">
              <a:solidFill>
                <a:srgbClr val="FF0000"/>
              </a:solidFill>
              <a:latin typeface="Times New Roman"/>
              <a:cs typeface="Times New Roman"/>
            </a:endParaRPr>
          </a:p>
          <a:p>
            <a:pPr marL="12691" marR="6983" indent="456244" algn="just">
              <a:lnSpc>
                <a:spcPct val="150000"/>
              </a:lnSpc>
              <a:spcBef>
                <a:spcPts val="20"/>
              </a:spcBef>
            </a:pPr>
            <a:r>
              <a:rPr sz="2400" dirty="0">
                <a:latin typeface="Times New Roman"/>
                <a:cs typeface="Times New Roman"/>
              </a:rPr>
              <a:t>The</a:t>
            </a:r>
            <a:r>
              <a:rPr sz="2400" spc="55" dirty="0">
                <a:latin typeface="Times New Roman"/>
                <a:cs typeface="Times New Roman"/>
              </a:rPr>
              <a:t> </a:t>
            </a:r>
            <a:r>
              <a:rPr sz="2400" dirty="0">
                <a:latin typeface="Times New Roman"/>
                <a:cs typeface="Times New Roman"/>
              </a:rPr>
              <a:t>above</a:t>
            </a:r>
            <a:r>
              <a:rPr sz="2400" spc="50" dirty="0">
                <a:latin typeface="Times New Roman"/>
                <a:cs typeface="Times New Roman"/>
              </a:rPr>
              <a:t> </a:t>
            </a:r>
            <a:r>
              <a:rPr sz="2400" spc="-10" dirty="0">
                <a:latin typeface="Times New Roman"/>
                <a:cs typeface="Times New Roman"/>
              </a:rPr>
              <a:t>discussion</a:t>
            </a:r>
            <a:r>
              <a:rPr sz="2400" spc="55" dirty="0">
                <a:latin typeface="Times New Roman"/>
                <a:cs typeface="Times New Roman"/>
              </a:rPr>
              <a:t> </a:t>
            </a:r>
            <a:r>
              <a:rPr sz="2400" spc="-10" dirty="0">
                <a:latin typeface="Times New Roman"/>
                <a:cs typeface="Times New Roman"/>
              </a:rPr>
              <a:t>indicates</a:t>
            </a:r>
            <a:r>
              <a:rPr sz="2400" spc="50" dirty="0">
                <a:latin typeface="Times New Roman"/>
                <a:cs typeface="Times New Roman"/>
              </a:rPr>
              <a:t> </a:t>
            </a:r>
            <a:r>
              <a:rPr sz="2400" dirty="0">
                <a:latin typeface="Times New Roman"/>
                <a:cs typeface="Times New Roman"/>
              </a:rPr>
              <a:t>that</a:t>
            </a:r>
            <a:r>
              <a:rPr sz="2400" spc="50" dirty="0">
                <a:latin typeface="Times New Roman"/>
                <a:cs typeface="Times New Roman"/>
              </a:rPr>
              <a:t> </a:t>
            </a:r>
            <a:r>
              <a:rPr sz="2400" dirty="0">
                <a:latin typeface="Times New Roman"/>
                <a:cs typeface="Times New Roman"/>
              </a:rPr>
              <a:t>there</a:t>
            </a:r>
            <a:r>
              <a:rPr sz="2400" spc="50" dirty="0">
                <a:latin typeface="Times New Roman"/>
                <a:cs typeface="Times New Roman"/>
              </a:rPr>
              <a:t> </a:t>
            </a:r>
            <a:r>
              <a:rPr sz="2400" dirty="0">
                <a:latin typeface="Times New Roman"/>
                <a:cs typeface="Times New Roman"/>
              </a:rPr>
              <a:t>is</a:t>
            </a:r>
            <a:r>
              <a:rPr sz="2400" spc="55" dirty="0">
                <a:latin typeface="Times New Roman"/>
                <a:cs typeface="Times New Roman"/>
              </a:rPr>
              <a:t> </a:t>
            </a:r>
            <a:r>
              <a:rPr sz="2400" dirty="0">
                <a:latin typeface="Times New Roman"/>
                <a:cs typeface="Times New Roman"/>
              </a:rPr>
              <a:t>growing</a:t>
            </a:r>
            <a:r>
              <a:rPr sz="2400" spc="55" dirty="0">
                <a:latin typeface="Times New Roman"/>
                <a:cs typeface="Times New Roman"/>
              </a:rPr>
              <a:t> </a:t>
            </a:r>
            <a:r>
              <a:rPr sz="2400" spc="-10" dirty="0">
                <a:latin typeface="Times New Roman"/>
                <a:cs typeface="Times New Roman"/>
              </a:rPr>
              <a:t>evidence</a:t>
            </a:r>
            <a:r>
              <a:rPr sz="2400" spc="50" dirty="0">
                <a:latin typeface="Times New Roman"/>
                <a:cs typeface="Times New Roman"/>
              </a:rPr>
              <a:t> </a:t>
            </a:r>
            <a:r>
              <a:rPr sz="2400" dirty="0">
                <a:latin typeface="Times New Roman"/>
                <a:cs typeface="Times New Roman"/>
              </a:rPr>
              <a:t>to</a:t>
            </a:r>
            <a:r>
              <a:rPr sz="2400" spc="45" dirty="0">
                <a:latin typeface="Times New Roman"/>
                <a:cs typeface="Times New Roman"/>
              </a:rPr>
              <a:t> </a:t>
            </a:r>
            <a:r>
              <a:rPr sz="2400" dirty="0">
                <a:latin typeface="Times New Roman"/>
                <a:cs typeface="Times New Roman"/>
              </a:rPr>
              <a:t>suggest</a:t>
            </a:r>
            <a:r>
              <a:rPr sz="2400" spc="55" dirty="0">
                <a:latin typeface="Times New Roman"/>
                <a:cs typeface="Times New Roman"/>
              </a:rPr>
              <a:t> </a:t>
            </a:r>
            <a:r>
              <a:rPr sz="2400" dirty="0">
                <a:latin typeface="Times New Roman"/>
                <a:cs typeface="Times New Roman"/>
              </a:rPr>
              <a:t>that</a:t>
            </a:r>
            <a:r>
              <a:rPr sz="2400" spc="55" dirty="0">
                <a:latin typeface="Times New Roman"/>
                <a:cs typeface="Times New Roman"/>
              </a:rPr>
              <a:t> </a:t>
            </a:r>
            <a:r>
              <a:rPr sz="2400" dirty="0">
                <a:solidFill>
                  <a:srgbClr val="00B050"/>
                </a:solidFill>
                <a:latin typeface="Times New Roman"/>
                <a:cs typeface="Times New Roman"/>
              </a:rPr>
              <a:t>ancient</a:t>
            </a:r>
            <a:r>
              <a:rPr sz="2400" spc="55" dirty="0">
                <a:solidFill>
                  <a:srgbClr val="00B050"/>
                </a:solidFill>
                <a:latin typeface="Times New Roman"/>
                <a:cs typeface="Times New Roman"/>
              </a:rPr>
              <a:t> </a:t>
            </a:r>
            <a:r>
              <a:rPr sz="2400" spc="-10" dirty="0">
                <a:solidFill>
                  <a:srgbClr val="00B050"/>
                </a:solidFill>
                <a:latin typeface="Times New Roman"/>
                <a:cs typeface="Times New Roman"/>
              </a:rPr>
              <a:t>Indian </a:t>
            </a:r>
            <a:r>
              <a:rPr sz="2400" spc="-50" dirty="0">
                <a:solidFill>
                  <a:srgbClr val="00B050"/>
                </a:solidFill>
                <a:latin typeface="Times New Roman"/>
                <a:cs typeface="Times New Roman"/>
              </a:rPr>
              <a:t>metallurgists</a:t>
            </a:r>
            <a:r>
              <a:rPr sz="2400" spc="-4" dirty="0">
                <a:solidFill>
                  <a:srgbClr val="00B050"/>
                </a:solidFill>
                <a:latin typeface="Times New Roman"/>
                <a:cs typeface="Times New Roman"/>
              </a:rPr>
              <a:t> </a:t>
            </a:r>
            <a:r>
              <a:rPr sz="2400" spc="-50" dirty="0">
                <a:solidFill>
                  <a:srgbClr val="00B050"/>
                </a:solidFill>
                <a:latin typeface="Times New Roman"/>
                <a:cs typeface="Times New Roman"/>
              </a:rPr>
              <a:t>have</a:t>
            </a:r>
            <a:r>
              <a:rPr sz="2400" spc="4" dirty="0">
                <a:solidFill>
                  <a:srgbClr val="00B050"/>
                </a:solidFill>
                <a:latin typeface="Times New Roman"/>
                <a:cs typeface="Times New Roman"/>
              </a:rPr>
              <a:t> </a:t>
            </a:r>
            <a:r>
              <a:rPr sz="2400" spc="-50" dirty="0">
                <a:solidFill>
                  <a:srgbClr val="00B050"/>
                </a:solidFill>
                <a:latin typeface="Times New Roman"/>
                <a:cs typeface="Times New Roman"/>
              </a:rPr>
              <a:t>also</a:t>
            </a:r>
            <a:r>
              <a:rPr sz="2400" spc="-4" dirty="0">
                <a:solidFill>
                  <a:srgbClr val="00B050"/>
                </a:solidFill>
                <a:latin typeface="Times New Roman"/>
                <a:cs typeface="Times New Roman"/>
              </a:rPr>
              <a:t> </a:t>
            </a:r>
            <a:r>
              <a:rPr sz="2400" spc="-55" dirty="0">
                <a:solidFill>
                  <a:srgbClr val="00B050"/>
                </a:solidFill>
                <a:latin typeface="Times New Roman"/>
                <a:cs typeface="Times New Roman"/>
              </a:rPr>
              <a:t>made</a:t>
            </a:r>
            <a:r>
              <a:rPr sz="2400" spc="4" dirty="0">
                <a:solidFill>
                  <a:srgbClr val="00B050"/>
                </a:solidFill>
                <a:latin typeface="Times New Roman"/>
                <a:cs typeface="Times New Roman"/>
              </a:rPr>
              <a:t> </a:t>
            </a:r>
            <a:r>
              <a:rPr sz="2400" spc="-55" dirty="0">
                <a:solidFill>
                  <a:srgbClr val="00B050"/>
                </a:solidFill>
                <a:latin typeface="Times New Roman"/>
                <a:cs typeface="Times New Roman"/>
              </a:rPr>
              <a:t>major</a:t>
            </a:r>
            <a:r>
              <a:rPr sz="2400" spc="-10" dirty="0">
                <a:solidFill>
                  <a:srgbClr val="00B050"/>
                </a:solidFill>
                <a:latin typeface="Times New Roman"/>
                <a:cs typeface="Times New Roman"/>
              </a:rPr>
              <a:t> </a:t>
            </a:r>
            <a:r>
              <a:rPr sz="2400" spc="-50" dirty="0">
                <a:solidFill>
                  <a:srgbClr val="00B050"/>
                </a:solidFill>
                <a:latin typeface="Times New Roman"/>
                <a:cs typeface="Times New Roman"/>
              </a:rPr>
              <a:t>contributions</a:t>
            </a:r>
            <a:r>
              <a:rPr sz="2400" spc="-10" dirty="0">
                <a:solidFill>
                  <a:srgbClr val="00B050"/>
                </a:solidFill>
                <a:latin typeface="Times New Roman"/>
                <a:cs typeface="Times New Roman"/>
              </a:rPr>
              <a:t> </a:t>
            </a:r>
            <a:r>
              <a:rPr sz="2400" spc="-55" dirty="0">
                <a:solidFill>
                  <a:srgbClr val="00B050"/>
                </a:solidFill>
                <a:latin typeface="Times New Roman"/>
                <a:cs typeface="Times New Roman"/>
              </a:rPr>
              <a:t>which</a:t>
            </a:r>
            <a:r>
              <a:rPr sz="2400" spc="14" dirty="0">
                <a:solidFill>
                  <a:srgbClr val="00B050"/>
                </a:solidFill>
                <a:latin typeface="Times New Roman"/>
                <a:cs typeface="Times New Roman"/>
              </a:rPr>
              <a:t> </a:t>
            </a:r>
            <a:r>
              <a:rPr sz="2400" spc="-50" dirty="0">
                <a:solidFill>
                  <a:srgbClr val="00B050"/>
                </a:solidFill>
                <a:latin typeface="Times New Roman"/>
                <a:cs typeface="Times New Roman"/>
              </a:rPr>
              <a:t>deserve</a:t>
            </a:r>
            <a:r>
              <a:rPr sz="2400" spc="-14" dirty="0">
                <a:solidFill>
                  <a:srgbClr val="00B050"/>
                </a:solidFill>
                <a:latin typeface="Times New Roman"/>
                <a:cs typeface="Times New Roman"/>
              </a:rPr>
              <a:t> </a:t>
            </a:r>
            <a:r>
              <a:rPr sz="2400" spc="-45" dirty="0">
                <a:solidFill>
                  <a:srgbClr val="00B050"/>
                </a:solidFill>
                <a:latin typeface="Times New Roman"/>
                <a:cs typeface="Times New Roman"/>
              </a:rPr>
              <a:t>their</a:t>
            </a:r>
            <a:r>
              <a:rPr sz="2400" spc="4" dirty="0">
                <a:solidFill>
                  <a:srgbClr val="00B050"/>
                </a:solidFill>
                <a:latin typeface="Times New Roman"/>
                <a:cs typeface="Times New Roman"/>
              </a:rPr>
              <a:t> </a:t>
            </a:r>
            <a:r>
              <a:rPr sz="2400" spc="-60" dirty="0">
                <a:solidFill>
                  <a:srgbClr val="00B050"/>
                </a:solidFill>
                <a:latin typeface="Times New Roman"/>
                <a:cs typeface="Times New Roman"/>
              </a:rPr>
              <a:t>place</a:t>
            </a:r>
            <a:r>
              <a:rPr sz="2400" spc="-10" dirty="0">
                <a:solidFill>
                  <a:srgbClr val="00B050"/>
                </a:solidFill>
                <a:latin typeface="Times New Roman"/>
                <a:cs typeface="Times New Roman"/>
              </a:rPr>
              <a:t> </a:t>
            </a:r>
            <a:r>
              <a:rPr sz="2400" spc="-50" dirty="0">
                <a:solidFill>
                  <a:srgbClr val="00B050"/>
                </a:solidFill>
                <a:latin typeface="Times New Roman"/>
                <a:cs typeface="Times New Roman"/>
              </a:rPr>
              <a:t>in</a:t>
            </a:r>
            <a:r>
              <a:rPr sz="2400" spc="-10" dirty="0">
                <a:solidFill>
                  <a:srgbClr val="00B050"/>
                </a:solidFill>
                <a:latin typeface="Times New Roman"/>
                <a:cs typeface="Times New Roman"/>
              </a:rPr>
              <a:t> </a:t>
            </a:r>
            <a:r>
              <a:rPr sz="2400" spc="-45" dirty="0">
                <a:solidFill>
                  <a:srgbClr val="00B050"/>
                </a:solidFill>
                <a:latin typeface="Times New Roman"/>
                <a:cs typeface="Times New Roman"/>
              </a:rPr>
              <a:t>the</a:t>
            </a:r>
            <a:r>
              <a:rPr sz="2400" spc="4" dirty="0">
                <a:solidFill>
                  <a:srgbClr val="00B050"/>
                </a:solidFill>
                <a:latin typeface="Times New Roman"/>
                <a:cs typeface="Times New Roman"/>
              </a:rPr>
              <a:t> </a:t>
            </a:r>
            <a:r>
              <a:rPr sz="2400" spc="-50" dirty="0">
                <a:solidFill>
                  <a:srgbClr val="00B050"/>
                </a:solidFill>
                <a:latin typeface="Times New Roman"/>
                <a:cs typeface="Times New Roman"/>
              </a:rPr>
              <a:t>metallurgical</a:t>
            </a:r>
            <a:r>
              <a:rPr sz="2400" dirty="0">
                <a:solidFill>
                  <a:srgbClr val="00B050"/>
                </a:solidFill>
                <a:latin typeface="Times New Roman"/>
                <a:cs typeface="Times New Roman"/>
              </a:rPr>
              <a:t> </a:t>
            </a:r>
            <a:r>
              <a:rPr sz="2400" spc="-50" dirty="0">
                <a:solidFill>
                  <a:srgbClr val="00B050"/>
                </a:solidFill>
                <a:latin typeface="Times New Roman"/>
                <a:cs typeface="Times New Roman"/>
              </a:rPr>
              <a:t>history</a:t>
            </a:r>
            <a:r>
              <a:rPr sz="2400" spc="-25" dirty="0">
                <a:solidFill>
                  <a:srgbClr val="00B050"/>
                </a:solidFill>
                <a:latin typeface="Times New Roman"/>
                <a:cs typeface="Times New Roman"/>
              </a:rPr>
              <a:t> </a:t>
            </a:r>
            <a:r>
              <a:rPr sz="2400" spc="-35" dirty="0">
                <a:solidFill>
                  <a:srgbClr val="00B050"/>
                </a:solidFill>
                <a:latin typeface="Times New Roman"/>
                <a:cs typeface="Times New Roman"/>
              </a:rPr>
              <a:t>of</a:t>
            </a:r>
            <a:r>
              <a:rPr sz="2400" spc="10" dirty="0">
                <a:solidFill>
                  <a:srgbClr val="00B050"/>
                </a:solidFill>
                <a:latin typeface="Times New Roman"/>
                <a:cs typeface="Times New Roman"/>
              </a:rPr>
              <a:t> </a:t>
            </a:r>
            <a:r>
              <a:rPr sz="2400" spc="-25" dirty="0">
                <a:solidFill>
                  <a:srgbClr val="00B050"/>
                </a:solidFill>
                <a:latin typeface="Times New Roman"/>
                <a:cs typeface="Times New Roman"/>
              </a:rPr>
              <a:t>the world</a:t>
            </a:r>
            <a:r>
              <a:rPr sz="2400" spc="-50" dirty="0">
                <a:latin typeface="Times New Roman"/>
                <a:cs typeface="Times New Roman"/>
              </a:rPr>
              <a:t> </a:t>
            </a:r>
            <a:r>
              <a:rPr sz="2400" spc="-30" dirty="0">
                <a:latin typeface="Times New Roman"/>
                <a:cs typeface="Times New Roman"/>
              </a:rPr>
              <a:t>along</a:t>
            </a:r>
            <a:r>
              <a:rPr sz="2400" spc="-45" dirty="0">
                <a:latin typeface="Times New Roman"/>
                <a:cs typeface="Times New Roman"/>
              </a:rPr>
              <a:t> </a:t>
            </a:r>
            <a:r>
              <a:rPr sz="2400" spc="-20" dirty="0">
                <a:latin typeface="Times New Roman"/>
                <a:cs typeface="Times New Roman"/>
              </a:rPr>
              <a:t>with</a:t>
            </a:r>
            <a:r>
              <a:rPr sz="2400" spc="-45" dirty="0">
                <a:latin typeface="Times New Roman"/>
                <a:cs typeface="Times New Roman"/>
              </a:rPr>
              <a:t> </a:t>
            </a:r>
            <a:r>
              <a:rPr sz="2400" spc="-30" dirty="0">
                <a:latin typeface="Times New Roman"/>
                <a:cs typeface="Times New Roman"/>
              </a:rPr>
              <a:t>other</a:t>
            </a:r>
            <a:r>
              <a:rPr sz="2400" spc="-35" dirty="0">
                <a:latin typeface="Times New Roman"/>
                <a:cs typeface="Times New Roman"/>
              </a:rPr>
              <a:t> great</a:t>
            </a:r>
            <a:r>
              <a:rPr sz="2400" spc="-25" dirty="0">
                <a:latin typeface="Times New Roman"/>
                <a:cs typeface="Times New Roman"/>
              </a:rPr>
              <a:t> </a:t>
            </a:r>
            <a:r>
              <a:rPr sz="2400" spc="-45" dirty="0">
                <a:latin typeface="Times New Roman"/>
                <a:cs typeface="Times New Roman"/>
              </a:rPr>
              <a:t>civilizations</a:t>
            </a:r>
            <a:r>
              <a:rPr sz="2400" spc="-30" dirty="0">
                <a:latin typeface="Times New Roman"/>
                <a:cs typeface="Times New Roman"/>
              </a:rPr>
              <a:t> </a:t>
            </a:r>
            <a:r>
              <a:rPr sz="2400" dirty="0">
                <a:latin typeface="Times New Roman"/>
                <a:cs typeface="Times New Roman"/>
              </a:rPr>
              <a:t>of</a:t>
            </a:r>
            <a:r>
              <a:rPr sz="2400" spc="-30" dirty="0">
                <a:latin typeface="Times New Roman"/>
                <a:cs typeface="Times New Roman"/>
              </a:rPr>
              <a:t> </a:t>
            </a:r>
            <a:r>
              <a:rPr sz="2400" spc="-20" dirty="0">
                <a:latin typeface="Times New Roman"/>
                <a:cs typeface="Times New Roman"/>
              </a:rPr>
              <a:t>the</a:t>
            </a:r>
            <a:r>
              <a:rPr sz="2400" spc="-30" dirty="0">
                <a:latin typeface="Times New Roman"/>
                <a:cs typeface="Times New Roman"/>
              </a:rPr>
              <a:t> </a:t>
            </a:r>
            <a:r>
              <a:rPr sz="2400" spc="-35" dirty="0">
                <a:latin typeface="Times New Roman"/>
                <a:cs typeface="Times New Roman"/>
              </a:rPr>
              <a:t>world.</a:t>
            </a:r>
            <a:endParaRPr lang="en-US" sz="2400" spc="-35" dirty="0">
              <a:latin typeface="Times New Roman"/>
              <a:cs typeface="Times New Roman"/>
            </a:endParaRPr>
          </a:p>
          <a:p>
            <a:pPr marL="12691" marR="6983" indent="456244" algn="just">
              <a:lnSpc>
                <a:spcPct val="150000"/>
              </a:lnSpc>
              <a:spcBef>
                <a:spcPts val="20"/>
              </a:spcBef>
            </a:pPr>
            <a:r>
              <a:rPr sz="2400" spc="-30" dirty="0">
                <a:latin typeface="Times New Roman"/>
                <a:cs typeface="Times New Roman"/>
              </a:rPr>
              <a:t> </a:t>
            </a:r>
            <a:r>
              <a:rPr sz="2400" dirty="0">
                <a:latin typeface="Times New Roman"/>
                <a:cs typeface="Times New Roman"/>
              </a:rPr>
              <a:t>As</a:t>
            </a:r>
            <a:r>
              <a:rPr sz="2400" spc="-35" dirty="0">
                <a:latin typeface="Times New Roman"/>
                <a:cs typeface="Times New Roman"/>
              </a:rPr>
              <a:t> </a:t>
            </a:r>
            <a:r>
              <a:rPr sz="2400" spc="-40" dirty="0">
                <a:latin typeface="Times New Roman"/>
                <a:cs typeface="Times New Roman"/>
              </a:rPr>
              <a:t>clearly</a:t>
            </a:r>
            <a:r>
              <a:rPr sz="2400" spc="-35" dirty="0">
                <a:latin typeface="Times New Roman"/>
                <a:cs typeface="Times New Roman"/>
              </a:rPr>
              <a:t> </a:t>
            </a:r>
            <a:r>
              <a:rPr sz="2400" spc="-20" dirty="0">
                <a:latin typeface="Times New Roman"/>
                <a:cs typeface="Times New Roman"/>
              </a:rPr>
              <a:t>seen</a:t>
            </a:r>
            <a:r>
              <a:rPr sz="2400" spc="-25" dirty="0">
                <a:latin typeface="Times New Roman"/>
                <a:cs typeface="Times New Roman"/>
              </a:rPr>
              <a:t> </a:t>
            </a:r>
            <a:r>
              <a:rPr sz="2400" dirty="0">
                <a:latin typeface="Times New Roman"/>
                <a:cs typeface="Times New Roman"/>
              </a:rPr>
              <a:t>in</a:t>
            </a:r>
            <a:r>
              <a:rPr sz="2400" spc="-25" dirty="0">
                <a:latin typeface="Times New Roman"/>
                <a:cs typeface="Times New Roman"/>
              </a:rPr>
              <a:t> </a:t>
            </a:r>
            <a:r>
              <a:rPr sz="2400" spc="-20" dirty="0">
                <a:latin typeface="Times New Roman"/>
                <a:cs typeface="Times New Roman"/>
              </a:rPr>
              <a:t>the</a:t>
            </a:r>
            <a:r>
              <a:rPr sz="2400" spc="-35" dirty="0">
                <a:latin typeface="Times New Roman"/>
                <a:cs typeface="Times New Roman"/>
              </a:rPr>
              <a:t> </a:t>
            </a:r>
            <a:r>
              <a:rPr sz="2400" spc="-25" dirty="0">
                <a:latin typeface="Times New Roman"/>
                <a:cs typeface="Times New Roman"/>
              </a:rPr>
              <a:t>case</a:t>
            </a:r>
            <a:r>
              <a:rPr sz="2400" spc="-30" dirty="0">
                <a:latin typeface="Times New Roman"/>
                <a:cs typeface="Times New Roman"/>
              </a:rPr>
              <a:t> </a:t>
            </a:r>
            <a:r>
              <a:rPr sz="2400" dirty="0">
                <a:latin typeface="Times New Roman"/>
                <a:cs typeface="Times New Roman"/>
              </a:rPr>
              <a:t>of</a:t>
            </a:r>
            <a:r>
              <a:rPr sz="2400" spc="-40" dirty="0">
                <a:latin typeface="Times New Roman"/>
                <a:cs typeface="Times New Roman"/>
              </a:rPr>
              <a:t> </a:t>
            </a:r>
            <a:r>
              <a:rPr sz="2400" spc="-20" dirty="0">
                <a:solidFill>
                  <a:srgbClr val="00B050"/>
                </a:solidFill>
                <a:latin typeface="Times New Roman"/>
                <a:cs typeface="Times New Roman"/>
              </a:rPr>
              <a:t>zinc</a:t>
            </a:r>
            <a:r>
              <a:rPr sz="2400" spc="-30" dirty="0">
                <a:solidFill>
                  <a:srgbClr val="00B050"/>
                </a:solidFill>
                <a:latin typeface="Times New Roman"/>
                <a:cs typeface="Times New Roman"/>
              </a:rPr>
              <a:t> </a:t>
            </a:r>
            <a:r>
              <a:rPr sz="2400" spc="-10" dirty="0">
                <a:solidFill>
                  <a:srgbClr val="00B050"/>
                </a:solidFill>
                <a:latin typeface="Times New Roman"/>
                <a:cs typeface="Times New Roman"/>
              </a:rPr>
              <a:t>and</a:t>
            </a:r>
            <a:r>
              <a:rPr sz="2400" spc="-25" dirty="0">
                <a:solidFill>
                  <a:srgbClr val="00B050"/>
                </a:solidFill>
                <a:latin typeface="Times New Roman"/>
                <a:cs typeface="Times New Roman"/>
              </a:rPr>
              <a:t> </a:t>
            </a:r>
            <a:r>
              <a:rPr sz="2400" spc="-50" dirty="0">
                <a:solidFill>
                  <a:srgbClr val="00B050"/>
                </a:solidFill>
                <a:latin typeface="Times New Roman"/>
                <a:cs typeface="Times New Roman"/>
              </a:rPr>
              <a:t>high-</a:t>
            </a:r>
            <a:r>
              <a:rPr sz="2400" spc="-10" dirty="0">
                <a:solidFill>
                  <a:srgbClr val="00B050"/>
                </a:solidFill>
                <a:latin typeface="Times New Roman"/>
                <a:cs typeface="Times New Roman"/>
              </a:rPr>
              <a:t>carbon </a:t>
            </a:r>
            <a:r>
              <a:rPr sz="2400" spc="-35" dirty="0">
                <a:solidFill>
                  <a:srgbClr val="00B050"/>
                </a:solidFill>
                <a:latin typeface="Times New Roman"/>
                <a:cs typeface="Times New Roman"/>
              </a:rPr>
              <a:t>steel</a:t>
            </a:r>
            <a:r>
              <a:rPr sz="2400" spc="-35" dirty="0">
                <a:latin typeface="Times New Roman"/>
                <a:cs typeface="Times New Roman"/>
              </a:rPr>
              <a:t>,</a:t>
            </a:r>
            <a:r>
              <a:rPr sz="2400" spc="-40" dirty="0">
                <a:latin typeface="Times New Roman"/>
                <a:cs typeface="Times New Roman"/>
              </a:rPr>
              <a:t> ancient</a:t>
            </a:r>
            <a:r>
              <a:rPr sz="2400" spc="-14" dirty="0">
                <a:latin typeface="Times New Roman"/>
                <a:cs typeface="Times New Roman"/>
              </a:rPr>
              <a:t> </a:t>
            </a:r>
            <a:r>
              <a:rPr sz="2400" spc="-35" dirty="0">
                <a:latin typeface="Times New Roman"/>
                <a:cs typeface="Times New Roman"/>
              </a:rPr>
              <a:t>India</a:t>
            </a:r>
            <a:r>
              <a:rPr sz="2400" spc="-20" dirty="0">
                <a:latin typeface="Times New Roman"/>
                <a:cs typeface="Times New Roman"/>
              </a:rPr>
              <a:t> </a:t>
            </a:r>
            <a:r>
              <a:rPr sz="2400" spc="-45" dirty="0">
                <a:latin typeface="Times New Roman"/>
                <a:cs typeface="Times New Roman"/>
              </a:rPr>
              <a:t>contributed</a:t>
            </a:r>
            <a:r>
              <a:rPr sz="2400" spc="-25" dirty="0">
                <a:latin typeface="Times New Roman"/>
                <a:cs typeface="Times New Roman"/>
              </a:rPr>
              <a:t> </a:t>
            </a:r>
            <a:r>
              <a:rPr sz="2400" spc="-45" dirty="0">
                <a:latin typeface="Times New Roman"/>
                <a:cs typeface="Times New Roman"/>
              </a:rPr>
              <a:t>significantly</a:t>
            </a:r>
            <a:r>
              <a:rPr sz="2400" spc="-30" dirty="0">
                <a:latin typeface="Times New Roman"/>
                <a:cs typeface="Times New Roman"/>
              </a:rPr>
              <a:t> </a:t>
            </a:r>
            <a:r>
              <a:rPr sz="2400" dirty="0">
                <a:latin typeface="Times New Roman"/>
                <a:cs typeface="Times New Roman"/>
              </a:rPr>
              <a:t>to</a:t>
            </a:r>
            <a:r>
              <a:rPr sz="2400" spc="-10" dirty="0">
                <a:latin typeface="Times New Roman"/>
                <a:cs typeface="Times New Roman"/>
              </a:rPr>
              <a:t> </a:t>
            </a:r>
            <a:r>
              <a:rPr sz="2400" spc="-45" dirty="0">
                <a:latin typeface="Times New Roman"/>
                <a:cs typeface="Times New Roman"/>
              </a:rPr>
              <a:t>their</a:t>
            </a:r>
            <a:r>
              <a:rPr sz="2400" spc="-30" dirty="0">
                <a:latin typeface="Times New Roman"/>
                <a:cs typeface="Times New Roman"/>
              </a:rPr>
              <a:t> </a:t>
            </a:r>
            <a:r>
              <a:rPr sz="2400" spc="-35" dirty="0">
                <a:latin typeface="Times New Roman"/>
                <a:cs typeface="Times New Roman"/>
              </a:rPr>
              <a:t>modern</a:t>
            </a:r>
            <a:r>
              <a:rPr sz="2400" spc="-25" dirty="0">
                <a:latin typeface="Times New Roman"/>
                <a:cs typeface="Times New Roman"/>
              </a:rPr>
              <a:t> </a:t>
            </a:r>
            <a:r>
              <a:rPr sz="2400" spc="-45" dirty="0">
                <a:latin typeface="Times New Roman"/>
                <a:cs typeface="Times New Roman"/>
              </a:rPr>
              <a:t>metallurgical</a:t>
            </a:r>
            <a:r>
              <a:rPr sz="2400" spc="-10" dirty="0">
                <a:latin typeface="Times New Roman"/>
                <a:cs typeface="Times New Roman"/>
              </a:rPr>
              <a:t> </a:t>
            </a:r>
            <a:r>
              <a:rPr sz="2400" spc="-40" dirty="0">
                <a:latin typeface="Times New Roman"/>
                <a:cs typeface="Times New Roman"/>
              </a:rPr>
              <a:t>advances</a:t>
            </a:r>
            <a:r>
              <a:rPr sz="2400" spc="-10" dirty="0">
                <a:latin typeface="Times New Roman"/>
                <a:cs typeface="Times New Roman"/>
              </a:rPr>
              <a:t> </a:t>
            </a:r>
            <a:r>
              <a:rPr sz="2400" spc="-30" dirty="0">
                <a:latin typeface="Times New Roman"/>
                <a:cs typeface="Times New Roman"/>
              </a:rPr>
              <a:t>and</a:t>
            </a:r>
            <a:r>
              <a:rPr sz="2400" spc="-25" dirty="0">
                <a:latin typeface="Times New Roman"/>
                <a:cs typeface="Times New Roman"/>
              </a:rPr>
              <a:t> </a:t>
            </a:r>
            <a:r>
              <a:rPr sz="2400" dirty="0">
                <a:latin typeface="Times New Roman"/>
                <a:cs typeface="Times New Roman"/>
              </a:rPr>
              <a:t>in</a:t>
            </a:r>
            <a:r>
              <a:rPr sz="2400" spc="-25" dirty="0">
                <a:latin typeface="Times New Roman"/>
                <a:cs typeface="Times New Roman"/>
              </a:rPr>
              <a:t> </a:t>
            </a:r>
            <a:r>
              <a:rPr sz="2400" spc="-20" dirty="0">
                <a:latin typeface="Times New Roman"/>
                <a:cs typeface="Times New Roman"/>
              </a:rPr>
              <a:t>the</a:t>
            </a:r>
            <a:r>
              <a:rPr sz="2400" spc="-30" dirty="0">
                <a:latin typeface="Times New Roman"/>
                <a:cs typeface="Times New Roman"/>
              </a:rPr>
              <a:t> </a:t>
            </a:r>
            <a:r>
              <a:rPr sz="2400" spc="-10" dirty="0">
                <a:latin typeface="Times New Roman"/>
                <a:cs typeface="Times New Roman"/>
              </a:rPr>
              <a:t>development </a:t>
            </a:r>
            <a:r>
              <a:rPr sz="2400" spc="-30" dirty="0">
                <a:latin typeface="Times New Roman"/>
                <a:cs typeface="Times New Roman"/>
              </a:rPr>
              <a:t>of</a:t>
            </a:r>
            <a:r>
              <a:rPr sz="2400" spc="-40" dirty="0">
                <a:latin typeface="Times New Roman"/>
                <a:cs typeface="Times New Roman"/>
              </a:rPr>
              <a:t> </a:t>
            </a:r>
            <a:r>
              <a:rPr sz="2400" spc="-50" dirty="0">
                <a:latin typeface="Times New Roman"/>
                <a:cs typeface="Times New Roman"/>
              </a:rPr>
              <a:t>metallurgical</a:t>
            </a:r>
            <a:r>
              <a:rPr sz="2400" spc="-40" dirty="0">
                <a:latin typeface="Times New Roman"/>
                <a:cs typeface="Times New Roman"/>
              </a:rPr>
              <a:t> study</a:t>
            </a:r>
            <a:r>
              <a:rPr sz="2400" spc="-70" dirty="0">
                <a:latin typeface="Times New Roman"/>
                <a:cs typeface="Times New Roman"/>
              </a:rPr>
              <a:t> </a:t>
            </a:r>
            <a:r>
              <a:rPr sz="2400" spc="-45" dirty="0">
                <a:latin typeface="Times New Roman"/>
                <a:cs typeface="Times New Roman"/>
              </a:rPr>
              <a:t>leading</a:t>
            </a:r>
            <a:r>
              <a:rPr sz="2400" spc="-40" dirty="0">
                <a:latin typeface="Times New Roman"/>
                <a:cs typeface="Times New Roman"/>
              </a:rPr>
              <a:t> </a:t>
            </a:r>
            <a:r>
              <a:rPr sz="2400" spc="-30" dirty="0">
                <a:latin typeface="Times New Roman"/>
                <a:cs typeface="Times New Roman"/>
              </a:rPr>
              <a:t>to</a:t>
            </a:r>
            <a:r>
              <a:rPr sz="2400" spc="-40" dirty="0">
                <a:latin typeface="Times New Roman"/>
                <a:cs typeface="Times New Roman"/>
              </a:rPr>
              <a:t> </a:t>
            </a:r>
            <a:r>
              <a:rPr sz="2400" spc="-35" dirty="0">
                <a:latin typeface="Times New Roman"/>
                <a:cs typeface="Times New Roman"/>
              </a:rPr>
              <a:t>the </a:t>
            </a:r>
            <a:r>
              <a:rPr sz="2400" spc="-50" dirty="0">
                <a:solidFill>
                  <a:srgbClr val="00B050"/>
                </a:solidFill>
                <a:latin typeface="Times New Roman"/>
                <a:cs typeface="Times New Roman"/>
              </a:rPr>
              <a:t>Industrial</a:t>
            </a:r>
            <a:r>
              <a:rPr sz="2400" spc="-45" dirty="0">
                <a:solidFill>
                  <a:srgbClr val="00B050"/>
                </a:solidFill>
                <a:latin typeface="Times New Roman"/>
                <a:cs typeface="Times New Roman"/>
              </a:rPr>
              <a:t> </a:t>
            </a:r>
            <a:r>
              <a:rPr sz="2400" spc="-50" dirty="0">
                <a:solidFill>
                  <a:srgbClr val="00B050"/>
                </a:solidFill>
                <a:latin typeface="Times New Roman"/>
                <a:cs typeface="Times New Roman"/>
              </a:rPr>
              <a:t>Revolution</a:t>
            </a:r>
            <a:r>
              <a:rPr sz="2400" spc="-40" dirty="0">
                <a:solidFill>
                  <a:srgbClr val="00B050"/>
                </a:solidFill>
                <a:latin typeface="Times New Roman"/>
                <a:cs typeface="Times New Roman"/>
              </a:rPr>
              <a:t> </a:t>
            </a:r>
            <a:r>
              <a:rPr sz="2400" spc="-30" dirty="0">
                <a:solidFill>
                  <a:srgbClr val="00B050"/>
                </a:solidFill>
                <a:latin typeface="Times New Roman"/>
                <a:cs typeface="Times New Roman"/>
              </a:rPr>
              <a:t>in</a:t>
            </a:r>
            <a:r>
              <a:rPr sz="2400" spc="-40" dirty="0">
                <a:solidFill>
                  <a:srgbClr val="00B050"/>
                </a:solidFill>
                <a:latin typeface="Times New Roman"/>
                <a:cs typeface="Times New Roman"/>
              </a:rPr>
              <a:t> </a:t>
            </a:r>
            <a:r>
              <a:rPr sz="2400" spc="-10" dirty="0">
                <a:solidFill>
                  <a:srgbClr val="00B050"/>
                </a:solidFill>
                <a:latin typeface="Times New Roman"/>
                <a:cs typeface="Times New Roman"/>
              </a:rPr>
              <a:t>Europe.</a:t>
            </a:r>
            <a:endParaRPr lang="en-US" sz="2400" spc="-10" dirty="0">
              <a:solidFill>
                <a:srgbClr val="00B050"/>
              </a:solidFill>
              <a:latin typeface="Times New Roman"/>
              <a:cs typeface="Times New Roman"/>
            </a:endParaRPr>
          </a:p>
          <a:p>
            <a:pPr marL="12691" marR="6983" indent="456244" algn="just">
              <a:lnSpc>
                <a:spcPct val="95900"/>
              </a:lnSpc>
              <a:spcBef>
                <a:spcPts val="20"/>
              </a:spcBef>
            </a:pPr>
            <a:endParaRPr sz="2400" u="sng" dirty="0">
              <a:solidFill>
                <a:srgbClr val="FF0000"/>
              </a:solidFill>
              <a:latin typeface="Times New Roman"/>
              <a:cs typeface="Times New Roman"/>
            </a:endParaRPr>
          </a:p>
        </p:txBody>
      </p:sp>
    </p:spTree>
    <p:extLst>
      <p:ext uri="{BB962C8B-B14F-4D97-AF65-F5344CB8AC3E}">
        <p14:creationId xmlns:p14="http://schemas.microsoft.com/office/powerpoint/2010/main" val="214272303"/>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685800" y="228600"/>
            <a:ext cx="8202701" cy="6747937"/>
          </a:xfrm>
          <a:prstGeom prst="rect">
            <a:avLst/>
          </a:prstGeom>
        </p:spPr>
        <p:txBody>
          <a:bodyPr wrap="square" lIns="91378" tIns="45688" rIns="91378" bIns="45688">
            <a:spAutoFit/>
          </a:bodyPr>
          <a:lstStyle/>
          <a:p>
            <a:pPr marL="466397" lvl="2" indent="-453704" algn="just">
              <a:lnSpc>
                <a:spcPts val="1405"/>
              </a:lnSpc>
              <a:buAutoNum type="arabicPeriod" startAt="10"/>
              <a:tabLst>
                <a:tab pos="466397" algn="l"/>
              </a:tabLst>
            </a:pPr>
            <a:endParaRPr lang="en-US" sz="2800" b="1" u="sng" spc="-10" dirty="0" smtClean="0">
              <a:solidFill>
                <a:srgbClr val="002060"/>
              </a:solidFill>
              <a:latin typeface="Times New Roman"/>
              <a:cs typeface="Times New Roman"/>
            </a:endParaRPr>
          </a:p>
          <a:p>
            <a:pPr marL="466397" lvl="2" indent="-453704" algn="just">
              <a:lnSpc>
                <a:spcPts val="1405"/>
              </a:lnSpc>
              <a:buAutoNum type="arabicPeriod" startAt="10"/>
              <a:tabLst>
                <a:tab pos="466397" algn="l"/>
              </a:tabLst>
            </a:pPr>
            <a:endParaRPr lang="en-US" sz="2800" b="1" u="sng" spc="-10" dirty="0">
              <a:solidFill>
                <a:srgbClr val="002060"/>
              </a:solidFill>
              <a:latin typeface="Times New Roman"/>
              <a:cs typeface="Times New Roman"/>
            </a:endParaRPr>
          </a:p>
          <a:p>
            <a:pPr marL="466397" lvl="2" indent="-453704" algn="just">
              <a:lnSpc>
                <a:spcPts val="1405"/>
              </a:lnSpc>
              <a:buAutoNum type="arabicPeriod" startAt="10"/>
              <a:tabLst>
                <a:tab pos="466397" algn="l"/>
              </a:tabLst>
            </a:pPr>
            <a:endParaRPr lang="en-US" sz="2800" b="1" u="sng" spc="-10" dirty="0" smtClean="0">
              <a:solidFill>
                <a:srgbClr val="002060"/>
              </a:solidFill>
              <a:latin typeface="Times New Roman"/>
              <a:cs typeface="Times New Roman"/>
            </a:endParaRPr>
          </a:p>
          <a:p>
            <a:pPr marL="466397" lvl="2" indent="-453704" algn="just">
              <a:lnSpc>
                <a:spcPts val="1405"/>
              </a:lnSpc>
              <a:buAutoNum type="arabicPeriod" startAt="10"/>
              <a:tabLst>
                <a:tab pos="466397" algn="l"/>
              </a:tabLst>
            </a:pPr>
            <a:r>
              <a:rPr lang="en-US" sz="2800" b="1" u="sng" spc="-10" dirty="0" smtClean="0">
                <a:solidFill>
                  <a:srgbClr val="002060"/>
                </a:solidFill>
                <a:latin typeface="Times New Roman"/>
                <a:cs typeface="Times New Roman"/>
              </a:rPr>
              <a:t>SUMMARY</a:t>
            </a:r>
          </a:p>
          <a:p>
            <a:pPr marL="466397" lvl="2" indent="-453704" algn="just">
              <a:lnSpc>
                <a:spcPts val="1405"/>
              </a:lnSpc>
              <a:buAutoNum type="arabicPeriod" startAt="10"/>
              <a:tabLst>
                <a:tab pos="466397" algn="l"/>
              </a:tabLst>
            </a:pPr>
            <a:endParaRPr lang="en-US" sz="2800" b="1" u="sng" spc="-10" dirty="0" smtClean="0">
              <a:solidFill>
                <a:srgbClr val="002060"/>
              </a:solidFill>
              <a:latin typeface="Times New Roman"/>
              <a:cs typeface="Times New Roman"/>
            </a:endParaRPr>
          </a:p>
          <a:p>
            <a:pPr marL="12691" lvl="2" algn="just">
              <a:lnSpc>
                <a:spcPts val="1405"/>
              </a:lnSpc>
              <a:tabLst>
                <a:tab pos="466397" algn="l"/>
              </a:tabLst>
            </a:pPr>
            <a:endParaRPr lang="en-US" sz="2400" u="sng" dirty="0">
              <a:solidFill>
                <a:srgbClr val="FF0000"/>
              </a:solidFill>
              <a:latin typeface="Times New Roman"/>
              <a:cs typeface="Times New Roman"/>
            </a:endParaRPr>
          </a:p>
          <a:p>
            <a:pPr marL="468936" marR="8884" lvl="3" indent="-342659" algn="just">
              <a:lnSpc>
                <a:spcPct val="150000"/>
              </a:lnSpc>
              <a:spcBef>
                <a:spcPts val="114"/>
              </a:spcBef>
              <a:buFont typeface="Symbol"/>
              <a:buChar char=""/>
              <a:tabLst>
                <a:tab pos="468936" algn="l"/>
              </a:tabLst>
            </a:pPr>
            <a:r>
              <a:rPr lang="en-US" sz="2400" spc="-45" dirty="0">
                <a:latin typeface="Times New Roman"/>
                <a:cs typeface="Times New Roman"/>
              </a:rPr>
              <a:t>The</a:t>
            </a:r>
            <a:r>
              <a:rPr lang="en-US" sz="2400" spc="-20" dirty="0">
                <a:latin typeface="Times New Roman"/>
                <a:cs typeface="Times New Roman"/>
              </a:rPr>
              <a:t> </a:t>
            </a:r>
            <a:r>
              <a:rPr lang="en-US" sz="2400" spc="-50" dirty="0">
                <a:latin typeface="Times New Roman"/>
                <a:cs typeface="Times New Roman"/>
              </a:rPr>
              <a:t>first</a:t>
            </a:r>
            <a:r>
              <a:rPr lang="en-US" sz="2400" spc="-10" dirty="0">
                <a:latin typeface="Times New Roman"/>
                <a:cs typeface="Times New Roman"/>
              </a:rPr>
              <a:t> </a:t>
            </a:r>
            <a:r>
              <a:rPr lang="en-US" sz="2400" spc="-50" dirty="0">
                <a:latin typeface="Times New Roman"/>
                <a:cs typeface="Times New Roman"/>
              </a:rPr>
              <a:t>evidence</a:t>
            </a:r>
            <a:r>
              <a:rPr lang="en-US" sz="2400" dirty="0" smtClean="0">
                <a:latin typeface="Times New Roman"/>
                <a:cs typeface="Times New Roman"/>
              </a:rPr>
              <a:t> </a:t>
            </a:r>
            <a:r>
              <a:rPr lang="en-US" sz="2400" spc="-50" dirty="0">
                <a:latin typeface="Times New Roman"/>
                <a:cs typeface="Times New Roman"/>
              </a:rPr>
              <a:t>of</a:t>
            </a:r>
            <a:r>
              <a:rPr lang="en-US" sz="2400" spc="-4" dirty="0">
                <a:latin typeface="Times New Roman"/>
                <a:cs typeface="Times New Roman"/>
              </a:rPr>
              <a:t> </a:t>
            </a:r>
            <a:r>
              <a:rPr lang="en-US" sz="2400" spc="-55" dirty="0">
                <a:latin typeface="Times New Roman"/>
                <a:cs typeface="Times New Roman"/>
              </a:rPr>
              <a:t>metal</a:t>
            </a:r>
            <a:r>
              <a:rPr lang="en-US" sz="2400" spc="-4" dirty="0">
                <a:latin typeface="Times New Roman"/>
                <a:cs typeface="Times New Roman"/>
              </a:rPr>
              <a:t> </a:t>
            </a:r>
            <a:r>
              <a:rPr lang="en-US" sz="2400" spc="-30" dirty="0">
                <a:latin typeface="Times New Roman"/>
                <a:cs typeface="Times New Roman"/>
              </a:rPr>
              <a:t>in</a:t>
            </a:r>
            <a:r>
              <a:rPr lang="en-US" sz="2400" spc="4" dirty="0">
                <a:latin typeface="Times New Roman"/>
                <a:cs typeface="Times New Roman"/>
              </a:rPr>
              <a:t> </a:t>
            </a:r>
            <a:r>
              <a:rPr lang="en-US" sz="2400" spc="-50" dirty="0">
                <a:latin typeface="Times New Roman"/>
                <a:cs typeface="Times New Roman"/>
              </a:rPr>
              <a:t>the</a:t>
            </a:r>
            <a:r>
              <a:rPr lang="en-US" sz="2400" dirty="0" smtClean="0">
                <a:latin typeface="Times New Roman"/>
                <a:cs typeface="Times New Roman"/>
              </a:rPr>
              <a:t> </a:t>
            </a:r>
            <a:r>
              <a:rPr lang="en-US" sz="2400" spc="-45" dirty="0">
                <a:latin typeface="Times New Roman"/>
                <a:cs typeface="Times New Roman"/>
              </a:rPr>
              <a:t>Indian</a:t>
            </a:r>
            <a:r>
              <a:rPr lang="en-US" sz="2400" spc="4" dirty="0">
                <a:latin typeface="Times New Roman"/>
                <a:cs typeface="Times New Roman"/>
              </a:rPr>
              <a:t> </a:t>
            </a:r>
            <a:r>
              <a:rPr lang="en-US" sz="2400" spc="-50" dirty="0">
                <a:latin typeface="Times New Roman"/>
                <a:cs typeface="Times New Roman"/>
              </a:rPr>
              <a:t>subcontinent</a:t>
            </a:r>
            <a:r>
              <a:rPr lang="en-US" sz="2400" spc="-4" dirty="0">
                <a:latin typeface="Times New Roman"/>
                <a:cs typeface="Times New Roman"/>
              </a:rPr>
              <a:t> </a:t>
            </a:r>
            <a:r>
              <a:rPr lang="en-US" sz="2400" spc="-50" dirty="0">
                <a:latin typeface="Times New Roman"/>
                <a:cs typeface="Times New Roman"/>
              </a:rPr>
              <a:t>comes</a:t>
            </a:r>
            <a:r>
              <a:rPr lang="en-US" sz="2400" spc="4" dirty="0">
                <a:latin typeface="Times New Roman"/>
                <a:cs typeface="Times New Roman"/>
              </a:rPr>
              <a:t> </a:t>
            </a:r>
            <a:r>
              <a:rPr lang="en-US" sz="2400" spc="-50" dirty="0">
                <a:latin typeface="Times New Roman"/>
                <a:cs typeface="Times New Roman"/>
              </a:rPr>
              <a:t>from</a:t>
            </a:r>
            <a:r>
              <a:rPr lang="en-US" sz="2400" dirty="0" smtClean="0">
                <a:latin typeface="Times New Roman"/>
                <a:cs typeface="Times New Roman"/>
              </a:rPr>
              <a:t> </a:t>
            </a:r>
            <a:r>
              <a:rPr lang="en-US" sz="2400" spc="-45" dirty="0" err="1">
                <a:solidFill>
                  <a:srgbClr val="FF9900"/>
                </a:solidFill>
                <a:latin typeface="Times New Roman"/>
                <a:cs typeface="Times New Roman"/>
              </a:rPr>
              <a:t>Mehrgarh</a:t>
            </a:r>
            <a:r>
              <a:rPr lang="en-US" sz="2400" spc="-10" dirty="0">
                <a:solidFill>
                  <a:srgbClr val="FF9900"/>
                </a:solidFill>
                <a:latin typeface="Times New Roman"/>
                <a:cs typeface="Times New Roman"/>
              </a:rPr>
              <a:t> </a:t>
            </a:r>
            <a:r>
              <a:rPr lang="en-US" sz="2400" spc="-50" dirty="0">
                <a:solidFill>
                  <a:srgbClr val="FF9900"/>
                </a:solidFill>
                <a:latin typeface="Times New Roman"/>
                <a:cs typeface="Times New Roman"/>
              </a:rPr>
              <a:t>in</a:t>
            </a:r>
            <a:r>
              <a:rPr lang="en-US" sz="2400" spc="-14" dirty="0">
                <a:solidFill>
                  <a:srgbClr val="FF9900"/>
                </a:solidFill>
                <a:latin typeface="Times New Roman"/>
                <a:cs typeface="Times New Roman"/>
              </a:rPr>
              <a:t> </a:t>
            </a:r>
            <a:r>
              <a:rPr lang="en-US" sz="2400" spc="-50" dirty="0">
                <a:solidFill>
                  <a:srgbClr val="FF9900"/>
                </a:solidFill>
                <a:latin typeface="Times New Roman"/>
                <a:cs typeface="Times New Roman"/>
              </a:rPr>
              <a:t>Baluchistan</a:t>
            </a:r>
            <a:r>
              <a:rPr lang="en-US" sz="2400" spc="-50" dirty="0">
                <a:latin typeface="Times New Roman"/>
                <a:cs typeface="Times New Roman"/>
              </a:rPr>
              <a:t>,</a:t>
            </a:r>
            <a:r>
              <a:rPr lang="en-US" sz="2400" spc="-10" dirty="0">
                <a:latin typeface="Times New Roman"/>
                <a:cs typeface="Times New Roman"/>
              </a:rPr>
              <a:t> </a:t>
            </a:r>
            <a:r>
              <a:rPr lang="en-US" sz="2400" spc="-50" dirty="0">
                <a:latin typeface="Times New Roman"/>
                <a:cs typeface="Times New Roman"/>
              </a:rPr>
              <a:t>where</a:t>
            </a:r>
            <a:r>
              <a:rPr lang="en-US" sz="2400" spc="-20" dirty="0">
                <a:latin typeface="Times New Roman"/>
                <a:cs typeface="Times New Roman"/>
              </a:rPr>
              <a:t> </a:t>
            </a:r>
            <a:r>
              <a:rPr lang="en-US" sz="2400" spc="-50" dirty="0">
                <a:latin typeface="Times New Roman"/>
                <a:cs typeface="Times New Roman"/>
              </a:rPr>
              <a:t>a </a:t>
            </a:r>
            <a:r>
              <a:rPr lang="en-US" sz="2400" spc="-40" dirty="0">
                <a:latin typeface="Times New Roman"/>
                <a:cs typeface="Times New Roman"/>
              </a:rPr>
              <a:t>small </a:t>
            </a:r>
            <a:r>
              <a:rPr lang="en-US" sz="2400" spc="-50" dirty="0">
                <a:latin typeface="Times New Roman"/>
                <a:cs typeface="Times New Roman"/>
              </a:rPr>
              <a:t>copper</a:t>
            </a:r>
            <a:r>
              <a:rPr lang="en-US" sz="2400" spc="-40" dirty="0">
                <a:latin typeface="Times New Roman"/>
                <a:cs typeface="Times New Roman"/>
              </a:rPr>
              <a:t> </a:t>
            </a:r>
            <a:r>
              <a:rPr lang="en-US" sz="2400" spc="-45" dirty="0">
                <a:latin typeface="Times New Roman"/>
                <a:cs typeface="Times New Roman"/>
              </a:rPr>
              <a:t>bead</a:t>
            </a:r>
            <a:r>
              <a:rPr lang="en-US" sz="2400" spc="-55" dirty="0">
                <a:latin typeface="Times New Roman"/>
                <a:cs typeface="Times New Roman"/>
              </a:rPr>
              <a:t> </a:t>
            </a:r>
            <a:r>
              <a:rPr lang="en-US" sz="2400" spc="-35" dirty="0">
                <a:latin typeface="Times New Roman"/>
                <a:cs typeface="Times New Roman"/>
              </a:rPr>
              <a:t>was</a:t>
            </a:r>
            <a:r>
              <a:rPr lang="en-US" sz="2400" spc="-45" dirty="0">
                <a:latin typeface="Times New Roman"/>
                <a:cs typeface="Times New Roman"/>
              </a:rPr>
              <a:t> dated</a:t>
            </a:r>
            <a:r>
              <a:rPr lang="en-US" sz="2400" spc="-40" dirty="0">
                <a:latin typeface="Times New Roman"/>
                <a:cs typeface="Times New Roman"/>
              </a:rPr>
              <a:t> </a:t>
            </a:r>
            <a:r>
              <a:rPr lang="en-US" sz="2400" spc="-30" dirty="0">
                <a:latin typeface="Times New Roman"/>
                <a:cs typeface="Times New Roman"/>
              </a:rPr>
              <a:t>to</a:t>
            </a:r>
            <a:r>
              <a:rPr lang="en-US" sz="2400" spc="-55" dirty="0">
                <a:latin typeface="Times New Roman"/>
                <a:cs typeface="Times New Roman"/>
              </a:rPr>
              <a:t> </a:t>
            </a:r>
            <a:r>
              <a:rPr lang="en-US" sz="2400" spc="-45" dirty="0">
                <a:latin typeface="Times New Roman"/>
                <a:cs typeface="Times New Roman"/>
              </a:rPr>
              <a:t>about</a:t>
            </a:r>
            <a:r>
              <a:rPr lang="en-US" sz="2400" spc="-40" dirty="0">
                <a:latin typeface="Times New Roman"/>
                <a:cs typeface="Times New Roman"/>
              </a:rPr>
              <a:t> 6000</a:t>
            </a:r>
            <a:r>
              <a:rPr lang="en-US" sz="2400" spc="-55" dirty="0">
                <a:latin typeface="Times New Roman"/>
                <a:cs typeface="Times New Roman"/>
              </a:rPr>
              <a:t> </a:t>
            </a:r>
            <a:r>
              <a:rPr lang="en-US" sz="2400" spc="-20" dirty="0">
                <a:latin typeface="Times New Roman"/>
                <a:cs typeface="Times New Roman"/>
              </a:rPr>
              <a:t>BCE.</a:t>
            </a:r>
            <a:endParaRPr lang="en-US" sz="2400" dirty="0" smtClean="0">
              <a:latin typeface="Times New Roman"/>
              <a:cs typeface="Times New Roman"/>
            </a:endParaRPr>
          </a:p>
          <a:p>
            <a:pPr marL="468936" marR="8250" lvl="3" indent="-342659" algn="just">
              <a:lnSpc>
                <a:spcPct val="150000"/>
              </a:lnSpc>
              <a:spcBef>
                <a:spcPts val="105"/>
              </a:spcBef>
              <a:buFont typeface="Symbol"/>
              <a:buChar char=""/>
              <a:tabLst>
                <a:tab pos="468936" algn="l"/>
              </a:tabLst>
            </a:pPr>
            <a:r>
              <a:rPr lang="en-US" sz="2400" spc="-45" dirty="0">
                <a:latin typeface="Times New Roman"/>
                <a:cs typeface="Times New Roman"/>
              </a:rPr>
              <a:t>Archaeological</a:t>
            </a:r>
            <a:r>
              <a:rPr lang="en-US" sz="2400" spc="-14" dirty="0">
                <a:latin typeface="Times New Roman"/>
                <a:cs typeface="Times New Roman"/>
              </a:rPr>
              <a:t> </a:t>
            </a:r>
            <a:r>
              <a:rPr lang="en-US" sz="2400" spc="-45" dirty="0">
                <a:latin typeface="Times New Roman"/>
                <a:cs typeface="Times New Roman"/>
              </a:rPr>
              <a:t>excavations</a:t>
            </a:r>
            <a:r>
              <a:rPr lang="en-US" sz="2400" spc="-14" dirty="0">
                <a:latin typeface="Times New Roman"/>
                <a:cs typeface="Times New Roman"/>
              </a:rPr>
              <a:t> </a:t>
            </a:r>
            <a:r>
              <a:rPr lang="en-US" sz="2400" spc="-40" dirty="0">
                <a:latin typeface="Times New Roman"/>
                <a:cs typeface="Times New Roman"/>
              </a:rPr>
              <a:t>have</a:t>
            </a:r>
            <a:r>
              <a:rPr lang="en-US" sz="2400" spc="-25" dirty="0">
                <a:latin typeface="Times New Roman"/>
                <a:cs typeface="Times New Roman"/>
              </a:rPr>
              <a:t> </a:t>
            </a:r>
            <a:r>
              <a:rPr lang="en-US" sz="2400" spc="-35" dirty="0">
                <a:latin typeface="Times New Roman"/>
                <a:cs typeface="Times New Roman"/>
              </a:rPr>
              <a:t>shown</a:t>
            </a:r>
            <a:r>
              <a:rPr lang="en-US" sz="2400" spc="-30" dirty="0">
                <a:latin typeface="Times New Roman"/>
                <a:cs typeface="Times New Roman"/>
              </a:rPr>
              <a:t> </a:t>
            </a:r>
            <a:r>
              <a:rPr lang="en-US" sz="2400" spc="-35" dirty="0">
                <a:latin typeface="Times New Roman"/>
                <a:cs typeface="Times New Roman"/>
              </a:rPr>
              <a:t>that</a:t>
            </a:r>
            <a:r>
              <a:rPr lang="en-US" sz="2400" spc="-10" dirty="0">
                <a:latin typeface="Times New Roman"/>
                <a:cs typeface="Times New Roman"/>
              </a:rPr>
              <a:t> </a:t>
            </a:r>
            <a:r>
              <a:rPr lang="en-US" sz="2400" spc="-40" dirty="0" err="1">
                <a:solidFill>
                  <a:srgbClr val="FF9900"/>
                </a:solidFill>
                <a:latin typeface="Times New Roman"/>
                <a:cs typeface="Times New Roman"/>
              </a:rPr>
              <a:t>Harappan</a:t>
            </a:r>
            <a:r>
              <a:rPr lang="en-US" sz="2400" spc="-30" dirty="0">
                <a:solidFill>
                  <a:srgbClr val="FF9900"/>
                </a:solidFill>
                <a:latin typeface="Times New Roman"/>
                <a:cs typeface="Times New Roman"/>
              </a:rPr>
              <a:t> </a:t>
            </a:r>
            <a:r>
              <a:rPr lang="en-US" sz="2400" spc="-25" dirty="0">
                <a:solidFill>
                  <a:srgbClr val="FF9900"/>
                </a:solidFill>
                <a:latin typeface="Times New Roman"/>
                <a:cs typeface="Times New Roman"/>
              </a:rPr>
              <a:t>were</a:t>
            </a:r>
            <a:r>
              <a:rPr lang="en-US" sz="2400" spc="-14" dirty="0">
                <a:solidFill>
                  <a:srgbClr val="FF9900"/>
                </a:solidFill>
                <a:latin typeface="Times New Roman"/>
                <a:cs typeface="Times New Roman"/>
              </a:rPr>
              <a:t> </a:t>
            </a:r>
            <a:r>
              <a:rPr lang="en-US" sz="2400" spc="-40" dirty="0">
                <a:solidFill>
                  <a:srgbClr val="FF9900"/>
                </a:solidFill>
                <a:latin typeface="Times New Roman"/>
                <a:cs typeface="Times New Roman"/>
              </a:rPr>
              <a:t>master</a:t>
            </a:r>
            <a:r>
              <a:rPr lang="en-US" sz="2400" spc="-25" dirty="0">
                <a:solidFill>
                  <a:srgbClr val="FF9900"/>
                </a:solidFill>
                <a:latin typeface="Times New Roman"/>
                <a:cs typeface="Times New Roman"/>
              </a:rPr>
              <a:t> </a:t>
            </a:r>
            <a:r>
              <a:rPr lang="en-US" sz="2400" spc="-40" dirty="0">
                <a:solidFill>
                  <a:srgbClr val="FF9900"/>
                </a:solidFill>
                <a:latin typeface="Times New Roman"/>
                <a:cs typeface="Times New Roman"/>
              </a:rPr>
              <a:t>craftsman</a:t>
            </a:r>
            <a:r>
              <a:rPr lang="en-US" sz="2400" spc="-35" dirty="0">
                <a:solidFill>
                  <a:srgbClr val="FF9900"/>
                </a:solidFill>
                <a:latin typeface="Times New Roman"/>
                <a:cs typeface="Times New Roman"/>
              </a:rPr>
              <a:t> </a:t>
            </a:r>
            <a:r>
              <a:rPr lang="en-US" sz="2400" spc="-20" dirty="0">
                <a:solidFill>
                  <a:srgbClr val="FF9900"/>
                </a:solidFill>
                <a:latin typeface="Times New Roman"/>
                <a:cs typeface="Times New Roman"/>
              </a:rPr>
              <a:t>and</a:t>
            </a:r>
            <a:r>
              <a:rPr lang="en-US" sz="2400" spc="-25" dirty="0">
                <a:solidFill>
                  <a:srgbClr val="FF9900"/>
                </a:solidFill>
                <a:latin typeface="Times New Roman"/>
                <a:cs typeface="Times New Roman"/>
              </a:rPr>
              <a:t> </a:t>
            </a:r>
            <a:r>
              <a:rPr lang="en-US" sz="2400" spc="-20" dirty="0">
                <a:solidFill>
                  <a:srgbClr val="FF9900"/>
                </a:solidFill>
                <a:latin typeface="Times New Roman"/>
                <a:cs typeface="Times New Roman"/>
              </a:rPr>
              <a:t>had</a:t>
            </a:r>
            <a:r>
              <a:rPr lang="en-US" sz="2400" spc="-25" dirty="0">
                <a:solidFill>
                  <a:srgbClr val="FF9900"/>
                </a:solidFill>
                <a:latin typeface="Times New Roman"/>
                <a:cs typeface="Times New Roman"/>
              </a:rPr>
              <a:t> </a:t>
            </a:r>
            <a:r>
              <a:rPr lang="en-US" sz="2400" spc="-10" dirty="0">
                <a:solidFill>
                  <a:srgbClr val="FF9900"/>
                </a:solidFill>
                <a:latin typeface="Times New Roman"/>
                <a:cs typeface="Times New Roman"/>
              </a:rPr>
              <a:t>knowledge </a:t>
            </a:r>
            <a:r>
              <a:rPr lang="en-US" sz="2400" spc="-20" dirty="0">
                <a:solidFill>
                  <a:srgbClr val="FF9900"/>
                </a:solidFill>
                <a:latin typeface="Times New Roman"/>
                <a:cs typeface="Times New Roman"/>
              </a:rPr>
              <a:t>on</a:t>
            </a:r>
            <a:r>
              <a:rPr lang="en-US" sz="2400" spc="-40" dirty="0">
                <a:solidFill>
                  <a:srgbClr val="FF9900"/>
                </a:solidFill>
                <a:latin typeface="Times New Roman"/>
                <a:cs typeface="Times New Roman"/>
              </a:rPr>
              <a:t> </a:t>
            </a:r>
            <a:r>
              <a:rPr lang="en-US" sz="2400" spc="-45" dirty="0">
                <a:solidFill>
                  <a:srgbClr val="FF9900"/>
                </a:solidFill>
                <a:latin typeface="Times New Roman"/>
                <a:cs typeface="Times New Roman"/>
              </a:rPr>
              <a:t>copper </a:t>
            </a:r>
            <a:r>
              <a:rPr lang="en-US" sz="2400" spc="-50" dirty="0">
                <a:solidFill>
                  <a:srgbClr val="FF9900"/>
                </a:solidFill>
                <a:latin typeface="Times New Roman"/>
                <a:cs typeface="Times New Roman"/>
              </a:rPr>
              <a:t>metallurgy</a:t>
            </a:r>
            <a:r>
              <a:rPr lang="en-US" sz="2400" spc="-50" dirty="0">
                <a:latin typeface="Times New Roman"/>
                <a:cs typeface="Times New Roman"/>
              </a:rPr>
              <a:t>. </a:t>
            </a:r>
            <a:r>
              <a:rPr lang="en-US" sz="2400" spc="-45" dirty="0">
                <a:latin typeface="Times New Roman"/>
                <a:cs typeface="Times New Roman"/>
              </a:rPr>
              <a:t>Even</a:t>
            </a:r>
            <a:r>
              <a:rPr lang="en-US" sz="2400" spc="-35" dirty="0">
                <a:latin typeface="Times New Roman"/>
                <a:cs typeface="Times New Roman"/>
              </a:rPr>
              <a:t> </a:t>
            </a:r>
            <a:r>
              <a:rPr lang="en-US" sz="2400" spc="-45" dirty="0">
                <a:latin typeface="Times New Roman"/>
                <a:cs typeface="Times New Roman"/>
              </a:rPr>
              <a:t>they </a:t>
            </a:r>
            <a:r>
              <a:rPr lang="en-US" sz="2400" spc="-50" dirty="0">
                <a:latin typeface="Times New Roman"/>
                <a:cs typeface="Times New Roman"/>
              </a:rPr>
              <a:t>manufactured</a:t>
            </a:r>
            <a:r>
              <a:rPr lang="en-US" sz="2400" spc="-45" dirty="0">
                <a:latin typeface="Times New Roman"/>
                <a:cs typeface="Times New Roman"/>
              </a:rPr>
              <a:t> bronze </a:t>
            </a:r>
            <a:r>
              <a:rPr lang="en-US" sz="2400" spc="-30" dirty="0">
                <a:latin typeface="Times New Roman"/>
                <a:cs typeface="Times New Roman"/>
              </a:rPr>
              <a:t>by</a:t>
            </a:r>
            <a:r>
              <a:rPr lang="en-US" sz="2400" spc="-40" dirty="0">
                <a:latin typeface="Times New Roman"/>
                <a:cs typeface="Times New Roman"/>
              </a:rPr>
              <a:t> </a:t>
            </a:r>
            <a:r>
              <a:rPr lang="en-US" sz="2400" spc="-45" dirty="0">
                <a:latin typeface="Times New Roman"/>
                <a:cs typeface="Times New Roman"/>
              </a:rPr>
              <a:t>mixing</a:t>
            </a:r>
            <a:r>
              <a:rPr lang="en-US" sz="2400" spc="-40" dirty="0">
                <a:latin typeface="Times New Roman"/>
                <a:cs typeface="Times New Roman"/>
              </a:rPr>
              <a:t> </a:t>
            </a:r>
            <a:r>
              <a:rPr lang="en-US" sz="2400" spc="-45" dirty="0">
                <a:latin typeface="Times New Roman"/>
                <a:cs typeface="Times New Roman"/>
              </a:rPr>
              <a:t>copper </a:t>
            </a:r>
            <a:r>
              <a:rPr lang="en-US" sz="2400" spc="-30" dirty="0">
                <a:latin typeface="Times New Roman"/>
                <a:cs typeface="Times New Roman"/>
              </a:rPr>
              <a:t>and</a:t>
            </a:r>
            <a:r>
              <a:rPr lang="en-US" sz="2400" spc="-50" dirty="0">
                <a:latin typeface="Times New Roman"/>
                <a:cs typeface="Times New Roman"/>
              </a:rPr>
              <a:t> </a:t>
            </a:r>
            <a:r>
              <a:rPr lang="en-US" sz="2400" spc="-20" dirty="0">
                <a:latin typeface="Times New Roman"/>
                <a:cs typeface="Times New Roman"/>
              </a:rPr>
              <a:t>tin.</a:t>
            </a:r>
            <a:endParaRPr lang="en-US" sz="2400" dirty="0" smtClean="0">
              <a:latin typeface="Times New Roman"/>
              <a:cs typeface="Times New Roman"/>
            </a:endParaRPr>
          </a:p>
          <a:p>
            <a:pPr marL="468936" marR="5080" lvl="3" indent="-342659" algn="just">
              <a:lnSpc>
                <a:spcPct val="150000"/>
              </a:lnSpc>
              <a:spcBef>
                <a:spcPts val="65"/>
              </a:spcBef>
              <a:buFont typeface="Symbol"/>
              <a:buChar char=""/>
              <a:tabLst>
                <a:tab pos="468936" algn="l"/>
              </a:tabLst>
            </a:pPr>
            <a:r>
              <a:rPr lang="en-US" sz="2400" dirty="0" smtClean="0">
                <a:latin typeface="Times New Roman"/>
                <a:cs typeface="Times New Roman"/>
              </a:rPr>
              <a:t>In</a:t>
            </a:r>
            <a:r>
              <a:rPr lang="en-US" sz="2400" spc="40" dirty="0">
                <a:latin typeface="Times New Roman"/>
                <a:cs typeface="Times New Roman"/>
              </a:rPr>
              <a:t> </a:t>
            </a:r>
            <a:r>
              <a:rPr lang="en-US" sz="2400" dirty="0" smtClean="0">
                <a:latin typeface="Times New Roman"/>
                <a:cs typeface="Times New Roman"/>
              </a:rPr>
              <a:t>the</a:t>
            </a:r>
            <a:r>
              <a:rPr lang="en-US" sz="2400" spc="30" dirty="0">
                <a:latin typeface="Times New Roman"/>
                <a:cs typeface="Times New Roman"/>
              </a:rPr>
              <a:t> </a:t>
            </a:r>
            <a:r>
              <a:rPr lang="en-US" sz="2400" dirty="0" smtClean="0">
                <a:solidFill>
                  <a:srgbClr val="FF9900"/>
                </a:solidFill>
                <a:latin typeface="Times New Roman"/>
                <a:cs typeface="Times New Roman"/>
              </a:rPr>
              <a:t>post</a:t>
            </a:r>
            <a:r>
              <a:rPr lang="en-US" sz="2400" spc="45" dirty="0">
                <a:solidFill>
                  <a:srgbClr val="FF9900"/>
                </a:solidFill>
                <a:latin typeface="Times New Roman"/>
                <a:cs typeface="Times New Roman"/>
              </a:rPr>
              <a:t> </a:t>
            </a:r>
            <a:r>
              <a:rPr lang="en-US" sz="2400" spc="-10" dirty="0" err="1">
                <a:solidFill>
                  <a:srgbClr val="FF9900"/>
                </a:solidFill>
                <a:latin typeface="Times New Roman"/>
                <a:cs typeface="Times New Roman"/>
              </a:rPr>
              <a:t>Harappan</a:t>
            </a:r>
            <a:r>
              <a:rPr lang="en-US" sz="2400" spc="40" dirty="0">
                <a:solidFill>
                  <a:srgbClr val="FF9900"/>
                </a:solidFill>
                <a:latin typeface="Times New Roman"/>
                <a:cs typeface="Times New Roman"/>
              </a:rPr>
              <a:t> </a:t>
            </a:r>
            <a:r>
              <a:rPr lang="en-US" sz="2400" spc="-10" dirty="0">
                <a:solidFill>
                  <a:srgbClr val="FF9900"/>
                </a:solidFill>
                <a:latin typeface="Times New Roman"/>
                <a:cs typeface="Times New Roman"/>
              </a:rPr>
              <a:t>culture</a:t>
            </a:r>
            <a:r>
              <a:rPr lang="en-US" sz="2400" spc="-10" dirty="0">
                <a:latin typeface="Times New Roman"/>
                <a:cs typeface="Times New Roman"/>
              </a:rPr>
              <a:t>,</a:t>
            </a:r>
            <a:r>
              <a:rPr lang="en-US" sz="2400" spc="40" dirty="0">
                <a:latin typeface="Times New Roman"/>
                <a:cs typeface="Times New Roman"/>
              </a:rPr>
              <a:t> </a:t>
            </a:r>
            <a:r>
              <a:rPr lang="en-US" sz="2400" dirty="0" smtClean="0">
                <a:latin typeface="Times New Roman"/>
                <a:cs typeface="Times New Roman"/>
              </a:rPr>
              <a:t>a</a:t>
            </a:r>
            <a:r>
              <a:rPr lang="en-US" sz="2400" spc="40" dirty="0">
                <a:latin typeface="Times New Roman"/>
                <a:cs typeface="Times New Roman"/>
              </a:rPr>
              <a:t> </a:t>
            </a:r>
            <a:r>
              <a:rPr lang="en-US" sz="2400" spc="-45" dirty="0">
                <a:solidFill>
                  <a:srgbClr val="FF9900"/>
                </a:solidFill>
                <a:latin typeface="Times New Roman"/>
                <a:cs typeface="Times New Roman"/>
              </a:rPr>
              <a:t>„Copper</a:t>
            </a:r>
            <a:r>
              <a:rPr lang="en-US" sz="2400" spc="40" dirty="0">
                <a:solidFill>
                  <a:srgbClr val="FF9900"/>
                </a:solidFill>
                <a:latin typeface="Times New Roman"/>
                <a:cs typeface="Times New Roman"/>
              </a:rPr>
              <a:t> </a:t>
            </a:r>
            <a:r>
              <a:rPr lang="en-US" sz="2400" spc="-45" dirty="0">
                <a:solidFill>
                  <a:srgbClr val="FF9900"/>
                </a:solidFill>
                <a:latin typeface="Times New Roman"/>
                <a:cs typeface="Times New Roman"/>
              </a:rPr>
              <a:t>Hoard‟</a:t>
            </a:r>
            <a:r>
              <a:rPr lang="en-US" sz="2400" spc="40" dirty="0">
                <a:solidFill>
                  <a:srgbClr val="FF9900"/>
                </a:solidFill>
                <a:latin typeface="Times New Roman"/>
                <a:cs typeface="Times New Roman"/>
              </a:rPr>
              <a:t> </a:t>
            </a:r>
            <a:r>
              <a:rPr lang="en-US" sz="2400" spc="-10" dirty="0">
                <a:latin typeface="Times New Roman"/>
                <a:cs typeface="Times New Roman"/>
              </a:rPr>
              <a:t>culture</a:t>
            </a:r>
            <a:r>
              <a:rPr lang="en-US" sz="2400" spc="30" dirty="0">
                <a:latin typeface="Times New Roman"/>
                <a:cs typeface="Times New Roman"/>
              </a:rPr>
              <a:t> </a:t>
            </a:r>
            <a:r>
              <a:rPr lang="en-US" sz="2400" dirty="0" smtClean="0">
                <a:latin typeface="Times New Roman"/>
                <a:cs typeface="Times New Roman"/>
              </a:rPr>
              <a:t>of</a:t>
            </a:r>
            <a:r>
              <a:rPr lang="en-US" sz="2400" spc="35" dirty="0">
                <a:latin typeface="Times New Roman"/>
                <a:cs typeface="Times New Roman"/>
              </a:rPr>
              <a:t> </a:t>
            </a:r>
            <a:r>
              <a:rPr lang="en-US" sz="2400" dirty="0" smtClean="0">
                <a:latin typeface="Times New Roman"/>
                <a:cs typeface="Times New Roman"/>
              </a:rPr>
              <a:t>still</a:t>
            </a:r>
            <a:r>
              <a:rPr lang="en-US" sz="2400" spc="45" dirty="0">
                <a:latin typeface="Times New Roman"/>
                <a:cs typeface="Times New Roman"/>
              </a:rPr>
              <a:t> </a:t>
            </a:r>
            <a:r>
              <a:rPr lang="en-US" sz="2400" spc="-10" dirty="0">
                <a:latin typeface="Times New Roman"/>
                <a:cs typeface="Times New Roman"/>
              </a:rPr>
              <a:t>unclear</a:t>
            </a:r>
            <a:r>
              <a:rPr lang="en-US" sz="2400" spc="40" dirty="0">
                <a:latin typeface="Times New Roman"/>
                <a:cs typeface="Times New Roman"/>
              </a:rPr>
              <a:t> </a:t>
            </a:r>
            <a:r>
              <a:rPr lang="en-US" sz="2400" spc="-20" dirty="0">
                <a:latin typeface="Times New Roman"/>
                <a:cs typeface="Times New Roman"/>
              </a:rPr>
              <a:t>authorship</a:t>
            </a:r>
            <a:r>
              <a:rPr lang="en-US" sz="2400" spc="40" dirty="0">
                <a:latin typeface="Times New Roman"/>
                <a:cs typeface="Times New Roman"/>
              </a:rPr>
              <a:t> </a:t>
            </a:r>
            <a:r>
              <a:rPr lang="en-US" sz="2400" spc="-10" dirty="0">
                <a:latin typeface="Times New Roman"/>
                <a:cs typeface="Times New Roman"/>
              </a:rPr>
              <a:t>produced </a:t>
            </a:r>
            <a:r>
              <a:rPr lang="en-US" sz="2400" spc="-25" dirty="0">
                <a:latin typeface="Times New Roman"/>
                <a:cs typeface="Times New Roman"/>
              </a:rPr>
              <a:t>massive </a:t>
            </a:r>
            <a:r>
              <a:rPr lang="en-US" sz="2400" spc="-35" dirty="0">
                <a:latin typeface="Times New Roman"/>
                <a:cs typeface="Times New Roman"/>
              </a:rPr>
              <a:t>quantities</a:t>
            </a:r>
            <a:r>
              <a:rPr lang="en-US" sz="2400" spc="-25" dirty="0">
                <a:latin typeface="Times New Roman"/>
                <a:cs typeface="Times New Roman"/>
              </a:rPr>
              <a:t> </a:t>
            </a:r>
            <a:r>
              <a:rPr lang="en-US" sz="2400" dirty="0" smtClean="0">
                <a:latin typeface="Times New Roman"/>
                <a:cs typeface="Times New Roman"/>
              </a:rPr>
              <a:t>of</a:t>
            </a:r>
            <a:r>
              <a:rPr lang="en-US" sz="2400" spc="-14" dirty="0">
                <a:latin typeface="Times New Roman"/>
                <a:cs typeface="Times New Roman"/>
              </a:rPr>
              <a:t> </a:t>
            </a:r>
            <a:r>
              <a:rPr lang="en-US" sz="2400" spc="-25" dirty="0">
                <a:latin typeface="Times New Roman"/>
                <a:cs typeface="Times New Roman"/>
              </a:rPr>
              <a:t>copper</a:t>
            </a:r>
            <a:r>
              <a:rPr lang="en-US" sz="2400" spc="-14" dirty="0">
                <a:latin typeface="Times New Roman"/>
                <a:cs typeface="Times New Roman"/>
              </a:rPr>
              <a:t> </a:t>
            </a:r>
            <a:r>
              <a:rPr lang="en-US" sz="2400" spc="-20" dirty="0">
                <a:latin typeface="Times New Roman"/>
                <a:cs typeface="Times New Roman"/>
              </a:rPr>
              <a:t>tools</a:t>
            </a:r>
            <a:r>
              <a:rPr lang="en-US" sz="2400" spc="-25" dirty="0">
                <a:latin typeface="Times New Roman"/>
                <a:cs typeface="Times New Roman"/>
              </a:rPr>
              <a:t> </a:t>
            </a:r>
            <a:r>
              <a:rPr lang="en-US" sz="2400" dirty="0" smtClean="0">
                <a:latin typeface="Times New Roman"/>
                <a:cs typeface="Times New Roman"/>
              </a:rPr>
              <a:t>are</a:t>
            </a:r>
            <a:r>
              <a:rPr lang="en-US" sz="2400" spc="-25" dirty="0">
                <a:latin typeface="Times New Roman"/>
                <a:cs typeface="Times New Roman"/>
              </a:rPr>
              <a:t> </a:t>
            </a:r>
            <a:r>
              <a:rPr lang="en-US" sz="2400" spc="-30" dirty="0">
                <a:latin typeface="Times New Roman"/>
                <a:cs typeface="Times New Roman"/>
              </a:rPr>
              <a:t>underway</a:t>
            </a:r>
            <a:r>
              <a:rPr lang="en-US" sz="2400" spc="-20" dirty="0">
                <a:latin typeface="Times New Roman"/>
                <a:cs typeface="Times New Roman"/>
              </a:rPr>
              <a:t> </a:t>
            </a:r>
            <a:r>
              <a:rPr lang="en-US" sz="2400" spc="-30" dirty="0">
                <a:latin typeface="Times New Roman"/>
                <a:cs typeface="Times New Roman"/>
              </a:rPr>
              <a:t>central</a:t>
            </a:r>
            <a:r>
              <a:rPr lang="en-US" sz="2400" spc="-14" dirty="0">
                <a:latin typeface="Times New Roman"/>
                <a:cs typeface="Times New Roman"/>
              </a:rPr>
              <a:t> </a:t>
            </a:r>
            <a:r>
              <a:rPr lang="en-US" sz="2400" dirty="0" smtClean="0">
                <a:latin typeface="Times New Roman"/>
                <a:cs typeface="Times New Roman"/>
              </a:rPr>
              <a:t>and</a:t>
            </a:r>
            <a:r>
              <a:rPr lang="en-US" sz="2400" spc="-20" dirty="0">
                <a:latin typeface="Times New Roman"/>
                <a:cs typeface="Times New Roman"/>
              </a:rPr>
              <a:t> </a:t>
            </a:r>
            <a:r>
              <a:rPr lang="en-US" sz="2400" spc="-30" dirty="0">
                <a:latin typeface="Times New Roman"/>
                <a:cs typeface="Times New Roman"/>
              </a:rPr>
              <a:t>northern</a:t>
            </a:r>
            <a:r>
              <a:rPr lang="en-US" sz="2400" spc="-14" dirty="0">
                <a:latin typeface="Times New Roman"/>
                <a:cs typeface="Times New Roman"/>
              </a:rPr>
              <a:t> </a:t>
            </a:r>
            <a:r>
              <a:rPr lang="en-US" sz="2400" spc="-25" dirty="0">
                <a:latin typeface="Times New Roman"/>
                <a:cs typeface="Times New Roman"/>
              </a:rPr>
              <a:t>India.</a:t>
            </a:r>
            <a:r>
              <a:rPr lang="en-US" sz="2400" spc="-20" dirty="0">
                <a:latin typeface="Times New Roman"/>
                <a:cs typeface="Times New Roman"/>
              </a:rPr>
              <a:t> </a:t>
            </a:r>
            <a:r>
              <a:rPr lang="en-US" sz="2400" dirty="0" smtClean="0">
                <a:latin typeface="Times New Roman"/>
                <a:cs typeface="Times New Roman"/>
              </a:rPr>
              <a:t>In</a:t>
            </a:r>
            <a:r>
              <a:rPr lang="en-US" sz="2400" spc="-25" dirty="0">
                <a:latin typeface="Times New Roman"/>
                <a:cs typeface="Times New Roman"/>
              </a:rPr>
              <a:t> </a:t>
            </a:r>
            <a:r>
              <a:rPr lang="en-US" sz="2400" dirty="0" smtClean="0">
                <a:latin typeface="Times New Roman"/>
                <a:cs typeface="Times New Roman"/>
              </a:rPr>
              <a:t>the</a:t>
            </a:r>
            <a:r>
              <a:rPr lang="en-US" sz="2400" spc="-25" dirty="0">
                <a:latin typeface="Times New Roman"/>
                <a:cs typeface="Times New Roman"/>
              </a:rPr>
              <a:t> </a:t>
            </a:r>
            <a:r>
              <a:rPr lang="en-US" sz="2400" spc="-35" dirty="0">
                <a:latin typeface="Times New Roman"/>
                <a:cs typeface="Times New Roman"/>
              </a:rPr>
              <a:t>classical</a:t>
            </a:r>
            <a:r>
              <a:rPr lang="en-US" sz="2400" spc="-14" dirty="0">
                <a:latin typeface="Times New Roman"/>
                <a:cs typeface="Times New Roman"/>
              </a:rPr>
              <a:t> </a:t>
            </a:r>
            <a:r>
              <a:rPr lang="en-US" sz="2400" spc="-20" dirty="0">
                <a:latin typeface="Times New Roman"/>
                <a:cs typeface="Times New Roman"/>
              </a:rPr>
              <a:t>age, </a:t>
            </a:r>
            <a:r>
              <a:rPr lang="en-US" sz="2400" spc="-45" dirty="0">
                <a:latin typeface="Times New Roman"/>
                <a:cs typeface="Times New Roman"/>
              </a:rPr>
              <a:t>copper-</a:t>
            </a:r>
            <a:r>
              <a:rPr lang="en-US" sz="2400" spc="-40" dirty="0">
                <a:latin typeface="Times New Roman"/>
                <a:cs typeface="Times New Roman"/>
              </a:rPr>
              <a:t>bronze</a:t>
            </a:r>
            <a:r>
              <a:rPr lang="en-US" sz="2400" spc="-50" dirty="0">
                <a:latin typeface="Times New Roman"/>
                <a:cs typeface="Times New Roman"/>
              </a:rPr>
              <a:t> </a:t>
            </a:r>
            <a:r>
              <a:rPr lang="en-US" sz="2400" spc="-45" dirty="0">
                <a:latin typeface="Times New Roman"/>
                <a:cs typeface="Times New Roman"/>
              </a:rPr>
              <a:t>smiths supplied</a:t>
            </a:r>
            <a:r>
              <a:rPr lang="en-US" sz="2400" spc="-30" dirty="0">
                <a:latin typeface="Times New Roman"/>
                <a:cs typeface="Times New Roman"/>
              </a:rPr>
              <a:t> </a:t>
            </a:r>
            <a:r>
              <a:rPr lang="en-US" sz="2400" spc="-50" dirty="0">
                <a:latin typeface="Times New Roman"/>
                <a:cs typeface="Times New Roman"/>
              </a:rPr>
              <a:t>countless</a:t>
            </a:r>
            <a:r>
              <a:rPr lang="en-US" sz="2400" spc="-40" dirty="0">
                <a:latin typeface="Times New Roman"/>
                <a:cs typeface="Times New Roman"/>
              </a:rPr>
              <a:t> </a:t>
            </a:r>
            <a:r>
              <a:rPr lang="en-US" sz="2400" spc="-45" dirty="0">
                <a:latin typeface="Times New Roman"/>
                <a:cs typeface="Times New Roman"/>
              </a:rPr>
              <a:t>pieces </a:t>
            </a:r>
            <a:r>
              <a:rPr lang="en-US" sz="2400" spc="-35" dirty="0">
                <a:latin typeface="Times New Roman"/>
                <a:cs typeface="Times New Roman"/>
              </a:rPr>
              <a:t>of</a:t>
            </a:r>
            <a:r>
              <a:rPr lang="en-US" sz="2400" spc="-25" dirty="0">
                <a:latin typeface="Times New Roman"/>
                <a:cs typeface="Times New Roman"/>
              </a:rPr>
              <a:t> </a:t>
            </a:r>
            <a:r>
              <a:rPr lang="en-US" sz="2400" spc="-20" dirty="0">
                <a:latin typeface="Times New Roman"/>
                <a:cs typeface="Times New Roman"/>
              </a:rPr>
              <a:t>art. </a:t>
            </a:r>
            <a:endParaRPr lang="en-US" sz="2400" dirty="0" smtClean="0">
              <a:latin typeface="Times New Roman"/>
              <a:cs typeface="Times New Roman"/>
            </a:endParaRPr>
          </a:p>
        </p:txBody>
      </p:sp>
    </p:spTree>
    <p:extLst>
      <p:ext uri="{BB962C8B-B14F-4D97-AF65-F5344CB8AC3E}">
        <p14:creationId xmlns:p14="http://schemas.microsoft.com/office/powerpoint/2010/main" val="1659522277"/>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a:xfrm>
            <a:off x="753863" y="1295400"/>
            <a:ext cx="8550157" cy="5267961"/>
          </a:xfrm>
        </p:spPr>
        <p:txBody>
          <a:bodyPr/>
          <a:lstStyle/>
          <a:p>
            <a:pPr>
              <a:lnSpc>
                <a:spcPct val="150000"/>
              </a:lnSpc>
            </a:pPr>
            <a:r>
              <a:rPr lang="en-US" sz="2400" cap="none" spc="-55" dirty="0">
                <a:solidFill>
                  <a:prstClr val="black"/>
                </a:solidFill>
                <a:latin typeface="Times New Roman"/>
                <a:ea typeface="+mj-ea"/>
                <a:cs typeface="Times New Roman"/>
              </a:rPr>
              <a:t>While</a:t>
            </a:r>
            <a:r>
              <a:rPr lang="en-US" sz="2400" cap="none" spc="4" dirty="0">
                <a:solidFill>
                  <a:prstClr val="black"/>
                </a:solidFill>
                <a:latin typeface="Times New Roman"/>
                <a:ea typeface="+mj-ea"/>
                <a:cs typeface="Times New Roman"/>
              </a:rPr>
              <a:t> </a:t>
            </a:r>
            <a:r>
              <a:rPr lang="en-US" sz="2400" cap="none" spc="-50" dirty="0">
                <a:solidFill>
                  <a:prstClr val="black"/>
                </a:solidFill>
                <a:latin typeface="Times New Roman"/>
                <a:ea typeface="+mj-ea"/>
                <a:cs typeface="Times New Roman"/>
              </a:rPr>
              <a:t>the</a:t>
            </a:r>
            <a:r>
              <a:rPr lang="en-US" sz="2400" cap="none" spc="4" dirty="0">
                <a:solidFill>
                  <a:prstClr val="black"/>
                </a:solidFill>
                <a:latin typeface="Times New Roman"/>
                <a:ea typeface="+mj-ea"/>
                <a:cs typeface="Times New Roman"/>
              </a:rPr>
              <a:t> </a:t>
            </a:r>
            <a:r>
              <a:rPr lang="en-US" sz="2400" cap="none" spc="-50" dirty="0">
                <a:solidFill>
                  <a:prstClr val="black"/>
                </a:solidFill>
                <a:latin typeface="Times New Roman"/>
                <a:ea typeface="+mj-ea"/>
                <a:cs typeface="Times New Roman"/>
              </a:rPr>
              <a:t>Indus</a:t>
            </a:r>
            <a:r>
              <a:rPr lang="en-US" sz="2400" cap="none" spc="-10" dirty="0">
                <a:solidFill>
                  <a:prstClr val="black"/>
                </a:solidFill>
                <a:latin typeface="Times New Roman"/>
                <a:ea typeface="+mj-ea"/>
                <a:cs typeface="Times New Roman"/>
              </a:rPr>
              <a:t> </a:t>
            </a:r>
            <a:r>
              <a:rPr lang="en-US" sz="2400" cap="none" spc="-50" dirty="0">
                <a:solidFill>
                  <a:prstClr val="black"/>
                </a:solidFill>
                <a:latin typeface="Times New Roman"/>
                <a:ea typeface="+mj-ea"/>
                <a:cs typeface="Times New Roman"/>
              </a:rPr>
              <a:t>civilization</a:t>
            </a:r>
            <a:r>
              <a:rPr lang="en-US" sz="2400" cap="none" dirty="0">
                <a:solidFill>
                  <a:prstClr val="black"/>
                </a:solidFill>
                <a:latin typeface="Times New Roman"/>
                <a:ea typeface="+mj-ea"/>
                <a:cs typeface="Times New Roman"/>
              </a:rPr>
              <a:t> </a:t>
            </a:r>
            <a:r>
              <a:rPr lang="en-US" sz="2400" cap="none" spc="-55" dirty="0">
                <a:solidFill>
                  <a:prstClr val="black"/>
                </a:solidFill>
                <a:latin typeface="Times New Roman"/>
                <a:ea typeface="+mj-ea"/>
                <a:cs typeface="Times New Roman"/>
              </a:rPr>
              <a:t>belonged</a:t>
            </a:r>
            <a:r>
              <a:rPr lang="en-US" sz="2400" cap="none" spc="-4" dirty="0">
                <a:solidFill>
                  <a:prstClr val="black"/>
                </a:solidFill>
                <a:latin typeface="Times New Roman"/>
                <a:ea typeface="+mj-ea"/>
                <a:cs typeface="Times New Roman"/>
              </a:rPr>
              <a:t> </a:t>
            </a:r>
            <a:r>
              <a:rPr lang="en-US" sz="2400" cap="none" spc="-60" dirty="0">
                <a:solidFill>
                  <a:prstClr val="black"/>
                </a:solidFill>
                <a:latin typeface="Times New Roman"/>
                <a:ea typeface="+mj-ea"/>
                <a:cs typeface="Times New Roman"/>
              </a:rPr>
              <a:t>to</a:t>
            </a:r>
            <a:r>
              <a:rPr lang="en-US" sz="2400" cap="none" spc="-10" dirty="0">
                <a:solidFill>
                  <a:prstClr val="black"/>
                </a:solidFill>
                <a:latin typeface="Times New Roman"/>
                <a:ea typeface="+mj-ea"/>
                <a:cs typeface="Times New Roman"/>
              </a:rPr>
              <a:t> </a:t>
            </a:r>
            <a:r>
              <a:rPr lang="en-US" sz="2400" cap="none" spc="-50" dirty="0">
                <a:solidFill>
                  <a:prstClr val="black"/>
                </a:solidFill>
                <a:latin typeface="Times New Roman"/>
                <a:ea typeface="+mj-ea"/>
                <a:cs typeface="Times New Roman"/>
              </a:rPr>
              <a:t>the</a:t>
            </a:r>
            <a:r>
              <a:rPr lang="en-US" sz="2400" cap="none" spc="-14" dirty="0">
                <a:solidFill>
                  <a:prstClr val="black"/>
                </a:solidFill>
                <a:latin typeface="Times New Roman"/>
                <a:ea typeface="+mj-ea"/>
                <a:cs typeface="Times New Roman"/>
              </a:rPr>
              <a:t> </a:t>
            </a:r>
            <a:r>
              <a:rPr lang="en-US" sz="2400" cap="none" spc="-45" dirty="0">
                <a:solidFill>
                  <a:srgbClr val="FF9900"/>
                </a:solidFill>
                <a:latin typeface="Times New Roman"/>
                <a:ea typeface="+mj-ea"/>
                <a:cs typeface="Times New Roman"/>
              </a:rPr>
              <a:t>Bronze</a:t>
            </a:r>
            <a:r>
              <a:rPr lang="en-US" sz="2400" cap="none" spc="-10" dirty="0">
                <a:solidFill>
                  <a:srgbClr val="FF9900"/>
                </a:solidFill>
                <a:latin typeface="Times New Roman"/>
                <a:ea typeface="+mj-ea"/>
                <a:cs typeface="Times New Roman"/>
              </a:rPr>
              <a:t> </a:t>
            </a:r>
            <a:r>
              <a:rPr lang="en-US" sz="2400" cap="none" spc="-50" dirty="0">
                <a:solidFill>
                  <a:srgbClr val="FF9900"/>
                </a:solidFill>
                <a:latin typeface="Times New Roman"/>
                <a:ea typeface="+mj-ea"/>
                <a:cs typeface="Times New Roman"/>
              </a:rPr>
              <a:t>Age</a:t>
            </a:r>
            <a:r>
              <a:rPr lang="en-US" sz="2400" cap="none" spc="-50" dirty="0">
                <a:solidFill>
                  <a:prstClr val="black"/>
                </a:solidFill>
                <a:latin typeface="Times New Roman"/>
                <a:ea typeface="+mj-ea"/>
                <a:cs typeface="Times New Roman"/>
              </a:rPr>
              <a:t>,</a:t>
            </a:r>
            <a:r>
              <a:rPr lang="en-US" sz="2400" cap="none" spc="10" dirty="0">
                <a:solidFill>
                  <a:prstClr val="black"/>
                </a:solidFill>
                <a:latin typeface="Times New Roman"/>
                <a:ea typeface="+mj-ea"/>
                <a:cs typeface="Times New Roman"/>
              </a:rPr>
              <a:t> </a:t>
            </a:r>
            <a:r>
              <a:rPr lang="en-US" sz="2400" cap="none" spc="-50" dirty="0">
                <a:solidFill>
                  <a:prstClr val="black"/>
                </a:solidFill>
                <a:latin typeface="Times New Roman"/>
                <a:ea typeface="+mj-ea"/>
                <a:cs typeface="Times New Roman"/>
              </a:rPr>
              <a:t>its</a:t>
            </a:r>
            <a:r>
              <a:rPr lang="en-US" sz="2400" cap="none" spc="-10" dirty="0">
                <a:solidFill>
                  <a:prstClr val="black"/>
                </a:solidFill>
                <a:latin typeface="Times New Roman"/>
                <a:ea typeface="+mj-ea"/>
                <a:cs typeface="Times New Roman"/>
              </a:rPr>
              <a:t> </a:t>
            </a:r>
            <a:r>
              <a:rPr lang="en-US" sz="2400" cap="none" spc="-45" dirty="0">
                <a:solidFill>
                  <a:prstClr val="black"/>
                </a:solidFill>
                <a:latin typeface="Times New Roman"/>
                <a:ea typeface="+mj-ea"/>
                <a:cs typeface="Times New Roman"/>
              </a:rPr>
              <a:t>successor,</a:t>
            </a:r>
            <a:r>
              <a:rPr lang="en-US" sz="2400" cap="none" spc="-4" dirty="0">
                <a:solidFill>
                  <a:prstClr val="black"/>
                </a:solidFill>
                <a:latin typeface="Times New Roman"/>
                <a:ea typeface="+mj-ea"/>
                <a:cs typeface="Times New Roman"/>
              </a:rPr>
              <a:t> </a:t>
            </a:r>
            <a:r>
              <a:rPr lang="en-US" sz="2400" cap="none" spc="-50" dirty="0">
                <a:solidFill>
                  <a:prstClr val="black"/>
                </a:solidFill>
                <a:latin typeface="Times New Roman"/>
                <a:ea typeface="+mj-ea"/>
                <a:cs typeface="Times New Roman"/>
              </a:rPr>
              <a:t>the</a:t>
            </a:r>
            <a:r>
              <a:rPr lang="en-US" sz="2400" cap="none" spc="-14" dirty="0">
                <a:solidFill>
                  <a:prstClr val="black"/>
                </a:solidFill>
                <a:latin typeface="Times New Roman"/>
                <a:ea typeface="+mj-ea"/>
                <a:cs typeface="Times New Roman"/>
              </a:rPr>
              <a:t> </a:t>
            </a:r>
            <a:r>
              <a:rPr lang="en-US" sz="2400" cap="none" spc="-45" dirty="0">
                <a:solidFill>
                  <a:srgbClr val="FF9900"/>
                </a:solidFill>
                <a:latin typeface="Times New Roman"/>
                <a:ea typeface="+mj-ea"/>
                <a:cs typeface="Times New Roman"/>
              </a:rPr>
              <a:t>Ganges</a:t>
            </a:r>
            <a:r>
              <a:rPr lang="en-US" sz="2400" cap="none" spc="-4" dirty="0">
                <a:solidFill>
                  <a:srgbClr val="FF9900"/>
                </a:solidFill>
                <a:latin typeface="Times New Roman"/>
                <a:ea typeface="+mj-ea"/>
                <a:cs typeface="Times New Roman"/>
              </a:rPr>
              <a:t> </a:t>
            </a:r>
            <a:r>
              <a:rPr lang="en-US" sz="2400" cap="none" spc="-50" dirty="0">
                <a:solidFill>
                  <a:srgbClr val="FF9900"/>
                </a:solidFill>
                <a:latin typeface="Times New Roman"/>
                <a:ea typeface="+mj-ea"/>
                <a:cs typeface="Times New Roman"/>
              </a:rPr>
              <a:t>civilization</a:t>
            </a:r>
            <a:r>
              <a:rPr lang="en-US" sz="2400" cap="none" spc="-50" dirty="0">
                <a:solidFill>
                  <a:prstClr val="black"/>
                </a:solidFill>
                <a:latin typeface="Times New Roman"/>
                <a:ea typeface="+mj-ea"/>
                <a:cs typeface="Times New Roman"/>
              </a:rPr>
              <a:t>,</a:t>
            </a:r>
            <a:r>
              <a:rPr lang="en-US" sz="2400" cap="none" spc="-10" dirty="0">
                <a:solidFill>
                  <a:prstClr val="black"/>
                </a:solidFill>
                <a:latin typeface="Times New Roman"/>
                <a:ea typeface="+mj-ea"/>
                <a:cs typeface="Times New Roman"/>
              </a:rPr>
              <a:t> which </a:t>
            </a:r>
            <a:r>
              <a:rPr lang="en-US" sz="2400" cap="none" spc="-45" dirty="0">
                <a:solidFill>
                  <a:prstClr val="black"/>
                </a:solidFill>
                <a:latin typeface="Times New Roman"/>
                <a:ea typeface="+mj-ea"/>
                <a:cs typeface="Times New Roman"/>
              </a:rPr>
              <a:t>emerged</a:t>
            </a:r>
            <a:r>
              <a:rPr lang="en-US" sz="2400" cap="none" spc="-50" dirty="0">
                <a:solidFill>
                  <a:prstClr val="black"/>
                </a:solidFill>
                <a:latin typeface="Times New Roman"/>
                <a:ea typeface="+mj-ea"/>
                <a:cs typeface="Times New Roman"/>
              </a:rPr>
              <a:t> </a:t>
            </a:r>
            <a:r>
              <a:rPr lang="en-US" sz="2400" cap="none" spc="-30" dirty="0">
                <a:solidFill>
                  <a:prstClr val="black"/>
                </a:solidFill>
                <a:latin typeface="Times New Roman"/>
                <a:ea typeface="+mj-ea"/>
                <a:cs typeface="Times New Roman"/>
              </a:rPr>
              <a:t>in</a:t>
            </a:r>
            <a:r>
              <a:rPr lang="en-US" sz="2400" cap="none" spc="-50" dirty="0">
                <a:solidFill>
                  <a:prstClr val="black"/>
                </a:solidFill>
                <a:latin typeface="Times New Roman"/>
                <a:ea typeface="+mj-ea"/>
                <a:cs typeface="Times New Roman"/>
              </a:rPr>
              <a:t> </a:t>
            </a:r>
            <a:r>
              <a:rPr lang="en-US" sz="2400" cap="none" spc="-35" dirty="0">
                <a:solidFill>
                  <a:prstClr val="black"/>
                </a:solidFill>
                <a:latin typeface="Times New Roman"/>
                <a:ea typeface="+mj-ea"/>
                <a:cs typeface="Times New Roman"/>
              </a:rPr>
              <a:t>the</a:t>
            </a:r>
            <a:r>
              <a:rPr lang="en-US" sz="2400" cap="none" spc="-55" dirty="0">
                <a:solidFill>
                  <a:prstClr val="black"/>
                </a:solidFill>
                <a:latin typeface="Times New Roman"/>
                <a:ea typeface="+mj-ea"/>
                <a:cs typeface="Times New Roman"/>
              </a:rPr>
              <a:t> </a:t>
            </a:r>
            <a:r>
              <a:rPr lang="en-US" sz="2400" cap="none" spc="-45" dirty="0">
                <a:solidFill>
                  <a:prstClr val="black"/>
                </a:solidFill>
                <a:latin typeface="Times New Roman"/>
                <a:ea typeface="+mj-ea"/>
                <a:cs typeface="Times New Roman"/>
              </a:rPr>
              <a:t>first </a:t>
            </a:r>
            <a:r>
              <a:rPr lang="en-US" sz="2400" cap="none" spc="-50" dirty="0">
                <a:solidFill>
                  <a:prstClr val="black"/>
                </a:solidFill>
                <a:latin typeface="Times New Roman"/>
                <a:ea typeface="+mj-ea"/>
                <a:cs typeface="Times New Roman"/>
              </a:rPr>
              <a:t>millennium</a:t>
            </a:r>
            <a:r>
              <a:rPr lang="en-US" sz="2400" cap="none" spc="-55" dirty="0">
                <a:solidFill>
                  <a:prstClr val="black"/>
                </a:solidFill>
                <a:latin typeface="Times New Roman"/>
                <a:ea typeface="+mj-ea"/>
                <a:cs typeface="Times New Roman"/>
              </a:rPr>
              <a:t> </a:t>
            </a:r>
            <a:r>
              <a:rPr lang="en-US" sz="2400" cap="none" spc="-40" dirty="0">
                <a:solidFill>
                  <a:prstClr val="black"/>
                </a:solidFill>
                <a:latin typeface="Times New Roman"/>
                <a:ea typeface="+mj-ea"/>
                <a:cs typeface="Times New Roman"/>
              </a:rPr>
              <a:t>BCE, </a:t>
            </a:r>
            <a:r>
              <a:rPr lang="en-US" sz="2400" cap="none" spc="-50" dirty="0">
                <a:solidFill>
                  <a:prstClr val="black"/>
                </a:solidFill>
                <a:latin typeface="Times New Roman"/>
                <a:ea typeface="+mj-ea"/>
                <a:cs typeface="Times New Roman"/>
              </a:rPr>
              <a:t>belonged</a:t>
            </a:r>
            <a:r>
              <a:rPr lang="en-US" sz="2400" cap="none" spc="-45" dirty="0">
                <a:solidFill>
                  <a:prstClr val="black"/>
                </a:solidFill>
                <a:latin typeface="Times New Roman"/>
                <a:ea typeface="+mj-ea"/>
                <a:cs typeface="Times New Roman"/>
              </a:rPr>
              <a:t> </a:t>
            </a:r>
            <a:r>
              <a:rPr lang="en-US" sz="2400" cap="none" spc="-30" dirty="0">
                <a:solidFill>
                  <a:prstClr val="black"/>
                </a:solidFill>
                <a:latin typeface="Times New Roman"/>
                <a:ea typeface="+mj-ea"/>
                <a:cs typeface="Times New Roman"/>
              </a:rPr>
              <a:t>to</a:t>
            </a:r>
            <a:r>
              <a:rPr lang="en-US" sz="2400" cap="none" spc="-50" dirty="0">
                <a:solidFill>
                  <a:prstClr val="black"/>
                </a:solidFill>
                <a:latin typeface="Times New Roman"/>
                <a:ea typeface="+mj-ea"/>
                <a:cs typeface="Times New Roman"/>
              </a:rPr>
              <a:t> </a:t>
            </a:r>
            <a:r>
              <a:rPr lang="en-US" sz="2400" cap="none" spc="-40" dirty="0">
                <a:solidFill>
                  <a:prstClr val="black"/>
                </a:solidFill>
                <a:latin typeface="Times New Roman"/>
                <a:ea typeface="+mj-ea"/>
                <a:cs typeface="Times New Roman"/>
              </a:rPr>
              <a:t>the Iron</a:t>
            </a:r>
            <a:r>
              <a:rPr lang="en-US" sz="2400" cap="none" spc="-50" dirty="0">
                <a:solidFill>
                  <a:prstClr val="black"/>
                </a:solidFill>
                <a:latin typeface="Times New Roman"/>
                <a:ea typeface="+mj-ea"/>
                <a:cs typeface="Times New Roman"/>
              </a:rPr>
              <a:t> </a:t>
            </a:r>
            <a:r>
              <a:rPr lang="en-US" sz="2400" cap="none" spc="-20" dirty="0">
                <a:solidFill>
                  <a:prstClr val="black"/>
                </a:solidFill>
                <a:latin typeface="Times New Roman"/>
                <a:ea typeface="+mj-ea"/>
                <a:cs typeface="Times New Roman"/>
              </a:rPr>
              <a:t>Age</a:t>
            </a:r>
            <a:r>
              <a:rPr lang="en-US" sz="2400" cap="none" spc="-20" dirty="0" smtClean="0">
                <a:solidFill>
                  <a:prstClr val="black"/>
                </a:solidFill>
                <a:latin typeface="Times New Roman"/>
                <a:ea typeface="+mj-ea"/>
                <a:cs typeface="Times New Roman"/>
              </a:rPr>
              <a:t>.</a:t>
            </a:r>
          </a:p>
          <a:p>
            <a:pPr marL="457200" marR="9519" lvl="2" indent="-457200" algn="just" defTabSz="457200">
              <a:lnSpc>
                <a:spcPct val="150000"/>
              </a:lnSpc>
              <a:spcBef>
                <a:spcPts val="65"/>
              </a:spcBef>
              <a:buClrTx/>
              <a:tabLst>
                <a:tab pos="468936" algn="l"/>
              </a:tabLst>
            </a:pPr>
            <a:r>
              <a:rPr lang="en-US" sz="2620" cap="none" spc="-10" dirty="0">
                <a:solidFill>
                  <a:prstClr val="black"/>
                </a:solidFill>
                <a:latin typeface="Times New Roman"/>
                <a:cs typeface="Times New Roman"/>
              </a:rPr>
              <a:t>India</a:t>
            </a:r>
            <a:r>
              <a:rPr lang="en-US" sz="2620" cap="none" spc="-14" dirty="0">
                <a:solidFill>
                  <a:prstClr val="black"/>
                </a:solidFill>
                <a:latin typeface="Times New Roman"/>
                <a:cs typeface="Times New Roman"/>
              </a:rPr>
              <a:t> </a:t>
            </a:r>
            <a:r>
              <a:rPr lang="en-US" sz="2620" cap="none" dirty="0">
                <a:solidFill>
                  <a:prstClr val="black"/>
                </a:solidFill>
                <a:latin typeface="Times New Roman"/>
                <a:cs typeface="Times New Roman"/>
              </a:rPr>
              <a:t>was</a:t>
            </a:r>
            <a:r>
              <a:rPr lang="en-US" sz="2620" cap="none" spc="-10" dirty="0">
                <a:solidFill>
                  <a:prstClr val="black"/>
                </a:solidFill>
                <a:latin typeface="Times New Roman"/>
                <a:cs typeface="Times New Roman"/>
              </a:rPr>
              <a:t> </a:t>
            </a:r>
            <a:r>
              <a:rPr lang="en-US" sz="2620" cap="none" dirty="0">
                <a:solidFill>
                  <a:prstClr val="black"/>
                </a:solidFill>
                <a:latin typeface="Times New Roman"/>
                <a:cs typeface="Times New Roman"/>
              </a:rPr>
              <a:t>a</a:t>
            </a:r>
            <a:r>
              <a:rPr lang="en-US" sz="2620" cap="none" spc="-20" dirty="0">
                <a:solidFill>
                  <a:prstClr val="black"/>
                </a:solidFill>
                <a:latin typeface="Times New Roman"/>
                <a:cs typeface="Times New Roman"/>
              </a:rPr>
              <a:t> major </a:t>
            </a:r>
            <a:r>
              <a:rPr lang="en-US" sz="2620" cap="none" spc="-30" dirty="0">
                <a:solidFill>
                  <a:prstClr val="black"/>
                </a:solidFill>
                <a:latin typeface="Times New Roman"/>
                <a:cs typeface="Times New Roman"/>
              </a:rPr>
              <a:t>innovator</a:t>
            </a:r>
            <a:r>
              <a:rPr lang="en-US" sz="2620" cap="none" spc="-10" dirty="0">
                <a:solidFill>
                  <a:prstClr val="black"/>
                </a:solidFill>
                <a:latin typeface="Times New Roman"/>
                <a:cs typeface="Times New Roman"/>
              </a:rPr>
              <a:t> </a:t>
            </a:r>
            <a:r>
              <a:rPr lang="en-US" sz="2620" cap="none" dirty="0">
                <a:solidFill>
                  <a:prstClr val="black"/>
                </a:solidFill>
                <a:latin typeface="Times New Roman"/>
                <a:cs typeface="Times New Roman"/>
              </a:rPr>
              <a:t>in</a:t>
            </a:r>
            <a:r>
              <a:rPr lang="en-US" sz="2620" cap="none" spc="-10" dirty="0">
                <a:solidFill>
                  <a:prstClr val="black"/>
                </a:solidFill>
                <a:latin typeface="Times New Roman"/>
                <a:cs typeface="Times New Roman"/>
              </a:rPr>
              <a:t> </a:t>
            </a:r>
            <a:r>
              <a:rPr lang="en-US" sz="2620" cap="none" dirty="0">
                <a:solidFill>
                  <a:prstClr val="black"/>
                </a:solidFill>
                <a:latin typeface="Times New Roman"/>
                <a:cs typeface="Times New Roman"/>
              </a:rPr>
              <a:t>the</a:t>
            </a:r>
            <a:r>
              <a:rPr lang="en-US" sz="2620" cap="none" spc="-14" dirty="0">
                <a:solidFill>
                  <a:prstClr val="black"/>
                </a:solidFill>
                <a:latin typeface="Times New Roman"/>
                <a:cs typeface="Times New Roman"/>
              </a:rPr>
              <a:t> </a:t>
            </a:r>
            <a:r>
              <a:rPr lang="en-US" sz="2620" cap="none" spc="-25" dirty="0">
                <a:solidFill>
                  <a:prstClr val="black"/>
                </a:solidFill>
                <a:latin typeface="Times New Roman"/>
                <a:cs typeface="Times New Roman"/>
              </a:rPr>
              <a:t>field,</a:t>
            </a:r>
            <a:r>
              <a:rPr lang="en-US" sz="2620" cap="none" spc="-10" dirty="0">
                <a:solidFill>
                  <a:prstClr val="black"/>
                </a:solidFill>
                <a:latin typeface="Times New Roman"/>
                <a:cs typeface="Times New Roman"/>
              </a:rPr>
              <a:t> </a:t>
            </a:r>
            <a:r>
              <a:rPr lang="en-US" sz="2620" cap="none" spc="-35" dirty="0">
                <a:solidFill>
                  <a:prstClr val="black"/>
                </a:solidFill>
                <a:latin typeface="Times New Roman"/>
                <a:cs typeface="Times New Roman"/>
              </a:rPr>
              <a:t>producing</a:t>
            </a:r>
            <a:r>
              <a:rPr lang="en-US" sz="2620" cap="none" spc="-25" dirty="0">
                <a:solidFill>
                  <a:prstClr val="black"/>
                </a:solidFill>
                <a:latin typeface="Times New Roman"/>
                <a:cs typeface="Times New Roman"/>
              </a:rPr>
              <a:t> </a:t>
            </a:r>
            <a:r>
              <a:rPr lang="en-US" sz="2620" cap="none" dirty="0">
                <a:solidFill>
                  <a:srgbClr val="FF9900"/>
                </a:solidFill>
                <a:latin typeface="Times New Roman"/>
                <a:cs typeface="Times New Roman"/>
              </a:rPr>
              <a:t>two</a:t>
            </a:r>
            <a:r>
              <a:rPr lang="en-US" sz="2620" cap="none" spc="-10" dirty="0">
                <a:solidFill>
                  <a:srgbClr val="FF9900"/>
                </a:solidFill>
                <a:latin typeface="Times New Roman"/>
                <a:cs typeface="Times New Roman"/>
              </a:rPr>
              <a:t> </a:t>
            </a:r>
            <a:r>
              <a:rPr lang="en-US" sz="2620" cap="none" spc="-25" dirty="0">
                <a:solidFill>
                  <a:srgbClr val="FF9900"/>
                </a:solidFill>
                <a:latin typeface="Times New Roman"/>
                <a:cs typeface="Times New Roman"/>
              </a:rPr>
              <a:t>highly</a:t>
            </a:r>
            <a:r>
              <a:rPr lang="en-US" sz="2620" cap="none" spc="-14" dirty="0">
                <a:solidFill>
                  <a:srgbClr val="FF9900"/>
                </a:solidFill>
                <a:latin typeface="Times New Roman"/>
                <a:cs typeface="Times New Roman"/>
              </a:rPr>
              <a:t> </a:t>
            </a:r>
            <a:r>
              <a:rPr lang="en-US" sz="2620" cap="none" spc="-30" dirty="0">
                <a:solidFill>
                  <a:srgbClr val="FF9900"/>
                </a:solidFill>
                <a:latin typeface="Times New Roman"/>
                <a:cs typeface="Times New Roman"/>
              </a:rPr>
              <a:t>advanced</a:t>
            </a:r>
            <a:r>
              <a:rPr lang="en-US" sz="2620" cap="none" spc="-25" dirty="0">
                <a:solidFill>
                  <a:srgbClr val="FF9900"/>
                </a:solidFill>
                <a:latin typeface="Times New Roman"/>
                <a:cs typeface="Times New Roman"/>
              </a:rPr>
              <a:t> </a:t>
            </a:r>
            <a:r>
              <a:rPr lang="en-US" sz="2620" cap="none" spc="-20" dirty="0">
                <a:solidFill>
                  <a:srgbClr val="FF9900"/>
                </a:solidFill>
                <a:latin typeface="Times New Roman"/>
                <a:cs typeface="Times New Roman"/>
              </a:rPr>
              <a:t>types</a:t>
            </a:r>
            <a:r>
              <a:rPr lang="en-US" sz="2620" cap="none" spc="-14" dirty="0">
                <a:solidFill>
                  <a:srgbClr val="FF9900"/>
                </a:solidFill>
                <a:latin typeface="Times New Roman"/>
                <a:cs typeface="Times New Roman"/>
              </a:rPr>
              <a:t> </a:t>
            </a:r>
            <a:r>
              <a:rPr lang="en-US" sz="2620" cap="none" dirty="0">
                <a:solidFill>
                  <a:srgbClr val="FF9900"/>
                </a:solidFill>
                <a:latin typeface="Times New Roman"/>
                <a:cs typeface="Times New Roman"/>
              </a:rPr>
              <a:t>of</a:t>
            </a:r>
            <a:r>
              <a:rPr lang="en-US" sz="2620" cap="none" spc="-20" dirty="0">
                <a:solidFill>
                  <a:srgbClr val="FF9900"/>
                </a:solidFill>
                <a:latin typeface="Times New Roman"/>
                <a:cs typeface="Times New Roman"/>
              </a:rPr>
              <a:t> </a:t>
            </a:r>
            <a:r>
              <a:rPr lang="en-US" sz="2620" cap="none" spc="-10" dirty="0">
                <a:solidFill>
                  <a:srgbClr val="FF9900"/>
                </a:solidFill>
                <a:latin typeface="Times New Roman"/>
                <a:cs typeface="Times New Roman"/>
              </a:rPr>
              <a:t>iron</a:t>
            </a:r>
            <a:r>
              <a:rPr lang="en-US" sz="2620" cap="none" spc="-10" dirty="0">
                <a:solidFill>
                  <a:prstClr val="black"/>
                </a:solidFill>
                <a:latin typeface="Times New Roman"/>
                <a:cs typeface="Times New Roman"/>
              </a:rPr>
              <a:t>.</a:t>
            </a:r>
            <a:r>
              <a:rPr lang="en-US" sz="2620" cap="none" spc="-20" dirty="0">
                <a:solidFill>
                  <a:prstClr val="black"/>
                </a:solidFill>
                <a:latin typeface="Times New Roman"/>
                <a:cs typeface="Times New Roman"/>
              </a:rPr>
              <a:t> </a:t>
            </a:r>
            <a:r>
              <a:rPr lang="en-US" sz="2620" cap="none" dirty="0">
                <a:solidFill>
                  <a:prstClr val="black"/>
                </a:solidFill>
                <a:latin typeface="Times New Roman"/>
                <a:cs typeface="Times New Roman"/>
              </a:rPr>
              <a:t>The</a:t>
            </a:r>
            <a:r>
              <a:rPr lang="en-US" sz="2620" cap="none" spc="-30" dirty="0">
                <a:solidFill>
                  <a:prstClr val="black"/>
                </a:solidFill>
                <a:latin typeface="Times New Roman"/>
                <a:cs typeface="Times New Roman"/>
              </a:rPr>
              <a:t> </a:t>
            </a:r>
            <a:r>
              <a:rPr lang="en-US" sz="2620" cap="none" spc="-10" dirty="0">
                <a:solidFill>
                  <a:prstClr val="black"/>
                </a:solidFill>
                <a:latin typeface="Times New Roman"/>
                <a:cs typeface="Times New Roman"/>
              </a:rPr>
              <a:t>first, </a:t>
            </a:r>
            <a:r>
              <a:rPr lang="en-US" sz="2620" cap="none" spc="-10" dirty="0" err="1">
                <a:solidFill>
                  <a:srgbClr val="FF9900"/>
                </a:solidFill>
                <a:latin typeface="Times New Roman"/>
                <a:cs typeface="Times New Roman"/>
              </a:rPr>
              <a:t>wootz</a:t>
            </a:r>
            <a:r>
              <a:rPr lang="en-US" sz="2620" cap="none" spc="-40" dirty="0">
                <a:solidFill>
                  <a:srgbClr val="FF9900"/>
                </a:solidFill>
                <a:latin typeface="Times New Roman"/>
                <a:cs typeface="Times New Roman"/>
              </a:rPr>
              <a:t> </a:t>
            </a:r>
            <a:r>
              <a:rPr lang="en-US" sz="2620" cap="none" spc="-20" dirty="0">
                <a:solidFill>
                  <a:srgbClr val="FF9900"/>
                </a:solidFill>
                <a:latin typeface="Times New Roman"/>
                <a:cs typeface="Times New Roman"/>
              </a:rPr>
              <a:t>steel</a:t>
            </a:r>
            <a:r>
              <a:rPr lang="en-US" sz="2620" cap="none" spc="-20" dirty="0">
                <a:solidFill>
                  <a:prstClr val="black"/>
                </a:solidFill>
                <a:latin typeface="Times New Roman"/>
                <a:cs typeface="Times New Roman"/>
              </a:rPr>
              <a:t>,</a:t>
            </a:r>
            <a:r>
              <a:rPr lang="en-US" sz="2620" cap="none" spc="-30" dirty="0">
                <a:solidFill>
                  <a:prstClr val="black"/>
                </a:solidFill>
                <a:latin typeface="Times New Roman"/>
                <a:cs typeface="Times New Roman"/>
              </a:rPr>
              <a:t> produced</a:t>
            </a:r>
            <a:r>
              <a:rPr lang="en-US" sz="2620" cap="none" spc="-35" dirty="0">
                <a:solidFill>
                  <a:prstClr val="black"/>
                </a:solidFill>
                <a:latin typeface="Times New Roman"/>
                <a:cs typeface="Times New Roman"/>
              </a:rPr>
              <a:t> </a:t>
            </a:r>
            <a:r>
              <a:rPr lang="en-US" sz="2620" cap="none" dirty="0">
                <a:solidFill>
                  <a:prstClr val="black"/>
                </a:solidFill>
                <a:latin typeface="Times New Roman"/>
                <a:cs typeface="Times New Roman"/>
              </a:rPr>
              <a:t>in</a:t>
            </a:r>
            <a:r>
              <a:rPr lang="en-US" sz="2620" cap="none" spc="-40" dirty="0">
                <a:solidFill>
                  <a:prstClr val="black"/>
                </a:solidFill>
                <a:latin typeface="Times New Roman"/>
                <a:cs typeface="Times New Roman"/>
              </a:rPr>
              <a:t> </a:t>
            </a:r>
            <a:r>
              <a:rPr lang="en-US" sz="2620" cap="none" spc="-20" dirty="0">
                <a:solidFill>
                  <a:prstClr val="black"/>
                </a:solidFill>
                <a:latin typeface="Times New Roman"/>
                <a:cs typeface="Times New Roman"/>
              </a:rPr>
              <a:t>south</a:t>
            </a:r>
            <a:r>
              <a:rPr lang="en-US" sz="2620" cap="none" spc="-30" dirty="0">
                <a:solidFill>
                  <a:prstClr val="black"/>
                </a:solidFill>
                <a:latin typeface="Times New Roman"/>
                <a:cs typeface="Times New Roman"/>
              </a:rPr>
              <a:t> </a:t>
            </a:r>
            <a:r>
              <a:rPr lang="en-US" sz="2620" cap="none" spc="-10" dirty="0">
                <a:solidFill>
                  <a:prstClr val="black"/>
                </a:solidFill>
                <a:latin typeface="Times New Roman"/>
                <a:cs typeface="Times New Roman"/>
              </a:rPr>
              <a:t>India</a:t>
            </a:r>
            <a:r>
              <a:rPr lang="en-US" sz="2620" cap="none" spc="-30" dirty="0">
                <a:solidFill>
                  <a:prstClr val="black"/>
                </a:solidFill>
                <a:latin typeface="Times New Roman"/>
                <a:cs typeface="Times New Roman"/>
              </a:rPr>
              <a:t> </a:t>
            </a:r>
            <a:r>
              <a:rPr lang="en-US" sz="2620" cap="none" dirty="0">
                <a:solidFill>
                  <a:prstClr val="black"/>
                </a:solidFill>
                <a:latin typeface="Times New Roman"/>
                <a:cs typeface="Times New Roman"/>
              </a:rPr>
              <a:t>from</a:t>
            </a:r>
            <a:r>
              <a:rPr lang="en-US" sz="2620" cap="none" spc="-35" dirty="0">
                <a:solidFill>
                  <a:prstClr val="black"/>
                </a:solidFill>
                <a:latin typeface="Times New Roman"/>
                <a:cs typeface="Times New Roman"/>
              </a:rPr>
              <a:t> </a:t>
            </a:r>
            <a:r>
              <a:rPr lang="en-US" sz="2620" cap="none" spc="-20" dirty="0">
                <a:solidFill>
                  <a:prstClr val="black"/>
                </a:solidFill>
                <a:latin typeface="Times New Roman"/>
                <a:cs typeface="Times New Roman"/>
              </a:rPr>
              <a:t>about</a:t>
            </a:r>
            <a:r>
              <a:rPr lang="en-US" sz="2620" cap="none" spc="-35" dirty="0">
                <a:solidFill>
                  <a:prstClr val="black"/>
                </a:solidFill>
                <a:latin typeface="Times New Roman"/>
                <a:cs typeface="Times New Roman"/>
              </a:rPr>
              <a:t> </a:t>
            </a:r>
            <a:r>
              <a:rPr lang="en-US" sz="2620" cap="none" dirty="0">
                <a:solidFill>
                  <a:prstClr val="black"/>
                </a:solidFill>
                <a:latin typeface="Times New Roman"/>
                <a:cs typeface="Times New Roman"/>
              </a:rPr>
              <a:t>300</a:t>
            </a:r>
            <a:r>
              <a:rPr lang="en-US" sz="2620" cap="none" spc="-40" dirty="0">
                <a:solidFill>
                  <a:prstClr val="black"/>
                </a:solidFill>
                <a:latin typeface="Times New Roman"/>
                <a:cs typeface="Times New Roman"/>
              </a:rPr>
              <a:t> </a:t>
            </a:r>
            <a:r>
              <a:rPr lang="en-US" sz="2620" cap="none" dirty="0">
                <a:solidFill>
                  <a:prstClr val="black"/>
                </a:solidFill>
                <a:latin typeface="Times New Roman"/>
                <a:cs typeface="Times New Roman"/>
              </a:rPr>
              <a:t>BCE,</a:t>
            </a:r>
            <a:r>
              <a:rPr lang="en-US" sz="2620" cap="none" spc="-40" dirty="0">
                <a:solidFill>
                  <a:prstClr val="black"/>
                </a:solidFill>
                <a:latin typeface="Times New Roman"/>
                <a:cs typeface="Times New Roman"/>
              </a:rPr>
              <a:t> </a:t>
            </a:r>
            <a:r>
              <a:rPr lang="en-US" sz="2620" cap="none" dirty="0">
                <a:solidFill>
                  <a:prstClr val="black"/>
                </a:solidFill>
                <a:latin typeface="Times New Roman"/>
                <a:cs typeface="Times New Roman"/>
              </a:rPr>
              <a:t>was</a:t>
            </a:r>
            <a:r>
              <a:rPr lang="en-US" sz="2620" cap="none" spc="-35" dirty="0">
                <a:solidFill>
                  <a:prstClr val="black"/>
                </a:solidFill>
                <a:latin typeface="Times New Roman"/>
                <a:cs typeface="Times New Roman"/>
              </a:rPr>
              <a:t> </a:t>
            </a:r>
            <a:r>
              <a:rPr lang="en-US" sz="2620" cap="none" dirty="0">
                <a:solidFill>
                  <a:prstClr val="black"/>
                </a:solidFill>
                <a:latin typeface="Times New Roman"/>
                <a:cs typeface="Times New Roman"/>
              </a:rPr>
              <a:t>iron</a:t>
            </a:r>
            <a:r>
              <a:rPr lang="en-US" sz="2620" cap="none" spc="-30" dirty="0">
                <a:solidFill>
                  <a:prstClr val="black"/>
                </a:solidFill>
                <a:latin typeface="Times New Roman"/>
                <a:cs typeface="Times New Roman"/>
              </a:rPr>
              <a:t> </a:t>
            </a:r>
            <a:r>
              <a:rPr lang="en-US" sz="2620" cap="none" spc="-35" dirty="0">
                <a:solidFill>
                  <a:prstClr val="black"/>
                </a:solidFill>
                <a:latin typeface="Times New Roman"/>
                <a:cs typeface="Times New Roman"/>
              </a:rPr>
              <a:t>carburized</a:t>
            </a:r>
            <a:r>
              <a:rPr lang="en-US" sz="2620" cap="none" spc="-30" dirty="0">
                <a:solidFill>
                  <a:prstClr val="black"/>
                </a:solidFill>
                <a:latin typeface="Times New Roman"/>
                <a:cs typeface="Times New Roman"/>
              </a:rPr>
              <a:t> </a:t>
            </a:r>
            <a:r>
              <a:rPr lang="en-US" sz="2620" cap="none" spc="-10" dirty="0">
                <a:solidFill>
                  <a:prstClr val="black"/>
                </a:solidFill>
                <a:latin typeface="Times New Roman"/>
                <a:cs typeface="Times New Roman"/>
              </a:rPr>
              <a:t>under</a:t>
            </a:r>
            <a:r>
              <a:rPr lang="en-US" sz="2620" cap="none" spc="-30" dirty="0">
                <a:solidFill>
                  <a:prstClr val="black"/>
                </a:solidFill>
                <a:latin typeface="Times New Roman"/>
                <a:cs typeface="Times New Roman"/>
              </a:rPr>
              <a:t> </a:t>
            </a:r>
            <a:r>
              <a:rPr lang="en-US" sz="2620" cap="none" spc="-20" dirty="0">
                <a:solidFill>
                  <a:prstClr val="black"/>
                </a:solidFill>
                <a:latin typeface="Times New Roman"/>
                <a:cs typeface="Times New Roman"/>
              </a:rPr>
              <a:t>controlled </a:t>
            </a:r>
            <a:r>
              <a:rPr lang="en-US" sz="2620" cap="none" spc="-10" dirty="0">
                <a:solidFill>
                  <a:prstClr val="black"/>
                </a:solidFill>
                <a:latin typeface="Times New Roman"/>
                <a:cs typeface="Times New Roman"/>
              </a:rPr>
              <a:t>conditions.</a:t>
            </a:r>
            <a:endParaRPr lang="en-US" sz="2620" cap="none" dirty="0">
              <a:solidFill>
                <a:prstClr val="black"/>
              </a:solidFill>
              <a:latin typeface="Times New Roman"/>
              <a:cs typeface="Times New Roman"/>
            </a:endParaRPr>
          </a:p>
          <a:p>
            <a:pPr marL="469177" marR="5715" lvl="3" indent="-342900" algn="just" defTabSz="457200">
              <a:lnSpc>
                <a:spcPct val="150000"/>
              </a:lnSpc>
              <a:spcBef>
                <a:spcPts val="140"/>
              </a:spcBef>
              <a:buClrTx/>
              <a:tabLst>
                <a:tab pos="468936" algn="l"/>
              </a:tabLst>
            </a:pPr>
            <a:r>
              <a:rPr lang="en-US" sz="2400" cap="none" spc="-45" dirty="0">
                <a:solidFill>
                  <a:prstClr val="black"/>
                </a:solidFill>
                <a:latin typeface="Times New Roman"/>
                <a:cs typeface="Times New Roman"/>
              </a:rPr>
              <a:t>Right</a:t>
            </a:r>
            <a:r>
              <a:rPr lang="en-US" sz="2400" cap="none" spc="-40" dirty="0">
                <a:solidFill>
                  <a:prstClr val="black"/>
                </a:solidFill>
                <a:latin typeface="Times New Roman"/>
                <a:cs typeface="Times New Roman"/>
              </a:rPr>
              <a:t> </a:t>
            </a:r>
            <a:r>
              <a:rPr lang="en-US" sz="2400" cap="none" spc="-30" dirty="0">
                <a:solidFill>
                  <a:prstClr val="black"/>
                </a:solidFill>
                <a:latin typeface="Times New Roman"/>
                <a:cs typeface="Times New Roman"/>
              </a:rPr>
              <a:t>from</a:t>
            </a:r>
            <a:r>
              <a:rPr lang="en-US" sz="2400" cap="none" spc="-20" dirty="0">
                <a:solidFill>
                  <a:prstClr val="black"/>
                </a:solidFill>
                <a:latin typeface="Times New Roman"/>
                <a:cs typeface="Times New Roman"/>
              </a:rPr>
              <a:t> </a:t>
            </a:r>
            <a:r>
              <a:rPr lang="en-US" sz="2400" cap="none" spc="-30" dirty="0">
                <a:solidFill>
                  <a:prstClr val="black"/>
                </a:solidFill>
                <a:latin typeface="Times New Roman"/>
                <a:cs typeface="Times New Roman"/>
              </a:rPr>
              <a:t>the</a:t>
            </a:r>
            <a:r>
              <a:rPr lang="en-US" sz="2400" cap="none" spc="-4" dirty="0">
                <a:solidFill>
                  <a:prstClr val="black"/>
                </a:solidFill>
                <a:latin typeface="Times New Roman"/>
                <a:cs typeface="Times New Roman"/>
              </a:rPr>
              <a:t> </a:t>
            </a:r>
            <a:r>
              <a:rPr lang="en-US" sz="2400" cap="none" spc="-35" dirty="0">
                <a:solidFill>
                  <a:prstClr val="black"/>
                </a:solidFill>
                <a:latin typeface="Times New Roman"/>
                <a:cs typeface="Times New Roman"/>
              </a:rPr>
              <a:t>17th</a:t>
            </a:r>
            <a:r>
              <a:rPr lang="en-US" sz="2400" cap="none" spc="-10" dirty="0">
                <a:solidFill>
                  <a:prstClr val="black"/>
                </a:solidFill>
                <a:latin typeface="Times New Roman"/>
                <a:cs typeface="Times New Roman"/>
              </a:rPr>
              <a:t> </a:t>
            </a:r>
            <a:r>
              <a:rPr lang="en-US" sz="2400" cap="none" spc="-45" dirty="0">
                <a:solidFill>
                  <a:prstClr val="black"/>
                </a:solidFill>
                <a:latin typeface="Times New Roman"/>
                <a:cs typeface="Times New Roman"/>
              </a:rPr>
              <a:t>century,</a:t>
            </a:r>
            <a:r>
              <a:rPr lang="en-US" sz="2400" cap="none" spc="-4" dirty="0">
                <a:solidFill>
                  <a:prstClr val="black"/>
                </a:solidFill>
                <a:latin typeface="Times New Roman"/>
                <a:cs typeface="Times New Roman"/>
              </a:rPr>
              <a:t> </a:t>
            </a:r>
            <a:r>
              <a:rPr lang="en-US" sz="2400" cap="none" spc="-40" dirty="0">
                <a:solidFill>
                  <a:prstClr val="black"/>
                </a:solidFill>
                <a:latin typeface="Times New Roman"/>
                <a:cs typeface="Times New Roman"/>
              </a:rPr>
              <a:t>several</a:t>
            </a:r>
            <a:r>
              <a:rPr lang="en-US" sz="2400" cap="none" spc="-4" dirty="0">
                <a:solidFill>
                  <a:prstClr val="black"/>
                </a:solidFill>
                <a:latin typeface="Times New Roman"/>
                <a:cs typeface="Times New Roman"/>
              </a:rPr>
              <a:t> </a:t>
            </a:r>
            <a:r>
              <a:rPr lang="en-US" sz="2400" cap="none" spc="-40" dirty="0">
                <a:solidFill>
                  <a:prstClr val="black"/>
                </a:solidFill>
                <a:latin typeface="Times New Roman"/>
                <a:cs typeface="Times New Roman"/>
              </a:rPr>
              <a:t>European</a:t>
            </a:r>
            <a:r>
              <a:rPr lang="en-US" sz="2400" cap="none" spc="-20" dirty="0">
                <a:solidFill>
                  <a:prstClr val="black"/>
                </a:solidFill>
                <a:latin typeface="Times New Roman"/>
                <a:cs typeface="Times New Roman"/>
              </a:rPr>
              <a:t> </a:t>
            </a:r>
            <a:r>
              <a:rPr lang="en-US" sz="2400" cap="none" spc="-45" dirty="0" err="1">
                <a:solidFill>
                  <a:prstClr val="black"/>
                </a:solidFill>
                <a:latin typeface="Times New Roman"/>
                <a:cs typeface="Times New Roman"/>
              </a:rPr>
              <a:t>travellers</a:t>
            </a:r>
            <a:r>
              <a:rPr lang="en-US" sz="2400" cap="none" dirty="0">
                <a:solidFill>
                  <a:prstClr val="black"/>
                </a:solidFill>
                <a:latin typeface="Times New Roman"/>
                <a:cs typeface="Times New Roman"/>
              </a:rPr>
              <a:t> </a:t>
            </a:r>
            <a:r>
              <a:rPr lang="en-US" sz="2400" cap="none" spc="-45" dirty="0">
                <a:solidFill>
                  <a:prstClr val="black"/>
                </a:solidFill>
                <a:latin typeface="Times New Roman"/>
                <a:cs typeface="Times New Roman"/>
              </a:rPr>
              <a:t>documented</a:t>
            </a:r>
            <a:r>
              <a:rPr lang="en-US" sz="2400" cap="none" spc="-10" dirty="0">
                <a:solidFill>
                  <a:prstClr val="black"/>
                </a:solidFill>
                <a:latin typeface="Times New Roman"/>
                <a:cs typeface="Times New Roman"/>
              </a:rPr>
              <a:t> </a:t>
            </a:r>
            <a:r>
              <a:rPr lang="en-US" sz="2400" cap="none" spc="-85" dirty="0">
                <a:solidFill>
                  <a:srgbClr val="FF9900"/>
                </a:solidFill>
                <a:latin typeface="Times New Roman"/>
                <a:cs typeface="Times New Roman"/>
              </a:rPr>
              <a:t>India’s</a:t>
            </a:r>
            <a:r>
              <a:rPr lang="en-US" sz="2400" cap="none" spc="10" dirty="0">
                <a:solidFill>
                  <a:srgbClr val="FF9900"/>
                </a:solidFill>
                <a:latin typeface="Times New Roman"/>
                <a:cs typeface="Times New Roman"/>
              </a:rPr>
              <a:t> </a:t>
            </a:r>
            <a:r>
              <a:rPr lang="en-US" sz="2400" cap="none" spc="-40" dirty="0">
                <a:solidFill>
                  <a:srgbClr val="FF9900"/>
                </a:solidFill>
                <a:latin typeface="Times New Roman"/>
                <a:cs typeface="Times New Roman"/>
              </a:rPr>
              <a:t>iron</a:t>
            </a:r>
            <a:r>
              <a:rPr lang="en-US" sz="2400" cap="none" spc="-10" dirty="0">
                <a:solidFill>
                  <a:srgbClr val="FF9900"/>
                </a:solidFill>
                <a:latin typeface="Times New Roman"/>
                <a:cs typeface="Times New Roman"/>
              </a:rPr>
              <a:t> </a:t>
            </a:r>
            <a:r>
              <a:rPr lang="en-US" sz="2400" cap="none" spc="-25" dirty="0">
                <a:solidFill>
                  <a:srgbClr val="FF9900"/>
                </a:solidFill>
                <a:latin typeface="Times New Roman"/>
                <a:cs typeface="Times New Roman"/>
              </a:rPr>
              <a:t>and</a:t>
            </a:r>
            <a:r>
              <a:rPr lang="en-US" sz="2400" cap="none" spc="-14" dirty="0">
                <a:solidFill>
                  <a:srgbClr val="FF9900"/>
                </a:solidFill>
                <a:latin typeface="Times New Roman"/>
                <a:cs typeface="Times New Roman"/>
              </a:rPr>
              <a:t> </a:t>
            </a:r>
            <a:r>
              <a:rPr lang="en-US" sz="2400" cap="none" spc="-50" dirty="0">
                <a:solidFill>
                  <a:srgbClr val="FF9900"/>
                </a:solidFill>
                <a:latin typeface="Times New Roman"/>
                <a:cs typeface="Times New Roman"/>
              </a:rPr>
              <a:t>steel-</a:t>
            </a:r>
            <a:r>
              <a:rPr lang="en-US" sz="2400" cap="none" spc="-10" dirty="0">
                <a:solidFill>
                  <a:srgbClr val="FF9900"/>
                </a:solidFill>
                <a:latin typeface="Times New Roman"/>
                <a:cs typeface="Times New Roman"/>
              </a:rPr>
              <a:t>making furnaces</a:t>
            </a:r>
            <a:r>
              <a:rPr lang="en-US" sz="2400" cap="none" spc="-10" dirty="0">
                <a:solidFill>
                  <a:prstClr val="black"/>
                </a:solidFill>
                <a:latin typeface="Times New Roman"/>
                <a:cs typeface="Times New Roman"/>
              </a:rPr>
              <a:t>.</a:t>
            </a:r>
            <a:endParaRPr lang="en-US" sz="2400" cap="none" dirty="0">
              <a:solidFill>
                <a:prstClr val="black"/>
              </a:solidFill>
              <a:latin typeface="Times New Roman"/>
              <a:cs typeface="Times New Roman"/>
            </a:endParaRPr>
          </a:p>
          <a:p>
            <a:pPr>
              <a:lnSpc>
                <a:spcPct val="150000"/>
              </a:lnSpc>
            </a:pPr>
            <a:endParaRPr lang="en-US" dirty="0"/>
          </a:p>
        </p:txBody>
      </p:sp>
    </p:spTree>
    <p:extLst>
      <p:ext uri="{BB962C8B-B14F-4D97-AF65-F5344CB8AC3E}">
        <p14:creationId xmlns:p14="http://schemas.microsoft.com/office/powerpoint/2010/main" val="1328379891"/>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p:nvPr/>
        </p:nvSpPr>
        <p:spPr>
          <a:xfrm>
            <a:off x="762000" y="838200"/>
            <a:ext cx="8126501" cy="5796715"/>
          </a:xfrm>
          <a:prstGeom prst="rect">
            <a:avLst/>
          </a:prstGeom>
        </p:spPr>
        <p:txBody>
          <a:bodyPr wrap="square" lIns="91378" tIns="45688" rIns="91378" bIns="45688">
            <a:spAutoFit/>
          </a:bodyPr>
          <a:lstStyle/>
          <a:p>
            <a:pPr marL="12691" lvl="2" algn="just">
              <a:lnSpc>
                <a:spcPts val="1405"/>
              </a:lnSpc>
              <a:tabLst>
                <a:tab pos="466397" algn="l"/>
              </a:tabLst>
            </a:pPr>
            <a:endParaRPr lang="en-US" sz="2400" u="sng" dirty="0">
              <a:solidFill>
                <a:srgbClr val="FF0000"/>
              </a:solidFill>
              <a:latin typeface="Times New Roman"/>
              <a:cs typeface="Times New Roman"/>
            </a:endParaRPr>
          </a:p>
          <a:p>
            <a:pPr marL="468936" marR="6349" lvl="3" indent="-342659" algn="just">
              <a:lnSpc>
                <a:spcPct val="150000"/>
              </a:lnSpc>
              <a:spcBef>
                <a:spcPts val="105"/>
              </a:spcBef>
              <a:buFont typeface="Symbol"/>
              <a:buChar char=""/>
              <a:tabLst>
                <a:tab pos="468936" algn="l"/>
              </a:tabLst>
            </a:pPr>
            <a:r>
              <a:rPr lang="en-US" sz="2400" spc="-10" dirty="0" smtClean="0">
                <a:latin typeface="Times New Roman"/>
                <a:cs typeface="Times New Roman"/>
              </a:rPr>
              <a:t>The</a:t>
            </a:r>
            <a:r>
              <a:rPr lang="en-US" sz="2400" spc="-40" dirty="0" smtClean="0">
                <a:latin typeface="Times New Roman"/>
                <a:cs typeface="Times New Roman"/>
              </a:rPr>
              <a:t> </a:t>
            </a:r>
            <a:r>
              <a:rPr lang="en-US" sz="2400" spc="-35" dirty="0">
                <a:latin typeface="Times New Roman"/>
                <a:cs typeface="Times New Roman"/>
              </a:rPr>
              <a:t>second</a:t>
            </a:r>
            <a:r>
              <a:rPr lang="en-US" sz="2400" spc="-30" dirty="0">
                <a:latin typeface="Times New Roman"/>
                <a:cs typeface="Times New Roman"/>
              </a:rPr>
              <a:t> </a:t>
            </a:r>
            <a:r>
              <a:rPr lang="en-US" sz="2400" spc="-40" dirty="0">
                <a:latin typeface="Times New Roman"/>
                <a:cs typeface="Times New Roman"/>
              </a:rPr>
              <a:t>advanced</a:t>
            </a:r>
            <a:r>
              <a:rPr lang="en-US" sz="2400" spc="-35" dirty="0">
                <a:latin typeface="Times New Roman"/>
                <a:cs typeface="Times New Roman"/>
              </a:rPr>
              <a:t> </a:t>
            </a:r>
            <a:r>
              <a:rPr lang="en-US" sz="2400" spc="-25" dirty="0">
                <a:latin typeface="Times New Roman"/>
                <a:cs typeface="Times New Roman"/>
              </a:rPr>
              <a:t>iron</a:t>
            </a:r>
            <a:r>
              <a:rPr lang="en-US" sz="2400" spc="-40" dirty="0">
                <a:latin typeface="Times New Roman"/>
                <a:cs typeface="Times New Roman"/>
              </a:rPr>
              <a:t> </a:t>
            </a:r>
            <a:r>
              <a:rPr lang="en-US" sz="2400" dirty="0" smtClean="0">
                <a:latin typeface="Times New Roman"/>
                <a:cs typeface="Times New Roman"/>
              </a:rPr>
              <a:t>is</a:t>
            </a:r>
            <a:r>
              <a:rPr lang="en-US" sz="2400" spc="-25" dirty="0">
                <a:latin typeface="Times New Roman"/>
                <a:cs typeface="Times New Roman"/>
              </a:rPr>
              <a:t> </a:t>
            </a:r>
            <a:r>
              <a:rPr lang="en-US" sz="2400" spc="-20" dirty="0">
                <a:latin typeface="Times New Roman"/>
                <a:cs typeface="Times New Roman"/>
              </a:rPr>
              <a:t>the</a:t>
            </a:r>
            <a:r>
              <a:rPr lang="en-US" sz="2400" spc="-25" dirty="0">
                <a:latin typeface="Times New Roman"/>
                <a:cs typeface="Times New Roman"/>
              </a:rPr>
              <a:t> </a:t>
            </a:r>
            <a:r>
              <a:rPr lang="en-US" sz="2400" spc="-20" dirty="0">
                <a:latin typeface="Times New Roman"/>
                <a:cs typeface="Times New Roman"/>
              </a:rPr>
              <a:t>one</a:t>
            </a:r>
            <a:r>
              <a:rPr lang="en-US" sz="2400" spc="-35" dirty="0">
                <a:latin typeface="Times New Roman"/>
                <a:cs typeface="Times New Roman"/>
              </a:rPr>
              <a:t> </a:t>
            </a:r>
            <a:r>
              <a:rPr lang="en-US" sz="2400" spc="-25" dirty="0">
                <a:latin typeface="Times New Roman"/>
                <a:cs typeface="Times New Roman"/>
              </a:rPr>
              <a:t>used</a:t>
            </a:r>
            <a:r>
              <a:rPr lang="en-US" sz="2400" spc="-45" dirty="0">
                <a:latin typeface="Times New Roman"/>
                <a:cs typeface="Times New Roman"/>
              </a:rPr>
              <a:t> </a:t>
            </a:r>
            <a:r>
              <a:rPr lang="en-US" sz="2400" dirty="0" smtClean="0">
                <a:latin typeface="Times New Roman"/>
                <a:cs typeface="Times New Roman"/>
              </a:rPr>
              <a:t>in</a:t>
            </a:r>
            <a:r>
              <a:rPr lang="en-US" sz="2400" spc="-30" dirty="0">
                <a:latin typeface="Times New Roman"/>
                <a:cs typeface="Times New Roman"/>
              </a:rPr>
              <a:t> </a:t>
            </a:r>
            <a:r>
              <a:rPr lang="en-US" sz="2400" spc="-20" dirty="0">
                <a:latin typeface="Times New Roman"/>
                <a:cs typeface="Times New Roman"/>
              </a:rPr>
              <a:t>the</a:t>
            </a:r>
            <a:r>
              <a:rPr lang="en-US" sz="2400" spc="-45" dirty="0">
                <a:latin typeface="Times New Roman"/>
                <a:cs typeface="Times New Roman"/>
              </a:rPr>
              <a:t> </a:t>
            </a:r>
            <a:r>
              <a:rPr lang="en-US" sz="2400" spc="-30" dirty="0">
                <a:latin typeface="Times New Roman"/>
                <a:cs typeface="Times New Roman"/>
              </a:rPr>
              <a:t>famous </a:t>
            </a:r>
            <a:r>
              <a:rPr lang="en-US" sz="2400" spc="-45" dirty="0">
                <a:latin typeface="Times New Roman"/>
                <a:cs typeface="Times New Roman"/>
              </a:rPr>
              <a:t>1,600-</a:t>
            </a:r>
            <a:r>
              <a:rPr lang="en-US" sz="2400" spc="-55" dirty="0">
                <a:latin typeface="Times New Roman"/>
                <a:cs typeface="Times New Roman"/>
              </a:rPr>
              <a:t>year-</a:t>
            </a:r>
            <a:r>
              <a:rPr lang="en-US" sz="2400" spc="-20" dirty="0">
                <a:latin typeface="Times New Roman"/>
                <a:cs typeface="Times New Roman"/>
              </a:rPr>
              <a:t>old</a:t>
            </a:r>
            <a:r>
              <a:rPr lang="en-US" sz="2400" spc="-30" dirty="0">
                <a:latin typeface="Times New Roman"/>
                <a:cs typeface="Times New Roman"/>
              </a:rPr>
              <a:t> </a:t>
            </a:r>
            <a:r>
              <a:rPr lang="en-US" sz="2400" spc="-30" dirty="0">
                <a:solidFill>
                  <a:srgbClr val="FF9900"/>
                </a:solidFill>
                <a:latin typeface="Times New Roman"/>
                <a:cs typeface="Times New Roman"/>
              </a:rPr>
              <a:t>Delhi </a:t>
            </a:r>
            <a:r>
              <a:rPr lang="en-US" sz="2400" spc="-25" dirty="0">
                <a:solidFill>
                  <a:srgbClr val="FF9900"/>
                </a:solidFill>
                <a:latin typeface="Times New Roman"/>
                <a:cs typeface="Times New Roman"/>
              </a:rPr>
              <a:t>Iron</a:t>
            </a:r>
            <a:r>
              <a:rPr lang="en-US" sz="2400" spc="-30" dirty="0">
                <a:solidFill>
                  <a:srgbClr val="FF9900"/>
                </a:solidFill>
                <a:latin typeface="Times New Roman"/>
                <a:cs typeface="Times New Roman"/>
              </a:rPr>
              <a:t> </a:t>
            </a:r>
            <a:r>
              <a:rPr lang="en-US" sz="2400" spc="-35" dirty="0">
                <a:solidFill>
                  <a:srgbClr val="FF9900"/>
                </a:solidFill>
                <a:latin typeface="Times New Roman"/>
                <a:cs typeface="Times New Roman"/>
              </a:rPr>
              <a:t>Pillar, </a:t>
            </a:r>
            <a:r>
              <a:rPr lang="en-US" sz="2400" spc="-40" dirty="0">
                <a:solidFill>
                  <a:srgbClr val="FF9900"/>
                </a:solidFill>
                <a:latin typeface="Times New Roman"/>
                <a:cs typeface="Times New Roman"/>
              </a:rPr>
              <a:t>„</a:t>
            </a:r>
            <a:r>
              <a:rPr lang="en-US" sz="2400" spc="-40" dirty="0" err="1">
                <a:solidFill>
                  <a:srgbClr val="FF9900"/>
                </a:solidFill>
                <a:latin typeface="Times New Roman"/>
                <a:cs typeface="Times New Roman"/>
              </a:rPr>
              <a:t>rustless</a:t>
            </a:r>
            <a:r>
              <a:rPr lang="en-US" sz="2400" spc="-40" dirty="0">
                <a:solidFill>
                  <a:srgbClr val="FF9900"/>
                </a:solidFill>
                <a:latin typeface="Times New Roman"/>
                <a:cs typeface="Times New Roman"/>
              </a:rPr>
              <a:t> </a:t>
            </a:r>
            <a:r>
              <a:rPr lang="en-US" sz="2400" spc="-80" dirty="0">
                <a:solidFill>
                  <a:srgbClr val="FF9900"/>
                </a:solidFill>
                <a:latin typeface="Times New Roman"/>
                <a:cs typeface="Times New Roman"/>
              </a:rPr>
              <a:t>wonder‟</a:t>
            </a:r>
            <a:r>
              <a:rPr lang="en-US" sz="2400" spc="-65" dirty="0">
                <a:solidFill>
                  <a:srgbClr val="FF9900"/>
                </a:solidFill>
                <a:latin typeface="Times New Roman"/>
                <a:cs typeface="Times New Roman"/>
              </a:rPr>
              <a:t> </a:t>
            </a:r>
            <a:r>
              <a:rPr lang="en-US" sz="2400" spc="-45" dirty="0">
                <a:latin typeface="Times New Roman"/>
                <a:cs typeface="Times New Roman"/>
              </a:rPr>
              <a:t>which,</a:t>
            </a:r>
            <a:r>
              <a:rPr lang="en-US" sz="2400" spc="-55" dirty="0">
                <a:latin typeface="Times New Roman"/>
                <a:cs typeface="Times New Roman"/>
              </a:rPr>
              <a:t> </a:t>
            </a:r>
            <a:r>
              <a:rPr lang="en-US" sz="2400" spc="-35" dirty="0">
                <a:latin typeface="Times New Roman"/>
                <a:cs typeface="Times New Roman"/>
              </a:rPr>
              <a:t>at </a:t>
            </a:r>
            <a:r>
              <a:rPr lang="en-US" sz="2400" dirty="0" smtClean="0">
                <a:latin typeface="Times New Roman"/>
                <a:cs typeface="Times New Roman"/>
              </a:rPr>
              <a:t>a</a:t>
            </a:r>
            <a:r>
              <a:rPr lang="en-US" sz="2400" spc="-55" dirty="0">
                <a:latin typeface="Times New Roman"/>
                <a:cs typeface="Times New Roman"/>
              </a:rPr>
              <a:t> </a:t>
            </a:r>
            <a:r>
              <a:rPr lang="en-US" sz="2400" spc="-50" dirty="0">
                <a:latin typeface="Times New Roman"/>
                <a:cs typeface="Times New Roman"/>
              </a:rPr>
              <a:t>height</a:t>
            </a:r>
            <a:r>
              <a:rPr lang="en-US" sz="2400" spc="-60" dirty="0">
                <a:latin typeface="Times New Roman"/>
                <a:cs typeface="Times New Roman"/>
              </a:rPr>
              <a:t> </a:t>
            </a:r>
            <a:r>
              <a:rPr lang="en-US" sz="2400" spc="-30" dirty="0">
                <a:latin typeface="Times New Roman"/>
                <a:cs typeface="Times New Roman"/>
              </a:rPr>
              <a:t>of</a:t>
            </a:r>
            <a:r>
              <a:rPr lang="en-US" sz="2400" spc="-55" dirty="0">
                <a:latin typeface="Times New Roman"/>
                <a:cs typeface="Times New Roman"/>
              </a:rPr>
              <a:t> </a:t>
            </a:r>
            <a:r>
              <a:rPr lang="en-US" sz="2400" spc="-40" dirty="0">
                <a:latin typeface="Times New Roman"/>
                <a:cs typeface="Times New Roman"/>
              </a:rPr>
              <a:t>7.67 </a:t>
            </a:r>
            <a:r>
              <a:rPr lang="en-US" sz="2400" spc="-20" dirty="0">
                <a:latin typeface="Times New Roman"/>
                <a:cs typeface="Times New Roman"/>
              </a:rPr>
              <a:t>m,</a:t>
            </a:r>
            <a:r>
              <a:rPr lang="en-US" sz="2400" spc="-55" dirty="0">
                <a:latin typeface="Times New Roman"/>
                <a:cs typeface="Times New Roman"/>
              </a:rPr>
              <a:t> </a:t>
            </a:r>
            <a:r>
              <a:rPr lang="en-US" sz="2400" spc="-50" dirty="0">
                <a:latin typeface="Times New Roman"/>
                <a:cs typeface="Times New Roman"/>
              </a:rPr>
              <a:t>consists</a:t>
            </a:r>
            <a:r>
              <a:rPr lang="en-US" sz="2400" spc="-45" dirty="0">
                <a:latin typeface="Times New Roman"/>
                <a:cs typeface="Times New Roman"/>
              </a:rPr>
              <a:t> </a:t>
            </a:r>
            <a:r>
              <a:rPr lang="en-US" sz="2400" spc="-35" dirty="0">
                <a:latin typeface="Times New Roman"/>
                <a:cs typeface="Times New Roman"/>
              </a:rPr>
              <a:t>of</a:t>
            </a:r>
            <a:r>
              <a:rPr lang="en-US" sz="2400" spc="-40" dirty="0">
                <a:latin typeface="Times New Roman"/>
                <a:cs typeface="Times New Roman"/>
              </a:rPr>
              <a:t> </a:t>
            </a:r>
            <a:r>
              <a:rPr lang="en-US" sz="2400" spc="-45" dirty="0">
                <a:latin typeface="Times New Roman"/>
                <a:cs typeface="Times New Roman"/>
              </a:rPr>
              <a:t>about</a:t>
            </a:r>
            <a:r>
              <a:rPr lang="en-US" sz="2400" spc="-55" dirty="0">
                <a:latin typeface="Times New Roman"/>
                <a:cs typeface="Times New Roman"/>
              </a:rPr>
              <a:t> </a:t>
            </a:r>
            <a:r>
              <a:rPr lang="en-US" sz="2400" spc="-35" dirty="0">
                <a:latin typeface="Times New Roman"/>
                <a:cs typeface="Times New Roman"/>
              </a:rPr>
              <a:t>six</a:t>
            </a:r>
            <a:r>
              <a:rPr lang="en-US" sz="2400" spc="-60" dirty="0">
                <a:latin typeface="Times New Roman"/>
                <a:cs typeface="Times New Roman"/>
              </a:rPr>
              <a:t> </a:t>
            </a:r>
            <a:r>
              <a:rPr lang="en-US" sz="2400" spc="-40" dirty="0">
                <a:latin typeface="Times New Roman"/>
                <a:cs typeface="Times New Roman"/>
              </a:rPr>
              <a:t>tons</a:t>
            </a:r>
            <a:r>
              <a:rPr lang="en-US" sz="2400" spc="-55" dirty="0">
                <a:latin typeface="Times New Roman"/>
                <a:cs typeface="Times New Roman"/>
              </a:rPr>
              <a:t> </a:t>
            </a:r>
            <a:r>
              <a:rPr lang="en-US" sz="2400" spc="-30" dirty="0">
                <a:latin typeface="Times New Roman"/>
                <a:cs typeface="Times New Roman"/>
              </a:rPr>
              <a:t>of</a:t>
            </a:r>
            <a:r>
              <a:rPr lang="en-US" sz="2400" spc="-55" dirty="0">
                <a:latin typeface="Times New Roman"/>
                <a:cs typeface="Times New Roman"/>
              </a:rPr>
              <a:t> </a:t>
            </a:r>
            <a:r>
              <a:rPr lang="en-US" sz="2400" spc="-45" dirty="0">
                <a:latin typeface="Times New Roman"/>
                <a:cs typeface="Times New Roman"/>
              </a:rPr>
              <a:t>wrought</a:t>
            </a:r>
            <a:r>
              <a:rPr lang="en-US" sz="2400" spc="-55" dirty="0">
                <a:latin typeface="Times New Roman"/>
                <a:cs typeface="Times New Roman"/>
              </a:rPr>
              <a:t> </a:t>
            </a:r>
            <a:r>
              <a:rPr lang="en-US" sz="2400" spc="-10" dirty="0">
                <a:latin typeface="Times New Roman"/>
                <a:cs typeface="Times New Roman"/>
              </a:rPr>
              <a:t>iron.</a:t>
            </a:r>
            <a:endParaRPr lang="en-US" sz="2400" dirty="0" smtClean="0">
              <a:latin typeface="Times New Roman"/>
              <a:cs typeface="Times New Roman"/>
            </a:endParaRPr>
          </a:p>
          <a:p>
            <a:pPr marL="468936" marR="6349" lvl="3" indent="-342659" algn="just">
              <a:lnSpc>
                <a:spcPct val="150000"/>
              </a:lnSpc>
              <a:spcBef>
                <a:spcPts val="65"/>
              </a:spcBef>
              <a:buFont typeface="Symbol"/>
              <a:buChar char=""/>
              <a:tabLst>
                <a:tab pos="468936" algn="l"/>
              </a:tabLst>
            </a:pPr>
            <a:r>
              <a:rPr lang="en-US" sz="2400" dirty="0" smtClean="0">
                <a:latin typeface="Times New Roman"/>
                <a:cs typeface="Times New Roman"/>
              </a:rPr>
              <a:t>The</a:t>
            </a:r>
            <a:r>
              <a:rPr lang="en-US" sz="2400" spc="-35" dirty="0">
                <a:latin typeface="Times New Roman"/>
                <a:cs typeface="Times New Roman"/>
              </a:rPr>
              <a:t> earliest</a:t>
            </a:r>
            <a:r>
              <a:rPr lang="en-US" sz="2400" spc="-30" dirty="0">
                <a:latin typeface="Times New Roman"/>
                <a:cs typeface="Times New Roman"/>
              </a:rPr>
              <a:t> </a:t>
            </a:r>
            <a:r>
              <a:rPr lang="en-US" sz="2400" spc="-10" dirty="0">
                <a:latin typeface="Times New Roman"/>
                <a:cs typeface="Times New Roman"/>
              </a:rPr>
              <a:t>firm</a:t>
            </a:r>
            <a:r>
              <a:rPr lang="en-US" sz="2400" spc="-35" dirty="0">
                <a:latin typeface="Times New Roman"/>
                <a:cs typeface="Times New Roman"/>
              </a:rPr>
              <a:t> evidence</a:t>
            </a:r>
            <a:r>
              <a:rPr lang="en-US" sz="2400" spc="-30" dirty="0">
                <a:latin typeface="Times New Roman"/>
                <a:cs typeface="Times New Roman"/>
              </a:rPr>
              <a:t> </a:t>
            </a:r>
            <a:r>
              <a:rPr lang="en-US" sz="2400" dirty="0" smtClean="0">
                <a:latin typeface="Times New Roman"/>
                <a:cs typeface="Times New Roman"/>
              </a:rPr>
              <a:t>for</a:t>
            </a:r>
            <a:r>
              <a:rPr lang="en-US" sz="2400" spc="-30" dirty="0">
                <a:latin typeface="Times New Roman"/>
                <a:cs typeface="Times New Roman"/>
              </a:rPr>
              <a:t> </a:t>
            </a:r>
            <a:r>
              <a:rPr lang="en-US" sz="2400" dirty="0" smtClean="0">
                <a:latin typeface="Times New Roman"/>
                <a:cs typeface="Times New Roman"/>
              </a:rPr>
              <a:t>the</a:t>
            </a:r>
            <a:r>
              <a:rPr lang="en-US" sz="2400" spc="-25" dirty="0">
                <a:latin typeface="Times New Roman"/>
                <a:cs typeface="Times New Roman"/>
              </a:rPr>
              <a:t> </a:t>
            </a:r>
            <a:r>
              <a:rPr lang="en-US" sz="2400" spc="-35" dirty="0">
                <a:latin typeface="Times New Roman"/>
                <a:cs typeface="Times New Roman"/>
              </a:rPr>
              <a:t>production</a:t>
            </a:r>
            <a:r>
              <a:rPr lang="en-US" sz="2400" spc="-25" dirty="0">
                <a:latin typeface="Times New Roman"/>
                <a:cs typeface="Times New Roman"/>
              </a:rPr>
              <a:t> </a:t>
            </a:r>
            <a:r>
              <a:rPr lang="en-US" sz="2400" dirty="0" smtClean="0">
                <a:latin typeface="Times New Roman"/>
                <a:cs typeface="Times New Roman"/>
              </a:rPr>
              <a:t>of</a:t>
            </a:r>
            <a:r>
              <a:rPr lang="en-US" sz="2400" spc="-30" dirty="0">
                <a:latin typeface="Times New Roman"/>
                <a:cs typeface="Times New Roman"/>
              </a:rPr>
              <a:t> </a:t>
            </a:r>
            <a:r>
              <a:rPr lang="en-US" sz="2400" spc="-35" dirty="0">
                <a:solidFill>
                  <a:srgbClr val="FF9900"/>
                </a:solidFill>
                <a:latin typeface="Times New Roman"/>
                <a:cs typeface="Times New Roman"/>
              </a:rPr>
              <a:t>metallic</a:t>
            </a:r>
            <a:r>
              <a:rPr lang="en-US" sz="2400" spc="-30" dirty="0">
                <a:solidFill>
                  <a:srgbClr val="FF9900"/>
                </a:solidFill>
                <a:latin typeface="Times New Roman"/>
                <a:cs typeface="Times New Roman"/>
              </a:rPr>
              <a:t> </a:t>
            </a:r>
            <a:r>
              <a:rPr lang="en-US" sz="2400" spc="-10" dirty="0">
                <a:solidFill>
                  <a:srgbClr val="FF9900"/>
                </a:solidFill>
                <a:latin typeface="Times New Roman"/>
                <a:cs typeface="Times New Roman"/>
              </a:rPr>
              <a:t>zinc</a:t>
            </a:r>
            <a:r>
              <a:rPr lang="en-US" sz="2400" spc="-35" dirty="0">
                <a:solidFill>
                  <a:srgbClr val="FF9900"/>
                </a:solidFill>
                <a:latin typeface="Times New Roman"/>
                <a:cs typeface="Times New Roman"/>
              </a:rPr>
              <a:t> </a:t>
            </a:r>
            <a:r>
              <a:rPr lang="en-US" sz="2400" dirty="0" smtClean="0">
                <a:solidFill>
                  <a:srgbClr val="FF9900"/>
                </a:solidFill>
                <a:latin typeface="Times New Roman"/>
                <a:cs typeface="Times New Roman"/>
              </a:rPr>
              <a:t>is</a:t>
            </a:r>
            <a:r>
              <a:rPr lang="en-US" sz="2400" spc="-30" dirty="0">
                <a:solidFill>
                  <a:srgbClr val="FF9900"/>
                </a:solidFill>
                <a:latin typeface="Times New Roman"/>
                <a:cs typeface="Times New Roman"/>
              </a:rPr>
              <a:t> </a:t>
            </a:r>
            <a:r>
              <a:rPr lang="en-US" sz="2400" spc="-10" dirty="0">
                <a:solidFill>
                  <a:srgbClr val="FF9900"/>
                </a:solidFill>
                <a:latin typeface="Times New Roman"/>
                <a:cs typeface="Times New Roman"/>
              </a:rPr>
              <a:t>from</a:t>
            </a:r>
            <a:r>
              <a:rPr lang="en-US" sz="2400" spc="-20" dirty="0">
                <a:solidFill>
                  <a:srgbClr val="FF9900"/>
                </a:solidFill>
                <a:latin typeface="Times New Roman"/>
                <a:cs typeface="Times New Roman"/>
              </a:rPr>
              <a:t> </a:t>
            </a:r>
            <a:r>
              <a:rPr lang="en-US" sz="2400" spc="-25" dirty="0">
                <a:solidFill>
                  <a:srgbClr val="FF9900"/>
                </a:solidFill>
                <a:latin typeface="Times New Roman"/>
                <a:cs typeface="Times New Roman"/>
              </a:rPr>
              <a:t>India</a:t>
            </a:r>
            <a:r>
              <a:rPr lang="en-US" sz="2400" spc="-25" dirty="0">
                <a:latin typeface="Times New Roman"/>
                <a:cs typeface="Times New Roman"/>
              </a:rPr>
              <a:t>.</a:t>
            </a:r>
            <a:r>
              <a:rPr lang="en-US" sz="2400" spc="-30" dirty="0">
                <a:latin typeface="Times New Roman"/>
                <a:cs typeface="Times New Roman"/>
              </a:rPr>
              <a:t> </a:t>
            </a:r>
            <a:r>
              <a:rPr lang="en-US" sz="2400" dirty="0" smtClean="0">
                <a:latin typeface="Times New Roman"/>
                <a:cs typeface="Times New Roman"/>
              </a:rPr>
              <a:t>Of</a:t>
            </a:r>
            <a:r>
              <a:rPr lang="en-US" sz="2400" spc="-40" dirty="0">
                <a:latin typeface="Times New Roman"/>
                <a:cs typeface="Times New Roman"/>
              </a:rPr>
              <a:t> </a:t>
            </a:r>
            <a:r>
              <a:rPr lang="en-US" sz="2400" dirty="0" smtClean="0">
                <a:latin typeface="Times New Roman"/>
                <a:cs typeface="Times New Roman"/>
              </a:rPr>
              <a:t>the</a:t>
            </a:r>
            <a:r>
              <a:rPr lang="en-US" sz="2400" spc="-25" dirty="0">
                <a:latin typeface="Times New Roman"/>
                <a:cs typeface="Times New Roman"/>
              </a:rPr>
              <a:t> metals</a:t>
            </a:r>
            <a:r>
              <a:rPr lang="en-US" sz="2400" spc="-30" dirty="0">
                <a:latin typeface="Times New Roman"/>
                <a:cs typeface="Times New Roman"/>
              </a:rPr>
              <a:t> </a:t>
            </a:r>
            <a:r>
              <a:rPr lang="en-US" sz="2400" spc="-10" dirty="0">
                <a:latin typeface="Times New Roman"/>
                <a:cs typeface="Times New Roman"/>
              </a:rPr>
              <a:t>used</a:t>
            </a:r>
            <a:r>
              <a:rPr lang="en-US" sz="2400" spc="-30" dirty="0">
                <a:latin typeface="Times New Roman"/>
                <a:cs typeface="Times New Roman"/>
              </a:rPr>
              <a:t> </a:t>
            </a:r>
            <a:r>
              <a:rPr lang="en-US" sz="2400" spc="-25" dirty="0">
                <a:latin typeface="Times New Roman"/>
                <a:cs typeface="Times New Roman"/>
              </a:rPr>
              <a:t>in </a:t>
            </a:r>
            <a:r>
              <a:rPr lang="en-US" sz="2400" spc="-50" dirty="0">
                <a:latin typeface="Times New Roman"/>
                <a:cs typeface="Times New Roman"/>
              </a:rPr>
              <a:t>antiquity</a:t>
            </a:r>
            <a:r>
              <a:rPr lang="en-US" sz="2400" spc="-4" dirty="0">
                <a:latin typeface="Times New Roman"/>
                <a:cs typeface="Times New Roman"/>
              </a:rPr>
              <a:t> </a:t>
            </a:r>
            <a:r>
              <a:rPr lang="en-US" sz="2400" spc="-55" dirty="0">
                <a:latin typeface="Times New Roman"/>
                <a:cs typeface="Times New Roman"/>
              </a:rPr>
              <a:t>zinc</a:t>
            </a:r>
            <a:r>
              <a:rPr lang="en-US" sz="2400" spc="-4" dirty="0">
                <a:latin typeface="Times New Roman"/>
                <a:cs typeface="Times New Roman"/>
              </a:rPr>
              <a:t> </a:t>
            </a:r>
            <a:r>
              <a:rPr lang="en-US" sz="2400" spc="-60" dirty="0">
                <a:latin typeface="Times New Roman"/>
                <a:cs typeface="Times New Roman"/>
              </a:rPr>
              <a:t>is</a:t>
            </a:r>
            <a:r>
              <a:rPr lang="en-US" sz="2400" spc="-4" dirty="0">
                <a:latin typeface="Times New Roman"/>
                <a:cs typeface="Times New Roman"/>
              </a:rPr>
              <a:t> </a:t>
            </a:r>
            <a:r>
              <a:rPr lang="en-US" sz="2400" spc="-50" dirty="0">
                <a:latin typeface="Times New Roman"/>
                <a:cs typeface="Times New Roman"/>
              </a:rPr>
              <a:t>one</a:t>
            </a:r>
            <a:r>
              <a:rPr lang="en-US" sz="2400" spc="-10" dirty="0">
                <a:latin typeface="Times New Roman"/>
                <a:cs typeface="Times New Roman"/>
              </a:rPr>
              <a:t> </a:t>
            </a:r>
            <a:r>
              <a:rPr lang="en-US" sz="2400" spc="-55" dirty="0">
                <a:latin typeface="Times New Roman"/>
                <a:cs typeface="Times New Roman"/>
              </a:rPr>
              <a:t>of</a:t>
            </a:r>
            <a:r>
              <a:rPr lang="en-US" sz="2400" spc="4" dirty="0">
                <a:latin typeface="Times New Roman"/>
                <a:cs typeface="Times New Roman"/>
              </a:rPr>
              <a:t> </a:t>
            </a:r>
            <a:r>
              <a:rPr lang="en-US" sz="2400" spc="-60" dirty="0">
                <a:latin typeface="Times New Roman"/>
                <a:cs typeface="Times New Roman"/>
              </a:rPr>
              <a:t>the</a:t>
            </a:r>
            <a:r>
              <a:rPr lang="en-US" sz="2400" spc="-14" dirty="0">
                <a:latin typeface="Times New Roman"/>
                <a:cs typeface="Times New Roman"/>
              </a:rPr>
              <a:t> </a:t>
            </a:r>
            <a:r>
              <a:rPr lang="en-US" sz="2400" spc="-45" dirty="0">
                <a:latin typeface="Times New Roman"/>
                <a:cs typeface="Times New Roman"/>
              </a:rPr>
              <a:t>most</a:t>
            </a:r>
            <a:r>
              <a:rPr lang="en-US" sz="2400" spc="10" dirty="0">
                <a:latin typeface="Times New Roman"/>
                <a:cs typeface="Times New Roman"/>
              </a:rPr>
              <a:t> </a:t>
            </a:r>
            <a:r>
              <a:rPr lang="en-US" sz="2400" spc="-50" dirty="0">
                <a:latin typeface="Times New Roman"/>
                <a:cs typeface="Times New Roman"/>
              </a:rPr>
              <a:t>difficult</a:t>
            </a:r>
            <a:r>
              <a:rPr lang="en-US" sz="2400" dirty="0" smtClean="0">
                <a:latin typeface="Times New Roman"/>
                <a:cs typeface="Times New Roman"/>
              </a:rPr>
              <a:t> </a:t>
            </a:r>
            <a:r>
              <a:rPr lang="en-US" sz="2400" spc="-50" dirty="0">
                <a:latin typeface="Times New Roman"/>
                <a:cs typeface="Times New Roman"/>
              </a:rPr>
              <a:t>to</a:t>
            </a:r>
            <a:r>
              <a:rPr lang="en-US" sz="2400" dirty="0" smtClean="0">
                <a:latin typeface="Times New Roman"/>
                <a:cs typeface="Times New Roman"/>
              </a:rPr>
              <a:t> </a:t>
            </a:r>
            <a:r>
              <a:rPr lang="en-US" sz="2400" spc="-55" dirty="0">
                <a:latin typeface="Times New Roman"/>
                <a:cs typeface="Times New Roman"/>
              </a:rPr>
              <a:t>smelt</a:t>
            </a:r>
            <a:r>
              <a:rPr lang="en-US" sz="2400" spc="4" dirty="0">
                <a:latin typeface="Times New Roman"/>
                <a:cs typeface="Times New Roman"/>
              </a:rPr>
              <a:t> </a:t>
            </a:r>
            <a:r>
              <a:rPr lang="en-US" sz="2400" spc="-55" dirty="0">
                <a:latin typeface="Times New Roman"/>
                <a:cs typeface="Times New Roman"/>
              </a:rPr>
              <a:t>since</a:t>
            </a:r>
            <a:r>
              <a:rPr lang="en-US" sz="2400" spc="-20" dirty="0">
                <a:latin typeface="Times New Roman"/>
                <a:cs typeface="Times New Roman"/>
              </a:rPr>
              <a:t> </a:t>
            </a:r>
            <a:r>
              <a:rPr lang="en-US" sz="2400" spc="-50" dirty="0">
                <a:latin typeface="Times New Roman"/>
                <a:cs typeface="Times New Roman"/>
              </a:rPr>
              <a:t>zinc</a:t>
            </a:r>
            <a:r>
              <a:rPr lang="en-US" sz="2400" spc="-10" dirty="0">
                <a:latin typeface="Times New Roman"/>
                <a:cs typeface="Times New Roman"/>
              </a:rPr>
              <a:t> </a:t>
            </a:r>
            <a:r>
              <a:rPr lang="en-US" sz="2400" spc="-50" dirty="0" err="1">
                <a:latin typeface="Times New Roman"/>
                <a:cs typeface="Times New Roman"/>
              </a:rPr>
              <a:t>volatalises</a:t>
            </a:r>
            <a:r>
              <a:rPr lang="en-US" sz="2400" spc="-4" dirty="0">
                <a:latin typeface="Times New Roman"/>
                <a:cs typeface="Times New Roman"/>
              </a:rPr>
              <a:t> </a:t>
            </a:r>
            <a:r>
              <a:rPr lang="en-US" sz="2400" spc="-50" dirty="0">
                <a:latin typeface="Times New Roman"/>
                <a:cs typeface="Times New Roman"/>
              </a:rPr>
              <a:t>at</a:t>
            </a:r>
            <a:r>
              <a:rPr lang="en-US" sz="2400" spc="4" dirty="0">
                <a:latin typeface="Times New Roman"/>
                <a:cs typeface="Times New Roman"/>
              </a:rPr>
              <a:t> </a:t>
            </a:r>
            <a:r>
              <a:rPr lang="en-US" sz="2400" spc="-55" dirty="0">
                <a:latin typeface="Times New Roman"/>
                <a:cs typeface="Times New Roman"/>
              </a:rPr>
              <a:t>about</a:t>
            </a:r>
            <a:r>
              <a:rPr lang="en-US" sz="2400" spc="4" dirty="0">
                <a:latin typeface="Times New Roman"/>
                <a:cs typeface="Times New Roman"/>
              </a:rPr>
              <a:t> </a:t>
            </a:r>
            <a:r>
              <a:rPr lang="en-US" sz="2400" spc="-50" dirty="0">
                <a:latin typeface="Times New Roman"/>
                <a:cs typeface="Times New Roman"/>
              </a:rPr>
              <a:t>the</a:t>
            </a:r>
            <a:r>
              <a:rPr lang="en-US" sz="2400" spc="-10" dirty="0">
                <a:latin typeface="Times New Roman"/>
                <a:cs typeface="Times New Roman"/>
              </a:rPr>
              <a:t> </a:t>
            </a:r>
            <a:r>
              <a:rPr lang="en-US" sz="2400" spc="-50" dirty="0">
                <a:latin typeface="Times New Roman"/>
                <a:cs typeface="Times New Roman"/>
              </a:rPr>
              <a:t>same</a:t>
            </a:r>
            <a:r>
              <a:rPr lang="en-US" sz="2400" spc="-25" dirty="0">
                <a:latin typeface="Times New Roman"/>
                <a:cs typeface="Times New Roman"/>
              </a:rPr>
              <a:t> </a:t>
            </a:r>
            <a:r>
              <a:rPr lang="en-US" sz="2400" spc="-10" dirty="0">
                <a:latin typeface="Times New Roman"/>
                <a:cs typeface="Times New Roman"/>
              </a:rPr>
              <a:t>temperature </a:t>
            </a:r>
            <a:r>
              <a:rPr lang="en-US" sz="2400" spc="-30" dirty="0">
                <a:latin typeface="Times New Roman"/>
                <a:cs typeface="Times New Roman"/>
              </a:rPr>
              <a:t>of</a:t>
            </a:r>
            <a:r>
              <a:rPr lang="en-US" sz="2400" spc="-60" dirty="0">
                <a:latin typeface="Times New Roman"/>
                <a:cs typeface="Times New Roman"/>
              </a:rPr>
              <a:t> </a:t>
            </a:r>
            <a:r>
              <a:rPr lang="en-US" sz="2400" spc="-40" dirty="0">
                <a:latin typeface="Times New Roman"/>
                <a:cs typeface="Times New Roman"/>
              </a:rPr>
              <a:t>around</a:t>
            </a:r>
            <a:r>
              <a:rPr lang="en-US" sz="2400" spc="-55" dirty="0">
                <a:latin typeface="Times New Roman"/>
                <a:cs typeface="Times New Roman"/>
              </a:rPr>
              <a:t> </a:t>
            </a:r>
            <a:r>
              <a:rPr lang="en-US" sz="2400" spc="-45" dirty="0">
                <a:latin typeface="Times New Roman"/>
                <a:cs typeface="Times New Roman"/>
              </a:rPr>
              <a:t>1000oC</a:t>
            </a:r>
            <a:r>
              <a:rPr lang="en-US" sz="2400" spc="-60" dirty="0">
                <a:latin typeface="Times New Roman"/>
                <a:cs typeface="Times New Roman"/>
              </a:rPr>
              <a:t> </a:t>
            </a:r>
            <a:r>
              <a:rPr lang="en-US" sz="2400" spc="-40" dirty="0">
                <a:latin typeface="Times New Roman"/>
                <a:cs typeface="Times New Roman"/>
              </a:rPr>
              <a:t>that</a:t>
            </a:r>
            <a:r>
              <a:rPr lang="en-US" sz="2400" spc="-55" dirty="0">
                <a:latin typeface="Times New Roman"/>
                <a:cs typeface="Times New Roman"/>
              </a:rPr>
              <a:t> </a:t>
            </a:r>
            <a:r>
              <a:rPr lang="en-US" sz="2400" spc="-30" dirty="0">
                <a:latin typeface="Times New Roman"/>
                <a:cs typeface="Times New Roman"/>
              </a:rPr>
              <a:t>is</a:t>
            </a:r>
            <a:r>
              <a:rPr lang="en-US" sz="2400" spc="-60" dirty="0">
                <a:latin typeface="Times New Roman"/>
                <a:cs typeface="Times New Roman"/>
              </a:rPr>
              <a:t> </a:t>
            </a:r>
            <a:r>
              <a:rPr lang="en-US" sz="2400" spc="-50" dirty="0">
                <a:latin typeface="Times New Roman"/>
                <a:cs typeface="Times New Roman"/>
              </a:rPr>
              <a:t>needed</a:t>
            </a:r>
            <a:r>
              <a:rPr lang="en-US" sz="2400" spc="-45" dirty="0">
                <a:latin typeface="Times New Roman"/>
                <a:cs typeface="Times New Roman"/>
              </a:rPr>
              <a:t> </a:t>
            </a:r>
            <a:r>
              <a:rPr lang="en-US" sz="2400" spc="-35" dirty="0">
                <a:latin typeface="Times New Roman"/>
                <a:cs typeface="Times New Roman"/>
              </a:rPr>
              <a:t>to</a:t>
            </a:r>
            <a:r>
              <a:rPr lang="en-US" sz="2400" spc="-45" dirty="0">
                <a:latin typeface="Times New Roman"/>
                <a:cs typeface="Times New Roman"/>
              </a:rPr>
              <a:t> smelt</a:t>
            </a:r>
            <a:r>
              <a:rPr lang="en-US" sz="2400" spc="-40" dirty="0">
                <a:latin typeface="Times New Roman"/>
                <a:cs typeface="Times New Roman"/>
              </a:rPr>
              <a:t> zinc</a:t>
            </a:r>
            <a:r>
              <a:rPr lang="en-US" sz="2400" spc="-65" dirty="0">
                <a:latin typeface="Times New Roman"/>
                <a:cs typeface="Times New Roman"/>
              </a:rPr>
              <a:t> </a:t>
            </a:r>
            <a:r>
              <a:rPr lang="en-US" sz="2400" spc="-20" dirty="0">
                <a:latin typeface="Times New Roman"/>
                <a:cs typeface="Times New Roman"/>
              </a:rPr>
              <a:t>ore</a:t>
            </a:r>
            <a:r>
              <a:rPr lang="en-US" sz="2400" spc="-20" dirty="0" smtClean="0">
                <a:latin typeface="Times New Roman"/>
                <a:cs typeface="Times New Roman"/>
              </a:rPr>
              <a:t>.</a:t>
            </a:r>
          </a:p>
          <a:p>
            <a:pPr marL="468936" marR="6349" lvl="3" indent="-342659" algn="just">
              <a:lnSpc>
                <a:spcPct val="150000"/>
              </a:lnSpc>
              <a:spcBef>
                <a:spcPts val="65"/>
              </a:spcBef>
              <a:buFont typeface="Symbol"/>
              <a:buChar char=""/>
              <a:tabLst>
                <a:tab pos="468936" algn="l"/>
              </a:tabLst>
            </a:pPr>
            <a:r>
              <a:rPr lang="en-US" sz="2400" spc="-40" dirty="0" smtClean="0">
                <a:latin typeface="Times New Roman"/>
                <a:cs typeface="Times New Roman"/>
              </a:rPr>
              <a:t>There</a:t>
            </a:r>
            <a:r>
              <a:rPr lang="en-US" sz="2400" spc="-35" dirty="0" smtClean="0">
                <a:latin typeface="Times New Roman"/>
                <a:cs typeface="Times New Roman"/>
              </a:rPr>
              <a:t> </a:t>
            </a:r>
            <a:r>
              <a:rPr lang="en-US" sz="2400" dirty="0" smtClean="0">
                <a:latin typeface="Times New Roman"/>
                <a:cs typeface="Times New Roman"/>
              </a:rPr>
              <a:t>is</a:t>
            </a:r>
            <a:r>
              <a:rPr lang="en-US" sz="2400" spc="-55" dirty="0" smtClean="0">
                <a:latin typeface="Times New Roman"/>
                <a:cs typeface="Times New Roman"/>
              </a:rPr>
              <a:t> </a:t>
            </a:r>
            <a:r>
              <a:rPr lang="en-US" sz="2400" spc="-45" dirty="0" smtClean="0">
                <a:latin typeface="Times New Roman"/>
                <a:cs typeface="Times New Roman"/>
              </a:rPr>
              <a:t>archaeological</a:t>
            </a:r>
            <a:r>
              <a:rPr lang="en-US" sz="2400" spc="-20" dirty="0" smtClean="0">
                <a:latin typeface="Times New Roman"/>
                <a:cs typeface="Times New Roman"/>
              </a:rPr>
              <a:t> </a:t>
            </a:r>
            <a:r>
              <a:rPr lang="en-US" sz="2400" spc="-45" dirty="0" smtClean="0">
                <a:latin typeface="Times New Roman"/>
                <a:cs typeface="Times New Roman"/>
              </a:rPr>
              <a:t>evidence</a:t>
            </a:r>
            <a:r>
              <a:rPr lang="en-US" sz="2400" spc="-25" dirty="0" smtClean="0">
                <a:latin typeface="Times New Roman"/>
                <a:cs typeface="Times New Roman"/>
              </a:rPr>
              <a:t> </a:t>
            </a:r>
            <a:r>
              <a:rPr lang="en-US" sz="2400" dirty="0" smtClean="0">
                <a:latin typeface="Times New Roman"/>
                <a:cs typeface="Times New Roman"/>
              </a:rPr>
              <a:t>of</a:t>
            </a:r>
            <a:r>
              <a:rPr lang="en-US" sz="2400" spc="-30" dirty="0" smtClean="0">
                <a:latin typeface="Times New Roman"/>
                <a:cs typeface="Times New Roman"/>
              </a:rPr>
              <a:t> zinc </a:t>
            </a:r>
            <a:r>
              <a:rPr lang="en-US" sz="2400" spc="-40" dirty="0" smtClean="0">
                <a:latin typeface="Times New Roman"/>
                <a:cs typeface="Times New Roman"/>
              </a:rPr>
              <a:t>production</a:t>
            </a:r>
            <a:r>
              <a:rPr lang="en-US" sz="2400" spc="-20" dirty="0" smtClean="0">
                <a:latin typeface="Times New Roman"/>
                <a:cs typeface="Times New Roman"/>
              </a:rPr>
              <a:t> </a:t>
            </a:r>
            <a:r>
              <a:rPr lang="en-US" sz="2400" spc="-10" dirty="0" smtClean="0">
                <a:latin typeface="Times New Roman"/>
                <a:cs typeface="Times New Roman"/>
              </a:rPr>
              <a:t>at</a:t>
            </a:r>
            <a:r>
              <a:rPr lang="en-US" sz="2400" spc="-30" dirty="0" smtClean="0">
                <a:latin typeface="Times New Roman"/>
                <a:cs typeface="Times New Roman"/>
              </a:rPr>
              <a:t> </a:t>
            </a:r>
            <a:r>
              <a:rPr lang="en-US" sz="2400" spc="-75" dirty="0" err="1" smtClean="0">
                <a:latin typeface="Times New Roman"/>
                <a:cs typeface="Times New Roman"/>
              </a:rPr>
              <a:t>Rajasthan‟s</a:t>
            </a:r>
            <a:r>
              <a:rPr lang="en-US" sz="2400" dirty="0" smtClean="0">
                <a:latin typeface="Times New Roman"/>
                <a:cs typeface="Times New Roman"/>
              </a:rPr>
              <a:t> </a:t>
            </a:r>
            <a:r>
              <a:rPr lang="en-US" sz="2400" spc="-35" dirty="0" smtClean="0">
                <a:latin typeface="Times New Roman"/>
                <a:cs typeface="Times New Roman"/>
              </a:rPr>
              <a:t>mines</a:t>
            </a:r>
            <a:r>
              <a:rPr lang="en-US" sz="2400" spc="-30" dirty="0" smtClean="0">
                <a:latin typeface="Times New Roman"/>
                <a:cs typeface="Times New Roman"/>
              </a:rPr>
              <a:t> </a:t>
            </a:r>
            <a:r>
              <a:rPr lang="en-US" sz="2400" dirty="0" smtClean="0">
                <a:latin typeface="Times New Roman"/>
                <a:cs typeface="Times New Roman"/>
              </a:rPr>
              <a:t>at</a:t>
            </a:r>
            <a:r>
              <a:rPr lang="en-US" sz="2400" spc="-30" dirty="0" smtClean="0">
                <a:latin typeface="Times New Roman"/>
                <a:cs typeface="Times New Roman"/>
              </a:rPr>
              <a:t> </a:t>
            </a:r>
            <a:r>
              <a:rPr lang="en-US" sz="2400" spc="-30" dirty="0" err="1" smtClean="0">
                <a:latin typeface="Times New Roman"/>
                <a:cs typeface="Times New Roman"/>
              </a:rPr>
              <a:t>Zawar</a:t>
            </a:r>
            <a:r>
              <a:rPr lang="en-US" sz="2400" spc="-25" dirty="0" smtClean="0">
                <a:latin typeface="Times New Roman"/>
                <a:cs typeface="Times New Roman"/>
              </a:rPr>
              <a:t> </a:t>
            </a:r>
            <a:r>
              <a:rPr lang="en-US" sz="2400" spc="-30" dirty="0" smtClean="0">
                <a:latin typeface="Times New Roman"/>
                <a:cs typeface="Times New Roman"/>
              </a:rPr>
              <a:t>from</a:t>
            </a:r>
            <a:r>
              <a:rPr lang="en-US" sz="2400" spc="-35" dirty="0" smtClean="0">
                <a:latin typeface="Times New Roman"/>
                <a:cs typeface="Times New Roman"/>
              </a:rPr>
              <a:t> </a:t>
            </a:r>
            <a:r>
              <a:rPr lang="en-US" sz="2400" spc="-20" dirty="0" smtClean="0">
                <a:latin typeface="Times New Roman"/>
                <a:cs typeface="Times New Roman"/>
              </a:rPr>
              <a:t>the</a:t>
            </a:r>
            <a:r>
              <a:rPr lang="en-US" sz="2400" spc="-25" dirty="0" smtClean="0">
                <a:latin typeface="Times New Roman"/>
                <a:cs typeface="Times New Roman"/>
              </a:rPr>
              <a:t> 6th</a:t>
            </a:r>
            <a:r>
              <a:rPr lang="en-US" sz="2400" spc="-35" dirty="0" smtClean="0">
                <a:latin typeface="Times New Roman"/>
                <a:cs typeface="Times New Roman"/>
              </a:rPr>
              <a:t> </a:t>
            </a:r>
            <a:r>
              <a:rPr lang="en-US" sz="2400" spc="-25" dirty="0" smtClean="0">
                <a:latin typeface="Times New Roman"/>
                <a:cs typeface="Times New Roman"/>
              </a:rPr>
              <a:t>or </a:t>
            </a:r>
            <a:r>
              <a:rPr lang="en-US" sz="2400" spc="-35" dirty="0" smtClean="0">
                <a:latin typeface="Times New Roman"/>
                <a:cs typeface="Times New Roman"/>
              </a:rPr>
              <a:t>5th</a:t>
            </a:r>
            <a:r>
              <a:rPr lang="en-US" sz="2400" spc="-55" dirty="0" smtClean="0">
                <a:latin typeface="Times New Roman"/>
                <a:cs typeface="Times New Roman"/>
              </a:rPr>
              <a:t> </a:t>
            </a:r>
            <a:r>
              <a:rPr lang="en-US" sz="2400" spc="-45" dirty="0" smtClean="0">
                <a:latin typeface="Times New Roman"/>
                <a:cs typeface="Times New Roman"/>
              </a:rPr>
              <a:t>century</a:t>
            </a:r>
            <a:r>
              <a:rPr lang="en-US" sz="2400" spc="-60" dirty="0" smtClean="0">
                <a:latin typeface="Times New Roman"/>
                <a:cs typeface="Times New Roman"/>
              </a:rPr>
              <a:t> </a:t>
            </a:r>
            <a:r>
              <a:rPr lang="en-US" sz="2400" spc="-20" dirty="0" smtClean="0">
                <a:latin typeface="Times New Roman"/>
                <a:cs typeface="Times New Roman"/>
              </a:rPr>
              <a:t>BCE</a:t>
            </a:r>
            <a:endParaRPr lang="en-US" sz="2400" dirty="0" smtClean="0">
              <a:latin typeface="Times New Roman"/>
              <a:cs typeface="Times New Roman"/>
            </a:endParaRPr>
          </a:p>
          <a:p>
            <a:pPr marL="126277" marR="8884" lvl="3" algn="just">
              <a:lnSpc>
                <a:spcPct val="150000"/>
              </a:lnSpc>
              <a:spcBef>
                <a:spcPts val="145"/>
              </a:spcBef>
              <a:tabLst>
                <a:tab pos="468936" algn="l"/>
              </a:tabLst>
            </a:pPr>
            <a:endParaRPr lang="en-US" sz="2400" dirty="0">
              <a:latin typeface="Times New Roman"/>
              <a:cs typeface="Times New Roman"/>
            </a:endParaRPr>
          </a:p>
        </p:txBody>
      </p:sp>
    </p:spTree>
    <p:extLst>
      <p:ext uri="{BB962C8B-B14F-4D97-AF65-F5344CB8AC3E}">
        <p14:creationId xmlns:p14="http://schemas.microsoft.com/office/powerpoint/2010/main" val="493516573"/>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Content Placeholder 3"/>
          <p:cNvSpPr>
            <a:spLocks noGrp="1"/>
          </p:cNvSpPr>
          <p:nvPr>
            <p:ph sz="quarter" idx="13"/>
          </p:nvPr>
        </p:nvSpPr>
        <p:spPr>
          <a:xfrm>
            <a:off x="753863" y="762000"/>
            <a:ext cx="8550157" cy="6019800"/>
          </a:xfrm>
        </p:spPr>
        <p:txBody>
          <a:bodyPr>
            <a:normAutofit fontScale="92500"/>
          </a:bodyPr>
          <a:lstStyle/>
          <a:p>
            <a:pPr marL="468936" marR="5715" lvl="3" indent="-342659" algn="just" defTabSz="457200">
              <a:lnSpc>
                <a:spcPct val="150000"/>
              </a:lnSpc>
              <a:spcBef>
                <a:spcPts val="95"/>
              </a:spcBef>
              <a:buClrTx/>
              <a:buFont typeface="Symbol"/>
              <a:buChar char=""/>
              <a:tabLst>
                <a:tab pos="468936" algn="l"/>
              </a:tabLst>
            </a:pPr>
            <a:r>
              <a:rPr lang="en-US" sz="2400" cap="none" spc="-50" dirty="0">
                <a:solidFill>
                  <a:prstClr val="black"/>
                </a:solidFill>
                <a:latin typeface="Times New Roman"/>
                <a:cs typeface="Times New Roman"/>
              </a:rPr>
              <a:t>Most</a:t>
            </a:r>
            <a:r>
              <a:rPr lang="en-US" sz="2400" cap="none" spc="-14" dirty="0">
                <a:solidFill>
                  <a:prstClr val="black"/>
                </a:solidFill>
                <a:latin typeface="Times New Roman"/>
                <a:cs typeface="Times New Roman"/>
              </a:rPr>
              <a:t> </a:t>
            </a:r>
            <a:r>
              <a:rPr lang="en-US" sz="2400" cap="none" spc="-55" dirty="0">
                <a:solidFill>
                  <a:prstClr val="black"/>
                </a:solidFill>
                <a:latin typeface="Times New Roman"/>
                <a:cs typeface="Times New Roman"/>
              </a:rPr>
              <a:t>of</a:t>
            </a:r>
            <a:r>
              <a:rPr lang="en-US" sz="2400" cap="none" spc="10" dirty="0">
                <a:solidFill>
                  <a:prstClr val="black"/>
                </a:solidFill>
                <a:latin typeface="Times New Roman"/>
                <a:cs typeface="Times New Roman"/>
              </a:rPr>
              <a:t> </a:t>
            </a:r>
            <a:r>
              <a:rPr lang="en-US" sz="2400" cap="none" spc="-95" dirty="0">
                <a:solidFill>
                  <a:srgbClr val="FF9900"/>
                </a:solidFill>
                <a:latin typeface="Times New Roman"/>
                <a:cs typeface="Times New Roman"/>
              </a:rPr>
              <a:t>India’s</a:t>
            </a:r>
            <a:r>
              <a:rPr lang="en-US" sz="2400" cap="none" spc="20" dirty="0">
                <a:solidFill>
                  <a:srgbClr val="FF9900"/>
                </a:solidFill>
                <a:latin typeface="Times New Roman"/>
                <a:cs typeface="Times New Roman"/>
              </a:rPr>
              <a:t> </a:t>
            </a:r>
            <a:r>
              <a:rPr lang="en-US" sz="2400" cap="none" spc="-55" dirty="0">
                <a:solidFill>
                  <a:srgbClr val="FF9900"/>
                </a:solidFill>
                <a:latin typeface="Times New Roman"/>
                <a:cs typeface="Times New Roman"/>
              </a:rPr>
              <a:t>metal</a:t>
            </a:r>
            <a:r>
              <a:rPr lang="en-US" sz="2400" cap="none" spc="4" dirty="0">
                <a:solidFill>
                  <a:srgbClr val="FF9900"/>
                </a:solidFill>
                <a:latin typeface="Times New Roman"/>
                <a:cs typeface="Times New Roman"/>
              </a:rPr>
              <a:t> </a:t>
            </a:r>
            <a:r>
              <a:rPr lang="en-US" sz="2400" cap="none" spc="-50" dirty="0">
                <a:solidFill>
                  <a:srgbClr val="FF9900"/>
                </a:solidFill>
                <a:latin typeface="Times New Roman"/>
                <a:cs typeface="Times New Roman"/>
              </a:rPr>
              <a:t>production</a:t>
            </a:r>
            <a:r>
              <a:rPr lang="en-US" sz="2400" cap="none" spc="4" dirty="0">
                <a:solidFill>
                  <a:srgbClr val="FF9900"/>
                </a:solidFill>
                <a:latin typeface="Times New Roman"/>
                <a:cs typeface="Times New Roman"/>
              </a:rPr>
              <a:t> </a:t>
            </a:r>
            <a:r>
              <a:rPr lang="en-US" sz="2400" cap="none" spc="-45" dirty="0">
                <a:solidFill>
                  <a:prstClr val="black"/>
                </a:solidFill>
                <a:latin typeface="Times New Roman"/>
                <a:cs typeface="Times New Roman"/>
              </a:rPr>
              <a:t>was</a:t>
            </a:r>
            <a:r>
              <a:rPr lang="en-US" sz="2400" cap="none" dirty="0">
                <a:solidFill>
                  <a:prstClr val="black"/>
                </a:solidFill>
                <a:latin typeface="Times New Roman"/>
                <a:cs typeface="Times New Roman"/>
              </a:rPr>
              <a:t> </a:t>
            </a:r>
            <a:r>
              <a:rPr lang="en-US" sz="2400" cap="none" spc="-50" dirty="0">
                <a:solidFill>
                  <a:prstClr val="black"/>
                </a:solidFill>
                <a:latin typeface="Times New Roman"/>
                <a:cs typeface="Times New Roman"/>
              </a:rPr>
              <a:t>controlled</a:t>
            </a:r>
            <a:r>
              <a:rPr lang="en-US" sz="2400" cap="none" dirty="0">
                <a:solidFill>
                  <a:prstClr val="black"/>
                </a:solidFill>
                <a:latin typeface="Times New Roman"/>
                <a:cs typeface="Times New Roman"/>
              </a:rPr>
              <a:t> </a:t>
            </a:r>
            <a:r>
              <a:rPr lang="en-US" sz="2400" cap="none" spc="-55" dirty="0">
                <a:solidFill>
                  <a:prstClr val="black"/>
                </a:solidFill>
                <a:latin typeface="Times New Roman"/>
                <a:cs typeface="Times New Roman"/>
              </a:rPr>
              <a:t>by</a:t>
            </a:r>
            <a:r>
              <a:rPr lang="en-US" sz="2400" cap="none" spc="-4" dirty="0">
                <a:solidFill>
                  <a:prstClr val="black"/>
                </a:solidFill>
                <a:latin typeface="Times New Roman"/>
                <a:cs typeface="Times New Roman"/>
              </a:rPr>
              <a:t> </a:t>
            </a:r>
            <a:r>
              <a:rPr lang="en-US" sz="2400" cap="none" spc="-60" dirty="0">
                <a:solidFill>
                  <a:prstClr val="black"/>
                </a:solidFill>
                <a:latin typeface="Times New Roman"/>
                <a:cs typeface="Times New Roman"/>
              </a:rPr>
              <a:t>specific</a:t>
            </a:r>
            <a:r>
              <a:rPr lang="en-US" sz="2400" cap="none" spc="-4" dirty="0">
                <a:solidFill>
                  <a:prstClr val="black"/>
                </a:solidFill>
                <a:latin typeface="Times New Roman"/>
                <a:cs typeface="Times New Roman"/>
              </a:rPr>
              <a:t> </a:t>
            </a:r>
            <a:r>
              <a:rPr lang="en-US" sz="2400" cap="none" spc="-45" dirty="0">
                <a:solidFill>
                  <a:prstClr val="black"/>
                </a:solidFill>
                <a:latin typeface="Times New Roman"/>
                <a:cs typeface="Times New Roman"/>
              </a:rPr>
              <a:t>social</a:t>
            </a:r>
            <a:r>
              <a:rPr lang="en-US" sz="2400" cap="none" spc="4" dirty="0">
                <a:solidFill>
                  <a:prstClr val="black"/>
                </a:solidFill>
                <a:latin typeface="Times New Roman"/>
                <a:cs typeface="Times New Roman"/>
              </a:rPr>
              <a:t> </a:t>
            </a:r>
            <a:r>
              <a:rPr lang="en-US" sz="2400" cap="none" spc="-45" dirty="0">
                <a:solidFill>
                  <a:prstClr val="black"/>
                </a:solidFill>
                <a:latin typeface="Times New Roman"/>
                <a:cs typeface="Times New Roman"/>
              </a:rPr>
              <a:t>groups,</a:t>
            </a:r>
            <a:r>
              <a:rPr lang="en-US" sz="2400" cap="none" spc="4" dirty="0">
                <a:solidFill>
                  <a:prstClr val="black"/>
                </a:solidFill>
                <a:latin typeface="Times New Roman"/>
                <a:cs typeface="Times New Roman"/>
              </a:rPr>
              <a:t> </a:t>
            </a:r>
            <a:r>
              <a:rPr lang="en-US" sz="2400" cap="none" spc="-50" dirty="0">
                <a:solidFill>
                  <a:prstClr val="black"/>
                </a:solidFill>
                <a:latin typeface="Times New Roman"/>
                <a:cs typeface="Times New Roman"/>
              </a:rPr>
              <a:t>including</a:t>
            </a:r>
            <a:r>
              <a:rPr lang="en-US" sz="2400" cap="none" dirty="0">
                <a:solidFill>
                  <a:prstClr val="black"/>
                </a:solidFill>
                <a:latin typeface="Times New Roman"/>
                <a:cs typeface="Times New Roman"/>
              </a:rPr>
              <a:t> </a:t>
            </a:r>
            <a:r>
              <a:rPr lang="en-US" sz="2400" cap="none" spc="-40" dirty="0">
                <a:solidFill>
                  <a:srgbClr val="FF9900"/>
                </a:solidFill>
                <a:latin typeface="Times New Roman"/>
                <a:cs typeface="Times New Roman"/>
              </a:rPr>
              <a:t>so-</a:t>
            </a:r>
            <a:r>
              <a:rPr lang="en-US" sz="2400" cap="none" spc="-50" dirty="0">
                <a:solidFill>
                  <a:srgbClr val="FF9900"/>
                </a:solidFill>
                <a:latin typeface="Times New Roman"/>
                <a:cs typeface="Times New Roman"/>
              </a:rPr>
              <a:t>called</a:t>
            </a:r>
            <a:r>
              <a:rPr lang="en-US" sz="2400" cap="none" dirty="0">
                <a:solidFill>
                  <a:srgbClr val="FF9900"/>
                </a:solidFill>
                <a:latin typeface="Times New Roman"/>
                <a:cs typeface="Times New Roman"/>
              </a:rPr>
              <a:t> </a:t>
            </a:r>
            <a:r>
              <a:rPr lang="en-US" sz="2400" cap="none" spc="-10" dirty="0">
                <a:solidFill>
                  <a:srgbClr val="FF9900"/>
                </a:solidFill>
                <a:latin typeface="Times New Roman"/>
                <a:cs typeface="Times New Roman"/>
              </a:rPr>
              <a:t>tribes.</a:t>
            </a:r>
            <a:r>
              <a:rPr lang="en-US" sz="2400" cap="none" spc="-10" dirty="0">
                <a:solidFill>
                  <a:prstClr val="black"/>
                </a:solidFill>
                <a:latin typeface="Times New Roman"/>
                <a:cs typeface="Times New Roman"/>
              </a:rPr>
              <a:t> </a:t>
            </a:r>
            <a:r>
              <a:rPr lang="en-US" sz="2400" cap="none" spc="-45" dirty="0">
                <a:solidFill>
                  <a:prstClr val="black"/>
                </a:solidFill>
                <a:latin typeface="Times New Roman"/>
                <a:cs typeface="Times New Roman"/>
              </a:rPr>
              <a:t>For</a:t>
            </a:r>
            <a:r>
              <a:rPr lang="en-US" sz="2400" cap="none" spc="-10" dirty="0">
                <a:solidFill>
                  <a:prstClr val="black"/>
                </a:solidFill>
                <a:latin typeface="Times New Roman"/>
                <a:cs typeface="Times New Roman"/>
              </a:rPr>
              <a:t> </a:t>
            </a:r>
            <a:r>
              <a:rPr lang="en-US" sz="2400" cap="none" spc="-45" dirty="0">
                <a:solidFill>
                  <a:prstClr val="black"/>
                </a:solidFill>
                <a:latin typeface="Times New Roman"/>
                <a:cs typeface="Times New Roman"/>
              </a:rPr>
              <a:t>instance,</a:t>
            </a:r>
            <a:r>
              <a:rPr lang="en-US" sz="2400" cap="none" spc="-10" dirty="0">
                <a:solidFill>
                  <a:prstClr val="black"/>
                </a:solidFill>
                <a:latin typeface="Times New Roman"/>
                <a:cs typeface="Times New Roman"/>
              </a:rPr>
              <a:t> </a:t>
            </a:r>
            <a:r>
              <a:rPr lang="en-US" sz="2400" cap="none" spc="-45" dirty="0">
                <a:solidFill>
                  <a:prstClr val="black"/>
                </a:solidFill>
                <a:latin typeface="Times New Roman"/>
                <a:cs typeface="Times New Roman"/>
              </a:rPr>
              <a:t>the</a:t>
            </a:r>
            <a:r>
              <a:rPr lang="en-US" sz="2400" cap="none" spc="-10" dirty="0">
                <a:solidFill>
                  <a:prstClr val="black"/>
                </a:solidFill>
                <a:latin typeface="Times New Roman"/>
                <a:cs typeface="Times New Roman"/>
              </a:rPr>
              <a:t> </a:t>
            </a:r>
            <a:r>
              <a:rPr lang="en-US" sz="2400" cap="none" spc="-45" dirty="0" err="1">
                <a:solidFill>
                  <a:prstClr val="black"/>
                </a:solidFill>
                <a:latin typeface="Times New Roman"/>
                <a:cs typeface="Times New Roman"/>
              </a:rPr>
              <a:t>Agarias</a:t>
            </a:r>
            <a:r>
              <a:rPr lang="en-US" sz="2400" cap="none" spc="-10" dirty="0">
                <a:solidFill>
                  <a:prstClr val="black"/>
                </a:solidFill>
                <a:latin typeface="Times New Roman"/>
                <a:cs typeface="Times New Roman"/>
              </a:rPr>
              <a:t> </a:t>
            </a:r>
            <a:r>
              <a:rPr lang="en-US" sz="2400" cap="none" spc="-50" dirty="0">
                <a:solidFill>
                  <a:prstClr val="black"/>
                </a:solidFill>
                <a:latin typeface="Times New Roman"/>
                <a:cs typeface="Times New Roman"/>
              </a:rPr>
              <a:t>of</a:t>
            </a:r>
            <a:r>
              <a:rPr lang="en-US" sz="2400" cap="none" spc="-10" dirty="0">
                <a:solidFill>
                  <a:prstClr val="black"/>
                </a:solidFill>
                <a:latin typeface="Times New Roman"/>
                <a:cs typeface="Times New Roman"/>
              </a:rPr>
              <a:t> </a:t>
            </a:r>
            <a:r>
              <a:rPr lang="en-US" sz="2400" cap="none" spc="-50" dirty="0">
                <a:solidFill>
                  <a:prstClr val="black"/>
                </a:solidFill>
                <a:latin typeface="Times New Roman"/>
                <a:cs typeface="Times New Roman"/>
              </a:rPr>
              <a:t>Uttar</a:t>
            </a:r>
            <a:r>
              <a:rPr lang="en-US" sz="2400" cap="none" spc="-10" dirty="0">
                <a:solidFill>
                  <a:prstClr val="black"/>
                </a:solidFill>
                <a:latin typeface="Times New Roman"/>
                <a:cs typeface="Times New Roman"/>
              </a:rPr>
              <a:t> </a:t>
            </a:r>
            <a:r>
              <a:rPr lang="en-US" sz="2400" cap="none" spc="-50" dirty="0">
                <a:solidFill>
                  <a:prstClr val="black"/>
                </a:solidFill>
                <a:latin typeface="Times New Roman"/>
                <a:cs typeface="Times New Roman"/>
              </a:rPr>
              <a:t>Pradesh</a:t>
            </a:r>
            <a:r>
              <a:rPr lang="en-US" sz="2400" cap="none" spc="-4" dirty="0">
                <a:solidFill>
                  <a:prstClr val="black"/>
                </a:solidFill>
                <a:latin typeface="Times New Roman"/>
                <a:cs typeface="Times New Roman"/>
              </a:rPr>
              <a:t> </a:t>
            </a:r>
            <a:r>
              <a:rPr lang="en-US" sz="2400" cap="none" spc="-25" dirty="0">
                <a:solidFill>
                  <a:prstClr val="black"/>
                </a:solidFill>
                <a:latin typeface="Times New Roman"/>
                <a:cs typeface="Times New Roman"/>
              </a:rPr>
              <a:t>and </a:t>
            </a:r>
            <a:r>
              <a:rPr lang="en-US" sz="2400" cap="none" spc="-10" dirty="0">
                <a:solidFill>
                  <a:prstClr val="black"/>
                </a:solidFill>
                <a:latin typeface="Times New Roman"/>
                <a:cs typeface="Times New Roman"/>
              </a:rPr>
              <a:t>Madhya</a:t>
            </a:r>
            <a:r>
              <a:rPr lang="en-US" sz="2400" cap="none" spc="-20" dirty="0">
                <a:solidFill>
                  <a:prstClr val="black"/>
                </a:solidFill>
                <a:latin typeface="Times New Roman"/>
                <a:cs typeface="Times New Roman"/>
              </a:rPr>
              <a:t> Pradesh </a:t>
            </a:r>
            <a:r>
              <a:rPr lang="en-US" sz="2400" cap="none" dirty="0">
                <a:solidFill>
                  <a:prstClr val="black"/>
                </a:solidFill>
                <a:latin typeface="Times New Roman"/>
                <a:cs typeface="Times New Roman"/>
              </a:rPr>
              <a:t>are</a:t>
            </a:r>
            <a:r>
              <a:rPr lang="en-US" sz="2400" cap="none" spc="-25" dirty="0">
                <a:solidFill>
                  <a:prstClr val="black"/>
                </a:solidFill>
                <a:latin typeface="Times New Roman"/>
                <a:cs typeface="Times New Roman"/>
              </a:rPr>
              <a:t> </a:t>
            </a:r>
            <a:r>
              <a:rPr lang="en-US" sz="2400" cap="none" spc="-20" dirty="0">
                <a:solidFill>
                  <a:prstClr val="black"/>
                </a:solidFill>
                <a:latin typeface="Times New Roman"/>
                <a:cs typeface="Times New Roman"/>
              </a:rPr>
              <a:t>reputed </a:t>
            </a:r>
            <a:r>
              <a:rPr lang="en-US" sz="2400" cap="none" dirty="0">
                <a:solidFill>
                  <a:prstClr val="black"/>
                </a:solidFill>
                <a:latin typeface="Times New Roman"/>
                <a:cs typeface="Times New Roman"/>
              </a:rPr>
              <a:t>iron</a:t>
            </a:r>
            <a:r>
              <a:rPr lang="en-US" sz="2400" cap="none" spc="-20" dirty="0">
                <a:solidFill>
                  <a:prstClr val="black"/>
                </a:solidFill>
                <a:latin typeface="Times New Roman"/>
                <a:cs typeface="Times New Roman"/>
              </a:rPr>
              <a:t> smiths, </a:t>
            </a:r>
            <a:r>
              <a:rPr lang="en-US" sz="2400" cap="none" dirty="0">
                <a:solidFill>
                  <a:prstClr val="black"/>
                </a:solidFill>
                <a:latin typeface="Times New Roman"/>
                <a:cs typeface="Times New Roman"/>
              </a:rPr>
              <a:t>and</a:t>
            </a:r>
            <a:r>
              <a:rPr lang="en-US" sz="2400" cap="none" spc="-30" dirty="0">
                <a:solidFill>
                  <a:prstClr val="black"/>
                </a:solidFill>
                <a:latin typeface="Times New Roman"/>
                <a:cs typeface="Times New Roman"/>
              </a:rPr>
              <a:t> </a:t>
            </a:r>
            <a:r>
              <a:rPr lang="en-US" sz="2400" cap="none" dirty="0">
                <a:solidFill>
                  <a:prstClr val="black"/>
                </a:solidFill>
                <a:latin typeface="Times New Roman"/>
                <a:cs typeface="Times New Roman"/>
              </a:rPr>
              <a:t>there</a:t>
            </a:r>
            <a:r>
              <a:rPr lang="en-US" sz="2400" cap="none" spc="-25" dirty="0">
                <a:solidFill>
                  <a:prstClr val="black"/>
                </a:solidFill>
                <a:latin typeface="Times New Roman"/>
                <a:cs typeface="Times New Roman"/>
              </a:rPr>
              <a:t> </a:t>
            </a:r>
            <a:r>
              <a:rPr lang="en-US" sz="2400" cap="none" dirty="0">
                <a:solidFill>
                  <a:prstClr val="black"/>
                </a:solidFill>
                <a:latin typeface="Times New Roman"/>
                <a:cs typeface="Times New Roman"/>
              </a:rPr>
              <a:t>are</a:t>
            </a:r>
            <a:r>
              <a:rPr lang="en-US" sz="2400" cap="none" spc="-30" dirty="0">
                <a:solidFill>
                  <a:prstClr val="black"/>
                </a:solidFill>
                <a:latin typeface="Times New Roman"/>
                <a:cs typeface="Times New Roman"/>
              </a:rPr>
              <a:t> </a:t>
            </a:r>
            <a:r>
              <a:rPr lang="en-US" sz="2400" cap="none" spc="-10" dirty="0">
                <a:solidFill>
                  <a:prstClr val="black"/>
                </a:solidFill>
                <a:latin typeface="Times New Roman"/>
                <a:cs typeface="Times New Roman"/>
              </a:rPr>
              <a:t>still</a:t>
            </a:r>
            <a:r>
              <a:rPr lang="en-US" sz="2400" cap="none" spc="-14" dirty="0">
                <a:solidFill>
                  <a:prstClr val="black"/>
                </a:solidFill>
                <a:latin typeface="Times New Roman"/>
                <a:cs typeface="Times New Roman"/>
              </a:rPr>
              <a:t> </a:t>
            </a:r>
            <a:r>
              <a:rPr lang="en-US" sz="2400" cap="none" dirty="0">
                <a:solidFill>
                  <a:prstClr val="black"/>
                </a:solidFill>
                <a:latin typeface="Times New Roman"/>
                <a:cs typeface="Times New Roman"/>
              </a:rPr>
              <a:t>such</a:t>
            </a:r>
            <a:r>
              <a:rPr lang="en-US" sz="2400" cap="none" spc="-14" dirty="0">
                <a:solidFill>
                  <a:prstClr val="black"/>
                </a:solidFill>
                <a:latin typeface="Times New Roman"/>
                <a:cs typeface="Times New Roman"/>
              </a:rPr>
              <a:t> </a:t>
            </a:r>
            <a:r>
              <a:rPr lang="en-US" sz="2400" cap="none" spc="-30" dirty="0">
                <a:solidFill>
                  <a:prstClr val="black"/>
                </a:solidFill>
                <a:latin typeface="Times New Roman"/>
                <a:cs typeface="Times New Roman"/>
              </a:rPr>
              <a:t>communities</a:t>
            </a:r>
            <a:r>
              <a:rPr lang="en-US" sz="2400" cap="none" spc="-20" dirty="0">
                <a:solidFill>
                  <a:prstClr val="black"/>
                </a:solidFill>
                <a:latin typeface="Times New Roman"/>
                <a:cs typeface="Times New Roman"/>
              </a:rPr>
              <a:t> </a:t>
            </a:r>
            <a:r>
              <a:rPr lang="en-US" sz="2400" cap="none" spc="-30" dirty="0">
                <a:solidFill>
                  <a:prstClr val="black"/>
                </a:solidFill>
                <a:latin typeface="Times New Roman"/>
                <a:cs typeface="Times New Roman"/>
              </a:rPr>
              <a:t>scattered</a:t>
            </a:r>
            <a:r>
              <a:rPr lang="en-US" sz="2400" cap="none" spc="-20" dirty="0">
                <a:solidFill>
                  <a:prstClr val="black"/>
                </a:solidFill>
                <a:latin typeface="Times New Roman"/>
                <a:cs typeface="Times New Roman"/>
              </a:rPr>
              <a:t> </a:t>
            </a:r>
            <a:r>
              <a:rPr lang="en-US" sz="2400" cap="none" spc="-10" dirty="0">
                <a:solidFill>
                  <a:prstClr val="black"/>
                </a:solidFill>
                <a:latin typeface="Times New Roman"/>
                <a:cs typeface="Times New Roman"/>
              </a:rPr>
              <a:t>across </a:t>
            </a:r>
            <a:r>
              <a:rPr lang="en-US" sz="2400" cap="none" spc="-45" dirty="0">
                <a:solidFill>
                  <a:prstClr val="black"/>
                </a:solidFill>
                <a:latin typeface="Times New Roman"/>
                <a:cs typeface="Times New Roman"/>
              </a:rPr>
              <a:t>Jharkhand,</a:t>
            </a:r>
            <a:r>
              <a:rPr lang="en-US" sz="2400" cap="none" spc="14" dirty="0">
                <a:solidFill>
                  <a:prstClr val="black"/>
                </a:solidFill>
                <a:latin typeface="Times New Roman"/>
                <a:cs typeface="Times New Roman"/>
              </a:rPr>
              <a:t> </a:t>
            </a:r>
            <a:r>
              <a:rPr lang="en-US" sz="2400" cap="none" spc="-50" dirty="0">
                <a:solidFill>
                  <a:prstClr val="black"/>
                </a:solidFill>
                <a:latin typeface="Times New Roman"/>
                <a:cs typeface="Times New Roman"/>
              </a:rPr>
              <a:t>Bihar,</a:t>
            </a:r>
            <a:r>
              <a:rPr lang="en-US" sz="2400" cap="none" spc="4" dirty="0">
                <a:solidFill>
                  <a:prstClr val="black"/>
                </a:solidFill>
                <a:latin typeface="Times New Roman"/>
                <a:cs typeface="Times New Roman"/>
              </a:rPr>
              <a:t> </a:t>
            </a:r>
            <a:r>
              <a:rPr lang="en-US" sz="2400" cap="none" spc="-55" dirty="0">
                <a:solidFill>
                  <a:prstClr val="black"/>
                </a:solidFill>
                <a:latin typeface="Times New Roman"/>
                <a:cs typeface="Times New Roman"/>
              </a:rPr>
              <a:t>West-</a:t>
            </a:r>
            <a:r>
              <a:rPr lang="en-US" sz="2400" cap="none" spc="-45" dirty="0">
                <a:solidFill>
                  <a:prstClr val="black"/>
                </a:solidFill>
                <a:latin typeface="Times New Roman"/>
                <a:cs typeface="Times New Roman"/>
              </a:rPr>
              <a:t>Bengal,</a:t>
            </a:r>
            <a:r>
              <a:rPr lang="en-US" sz="2400" cap="none" spc="10" dirty="0">
                <a:solidFill>
                  <a:prstClr val="black"/>
                </a:solidFill>
                <a:latin typeface="Times New Roman"/>
                <a:cs typeface="Times New Roman"/>
              </a:rPr>
              <a:t> </a:t>
            </a:r>
            <a:r>
              <a:rPr lang="en-US" sz="2400" cap="none" spc="-50" dirty="0">
                <a:solidFill>
                  <a:prstClr val="black"/>
                </a:solidFill>
                <a:latin typeface="Times New Roman"/>
                <a:cs typeface="Times New Roman"/>
              </a:rPr>
              <a:t>Kerala</a:t>
            </a:r>
            <a:r>
              <a:rPr lang="en-US" sz="2400" cap="none" spc="4" dirty="0">
                <a:solidFill>
                  <a:prstClr val="black"/>
                </a:solidFill>
                <a:latin typeface="Times New Roman"/>
                <a:cs typeface="Times New Roman"/>
              </a:rPr>
              <a:t> </a:t>
            </a:r>
            <a:r>
              <a:rPr lang="en-US" sz="2400" cap="none" spc="-45" dirty="0">
                <a:solidFill>
                  <a:prstClr val="black"/>
                </a:solidFill>
                <a:latin typeface="Times New Roman"/>
                <a:cs typeface="Times New Roman"/>
              </a:rPr>
              <a:t>and</a:t>
            </a:r>
            <a:r>
              <a:rPr lang="en-US" sz="2400" cap="none" spc="4" dirty="0">
                <a:solidFill>
                  <a:prstClr val="black"/>
                </a:solidFill>
                <a:latin typeface="Times New Roman"/>
                <a:cs typeface="Times New Roman"/>
              </a:rPr>
              <a:t> </a:t>
            </a:r>
            <a:r>
              <a:rPr lang="en-US" sz="2400" cap="none" spc="-50" dirty="0">
                <a:solidFill>
                  <a:prstClr val="black"/>
                </a:solidFill>
                <a:latin typeface="Times New Roman"/>
                <a:cs typeface="Times New Roman"/>
              </a:rPr>
              <a:t>Tamil</a:t>
            </a:r>
            <a:r>
              <a:rPr lang="en-US" sz="2400" cap="none" spc="4" dirty="0">
                <a:solidFill>
                  <a:prstClr val="black"/>
                </a:solidFill>
                <a:latin typeface="Times New Roman"/>
                <a:cs typeface="Times New Roman"/>
              </a:rPr>
              <a:t> </a:t>
            </a:r>
            <a:r>
              <a:rPr lang="en-US" sz="2400" cap="none" spc="-40" dirty="0">
                <a:solidFill>
                  <a:prstClr val="black"/>
                </a:solidFill>
                <a:latin typeface="Times New Roman"/>
                <a:cs typeface="Times New Roman"/>
              </a:rPr>
              <a:t>Nadu.</a:t>
            </a:r>
            <a:r>
              <a:rPr lang="en-US" sz="2400" cap="none" spc="4" dirty="0">
                <a:solidFill>
                  <a:prstClr val="black"/>
                </a:solidFill>
                <a:latin typeface="Times New Roman"/>
                <a:cs typeface="Times New Roman"/>
              </a:rPr>
              <a:t> </a:t>
            </a:r>
            <a:r>
              <a:rPr lang="en-US" sz="2400" cap="none" spc="-45" dirty="0">
                <a:solidFill>
                  <a:prstClr val="black"/>
                </a:solidFill>
                <a:latin typeface="Times New Roman"/>
                <a:cs typeface="Times New Roman"/>
              </a:rPr>
              <a:t>Together,</a:t>
            </a:r>
            <a:r>
              <a:rPr lang="en-US" sz="2400" cap="none" spc="10" dirty="0">
                <a:solidFill>
                  <a:prstClr val="black"/>
                </a:solidFill>
                <a:latin typeface="Times New Roman"/>
                <a:cs typeface="Times New Roman"/>
              </a:rPr>
              <a:t> </a:t>
            </a:r>
            <a:r>
              <a:rPr lang="en-US" sz="2400" cap="none" spc="-50" dirty="0">
                <a:solidFill>
                  <a:prstClr val="black"/>
                </a:solidFill>
                <a:latin typeface="Times New Roman"/>
                <a:cs typeface="Times New Roman"/>
              </a:rPr>
              <a:t>they</a:t>
            </a:r>
            <a:r>
              <a:rPr lang="en-US" sz="2400" cap="none" spc="10" dirty="0">
                <a:solidFill>
                  <a:prstClr val="black"/>
                </a:solidFill>
                <a:latin typeface="Times New Roman"/>
                <a:cs typeface="Times New Roman"/>
              </a:rPr>
              <a:t> </a:t>
            </a:r>
            <a:r>
              <a:rPr lang="en-US" sz="2400" cap="none" spc="-50" dirty="0">
                <a:solidFill>
                  <a:prstClr val="black"/>
                </a:solidFill>
                <a:latin typeface="Times New Roman"/>
                <a:cs typeface="Times New Roman"/>
              </a:rPr>
              <a:t>contributed</a:t>
            </a:r>
            <a:r>
              <a:rPr lang="en-US" sz="2400" cap="none" spc="4" dirty="0">
                <a:solidFill>
                  <a:prstClr val="black"/>
                </a:solidFill>
                <a:latin typeface="Times New Roman"/>
                <a:cs typeface="Times New Roman"/>
              </a:rPr>
              <a:t> </a:t>
            </a:r>
            <a:r>
              <a:rPr lang="en-US" sz="2400" cap="none" spc="-50" dirty="0">
                <a:solidFill>
                  <a:prstClr val="black"/>
                </a:solidFill>
                <a:latin typeface="Times New Roman"/>
                <a:cs typeface="Times New Roman"/>
              </a:rPr>
              <a:t>substantially</a:t>
            </a:r>
            <a:r>
              <a:rPr lang="en-US" sz="2400" cap="none" dirty="0">
                <a:solidFill>
                  <a:prstClr val="black"/>
                </a:solidFill>
                <a:latin typeface="Times New Roman"/>
                <a:cs typeface="Times New Roman"/>
              </a:rPr>
              <a:t> </a:t>
            </a:r>
            <a:r>
              <a:rPr lang="en-US" sz="2400" cap="none" spc="-25" dirty="0">
                <a:solidFill>
                  <a:prstClr val="black"/>
                </a:solidFill>
                <a:latin typeface="Times New Roman"/>
                <a:cs typeface="Times New Roman"/>
              </a:rPr>
              <a:t>to </a:t>
            </a:r>
            <a:r>
              <a:rPr lang="en-US" sz="2400" cap="none" spc="-85" dirty="0">
                <a:solidFill>
                  <a:prstClr val="black"/>
                </a:solidFill>
                <a:latin typeface="Times New Roman"/>
                <a:cs typeface="Times New Roman"/>
              </a:rPr>
              <a:t>India’s</a:t>
            </a:r>
            <a:r>
              <a:rPr lang="en-US" sz="2400" cap="none" spc="-55" dirty="0">
                <a:solidFill>
                  <a:prstClr val="black"/>
                </a:solidFill>
                <a:latin typeface="Times New Roman"/>
                <a:cs typeface="Times New Roman"/>
              </a:rPr>
              <a:t> </a:t>
            </a:r>
            <a:r>
              <a:rPr lang="en-US" sz="2400" cap="none" spc="-45" dirty="0">
                <a:solidFill>
                  <a:prstClr val="black"/>
                </a:solidFill>
                <a:latin typeface="Times New Roman"/>
                <a:cs typeface="Times New Roman"/>
              </a:rPr>
              <a:t>wealth,</a:t>
            </a:r>
            <a:r>
              <a:rPr lang="en-US" sz="2400" cap="none" spc="-55" dirty="0">
                <a:solidFill>
                  <a:prstClr val="black"/>
                </a:solidFill>
                <a:latin typeface="Times New Roman"/>
                <a:cs typeface="Times New Roman"/>
              </a:rPr>
              <a:t> </a:t>
            </a:r>
            <a:r>
              <a:rPr lang="en-US" sz="2400" cap="none" spc="-45" dirty="0">
                <a:solidFill>
                  <a:prstClr val="black"/>
                </a:solidFill>
                <a:latin typeface="Times New Roman"/>
                <a:cs typeface="Times New Roman"/>
              </a:rPr>
              <a:t>since India</a:t>
            </a:r>
            <a:r>
              <a:rPr lang="en-US" sz="2400" cap="none" spc="-70" dirty="0">
                <a:solidFill>
                  <a:prstClr val="black"/>
                </a:solidFill>
                <a:latin typeface="Times New Roman"/>
                <a:cs typeface="Times New Roman"/>
              </a:rPr>
              <a:t> </a:t>
            </a:r>
            <a:r>
              <a:rPr lang="en-US" sz="2400" cap="none" spc="-25" dirty="0">
                <a:solidFill>
                  <a:prstClr val="black"/>
                </a:solidFill>
                <a:latin typeface="Times New Roman"/>
                <a:cs typeface="Times New Roman"/>
              </a:rPr>
              <a:t>was</a:t>
            </a:r>
            <a:r>
              <a:rPr lang="en-US" sz="2400" cap="none" spc="-55" dirty="0">
                <a:solidFill>
                  <a:prstClr val="black"/>
                </a:solidFill>
                <a:latin typeface="Times New Roman"/>
                <a:cs typeface="Times New Roman"/>
              </a:rPr>
              <a:t> </a:t>
            </a:r>
            <a:r>
              <a:rPr lang="en-US" sz="2400" cap="none" spc="-40" dirty="0">
                <a:solidFill>
                  <a:prstClr val="black"/>
                </a:solidFill>
                <a:latin typeface="Times New Roman"/>
                <a:cs typeface="Times New Roman"/>
              </a:rPr>
              <a:t>for</a:t>
            </a:r>
            <a:r>
              <a:rPr lang="en-US" sz="2400" cap="none" spc="-50" dirty="0">
                <a:solidFill>
                  <a:prstClr val="black"/>
                </a:solidFill>
                <a:latin typeface="Times New Roman"/>
                <a:cs typeface="Times New Roman"/>
              </a:rPr>
              <a:t> </a:t>
            </a:r>
            <a:r>
              <a:rPr lang="en-US" sz="2400" cap="none" dirty="0">
                <a:solidFill>
                  <a:prstClr val="black"/>
                </a:solidFill>
                <a:latin typeface="Times New Roman"/>
                <a:cs typeface="Times New Roman"/>
              </a:rPr>
              <a:t>a</a:t>
            </a:r>
            <a:r>
              <a:rPr lang="en-US" sz="2400" cap="none" spc="-55" dirty="0">
                <a:solidFill>
                  <a:prstClr val="black"/>
                </a:solidFill>
                <a:latin typeface="Times New Roman"/>
                <a:cs typeface="Times New Roman"/>
              </a:rPr>
              <a:t> </a:t>
            </a:r>
            <a:r>
              <a:rPr lang="en-US" sz="2400" cap="none" spc="-40" dirty="0">
                <a:solidFill>
                  <a:prstClr val="black"/>
                </a:solidFill>
                <a:latin typeface="Times New Roman"/>
                <a:cs typeface="Times New Roman"/>
              </a:rPr>
              <a:t>long </a:t>
            </a:r>
            <a:r>
              <a:rPr lang="en-US" sz="2400" cap="none" spc="-45" dirty="0">
                <a:solidFill>
                  <a:prstClr val="black"/>
                </a:solidFill>
                <a:latin typeface="Times New Roman"/>
                <a:cs typeface="Times New Roman"/>
              </a:rPr>
              <a:t>time</a:t>
            </a:r>
            <a:r>
              <a:rPr lang="en-US" sz="2400" cap="none" spc="-60" dirty="0">
                <a:solidFill>
                  <a:prstClr val="black"/>
                </a:solidFill>
                <a:latin typeface="Times New Roman"/>
                <a:cs typeface="Times New Roman"/>
              </a:rPr>
              <a:t> </a:t>
            </a:r>
            <a:r>
              <a:rPr lang="en-US" sz="2400" cap="none" dirty="0">
                <a:solidFill>
                  <a:prstClr val="black"/>
                </a:solidFill>
                <a:latin typeface="Times New Roman"/>
                <a:cs typeface="Times New Roman"/>
              </a:rPr>
              <a:t>a</a:t>
            </a:r>
            <a:r>
              <a:rPr lang="en-US" sz="2400" cap="none" spc="-40" dirty="0">
                <a:solidFill>
                  <a:prstClr val="black"/>
                </a:solidFill>
                <a:latin typeface="Times New Roman"/>
                <a:cs typeface="Times New Roman"/>
              </a:rPr>
              <a:t> </a:t>
            </a:r>
            <a:r>
              <a:rPr lang="en-US" sz="2400" cap="none" spc="-45" dirty="0">
                <a:solidFill>
                  <a:prstClr val="black"/>
                </a:solidFill>
                <a:latin typeface="Times New Roman"/>
                <a:cs typeface="Times New Roman"/>
              </a:rPr>
              <a:t>major</a:t>
            </a:r>
            <a:r>
              <a:rPr lang="en-US" sz="2400" cap="none" spc="-55" dirty="0">
                <a:solidFill>
                  <a:prstClr val="black"/>
                </a:solidFill>
                <a:latin typeface="Times New Roman"/>
                <a:cs typeface="Times New Roman"/>
              </a:rPr>
              <a:t> </a:t>
            </a:r>
            <a:r>
              <a:rPr lang="en-US" sz="2400" cap="none" spc="-50" dirty="0">
                <a:solidFill>
                  <a:prstClr val="black"/>
                </a:solidFill>
                <a:latin typeface="Times New Roman"/>
                <a:cs typeface="Times New Roman"/>
              </a:rPr>
              <a:t>exporter </a:t>
            </a:r>
            <a:r>
              <a:rPr lang="en-US" sz="2400" cap="none" spc="-30" dirty="0">
                <a:solidFill>
                  <a:prstClr val="black"/>
                </a:solidFill>
                <a:latin typeface="Times New Roman"/>
                <a:cs typeface="Times New Roman"/>
              </a:rPr>
              <a:t>of</a:t>
            </a:r>
            <a:r>
              <a:rPr lang="en-US" sz="2400" cap="none" spc="-55" dirty="0">
                <a:solidFill>
                  <a:prstClr val="black"/>
                </a:solidFill>
                <a:latin typeface="Times New Roman"/>
                <a:cs typeface="Times New Roman"/>
              </a:rPr>
              <a:t> </a:t>
            </a:r>
            <a:r>
              <a:rPr lang="en-US" sz="2400" cap="none" spc="-10" dirty="0">
                <a:solidFill>
                  <a:prstClr val="black"/>
                </a:solidFill>
                <a:latin typeface="Times New Roman"/>
                <a:cs typeface="Times New Roman"/>
              </a:rPr>
              <a:t>iron.</a:t>
            </a:r>
            <a:endParaRPr lang="en-US" sz="2400" cap="none" dirty="0">
              <a:solidFill>
                <a:prstClr val="black"/>
              </a:solidFill>
              <a:latin typeface="Times New Roman"/>
              <a:cs typeface="Times New Roman"/>
            </a:endParaRPr>
          </a:p>
          <a:p>
            <a:pPr marL="468936" marR="5715" lvl="3" indent="-342659" algn="just" defTabSz="457200">
              <a:lnSpc>
                <a:spcPct val="150000"/>
              </a:lnSpc>
              <a:spcBef>
                <a:spcPts val="105"/>
              </a:spcBef>
              <a:buClrTx/>
              <a:buFont typeface="Symbol"/>
              <a:buChar char=""/>
              <a:tabLst>
                <a:tab pos="468936" algn="l"/>
              </a:tabLst>
            </a:pPr>
            <a:r>
              <a:rPr lang="en-US" sz="2400" cap="none" spc="-45" dirty="0">
                <a:solidFill>
                  <a:prstClr val="black"/>
                </a:solidFill>
                <a:latin typeface="Times New Roman"/>
                <a:cs typeface="Times New Roman"/>
              </a:rPr>
              <a:t>Many</a:t>
            </a:r>
            <a:r>
              <a:rPr lang="en-US" sz="2400" cap="none" spc="-30" dirty="0">
                <a:solidFill>
                  <a:prstClr val="black"/>
                </a:solidFill>
                <a:latin typeface="Times New Roman"/>
                <a:cs typeface="Times New Roman"/>
              </a:rPr>
              <a:t> </a:t>
            </a:r>
            <a:r>
              <a:rPr lang="en-US" sz="2400" cap="none" spc="-45" dirty="0">
                <a:solidFill>
                  <a:prstClr val="black"/>
                </a:solidFill>
                <a:latin typeface="Times New Roman"/>
                <a:cs typeface="Times New Roman"/>
              </a:rPr>
              <a:t>texts</a:t>
            </a:r>
            <a:r>
              <a:rPr lang="en-US" sz="2400" cap="none" spc="-30" dirty="0">
                <a:solidFill>
                  <a:prstClr val="black"/>
                </a:solidFill>
                <a:latin typeface="Times New Roman"/>
                <a:cs typeface="Times New Roman"/>
              </a:rPr>
              <a:t> </a:t>
            </a:r>
            <a:r>
              <a:rPr lang="en-US" sz="2400" cap="none" spc="-10" dirty="0">
                <a:solidFill>
                  <a:prstClr val="black"/>
                </a:solidFill>
                <a:latin typeface="Times New Roman"/>
                <a:cs typeface="Times New Roman"/>
              </a:rPr>
              <a:t>of </a:t>
            </a:r>
            <a:r>
              <a:rPr lang="en-US" sz="2400" cap="none" spc="-45" dirty="0">
                <a:solidFill>
                  <a:prstClr val="black"/>
                </a:solidFill>
                <a:latin typeface="Times New Roman"/>
                <a:cs typeface="Times New Roman"/>
              </a:rPr>
              <a:t>chemistry</a:t>
            </a:r>
            <a:r>
              <a:rPr lang="en-US" sz="2400" cap="none" spc="-14" dirty="0">
                <a:solidFill>
                  <a:prstClr val="black"/>
                </a:solidFill>
                <a:latin typeface="Times New Roman"/>
                <a:cs typeface="Times New Roman"/>
              </a:rPr>
              <a:t> </a:t>
            </a:r>
            <a:r>
              <a:rPr lang="en-US" sz="2400" cap="none" spc="-40" dirty="0">
                <a:solidFill>
                  <a:prstClr val="black"/>
                </a:solidFill>
                <a:latin typeface="Times New Roman"/>
                <a:cs typeface="Times New Roman"/>
              </a:rPr>
              <a:t>refer</a:t>
            </a:r>
            <a:r>
              <a:rPr lang="en-US" sz="2400" cap="none" spc="-10" dirty="0">
                <a:solidFill>
                  <a:prstClr val="black"/>
                </a:solidFill>
                <a:latin typeface="Times New Roman"/>
                <a:cs typeface="Times New Roman"/>
              </a:rPr>
              <a:t> </a:t>
            </a:r>
            <a:r>
              <a:rPr lang="en-US" sz="2400" cap="none" spc="-30" dirty="0">
                <a:solidFill>
                  <a:prstClr val="black"/>
                </a:solidFill>
                <a:latin typeface="Times New Roman"/>
                <a:cs typeface="Times New Roman"/>
              </a:rPr>
              <a:t>to</a:t>
            </a:r>
            <a:r>
              <a:rPr lang="en-US" sz="2400" cap="none" spc="-25" dirty="0">
                <a:solidFill>
                  <a:prstClr val="black"/>
                </a:solidFill>
                <a:latin typeface="Times New Roman"/>
                <a:cs typeface="Times New Roman"/>
              </a:rPr>
              <a:t> </a:t>
            </a:r>
            <a:r>
              <a:rPr lang="en-US" sz="2400" cap="none" spc="-35" dirty="0">
                <a:solidFill>
                  <a:prstClr val="black"/>
                </a:solidFill>
                <a:latin typeface="Times New Roman"/>
                <a:cs typeface="Times New Roman"/>
              </a:rPr>
              <a:t>the</a:t>
            </a:r>
            <a:r>
              <a:rPr lang="en-US" sz="2400" cap="none" spc="-30" dirty="0">
                <a:solidFill>
                  <a:prstClr val="black"/>
                </a:solidFill>
                <a:latin typeface="Times New Roman"/>
                <a:cs typeface="Times New Roman"/>
              </a:rPr>
              <a:t> </a:t>
            </a:r>
            <a:r>
              <a:rPr lang="en-US" sz="2400" cap="none" spc="-40" dirty="0">
                <a:solidFill>
                  <a:prstClr val="black"/>
                </a:solidFill>
                <a:latin typeface="Times New Roman"/>
                <a:cs typeface="Times New Roman"/>
              </a:rPr>
              <a:t>working</a:t>
            </a:r>
            <a:r>
              <a:rPr lang="en-US" sz="2400" cap="none" spc="-30" dirty="0">
                <a:solidFill>
                  <a:prstClr val="black"/>
                </a:solidFill>
                <a:latin typeface="Times New Roman"/>
                <a:cs typeface="Times New Roman"/>
              </a:rPr>
              <a:t> </a:t>
            </a:r>
            <a:r>
              <a:rPr lang="en-US" sz="2400" cap="none" spc="-10" dirty="0">
                <a:solidFill>
                  <a:prstClr val="black"/>
                </a:solidFill>
                <a:latin typeface="Times New Roman"/>
                <a:cs typeface="Times New Roman"/>
              </a:rPr>
              <a:t>of</a:t>
            </a:r>
            <a:r>
              <a:rPr lang="en-US" sz="2400" cap="none" spc="-20" dirty="0">
                <a:solidFill>
                  <a:prstClr val="black"/>
                </a:solidFill>
                <a:latin typeface="Times New Roman"/>
                <a:cs typeface="Times New Roman"/>
              </a:rPr>
              <a:t> </a:t>
            </a:r>
            <a:r>
              <a:rPr lang="en-US" sz="2400" cap="none" spc="-45" dirty="0">
                <a:solidFill>
                  <a:prstClr val="black"/>
                </a:solidFill>
                <a:latin typeface="Times New Roman"/>
                <a:cs typeface="Times New Roman"/>
              </a:rPr>
              <a:t>metals,</a:t>
            </a:r>
            <a:r>
              <a:rPr lang="en-US" sz="2400" cap="none" spc="-14" dirty="0">
                <a:solidFill>
                  <a:prstClr val="black"/>
                </a:solidFill>
                <a:latin typeface="Times New Roman"/>
                <a:cs typeface="Times New Roman"/>
              </a:rPr>
              <a:t> </a:t>
            </a:r>
            <a:r>
              <a:rPr lang="en-US" sz="2400" cap="none" spc="-45" dirty="0">
                <a:solidFill>
                  <a:prstClr val="black"/>
                </a:solidFill>
                <a:latin typeface="Times New Roman"/>
                <a:cs typeface="Times New Roman"/>
              </a:rPr>
              <a:t>especially</a:t>
            </a:r>
            <a:r>
              <a:rPr lang="en-US" sz="2400" cap="none" spc="-30" dirty="0">
                <a:solidFill>
                  <a:prstClr val="black"/>
                </a:solidFill>
                <a:latin typeface="Times New Roman"/>
                <a:cs typeface="Times New Roman"/>
              </a:rPr>
              <a:t> </a:t>
            </a:r>
            <a:r>
              <a:rPr lang="en-US" sz="2400" cap="none" spc="-40" dirty="0">
                <a:solidFill>
                  <a:prstClr val="black"/>
                </a:solidFill>
                <a:latin typeface="Times New Roman"/>
                <a:cs typeface="Times New Roman"/>
              </a:rPr>
              <a:t>precious</a:t>
            </a:r>
            <a:r>
              <a:rPr lang="en-US" sz="2400" cap="none" spc="-20" dirty="0">
                <a:solidFill>
                  <a:prstClr val="black"/>
                </a:solidFill>
                <a:latin typeface="Times New Roman"/>
                <a:cs typeface="Times New Roman"/>
              </a:rPr>
              <a:t> </a:t>
            </a:r>
            <a:r>
              <a:rPr lang="en-US" sz="2400" cap="none" spc="-45" dirty="0">
                <a:solidFill>
                  <a:prstClr val="black"/>
                </a:solidFill>
                <a:latin typeface="Times New Roman"/>
                <a:cs typeface="Times New Roman"/>
              </a:rPr>
              <a:t>ones.</a:t>
            </a:r>
            <a:r>
              <a:rPr lang="en-US" sz="2400" cap="none" spc="-25" dirty="0">
                <a:solidFill>
                  <a:prstClr val="black"/>
                </a:solidFill>
                <a:latin typeface="Times New Roman"/>
                <a:cs typeface="Times New Roman"/>
              </a:rPr>
              <a:t> </a:t>
            </a:r>
            <a:r>
              <a:rPr lang="en-US" sz="2400" cap="none" spc="-40" dirty="0">
                <a:solidFill>
                  <a:prstClr val="black"/>
                </a:solidFill>
                <a:latin typeface="Times New Roman"/>
                <a:cs typeface="Times New Roman"/>
              </a:rPr>
              <a:t>Some</a:t>
            </a:r>
            <a:r>
              <a:rPr lang="en-US" sz="2400" cap="none" spc="-30" dirty="0">
                <a:solidFill>
                  <a:prstClr val="black"/>
                </a:solidFill>
                <a:latin typeface="Times New Roman"/>
                <a:cs typeface="Times New Roman"/>
              </a:rPr>
              <a:t> </a:t>
            </a:r>
            <a:r>
              <a:rPr lang="en-US" sz="2400" cap="none" spc="-10" dirty="0">
                <a:solidFill>
                  <a:prstClr val="black"/>
                </a:solidFill>
                <a:latin typeface="Times New Roman"/>
                <a:cs typeface="Times New Roman"/>
              </a:rPr>
              <a:t>of</a:t>
            </a:r>
            <a:r>
              <a:rPr lang="en-US" sz="2400" cap="none" spc="-20" dirty="0">
                <a:solidFill>
                  <a:prstClr val="black"/>
                </a:solidFill>
                <a:latin typeface="Times New Roman"/>
                <a:cs typeface="Times New Roman"/>
              </a:rPr>
              <a:t> </a:t>
            </a:r>
            <a:r>
              <a:rPr lang="en-US" sz="2400" cap="none" spc="-40" dirty="0">
                <a:solidFill>
                  <a:prstClr val="black"/>
                </a:solidFill>
                <a:latin typeface="Times New Roman"/>
                <a:cs typeface="Times New Roman"/>
              </a:rPr>
              <a:t>them</a:t>
            </a:r>
            <a:r>
              <a:rPr lang="en-US" sz="2400" cap="none" spc="-25" dirty="0">
                <a:solidFill>
                  <a:prstClr val="black"/>
                </a:solidFill>
                <a:latin typeface="Times New Roman"/>
                <a:cs typeface="Times New Roman"/>
              </a:rPr>
              <a:t> </a:t>
            </a:r>
            <a:r>
              <a:rPr lang="en-US" sz="2400" cap="none" spc="-20" dirty="0">
                <a:solidFill>
                  <a:prstClr val="black"/>
                </a:solidFill>
                <a:latin typeface="Times New Roman"/>
                <a:cs typeface="Times New Roman"/>
              </a:rPr>
              <a:t>such </a:t>
            </a:r>
            <a:r>
              <a:rPr lang="en-US" sz="2400" cap="none" dirty="0">
                <a:solidFill>
                  <a:prstClr val="black"/>
                </a:solidFill>
                <a:latin typeface="Times New Roman"/>
                <a:cs typeface="Times New Roman"/>
              </a:rPr>
              <a:t>as</a:t>
            </a:r>
            <a:r>
              <a:rPr lang="en-US" sz="2400" cap="none" spc="235" dirty="0">
                <a:solidFill>
                  <a:prstClr val="black"/>
                </a:solidFill>
                <a:latin typeface="Times New Roman"/>
                <a:cs typeface="Times New Roman"/>
              </a:rPr>
              <a:t> </a:t>
            </a:r>
            <a:r>
              <a:rPr lang="en-US" sz="2400" cap="none" spc="-50" dirty="0" err="1">
                <a:solidFill>
                  <a:srgbClr val="FF9900"/>
                </a:solidFill>
                <a:latin typeface="Times New Roman"/>
                <a:cs typeface="Times New Roman"/>
              </a:rPr>
              <a:t>Kauṭilya’s</a:t>
            </a:r>
            <a:r>
              <a:rPr lang="en-US" sz="2400" cap="none" spc="245" dirty="0">
                <a:solidFill>
                  <a:srgbClr val="FF9900"/>
                </a:solidFill>
                <a:latin typeface="Times New Roman"/>
                <a:cs typeface="Times New Roman"/>
              </a:rPr>
              <a:t> </a:t>
            </a:r>
            <a:r>
              <a:rPr lang="en-US" sz="2400" cap="none" spc="-30" dirty="0" err="1">
                <a:solidFill>
                  <a:srgbClr val="FF9900"/>
                </a:solidFill>
                <a:latin typeface="Times New Roman"/>
                <a:cs typeface="Times New Roman"/>
              </a:rPr>
              <a:t>Arthasastra</a:t>
            </a:r>
            <a:r>
              <a:rPr lang="en-US" sz="2400" cap="none" spc="-30" dirty="0">
                <a:solidFill>
                  <a:srgbClr val="FF9900"/>
                </a:solidFill>
                <a:latin typeface="Times New Roman"/>
                <a:cs typeface="Times New Roman"/>
              </a:rPr>
              <a:t>,</a:t>
            </a:r>
            <a:r>
              <a:rPr lang="en-US" sz="2400" cap="none" spc="245" dirty="0">
                <a:solidFill>
                  <a:srgbClr val="FF9900"/>
                </a:solidFill>
                <a:latin typeface="Times New Roman"/>
                <a:cs typeface="Times New Roman"/>
              </a:rPr>
              <a:t> </a:t>
            </a:r>
            <a:r>
              <a:rPr lang="en-US" sz="2400" cap="none" spc="-50" dirty="0" err="1">
                <a:solidFill>
                  <a:srgbClr val="FF9900"/>
                </a:solidFill>
                <a:latin typeface="Times New Roman"/>
                <a:cs typeface="Times New Roman"/>
              </a:rPr>
              <a:t>Varahamihira</a:t>
            </a:r>
            <a:r>
              <a:rPr lang="en-US" sz="2400" cap="none" spc="-50" dirty="0">
                <a:solidFill>
                  <a:srgbClr val="FF9900"/>
                </a:solidFill>
                <a:latin typeface="Times New Roman"/>
                <a:cs typeface="Times New Roman"/>
              </a:rPr>
              <a:t>’</a:t>
            </a:r>
            <a:r>
              <a:rPr lang="en-US" sz="2400" cap="none" spc="235" dirty="0">
                <a:solidFill>
                  <a:srgbClr val="FF9900"/>
                </a:solidFill>
                <a:latin typeface="Times New Roman"/>
                <a:cs typeface="Times New Roman"/>
              </a:rPr>
              <a:t> </a:t>
            </a:r>
            <a:r>
              <a:rPr lang="en-US" sz="2400" cap="none" spc="-30" dirty="0" err="1">
                <a:solidFill>
                  <a:srgbClr val="FF9900"/>
                </a:solidFill>
                <a:latin typeface="Times New Roman"/>
                <a:cs typeface="Times New Roman"/>
              </a:rPr>
              <a:t>Khaḍgalakṣaṇam</a:t>
            </a:r>
            <a:r>
              <a:rPr lang="en-US" sz="2400" cap="none" spc="-30" dirty="0">
                <a:solidFill>
                  <a:srgbClr val="FF9900"/>
                </a:solidFill>
                <a:latin typeface="Times New Roman"/>
                <a:cs typeface="Times New Roman"/>
              </a:rPr>
              <a:t>,</a:t>
            </a:r>
            <a:r>
              <a:rPr lang="en-US" sz="2400" cap="none" spc="240" dirty="0">
                <a:solidFill>
                  <a:srgbClr val="FF9900"/>
                </a:solidFill>
                <a:latin typeface="Times New Roman"/>
                <a:cs typeface="Times New Roman"/>
              </a:rPr>
              <a:t> </a:t>
            </a:r>
            <a:r>
              <a:rPr lang="en-US" sz="2400" cap="none" spc="-50" dirty="0" err="1">
                <a:solidFill>
                  <a:srgbClr val="FF9900"/>
                </a:solidFill>
                <a:latin typeface="Times New Roman"/>
                <a:cs typeface="Times New Roman"/>
              </a:rPr>
              <a:t>Nagarjuna’s</a:t>
            </a:r>
            <a:r>
              <a:rPr lang="en-US" sz="2400" cap="none" spc="230" dirty="0">
                <a:solidFill>
                  <a:srgbClr val="FF9900"/>
                </a:solidFill>
                <a:latin typeface="Times New Roman"/>
                <a:cs typeface="Times New Roman"/>
              </a:rPr>
              <a:t> </a:t>
            </a:r>
            <a:r>
              <a:rPr lang="en-US" sz="2400" cap="none" spc="-30" dirty="0" err="1">
                <a:solidFill>
                  <a:srgbClr val="FF9900"/>
                </a:solidFill>
                <a:latin typeface="Times New Roman"/>
                <a:cs typeface="Times New Roman"/>
              </a:rPr>
              <a:t>Rasendramaṅgalam</a:t>
            </a:r>
            <a:r>
              <a:rPr lang="en-US" sz="2400" cap="none" spc="-30" dirty="0">
                <a:solidFill>
                  <a:srgbClr val="FF9900"/>
                </a:solidFill>
                <a:latin typeface="Times New Roman"/>
                <a:cs typeface="Times New Roman"/>
              </a:rPr>
              <a:t> </a:t>
            </a:r>
            <a:r>
              <a:rPr lang="en-US" sz="2400" cap="none" spc="-60" dirty="0" err="1">
                <a:solidFill>
                  <a:srgbClr val="FF9900"/>
                </a:solidFill>
                <a:latin typeface="Times New Roman"/>
                <a:cs typeface="Times New Roman"/>
              </a:rPr>
              <a:t>Vagbhaṭa's</a:t>
            </a:r>
            <a:r>
              <a:rPr lang="en-US" sz="2400" cap="none" dirty="0">
                <a:solidFill>
                  <a:srgbClr val="FF9900"/>
                </a:solidFill>
                <a:latin typeface="Times New Roman"/>
                <a:cs typeface="Times New Roman"/>
              </a:rPr>
              <a:t> </a:t>
            </a:r>
            <a:r>
              <a:rPr lang="en-US" sz="2400" cap="none" spc="-45" dirty="0" err="1">
                <a:solidFill>
                  <a:srgbClr val="FF9900"/>
                </a:solidFill>
                <a:latin typeface="Times New Roman"/>
                <a:cs typeface="Times New Roman"/>
              </a:rPr>
              <a:t>Rasaratnasamuccaya</a:t>
            </a:r>
            <a:r>
              <a:rPr lang="en-US" sz="2400" cap="none" spc="-4" dirty="0">
                <a:solidFill>
                  <a:prstClr val="black"/>
                </a:solidFill>
                <a:latin typeface="Times New Roman"/>
                <a:cs typeface="Times New Roman"/>
              </a:rPr>
              <a:t> </a:t>
            </a:r>
            <a:r>
              <a:rPr lang="en-US" sz="2400" cap="none" dirty="0" err="1">
                <a:solidFill>
                  <a:prstClr val="black"/>
                </a:solidFill>
                <a:latin typeface="Times New Roman"/>
                <a:cs typeface="Times New Roman"/>
              </a:rPr>
              <a:t>etc</a:t>
            </a:r>
            <a:r>
              <a:rPr lang="en-US" sz="2400" cap="none" spc="-4" dirty="0">
                <a:solidFill>
                  <a:prstClr val="black"/>
                </a:solidFill>
                <a:latin typeface="Times New Roman"/>
                <a:cs typeface="Times New Roman"/>
              </a:rPr>
              <a:t> </a:t>
            </a:r>
            <a:r>
              <a:rPr lang="en-US" sz="2400" cap="none" spc="-20" dirty="0">
                <a:solidFill>
                  <a:prstClr val="black"/>
                </a:solidFill>
                <a:latin typeface="Times New Roman"/>
                <a:cs typeface="Times New Roman"/>
              </a:rPr>
              <a:t>gives</a:t>
            </a:r>
            <a:r>
              <a:rPr lang="en-US" sz="2400" cap="none" dirty="0">
                <a:solidFill>
                  <a:prstClr val="black"/>
                </a:solidFill>
                <a:latin typeface="Times New Roman"/>
                <a:cs typeface="Times New Roman"/>
              </a:rPr>
              <a:t> us a</a:t>
            </a:r>
            <a:r>
              <a:rPr lang="en-US" sz="2400" cap="none" spc="-10" dirty="0">
                <a:solidFill>
                  <a:prstClr val="black"/>
                </a:solidFill>
                <a:latin typeface="Times New Roman"/>
                <a:cs typeface="Times New Roman"/>
              </a:rPr>
              <a:t> </a:t>
            </a:r>
            <a:r>
              <a:rPr lang="en-US" sz="2400" cap="none" spc="-35" dirty="0">
                <a:solidFill>
                  <a:prstClr val="black"/>
                </a:solidFill>
                <a:latin typeface="Times New Roman"/>
                <a:cs typeface="Times New Roman"/>
              </a:rPr>
              <a:t>systematic</a:t>
            </a:r>
            <a:r>
              <a:rPr lang="en-US" sz="2400" cap="none" spc="-14" dirty="0">
                <a:solidFill>
                  <a:prstClr val="black"/>
                </a:solidFill>
                <a:latin typeface="Times New Roman"/>
                <a:cs typeface="Times New Roman"/>
              </a:rPr>
              <a:t> </a:t>
            </a:r>
            <a:r>
              <a:rPr lang="en-US" sz="2400" cap="none" spc="-35" dirty="0">
                <a:solidFill>
                  <a:prstClr val="black"/>
                </a:solidFill>
                <a:latin typeface="Times New Roman"/>
                <a:cs typeface="Times New Roman"/>
              </a:rPr>
              <a:t>exposition</a:t>
            </a:r>
            <a:r>
              <a:rPr lang="en-US" sz="2400" cap="none" spc="-4" dirty="0">
                <a:solidFill>
                  <a:prstClr val="black"/>
                </a:solidFill>
                <a:latin typeface="Times New Roman"/>
                <a:cs typeface="Times New Roman"/>
              </a:rPr>
              <a:t> </a:t>
            </a:r>
            <a:r>
              <a:rPr lang="en-US" sz="2400" cap="none" dirty="0">
                <a:solidFill>
                  <a:prstClr val="black"/>
                </a:solidFill>
                <a:latin typeface="Times New Roman"/>
                <a:cs typeface="Times New Roman"/>
              </a:rPr>
              <a:t>of</a:t>
            </a:r>
            <a:r>
              <a:rPr lang="en-US" sz="2400" cap="none" spc="-10" dirty="0">
                <a:solidFill>
                  <a:prstClr val="black"/>
                </a:solidFill>
                <a:latin typeface="Times New Roman"/>
                <a:cs typeface="Times New Roman"/>
              </a:rPr>
              <a:t> </a:t>
            </a:r>
            <a:r>
              <a:rPr lang="en-US" sz="2400" cap="none" dirty="0">
                <a:solidFill>
                  <a:prstClr val="black"/>
                </a:solidFill>
                <a:latin typeface="Times New Roman"/>
                <a:cs typeface="Times New Roman"/>
              </a:rPr>
              <a:t>the</a:t>
            </a:r>
            <a:r>
              <a:rPr lang="en-US" sz="2400" cap="none" spc="-20" dirty="0">
                <a:solidFill>
                  <a:prstClr val="black"/>
                </a:solidFill>
                <a:latin typeface="Times New Roman"/>
                <a:cs typeface="Times New Roman"/>
              </a:rPr>
              <a:t> </a:t>
            </a:r>
            <a:r>
              <a:rPr lang="en-US" sz="2400" cap="none" spc="-35" dirty="0">
                <a:solidFill>
                  <a:prstClr val="black"/>
                </a:solidFill>
                <a:latin typeface="Times New Roman"/>
                <a:cs typeface="Times New Roman"/>
              </a:rPr>
              <a:t>principal</a:t>
            </a:r>
            <a:r>
              <a:rPr lang="en-US" sz="2400" cap="none" spc="4" dirty="0">
                <a:solidFill>
                  <a:prstClr val="black"/>
                </a:solidFill>
                <a:latin typeface="Times New Roman"/>
                <a:cs typeface="Times New Roman"/>
              </a:rPr>
              <a:t> </a:t>
            </a:r>
            <a:r>
              <a:rPr lang="en-US" sz="2400" cap="none" spc="-25" dirty="0">
                <a:solidFill>
                  <a:prstClr val="black"/>
                </a:solidFill>
                <a:latin typeface="Times New Roman"/>
                <a:cs typeface="Times New Roman"/>
              </a:rPr>
              <a:t>metals</a:t>
            </a:r>
            <a:r>
              <a:rPr lang="en-US" sz="2400" cap="none" dirty="0">
                <a:solidFill>
                  <a:prstClr val="black"/>
                </a:solidFill>
                <a:latin typeface="Times New Roman"/>
                <a:cs typeface="Times New Roman"/>
              </a:rPr>
              <a:t> in</a:t>
            </a:r>
            <a:r>
              <a:rPr lang="en-US" sz="2400" cap="none" spc="-4" dirty="0">
                <a:solidFill>
                  <a:prstClr val="black"/>
                </a:solidFill>
                <a:latin typeface="Times New Roman"/>
                <a:cs typeface="Times New Roman"/>
              </a:rPr>
              <a:t> </a:t>
            </a:r>
            <a:r>
              <a:rPr lang="en-US" sz="2400" cap="none" spc="-50" dirty="0">
                <a:solidFill>
                  <a:prstClr val="black"/>
                </a:solidFill>
                <a:latin typeface="Times New Roman"/>
                <a:cs typeface="Times New Roman"/>
              </a:rPr>
              <a:t>a </a:t>
            </a:r>
            <a:r>
              <a:rPr lang="en-US" sz="2400" cap="none" spc="-55" dirty="0">
                <a:solidFill>
                  <a:prstClr val="black"/>
                </a:solidFill>
                <a:latin typeface="Times New Roman"/>
                <a:cs typeface="Times New Roman"/>
              </a:rPr>
              <a:t>well-</a:t>
            </a:r>
            <a:r>
              <a:rPr lang="en-US" sz="2400" cap="none" spc="-45" dirty="0">
                <a:solidFill>
                  <a:prstClr val="black"/>
                </a:solidFill>
                <a:latin typeface="Times New Roman"/>
                <a:cs typeface="Times New Roman"/>
              </a:rPr>
              <a:t>known text</a:t>
            </a:r>
            <a:r>
              <a:rPr lang="en-US" sz="2400" cap="none" spc="-25" dirty="0">
                <a:solidFill>
                  <a:prstClr val="black"/>
                </a:solidFill>
                <a:latin typeface="Times New Roman"/>
                <a:cs typeface="Times New Roman"/>
              </a:rPr>
              <a:t> </a:t>
            </a:r>
            <a:r>
              <a:rPr lang="en-US" sz="2400" cap="none" spc="-35" dirty="0">
                <a:solidFill>
                  <a:prstClr val="black"/>
                </a:solidFill>
                <a:latin typeface="Times New Roman"/>
                <a:cs typeface="Times New Roman"/>
              </a:rPr>
              <a:t>of</a:t>
            </a:r>
            <a:r>
              <a:rPr lang="en-US" sz="2400" cap="none" spc="-25" dirty="0">
                <a:solidFill>
                  <a:prstClr val="black"/>
                </a:solidFill>
                <a:latin typeface="Times New Roman"/>
                <a:cs typeface="Times New Roman"/>
              </a:rPr>
              <a:t> </a:t>
            </a:r>
            <a:r>
              <a:rPr lang="en-US" sz="2400" cap="none" spc="-10" dirty="0">
                <a:solidFill>
                  <a:prstClr val="black"/>
                </a:solidFill>
                <a:latin typeface="Times New Roman"/>
                <a:cs typeface="Times New Roman"/>
              </a:rPr>
              <a:t>alchemy.</a:t>
            </a:r>
          </a:p>
          <a:p>
            <a:endParaRPr lang="en-US" dirty="0"/>
          </a:p>
        </p:txBody>
      </p:sp>
    </p:spTree>
    <p:extLst>
      <p:ext uri="{BB962C8B-B14F-4D97-AF65-F5344CB8AC3E}">
        <p14:creationId xmlns:p14="http://schemas.microsoft.com/office/powerpoint/2010/main" val="1075625578"/>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90600" y="1676400"/>
            <a:ext cx="7971118" cy="4456971"/>
          </a:xfrm>
          <a:prstGeom prst="rect">
            <a:avLst/>
          </a:prstGeom>
        </p:spPr>
        <p:txBody>
          <a:bodyPr vert="horz" wrap="square" lIns="0" tIns="24747" rIns="0" bIns="0" rtlCol="0">
            <a:spAutoFit/>
          </a:bodyPr>
          <a:lstStyle/>
          <a:p>
            <a:pPr marL="468936" marR="5715" lvl="3" indent="-342659" algn="just">
              <a:lnSpc>
                <a:spcPct val="150000"/>
              </a:lnSpc>
              <a:spcBef>
                <a:spcPts val="105"/>
              </a:spcBef>
              <a:buFont typeface="Symbol"/>
              <a:buChar char=""/>
              <a:tabLst>
                <a:tab pos="468936" algn="l"/>
              </a:tabLst>
            </a:pPr>
            <a:r>
              <a:rPr lang="en-IN" sz="2400" spc="-45" dirty="0" smtClean="0">
                <a:latin typeface="Times New Roman"/>
                <a:cs typeface="Times New Roman"/>
              </a:rPr>
              <a:t>According</a:t>
            </a:r>
            <a:r>
              <a:rPr lang="en-IN" sz="2400" spc="-14" dirty="0" smtClean="0">
                <a:latin typeface="Times New Roman"/>
                <a:cs typeface="Times New Roman"/>
              </a:rPr>
              <a:t> </a:t>
            </a:r>
            <a:r>
              <a:rPr lang="en-IN" sz="2400" spc="-30" dirty="0" smtClean="0">
                <a:latin typeface="Times New Roman"/>
                <a:cs typeface="Times New Roman"/>
              </a:rPr>
              <a:t>to</a:t>
            </a:r>
            <a:r>
              <a:rPr lang="en-IN" sz="2400" spc="-10" dirty="0" smtClean="0">
                <a:latin typeface="Times New Roman"/>
                <a:cs typeface="Times New Roman"/>
              </a:rPr>
              <a:t> </a:t>
            </a:r>
            <a:r>
              <a:rPr lang="en-IN" sz="2400" spc="-45" dirty="0" smtClean="0">
                <a:latin typeface="Times New Roman"/>
                <a:cs typeface="Times New Roman"/>
              </a:rPr>
              <a:t>ancient</a:t>
            </a:r>
            <a:r>
              <a:rPr lang="en-IN" sz="2400" spc="-10" dirty="0" smtClean="0">
                <a:latin typeface="Times New Roman"/>
                <a:cs typeface="Times New Roman"/>
              </a:rPr>
              <a:t> </a:t>
            </a:r>
            <a:r>
              <a:rPr lang="en-IN" sz="2400" spc="-50" dirty="0" smtClean="0">
                <a:latin typeface="Times New Roman"/>
                <a:cs typeface="Times New Roman"/>
              </a:rPr>
              <a:t>Indian</a:t>
            </a:r>
            <a:r>
              <a:rPr lang="en-IN" sz="2400" dirty="0" smtClean="0">
                <a:latin typeface="Times New Roman"/>
                <a:cs typeface="Times New Roman"/>
              </a:rPr>
              <a:t> </a:t>
            </a:r>
            <a:r>
              <a:rPr lang="en-IN" sz="2400" spc="-45" dirty="0" smtClean="0">
                <a:latin typeface="Times New Roman"/>
                <a:cs typeface="Times New Roman"/>
              </a:rPr>
              <a:t>literary</a:t>
            </a:r>
            <a:r>
              <a:rPr lang="en-IN" sz="2400" spc="-14" dirty="0" smtClean="0">
                <a:latin typeface="Times New Roman"/>
                <a:cs typeface="Times New Roman"/>
              </a:rPr>
              <a:t> </a:t>
            </a:r>
            <a:r>
              <a:rPr lang="en-IN" sz="2400" spc="-50" dirty="0" smtClean="0">
                <a:latin typeface="Times New Roman"/>
                <a:cs typeface="Times New Roman"/>
              </a:rPr>
              <a:t>reference,</a:t>
            </a:r>
            <a:r>
              <a:rPr lang="en-IN" sz="2400" spc="-10" dirty="0" smtClean="0">
                <a:latin typeface="Times New Roman"/>
                <a:cs typeface="Times New Roman"/>
              </a:rPr>
              <a:t> </a:t>
            </a:r>
            <a:r>
              <a:rPr lang="en-IN" sz="2400" spc="-30" dirty="0" smtClean="0">
                <a:latin typeface="Times New Roman"/>
                <a:cs typeface="Times New Roman"/>
              </a:rPr>
              <a:t>in</a:t>
            </a:r>
            <a:r>
              <a:rPr lang="en-IN" sz="2400" spc="-10" dirty="0" smtClean="0">
                <a:latin typeface="Times New Roman"/>
                <a:cs typeface="Times New Roman"/>
              </a:rPr>
              <a:t> </a:t>
            </a:r>
            <a:r>
              <a:rPr lang="en-IN" sz="2400" spc="-50" dirty="0" smtClean="0">
                <a:latin typeface="Times New Roman"/>
                <a:cs typeface="Times New Roman"/>
              </a:rPr>
              <a:t>nature</a:t>
            </a:r>
            <a:r>
              <a:rPr lang="en-IN" sz="2400" spc="-4" dirty="0" smtClean="0">
                <a:latin typeface="Times New Roman"/>
                <a:cs typeface="Times New Roman"/>
              </a:rPr>
              <a:t> </a:t>
            </a:r>
            <a:r>
              <a:rPr lang="en-IN" sz="2400" spc="-45" dirty="0" smtClean="0">
                <a:latin typeface="Times New Roman"/>
                <a:cs typeface="Times New Roman"/>
              </a:rPr>
              <a:t>there</a:t>
            </a:r>
            <a:r>
              <a:rPr lang="en-IN" sz="2400" spc="-20" dirty="0" smtClean="0">
                <a:latin typeface="Times New Roman"/>
                <a:cs typeface="Times New Roman"/>
              </a:rPr>
              <a:t> </a:t>
            </a:r>
            <a:r>
              <a:rPr lang="en-IN" sz="2400" spc="-40" dirty="0" smtClean="0">
                <a:latin typeface="Times New Roman"/>
                <a:cs typeface="Times New Roman"/>
              </a:rPr>
              <a:t>are</a:t>
            </a:r>
            <a:r>
              <a:rPr lang="en-IN" sz="2400" spc="-14" dirty="0" smtClean="0">
                <a:latin typeface="Times New Roman"/>
                <a:cs typeface="Times New Roman"/>
              </a:rPr>
              <a:t> </a:t>
            </a:r>
            <a:r>
              <a:rPr lang="en-IN" sz="2400" spc="-45" dirty="0" smtClean="0">
                <a:solidFill>
                  <a:srgbClr val="FF9900"/>
                </a:solidFill>
                <a:latin typeface="Times New Roman"/>
                <a:cs typeface="Times New Roman"/>
              </a:rPr>
              <a:t>four</a:t>
            </a:r>
            <a:r>
              <a:rPr lang="en-IN" sz="2400" spc="-10" dirty="0" smtClean="0">
                <a:solidFill>
                  <a:srgbClr val="FF9900"/>
                </a:solidFill>
                <a:latin typeface="Times New Roman"/>
                <a:cs typeface="Times New Roman"/>
              </a:rPr>
              <a:t> </a:t>
            </a:r>
            <a:r>
              <a:rPr lang="en-IN" sz="2400" spc="-40" dirty="0" err="1" smtClean="0">
                <a:solidFill>
                  <a:srgbClr val="FF9900"/>
                </a:solidFill>
                <a:latin typeface="Times New Roman"/>
                <a:cs typeface="Times New Roman"/>
              </a:rPr>
              <a:t>suddha</a:t>
            </a:r>
            <a:r>
              <a:rPr lang="en-IN" sz="2400" spc="-10" dirty="0" smtClean="0">
                <a:solidFill>
                  <a:srgbClr val="FF9900"/>
                </a:solidFill>
                <a:latin typeface="Times New Roman"/>
                <a:cs typeface="Times New Roman"/>
              </a:rPr>
              <a:t> </a:t>
            </a:r>
            <a:r>
              <a:rPr lang="en-IN" sz="2400" spc="-45" dirty="0" err="1" smtClean="0">
                <a:solidFill>
                  <a:srgbClr val="FF9900"/>
                </a:solidFill>
                <a:latin typeface="Times New Roman"/>
                <a:cs typeface="Times New Roman"/>
              </a:rPr>
              <a:t>lohas</a:t>
            </a:r>
            <a:r>
              <a:rPr lang="en-IN" sz="2400" dirty="0" smtClean="0">
                <a:solidFill>
                  <a:srgbClr val="FF9900"/>
                </a:solidFill>
                <a:latin typeface="Times New Roman"/>
                <a:cs typeface="Times New Roman"/>
              </a:rPr>
              <a:t> </a:t>
            </a:r>
            <a:r>
              <a:rPr lang="en-IN" sz="2400" spc="-55" dirty="0" smtClean="0">
                <a:solidFill>
                  <a:srgbClr val="FF9900"/>
                </a:solidFill>
                <a:latin typeface="Times New Roman"/>
                <a:cs typeface="Times New Roman"/>
              </a:rPr>
              <a:t>(native</a:t>
            </a:r>
            <a:r>
              <a:rPr lang="en-IN" sz="2400" spc="-14" dirty="0" smtClean="0">
                <a:solidFill>
                  <a:srgbClr val="FF9900"/>
                </a:solidFill>
                <a:latin typeface="Times New Roman"/>
                <a:cs typeface="Times New Roman"/>
              </a:rPr>
              <a:t> </a:t>
            </a:r>
            <a:r>
              <a:rPr lang="en-IN" sz="2400" spc="-10" dirty="0" smtClean="0">
                <a:solidFill>
                  <a:srgbClr val="FF9900"/>
                </a:solidFill>
                <a:latin typeface="Times New Roman"/>
                <a:cs typeface="Times New Roman"/>
              </a:rPr>
              <a:t>metals) </a:t>
            </a:r>
            <a:r>
              <a:rPr lang="en-IN" sz="2400" dirty="0" smtClean="0">
                <a:latin typeface="Times New Roman"/>
                <a:cs typeface="Times New Roman"/>
              </a:rPr>
              <a:t>viz.,</a:t>
            </a:r>
            <a:r>
              <a:rPr lang="en-IN" sz="2400" spc="20" dirty="0" smtClean="0">
                <a:latin typeface="Times New Roman"/>
                <a:cs typeface="Times New Roman"/>
              </a:rPr>
              <a:t> </a:t>
            </a:r>
            <a:r>
              <a:rPr lang="en-IN" sz="2400" spc="-10" dirty="0" err="1" smtClean="0">
                <a:latin typeface="Times New Roman"/>
                <a:cs typeface="Times New Roman"/>
              </a:rPr>
              <a:t>suvarṇa</a:t>
            </a:r>
            <a:r>
              <a:rPr lang="en-IN" sz="2400" spc="20" dirty="0" smtClean="0">
                <a:latin typeface="Times New Roman"/>
                <a:cs typeface="Times New Roman"/>
              </a:rPr>
              <a:t> </a:t>
            </a:r>
            <a:r>
              <a:rPr lang="en-IN" sz="2400" spc="-10" dirty="0" smtClean="0">
                <a:latin typeface="Times New Roman"/>
                <a:cs typeface="Times New Roman"/>
              </a:rPr>
              <a:t>(gold),</a:t>
            </a:r>
            <a:r>
              <a:rPr lang="en-IN" sz="2400" spc="20" dirty="0" smtClean="0">
                <a:latin typeface="Times New Roman"/>
                <a:cs typeface="Times New Roman"/>
              </a:rPr>
              <a:t> </a:t>
            </a:r>
            <a:r>
              <a:rPr lang="en-IN" sz="2400" dirty="0" err="1" smtClean="0">
                <a:latin typeface="Times New Roman"/>
                <a:cs typeface="Times New Roman"/>
              </a:rPr>
              <a:t>rajata</a:t>
            </a:r>
            <a:r>
              <a:rPr lang="en-IN" sz="2400" spc="25" dirty="0" smtClean="0">
                <a:latin typeface="Times New Roman"/>
                <a:cs typeface="Times New Roman"/>
              </a:rPr>
              <a:t> </a:t>
            </a:r>
            <a:r>
              <a:rPr lang="en-IN" sz="2400" spc="-20" dirty="0" smtClean="0">
                <a:latin typeface="Times New Roman"/>
                <a:cs typeface="Times New Roman"/>
              </a:rPr>
              <a:t>(silver),</a:t>
            </a:r>
            <a:r>
              <a:rPr lang="en-IN" sz="2400" spc="20" dirty="0" smtClean="0">
                <a:latin typeface="Times New Roman"/>
                <a:cs typeface="Times New Roman"/>
              </a:rPr>
              <a:t> </a:t>
            </a:r>
            <a:r>
              <a:rPr lang="en-IN" sz="2400" dirty="0" err="1" smtClean="0">
                <a:latin typeface="Times New Roman"/>
                <a:cs typeface="Times New Roman"/>
              </a:rPr>
              <a:t>tamra</a:t>
            </a:r>
            <a:r>
              <a:rPr lang="en-IN" sz="2400" spc="20" dirty="0" smtClean="0">
                <a:latin typeface="Times New Roman"/>
                <a:cs typeface="Times New Roman"/>
              </a:rPr>
              <a:t> </a:t>
            </a:r>
            <a:r>
              <a:rPr lang="en-IN" sz="2400" spc="-10" dirty="0" smtClean="0">
                <a:latin typeface="Times New Roman"/>
                <a:cs typeface="Times New Roman"/>
              </a:rPr>
              <a:t>(copper)</a:t>
            </a:r>
            <a:r>
              <a:rPr lang="en-IN" sz="2400" spc="10" dirty="0" smtClean="0">
                <a:latin typeface="Times New Roman"/>
                <a:cs typeface="Times New Roman"/>
              </a:rPr>
              <a:t> </a:t>
            </a:r>
            <a:r>
              <a:rPr lang="en-IN" sz="2400" dirty="0" smtClean="0">
                <a:latin typeface="Times New Roman"/>
                <a:cs typeface="Times New Roman"/>
              </a:rPr>
              <a:t>and</a:t>
            </a:r>
            <a:r>
              <a:rPr lang="en-IN" sz="2400" spc="14" dirty="0" smtClean="0">
                <a:latin typeface="Times New Roman"/>
                <a:cs typeface="Times New Roman"/>
              </a:rPr>
              <a:t> </a:t>
            </a:r>
            <a:r>
              <a:rPr lang="en-IN" sz="2400" dirty="0" err="1" smtClean="0">
                <a:latin typeface="Times New Roman"/>
                <a:cs typeface="Times New Roman"/>
              </a:rPr>
              <a:t>loha</a:t>
            </a:r>
            <a:r>
              <a:rPr lang="en-IN" sz="2400" spc="20" dirty="0" smtClean="0">
                <a:latin typeface="Times New Roman"/>
                <a:cs typeface="Times New Roman"/>
              </a:rPr>
              <a:t> </a:t>
            </a:r>
            <a:r>
              <a:rPr lang="en-IN" sz="2400" spc="-10" dirty="0" smtClean="0">
                <a:latin typeface="Times New Roman"/>
                <a:cs typeface="Times New Roman"/>
              </a:rPr>
              <a:t>(iron).</a:t>
            </a:r>
            <a:r>
              <a:rPr lang="en-IN" sz="2400" spc="20" dirty="0" smtClean="0">
                <a:latin typeface="Times New Roman"/>
                <a:cs typeface="Times New Roman"/>
              </a:rPr>
              <a:t> </a:t>
            </a:r>
            <a:r>
              <a:rPr lang="en-IN" sz="2400" dirty="0" smtClean="0">
                <a:latin typeface="Times New Roman"/>
                <a:cs typeface="Times New Roman"/>
              </a:rPr>
              <a:t>In</a:t>
            </a:r>
            <a:r>
              <a:rPr lang="en-IN" sz="2400" spc="25" dirty="0" smtClean="0">
                <a:latin typeface="Times New Roman"/>
                <a:cs typeface="Times New Roman"/>
              </a:rPr>
              <a:t> </a:t>
            </a:r>
            <a:r>
              <a:rPr lang="en-IN" sz="2400" spc="-20" dirty="0" smtClean="0">
                <a:latin typeface="Times New Roman"/>
                <a:cs typeface="Times New Roman"/>
              </a:rPr>
              <a:t>addition</a:t>
            </a:r>
            <a:r>
              <a:rPr lang="en-IN" sz="2400" spc="10" dirty="0" smtClean="0">
                <a:latin typeface="Times New Roman"/>
                <a:cs typeface="Times New Roman"/>
              </a:rPr>
              <a:t> </a:t>
            </a:r>
            <a:r>
              <a:rPr lang="en-IN" sz="2400" dirty="0" smtClean="0">
                <a:latin typeface="Times New Roman"/>
                <a:cs typeface="Times New Roman"/>
              </a:rPr>
              <a:t>there</a:t>
            </a:r>
            <a:r>
              <a:rPr lang="en-IN" sz="2400" spc="4" dirty="0" smtClean="0">
                <a:latin typeface="Times New Roman"/>
                <a:cs typeface="Times New Roman"/>
              </a:rPr>
              <a:t> </a:t>
            </a:r>
            <a:r>
              <a:rPr lang="en-IN" sz="2400" dirty="0" smtClean="0">
                <a:latin typeface="Times New Roman"/>
                <a:cs typeface="Times New Roman"/>
              </a:rPr>
              <a:t>are</a:t>
            </a:r>
            <a:r>
              <a:rPr lang="en-IN" sz="2400" spc="10" dirty="0" smtClean="0">
                <a:latin typeface="Times New Roman"/>
                <a:cs typeface="Times New Roman"/>
              </a:rPr>
              <a:t> </a:t>
            </a:r>
            <a:r>
              <a:rPr lang="en-IN" sz="2400" spc="-25" dirty="0" smtClean="0">
                <a:solidFill>
                  <a:srgbClr val="FF9900"/>
                </a:solidFill>
                <a:latin typeface="Times New Roman"/>
                <a:cs typeface="Times New Roman"/>
              </a:rPr>
              <a:t>two </a:t>
            </a:r>
            <a:r>
              <a:rPr lang="en-IN" sz="2400" spc="-50" dirty="0" err="1" smtClean="0">
                <a:solidFill>
                  <a:srgbClr val="FF9900"/>
                </a:solidFill>
                <a:latin typeface="Times New Roman"/>
                <a:cs typeface="Times New Roman"/>
              </a:rPr>
              <a:t>putilohas</a:t>
            </a:r>
            <a:r>
              <a:rPr lang="en-IN" sz="2400" spc="-50" dirty="0" smtClean="0">
                <a:latin typeface="Times New Roman"/>
                <a:cs typeface="Times New Roman"/>
              </a:rPr>
              <a:t>-</a:t>
            </a:r>
            <a:r>
              <a:rPr lang="en-IN" sz="2400" spc="4" dirty="0" smtClean="0">
                <a:latin typeface="Times New Roman"/>
                <a:cs typeface="Times New Roman"/>
              </a:rPr>
              <a:t> </a:t>
            </a:r>
            <a:r>
              <a:rPr lang="en-IN" sz="2400" spc="-55" dirty="0" err="1" smtClean="0">
                <a:latin typeface="Times New Roman"/>
                <a:cs typeface="Times New Roman"/>
              </a:rPr>
              <a:t>naga</a:t>
            </a:r>
            <a:r>
              <a:rPr lang="en-IN" sz="2400" dirty="0" smtClean="0">
                <a:latin typeface="Times New Roman"/>
                <a:cs typeface="Times New Roman"/>
              </a:rPr>
              <a:t> </a:t>
            </a:r>
            <a:r>
              <a:rPr lang="en-IN" sz="2400" spc="-60" dirty="0" smtClean="0">
                <a:latin typeface="Times New Roman"/>
                <a:cs typeface="Times New Roman"/>
              </a:rPr>
              <a:t>(lead)</a:t>
            </a:r>
            <a:r>
              <a:rPr lang="en-IN" sz="2400" spc="-10" dirty="0" smtClean="0">
                <a:latin typeface="Times New Roman"/>
                <a:cs typeface="Times New Roman"/>
              </a:rPr>
              <a:t> </a:t>
            </a:r>
            <a:r>
              <a:rPr lang="en-IN" sz="2400" spc="-50" dirty="0" smtClean="0">
                <a:latin typeface="Times New Roman"/>
                <a:cs typeface="Times New Roman"/>
              </a:rPr>
              <a:t>and</a:t>
            </a:r>
            <a:r>
              <a:rPr lang="en-IN" sz="2400" dirty="0" smtClean="0">
                <a:latin typeface="Times New Roman"/>
                <a:cs typeface="Times New Roman"/>
              </a:rPr>
              <a:t> </a:t>
            </a:r>
            <a:r>
              <a:rPr lang="en-IN" sz="2400" spc="-45" dirty="0" err="1" smtClean="0">
                <a:latin typeface="Times New Roman"/>
                <a:cs typeface="Times New Roman"/>
              </a:rPr>
              <a:t>vaṅga</a:t>
            </a:r>
            <a:r>
              <a:rPr lang="en-IN" sz="2400" dirty="0" smtClean="0">
                <a:latin typeface="Times New Roman"/>
                <a:cs typeface="Times New Roman"/>
              </a:rPr>
              <a:t> </a:t>
            </a:r>
            <a:r>
              <a:rPr lang="en-IN" sz="2400" spc="-60" dirty="0" smtClean="0">
                <a:latin typeface="Times New Roman"/>
                <a:cs typeface="Times New Roman"/>
              </a:rPr>
              <a:t>(tin)</a:t>
            </a:r>
            <a:r>
              <a:rPr lang="en-IN" sz="2400" spc="-10" dirty="0" smtClean="0">
                <a:latin typeface="Times New Roman"/>
                <a:cs typeface="Times New Roman"/>
              </a:rPr>
              <a:t> </a:t>
            </a:r>
            <a:r>
              <a:rPr lang="en-IN" sz="2400" spc="-50" dirty="0" smtClean="0">
                <a:latin typeface="Times New Roman"/>
                <a:cs typeface="Times New Roman"/>
              </a:rPr>
              <a:t>and</a:t>
            </a:r>
            <a:r>
              <a:rPr lang="en-IN" sz="2400" dirty="0" smtClean="0">
                <a:latin typeface="Times New Roman"/>
                <a:cs typeface="Times New Roman"/>
              </a:rPr>
              <a:t> </a:t>
            </a:r>
            <a:r>
              <a:rPr lang="en-IN" sz="2400" spc="-55" dirty="0" smtClean="0">
                <a:solidFill>
                  <a:srgbClr val="FF9900"/>
                </a:solidFill>
                <a:latin typeface="Times New Roman"/>
                <a:cs typeface="Times New Roman"/>
              </a:rPr>
              <a:t>three</a:t>
            </a:r>
            <a:r>
              <a:rPr lang="en-IN" sz="2400" spc="10" dirty="0" smtClean="0">
                <a:solidFill>
                  <a:srgbClr val="FF9900"/>
                </a:solidFill>
                <a:latin typeface="Times New Roman"/>
                <a:cs typeface="Times New Roman"/>
              </a:rPr>
              <a:t> </a:t>
            </a:r>
            <a:r>
              <a:rPr lang="en-IN" sz="2400" spc="-55" dirty="0" err="1" smtClean="0">
                <a:solidFill>
                  <a:srgbClr val="FF9900"/>
                </a:solidFill>
                <a:latin typeface="Times New Roman"/>
                <a:cs typeface="Times New Roman"/>
              </a:rPr>
              <a:t>misra</a:t>
            </a:r>
            <a:r>
              <a:rPr lang="en-IN" sz="2400" spc="-4" dirty="0" smtClean="0">
                <a:solidFill>
                  <a:srgbClr val="FF9900"/>
                </a:solidFill>
                <a:latin typeface="Times New Roman"/>
                <a:cs typeface="Times New Roman"/>
              </a:rPr>
              <a:t> </a:t>
            </a:r>
            <a:r>
              <a:rPr lang="en-IN" sz="2400" spc="-50" dirty="0" err="1" smtClean="0">
                <a:solidFill>
                  <a:srgbClr val="FF9900"/>
                </a:solidFill>
                <a:latin typeface="Times New Roman"/>
                <a:cs typeface="Times New Roman"/>
              </a:rPr>
              <a:t>loha</a:t>
            </a:r>
            <a:r>
              <a:rPr lang="en-IN" sz="2400" spc="25" dirty="0" smtClean="0">
                <a:solidFill>
                  <a:srgbClr val="FF9900"/>
                </a:solidFill>
                <a:latin typeface="Times New Roman"/>
                <a:cs typeface="Times New Roman"/>
              </a:rPr>
              <a:t> </a:t>
            </a:r>
            <a:r>
              <a:rPr lang="en-IN" sz="2400" spc="-50" dirty="0" smtClean="0">
                <a:solidFill>
                  <a:srgbClr val="FF9900"/>
                </a:solidFill>
                <a:latin typeface="Times New Roman"/>
                <a:cs typeface="Times New Roman"/>
              </a:rPr>
              <a:t>(alloys)</a:t>
            </a:r>
            <a:r>
              <a:rPr lang="en-IN" sz="2400" spc="-10" dirty="0" smtClean="0">
                <a:latin typeface="Times New Roman"/>
                <a:cs typeface="Times New Roman"/>
              </a:rPr>
              <a:t> </a:t>
            </a:r>
            <a:r>
              <a:rPr lang="en-IN" sz="2400" spc="-55" dirty="0" smtClean="0">
                <a:latin typeface="Times New Roman"/>
                <a:cs typeface="Times New Roman"/>
              </a:rPr>
              <a:t>viz.,</a:t>
            </a:r>
            <a:r>
              <a:rPr lang="en-IN" sz="2400" dirty="0" smtClean="0">
                <a:latin typeface="Times New Roman"/>
                <a:cs typeface="Times New Roman"/>
              </a:rPr>
              <a:t> </a:t>
            </a:r>
            <a:r>
              <a:rPr lang="en-IN" sz="2400" spc="-50" dirty="0" err="1" smtClean="0">
                <a:latin typeface="Times New Roman"/>
                <a:cs typeface="Times New Roman"/>
              </a:rPr>
              <a:t>pittala</a:t>
            </a:r>
            <a:r>
              <a:rPr lang="en-IN" sz="2400" spc="14" dirty="0" smtClean="0">
                <a:latin typeface="Times New Roman"/>
                <a:cs typeface="Times New Roman"/>
              </a:rPr>
              <a:t> </a:t>
            </a:r>
            <a:r>
              <a:rPr lang="en-IN" sz="2400" spc="-55" dirty="0" smtClean="0">
                <a:latin typeface="Times New Roman"/>
                <a:cs typeface="Times New Roman"/>
              </a:rPr>
              <a:t>(brass),</a:t>
            </a:r>
            <a:r>
              <a:rPr lang="en-IN" sz="2400" spc="10" dirty="0" smtClean="0">
                <a:latin typeface="Times New Roman"/>
                <a:cs typeface="Times New Roman"/>
              </a:rPr>
              <a:t> </a:t>
            </a:r>
            <a:r>
              <a:rPr lang="en-IN" sz="2400" spc="-45" dirty="0" err="1" smtClean="0">
                <a:latin typeface="Times New Roman"/>
                <a:cs typeface="Times New Roman"/>
              </a:rPr>
              <a:t>kaṃsya</a:t>
            </a:r>
            <a:r>
              <a:rPr lang="en-IN" sz="2400" dirty="0" smtClean="0">
                <a:latin typeface="Times New Roman"/>
                <a:cs typeface="Times New Roman"/>
              </a:rPr>
              <a:t> </a:t>
            </a:r>
            <a:r>
              <a:rPr lang="en-IN" sz="2400" spc="-10" dirty="0" smtClean="0">
                <a:latin typeface="Times New Roman"/>
                <a:cs typeface="Times New Roman"/>
              </a:rPr>
              <a:t>(bell </a:t>
            </a:r>
            <a:r>
              <a:rPr lang="en-IN" sz="2400" spc="-20" dirty="0" smtClean="0">
                <a:latin typeface="Times New Roman"/>
                <a:cs typeface="Times New Roman"/>
              </a:rPr>
              <a:t>metal)</a:t>
            </a:r>
            <a:r>
              <a:rPr lang="en-IN" sz="2400" spc="-45" dirty="0" smtClean="0">
                <a:latin typeface="Times New Roman"/>
                <a:cs typeface="Times New Roman"/>
              </a:rPr>
              <a:t> </a:t>
            </a:r>
            <a:r>
              <a:rPr lang="en-IN" sz="2400" dirty="0" smtClean="0">
                <a:latin typeface="Times New Roman"/>
                <a:cs typeface="Times New Roman"/>
              </a:rPr>
              <a:t>and</a:t>
            </a:r>
            <a:r>
              <a:rPr lang="en-IN" sz="2400" spc="-25" dirty="0" smtClean="0">
                <a:latin typeface="Times New Roman"/>
                <a:cs typeface="Times New Roman"/>
              </a:rPr>
              <a:t> </a:t>
            </a:r>
            <a:r>
              <a:rPr lang="en-IN" sz="2400" spc="-20" dirty="0" err="1" smtClean="0">
                <a:latin typeface="Times New Roman"/>
                <a:cs typeface="Times New Roman"/>
              </a:rPr>
              <a:t>varta</a:t>
            </a:r>
            <a:r>
              <a:rPr lang="en-IN" sz="2400" spc="-40" dirty="0" smtClean="0">
                <a:latin typeface="Times New Roman"/>
                <a:cs typeface="Times New Roman"/>
              </a:rPr>
              <a:t> </a:t>
            </a:r>
            <a:r>
              <a:rPr lang="en-IN" sz="2400" dirty="0" err="1" smtClean="0">
                <a:latin typeface="Times New Roman"/>
                <a:cs typeface="Times New Roman"/>
              </a:rPr>
              <a:t>loha</a:t>
            </a:r>
            <a:r>
              <a:rPr lang="en-IN" sz="2400" spc="-30" dirty="0" smtClean="0">
                <a:latin typeface="Times New Roman"/>
                <a:cs typeface="Times New Roman"/>
              </a:rPr>
              <a:t> </a:t>
            </a:r>
            <a:r>
              <a:rPr lang="en-IN" sz="2400" dirty="0" smtClean="0">
                <a:latin typeface="Times New Roman"/>
                <a:cs typeface="Times New Roman"/>
              </a:rPr>
              <a:t>(an</a:t>
            </a:r>
            <a:r>
              <a:rPr lang="en-IN" sz="2400" spc="-30" dirty="0" smtClean="0">
                <a:latin typeface="Times New Roman"/>
                <a:cs typeface="Times New Roman"/>
              </a:rPr>
              <a:t> </a:t>
            </a:r>
            <a:r>
              <a:rPr lang="en-IN" sz="2400" spc="-20" dirty="0" smtClean="0">
                <a:latin typeface="Times New Roman"/>
                <a:cs typeface="Times New Roman"/>
              </a:rPr>
              <a:t>alloy</a:t>
            </a:r>
            <a:r>
              <a:rPr lang="en-IN" sz="2400" spc="-35" dirty="0" smtClean="0">
                <a:latin typeface="Times New Roman"/>
                <a:cs typeface="Times New Roman"/>
              </a:rPr>
              <a:t> </a:t>
            </a:r>
            <a:r>
              <a:rPr lang="en-IN" sz="2400" dirty="0" smtClean="0">
                <a:latin typeface="Times New Roman"/>
                <a:cs typeface="Times New Roman"/>
              </a:rPr>
              <a:t>made</a:t>
            </a:r>
            <a:r>
              <a:rPr lang="en-IN" sz="2400" spc="-30" dirty="0" smtClean="0">
                <a:latin typeface="Times New Roman"/>
                <a:cs typeface="Times New Roman"/>
              </a:rPr>
              <a:t> </a:t>
            </a:r>
            <a:r>
              <a:rPr lang="en-IN" sz="2400" dirty="0" smtClean="0">
                <a:latin typeface="Times New Roman"/>
                <a:cs typeface="Times New Roman"/>
              </a:rPr>
              <a:t>of</a:t>
            </a:r>
            <a:r>
              <a:rPr lang="en-IN" sz="2400" spc="-40" dirty="0" smtClean="0">
                <a:latin typeface="Times New Roman"/>
                <a:cs typeface="Times New Roman"/>
              </a:rPr>
              <a:t> </a:t>
            </a:r>
            <a:r>
              <a:rPr lang="en-IN" sz="2400" spc="-10" dirty="0" smtClean="0">
                <a:latin typeface="Times New Roman"/>
                <a:cs typeface="Times New Roman"/>
              </a:rPr>
              <a:t>five</a:t>
            </a:r>
            <a:r>
              <a:rPr lang="en-IN" sz="2400" spc="-30" dirty="0" smtClean="0">
                <a:latin typeface="Times New Roman"/>
                <a:cs typeface="Times New Roman"/>
              </a:rPr>
              <a:t> metals). </a:t>
            </a:r>
            <a:r>
              <a:rPr lang="en-IN" sz="2400" dirty="0" smtClean="0">
                <a:latin typeface="Times New Roman"/>
                <a:cs typeface="Times New Roman"/>
              </a:rPr>
              <a:t>The</a:t>
            </a:r>
            <a:r>
              <a:rPr lang="en-IN" sz="2400" spc="-35" dirty="0" smtClean="0">
                <a:latin typeface="Times New Roman"/>
                <a:cs typeface="Times New Roman"/>
              </a:rPr>
              <a:t> </a:t>
            </a:r>
            <a:r>
              <a:rPr lang="en-IN" sz="2400" dirty="0" smtClean="0">
                <a:latin typeface="Times New Roman"/>
                <a:cs typeface="Times New Roman"/>
              </a:rPr>
              <a:t>term</a:t>
            </a:r>
            <a:r>
              <a:rPr lang="en-IN" sz="2400" spc="-40" dirty="0" smtClean="0">
                <a:latin typeface="Times New Roman"/>
                <a:cs typeface="Times New Roman"/>
              </a:rPr>
              <a:t> </a:t>
            </a:r>
            <a:r>
              <a:rPr lang="en-IN" sz="2400" spc="-10" dirty="0" err="1" smtClean="0">
                <a:latin typeface="Times New Roman"/>
                <a:cs typeface="Times New Roman"/>
              </a:rPr>
              <a:t>loha</a:t>
            </a:r>
            <a:r>
              <a:rPr lang="en-IN" sz="2400" spc="-40" dirty="0" smtClean="0">
                <a:latin typeface="Times New Roman"/>
                <a:cs typeface="Times New Roman"/>
              </a:rPr>
              <a:t> </a:t>
            </a:r>
            <a:r>
              <a:rPr lang="en-IN" sz="2400" dirty="0" smtClean="0">
                <a:latin typeface="Times New Roman"/>
                <a:cs typeface="Times New Roman"/>
              </a:rPr>
              <a:t>is</a:t>
            </a:r>
            <a:r>
              <a:rPr lang="en-IN" sz="2400" spc="-30" dirty="0" smtClean="0">
                <a:latin typeface="Times New Roman"/>
                <a:cs typeface="Times New Roman"/>
              </a:rPr>
              <a:t> derived </a:t>
            </a:r>
            <a:r>
              <a:rPr lang="en-IN" sz="2400" dirty="0" smtClean="0">
                <a:latin typeface="Times New Roman"/>
                <a:cs typeface="Times New Roman"/>
              </a:rPr>
              <a:t>from</a:t>
            </a:r>
            <a:r>
              <a:rPr lang="en-IN" sz="2400" spc="-30" dirty="0" smtClean="0">
                <a:latin typeface="Times New Roman"/>
                <a:cs typeface="Times New Roman"/>
              </a:rPr>
              <a:t> </a:t>
            </a:r>
            <a:r>
              <a:rPr lang="en-IN" sz="2400" dirty="0" smtClean="0">
                <a:latin typeface="Times New Roman"/>
                <a:cs typeface="Times New Roman"/>
              </a:rPr>
              <a:t>the</a:t>
            </a:r>
            <a:r>
              <a:rPr lang="en-IN" sz="2400" spc="-35" dirty="0" smtClean="0">
                <a:latin typeface="Times New Roman"/>
                <a:cs typeface="Times New Roman"/>
              </a:rPr>
              <a:t> </a:t>
            </a:r>
            <a:r>
              <a:rPr lang="en-IN" sz="2400" dirty="0" smtClean="0">
                <a:solidFill>
                  <a:srgbClr val="FF9900"/>
                </a:solidFill>
                <a:latin typeface="Times New Roman"/>
                <a:cs typeface="Times New Roman"/>
              </a:rPr>
              <a:t>root</a:t>
            </a:r>
            <a:r>
              <a:rPr lang="en-IN" sz="2400" spc="-35" dirty="0" smtClean="0">
                <a:solidFill>
                  <a:srgbClr val="FF9900"/>
                </a:solidFill>
                <a:latin typeface="Times New Roman"/>
                <a:cs typeface="Times New Roman"/>
              </a:rPr>
              <a:t> </a:t>
            </a:r>
            <a:r>
              <a:rPr lang="en-IN" sz="2400" spc="-25" dirty="0" err="1" smtClean="0">
                <a:solidFill>
                  <a:srgbClr val="FF9900"/>
                </a:solidFill>
                <a:latin typeface="Times New Roman"/>
                <a:cs typeface="Times New Roman"/>
              </a:rPr>
              <a:t>luh</a:t>
            </a:r>
            <a:r>
              <a:rPr lang="en-IN" sz="2400" spc="-25" dirty="0" smtClean="0">
                <a:solidFill>
                  <a:srgbClr val="FF9900"/>
                </a:solidFill>
                <a:latin typeface="Times New Roman"/>
                <a:cs typeface="Times New Roman"/>
              </a:rPr>
              <a:t> </a:t>
            </a:r>
            <a:r>
              <a:rPr lang="en-IN" sz="2400" spc="-45" dirty="0" smtClean="0">
                <a:solidFill>
                  <a:srgbClr val="FF9900"/>
                </a:solidFill>
                <a:latin typeface="Times New Roman"/>
                <a:cs typeface="Times New Roman"/>
              </a:rPr>
              <a:t>which</a:t>
            </a:r>
            <a:r>
              <a:rPr lang="en-IN" sz="2400" spc="-30" dirty="0" smtClean="0">
                <a:solidFill>
                  <a:srgbClr val="FF9900"/>
                </a:solidFill>
                <a:latin typeface="Times New Roman"/>
                <a:cs typeface="Times New Roman"/>
              </a:rPr>
              <a:t> </a:t>
            </a:r>
            <a:r>
              <a:rPr lang="en-IN" sz="2400" spc="-45" dirty="0" smtClean="0">
                <a:solidFill>
                  <a:srgbClr val="FF9900"/>
                </a:solidFill>
                <a:latin typeface="Times New Roman"/>
                <a:cs typeface="Times New Roman"/>
              </a:rPr>
              <a:t>means</a:t>
            </a:r>
            <a:r>
              <a:rPr lang="en-IN" sz="2400" spc="-40" dirty="0" smtClean="0">
                <a:solidFill>
                  <a:srgbClr val="FF9900"/>
                </a:solidFill>
                <a:latin typeface="Times New Roman"/>
                <a:cs typeface="Times New Roman"/>
              </a:rPr>
              <a:t> </a:t>
            </a:r>
            <a:r>
              <a:rPr lang="en-IN" sz="2400" spc="-10" dirty="0" err="1" smtClean="0">
                <a:solidFill>
                  <a:srgbClr val="FF9900"/>
                </a:solidFill>
                <a:latin typeface="Times New Roman"/>
                <a:cs typeface="Times New Roman"/>
              </a:rPr>
              <a:t>karsana</a:t>
            </a:r>
            <a:r>
              <a:rPr lang="en-IN" sz="2400" spc="-10" dirty="0" smtClean="0">
                <a:solidFill>
                  <a:srgbClr val="FF9900"/>
                </a:solidFill>
                <a:latin typeface="Times New Roman"/>
                <a:cs typeface="Times New Roman"/>
              </a:rPr>
              <a:t>.</a:t>
            </a:r>
            <a:endParaRPr sz="2400" dirty="0">
              <a:solidFill>
                <a:srgbClr val="FF9900"/>
              </a:solidFill>
              <a:latin typeface="Times New Roman"/>
              <a:cs typeface="Times New Roman"/>
            </a:endParaRPr>
          </a:p>
          <a:p>
            <a:pPr marL="12691" algn="just">
              <a:lnSpc>
                <a:spcPct val="150000"/>
              </a:lnSpc>
            </a:pPr>
            <a:endParaRPr sz="2400" dirty="0">
              <a:latin typeface="Times New Roman"/>
              <a:cs typeface="Times New Roman"/>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048966" y="614336"/>
            <a:ext cx="7971118" cy="573857"/>
          </a:xfrm>
          <a:prstGeom prst="rect">
            <a:avLst/>
          </a:prstGeom>
        </p:spPr>
        <p:txBody>
          <a:bodyPr vert="horz" wrap="square" lIns="0" tIns="24747" rIns="0" bIns="0" rtlCol="0">
            <a:spAutoFit/>
          </a:bodyPr>
          <a:lstStyle/>
          <a:p>
            <a:pPr marL="126277" marR="5080" algn="just">
              <a:spcBef>
                <a:spcPts val="65"/>
              </a:spcBef>
              <a:tabLst>
                <a:tab pos="468936" algn="l"/>
              </a:tabLst>
            </a:pPr>
            <a:endParaRPr sz="2400" dirty="0">
              <a:latin typeface="Times New Roman"/>
              <a:cs typeface="Times New Roman"/>
            </a:endParaRPr>
          </a:p>
          <a:p>
            <a:pPr marL="12691" algn="just">
              <a:lnSpc>
                <a:spcPts val="1405"/>
              </a:lnSpc>
            </a:pPr>
            <a:endParaRPr sz="2400" dirty="0">
              <a:latin typeface="Times New Roman"/>
              <a:cs typeface="Times New Roman"/>
            </a:endParaRPr>
          </a:p>
        </p:txBody>
      </p:sp>
      <p:sp>
        <p:nvSpPr>
          <p:cNvPr id="4" name="TextBox 3"/>
          <p:cNvSpPr txBox="1"/>
          <p:nvPr/>
        </p:nvSpPr>
        <p:spPr>
          <a:xfrm>
            <a:off x="3810000" y="1752600"/>
            <a:ext cx="2667000" cy="923330"/>
          </a:xfrm>
          <a:prstGeom prst="rect">
            <a:avLst/>
          </a:prstGeom>
          <a:noFill/>
        </p:spPr>
        <p:txBody>
          <a:bodyPr wrap="square" rtlCol="0">
            <a:spAutoFit/>
          </a:bodyPr>
          <a:lstStyle/>
          <a:p>
            <a:r>
              <a:rPr lang="en-US" sz="5400" dirty="0" smtClean="0">
                <a:solidFill>
                  <a:srgbClr val="FF9900"/>
                </a:solidFill>
                <a:latin typeface="Brush Script MT" pitchFamily="66" charset="0"/>
              </a:rPr>
              <a:t>Thank you</a:t>
            </a:r>
            <a:endParaRPr lang="en-IN" sz="5400" dirty="0">
              <a:solidFill>
                <a:srgbClr val="FF9900"/>
              </a:solidFill>
              <a:latin typeface="Brush Script MT" pitchFamily="66" charset="0"/>
            </a:endParaRPr>
          </a:p>
        </p:txBody>
      </p:sp>
    </p:spTree>
    <p:extLst>
      <p:ext uri="{BB962C8B-B14F-4D97-AF65-F5344CB8AC3E}">
        <p14:creationId xmlns:p14="http://schemas.microsoft.com/office/powerpoint/2010/main" val="3787069968"/>
      </p:ext>
    </p:extLst>
  </p:cSld>
  <p:clrMapOvr>
    <a:masterClrMapping/>
  </p:clrMapOvr>
  <p:timing>
    <p:tnLst>
      <p:par>
        <p:cTn id="1" dur="indefinite" restart="never" nodeType="tmRoot"/>
      </p:par>
    </p:tnLst>
  </p:timing>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docProps/app.xml><?xml version="1.0" encoding="utf-8"?>
<Properties xmlns="http://schemas.openxmlformats.org/officeDocument/2006/extended-properties" xmlns:vt="http://schemas.openxmlformats.org/officeDocument/2006/docPropsVTypes">
  <Template>Droplet</Template>
  <TotalTime>700</TotalTime>
  <Words>3424</Words>
  <Application>Microsoft Office PowerPoint</Application>
  <PresentationFormat>Custom</PresentationFormat>
  <Paragraphs>259</Paragraphs>
  <Slides>49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49</vt:i4>
      </vt:variant>
    </vt:vector>
  </HeadingPairs>
  <TitlesOfParts>
    <vt:vector size="56" baseType="lpstr">
      <vt:lpstr>Arial</vt:lpstr>
      <vt:lpstr>Brush Script MT</vt:lpstr>
      <vt:lpstr>Symbol</vt:lpstr>
      <vt:lpstr>Times New Roman</vt:lpstr>
      <vt:lpstr>Tw Cen MT</vt:lpstr>
      <vt:lpstr>Wingdings</vt:lpstr>
      <vt:lpstr>Droplet</vt:lpstr>
      <vt:lpstr>UNIT-I ( Chapter-II ) </vt:lpstr>
      <vt:lpstr>PowerPoint Presentation</vt:lpstr>
      <vt:lpstr>PowerPoint Presentation</vt:lpstr>
      <vt:lpstr>PowerPoint Presentation</vt:lpstr>
      <vt:lpstr>PowerPoint Presentation</vt:lpstr>
      <vt:lpstr>PowerPoint Presentation</vt:lpstr>
      <vt:lpstr>PowerPoint Presentation</vt:lpstr>
      <vt:lpstr>                </vt:lpstr>
      <vt:lpstr>PowerPoint Presentation</vt:lpstr>
      <vt:lpstr>PowerPoint Presentation</vt:lpstr>
      <vt:lpstr>PowerPoint Presentation</vt:lpstr>
      <vt:lpstr>PowerPoint Presentation</vt:lpstr>
      <vt:lpstr>         </vt:lpstr>
      <vt:lpstr>PowerPoint Presentation</vt:lpstr>
      <vt:lpstr>             </vt:lpstr>
      <vt:lpstr>PowerPoint Presentation</vt:lpstr>
      <vt:lpstr>PowerPoint Presentation</vt:lpstr>
      <vt:lpstr>PowerPoint Presentation</vt:lpstr>
      <vt:lpstr>PowerPoint Presentation</vt:lpstr>
      <vt:lpstr>    </vt:lpstr>
      <vt:lpstr>PowerPoint Presentation</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Kautilya The Director of Mines, being conversant with the sciences of metal veins in the earth and metallurgy, the art of smelting and the art of colouring gems, or  having the assistance of experts in these, and fully equipped with workmen skilled in the work and with implements, should inspect  an old mine by the marks of dross, crucibles, coal and ashes, or a new mine, where there are ores in the earth, in rocks or in liquid form, with excessive colour and heaviness and with a strong smell and taste.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Sabita</dc:creator>
  <cp:lastModifiedBy>Sabita</cp:lastModifiedBy>
  <cp:revision>90</cp:revision>
  <dcterms:created xsi:type="dcterms:W3CDTF">2026-02-19T05:29:50Z</dcterms:created>
  <dcterms:modified xsi:type="dcterms:W3CDTF">2026-03-16T05:58:27Z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2026-02-19T00:00:00Z</vt:filetime>
  </property>
  <property fmtid="{D5CDD505-2E9C-101B-9397-08002B2CF9AE}" pid="3" name="Creator">
    <vt:lpwstr>Nitro Pro</vt:lpwstr>
  </property>
  <property fmtid="{D5CDD505-2E9C-101B-9397-08002B2CF9AE}" pid="4" name="LastSaved">
    <vt:filetime>2026-02-19T00:00:00Z</vt:filetime>
  </property>
</Properties>
</file>

<file path=[Content_Types].xml><?xml version="1.0" encoding="utf-8"?>
<Types xmlns="http://schemas.openxmlformats.org/package/2006/content-types">
  <Default ContentType="image/vnd.ms-photo" Extension="wdp"/>
  <Default ContentType="application/xml" Extension="xml"/>
  <Default ContentType="image/png" Extension="png"/>
  <Default ContentType="image/jpeg" Extension="jpe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1.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1.xml><?xml version="1.0" encoding="utf-8"?>
<a:tblStyleLst xmlns:a="http://schemas.openxmlformats.org/drawingml/2006/main" xmlns:r="http://schemas.openxmlformats.org/officeDocument/2006/relationships" def="{90651C3A-4460-11DB-9652-00E08161165F}">
  <a:tblStyle styleId="{5940675A-B579-460E-94D1-54222C63F5DA}" styleName="No Style, Table Grid">
    <a:wholeTbl>
      <a:tcTxStyle>
        <a:fontRef idx="minor">
          <a:scrgbClr b="0" g="0" r="0"/>
        </a:fontRef>
        <a:schemeClr val="tx1"/>
      </a:tcTxStyle>
      <a:tcStyle>
        <a:tcBdr>
          <a:left>
            <a:ln cmpd="sng" w="12700">
              <a:solidFill>
                <a:schemeClr val="tx1"/>
              </a:solidFill>
            </a:ln>
          </a:left>
          <a:right>
            <a:ln cmpd="sng" w="12700">
              <a:solidFill>
                <a:schemeClr val="tx1"/>
              </a:solidFill>
            </a:ln>
          </a:right>
          <a:top>
            <a:ln cmpd="sng" w="12700">
              <a:solidFill>
                <a:schemeClr val="tx1"/>
              </a:solidFill>
            </a:ln>
          </a:top>
          <a:bottom>
            <a:ln cmpd="sng" w="12700">
              <a:solidFill>
                <a:schemeClr val="tx1"/>
              </a:solidFill>
            </a:ln>
          </a:bottom>
          <a:insideH>
            <a:ln cmpd="sng" w="12700">
              <a:solidFill>
                <a:schemeClr val="tx1"/>
              </a:solidFill>
            </a:ln>
          </a:insideH>
          <a:insideV>
            <a:ln cmpd="sng" w="12700">
              <a:solidFill>
                <a:schemeClr val="tx1"/>
              </a:solidFill>
            </a:ln>
          </a:insideV>
        </a:tcBdr>
        <a:fill>
          <a:noFill/>
        </a:fill>
      </a:tcStyle>
    </a:wholeTbl>
  </a:tblStyle>
  <a:tblStyle styleId="{16D9F66E-5EB9-4882-86FB-DCBF35E3C3E4}" styleName="Medium Style 4 - Accent 6">
    <a:wholeTbl>
      <a:tcTxStyle>
        <a:fontRef idx="minor">
          <a:scrgbClr b="0" g="0" r="0"/>
        </a:fontRef>
        <a:schemeClr val="dk1"/>
      </a:tcTxStyle>
      <a:tcStyle>
        <a:tcBdr>
          <a:left>
            <a:ln cmpd="sng" w="12700">
              <a:solidFill>
                <a:schemeClr val="accent6"/>
              </a:solidFill>
            </a:ln>
          </a:left>
          <a:right>
            <a:ln cmpd="sng" w="12700">
              <a:solidFill>
                <a:schemeClr val="accent6"/>
              </a:solidFill>
            </a:ln>
          </a:right>
          <a:top>
            <a:ln cmpd="sng" w="12700">
              <a:solidFill>
                <a:schemeClr val="accent6"/>
              </a:solidFill>
            </a:ln>
          </a:top>
          <a:bottom>
            <a:ln cmpd="sng" w="12700">
              <a:solidFill>
                <a:schemeClr val="accent6"/>
              </a:solidFill>
            </a:ln>
          </a:bottom>
          <a:insideH>
            <a:ln cmpd="sng" w="12700">
              <a:solidFill>
                <a:schemeClr val="accent6"/>
              </a:solidFill>
            </a:ln>
          </a:insideH>
          <a:insideV>
            <a:ln cmpd="sng" w="12700">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cmpd="sng" w="25400">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16DA210-FB5B-4158-B5E0-FEB733F419BA}" styleName="Light Style 3">
    <a:wholeTbl>
      <a:tcTxStyle>
        <a:fontRef idx="minor">
          <a:scrgbClr b="0" g="0" r="0"/>
        </a:fontRef>
        <a:schemeClr val="tx1"/>
      </a:tcTxStyle>
      <a:tcStyle>
        <a:tcBdr>
          <a:left>
            <a:ln cmpd="sng" w="12700">
              <a:solidFill>
                <a:schemeClr val="tx1"/>
              </a:solidFill>
            </a:ln>
          </a:left>
          <a:right>
            <a:ln cmpd="sng" w="12700">
              <a:solidFill>
                <a:schemeClr val="tx1"/>
              </a:solidFill>
            </a:ln>
          </a:right>
          <a:top>
            <a:ln cmpd="sng" w="12700">
              <a:solidFill>
                <a:schemeClr val="tx1"/>
              </a:solidFill>
            </a:ln>
          </a:top>
          <a:bottom>
            <a:ln cmpd="sng" w="12700">
              <a:solidFill>
                <a:schemeClr val="tx1"/>
              </a:solidFill>
            </a:ln>
          </a:bottom>
          <a:insideH>
            <a:ln cmpd="sng" w="12700">
              <a:solidFill>
                <a:schemeClr val="tx1"/>
              </a:solidFill>
            </a:ln>
          </a:insideH>
          <a:insideV>
            <a:ln cmpd="sng" w="12700">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cmpd="dbl" w="50800">
              <a:solidFill>
                <a:schemeClr val="tx1"/>
              </a:solidFill>
            </a:ln>
          </a:top>
        </a:tcBdr>
        <a:fill>
          <a:noFill/>
        </a:fill>
      </a:tcStyle>
    </a:lastRow>
    <a:firstRow>
      <a:tcTxStyle b="on"/>
      <a:tcStyle>
        <a:tcBdr>
          <a:bottom>
            <a:ln cmpd="sng" w="25400">
              <a:solidFill>
                <a:schemeClr val="tx1"/>
              </a:solidFill>
            </a:ln>
          </a:bottom>
        </a:tcBdr>
        <a:fill>
          <a:noFill/>
        </a:fill>
      </a:tcStyle>
    </a:firstRow>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tableStyles" Target="tableStyles1.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4FD05E-1953-4386-9505-AC975BE00FC9}" type="datetimeFigureOut">
              <a:rPr lang="en-IN" smtClean="0"/>
              <a:t>06-03-2026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F77331-91B3-43F7-A8C7-939C2F0788BC}" type="slidenum">
              <a:rPr lang="en-IN" smtClean="0"/>
              <a:t>‹#›</a:t>
            </a:fld>
            <a:endParaRPr lang="en-IN"/>
          </a:p>
        </p:txBody>
      </p:sp>
    </p:spTree>
    <p:extLst>
      <p:ext uri="{BB962C8B-B14F-4D97-AF65-F5344CB8AC3E}">
        <p14:creationId xmlns:p14="http://schemas.microsoft.com/office/powerpoint/2010/main" val="2463634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F77331-91B3-43F7-A8C7-939C2F0788BC}" type="slidenum">
              <a:rPr lang="en-IN" smtClean="0"/>
              <a:t>4</a:t>
            </a:fld>
            <a:endParaRPr lang="en-IN"/>
          </a:p>
        </p:txBody>
      </p:sp>
    </p:spTree>
    <p:extLst>
      <p:ext uri="{BB962C8B-B14F-4D97-AF65-F5344CB8AC3E}">
        <p14:creationId xmlns:p14="http://schemas.microsoft.com/office/powerpoint/2010/main" val="3205618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F77331-91B3-43F7-A8C7-939C2F0788BC}" type="slidenum">
              <a:rPr lang="en-IN" smtClean="0"/>
              <a:t>7</a:t>
            </a:fld>
            <a:endParaRPr lang="en-IN"/>
          </a:p>
        </p:txBody>
      </p:sp>
    </p:spTree>
    <p:extLst>
      <p:ext uri="{BB962C8B-B14F-4D97-AF65-F5344CB8AC3E}">
        <p14:creationId xmlns:p14="http://schemas.microsoft.com/office/powerpoint/2010/main" val="4161216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F77331-91B3-43F7-A8C7-939C2F0788BC}" type="slidenum">
              <a:rPr lang="en-IN" smtClean="0"/>
              <a:t>11</a:t>
            </a:fld>
            <a:endParaRPr lang="en-IN"/>
          </a:p>
        </p:txBody>
      </p:sp>
    </p:spTree>
    <p:extLst>
      <p:ext uri="{BB962C8B-B14F-4D97-AF65-F5344CB8AC3E}">
        <p14:creationId xmlns:p14="http://schemas.microsoft.com/office/powerpoint/2010/main" val="5998329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B1461-A289-016C-DB76-35FB5127E0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DF6BDD-0B0B-65BC-9867-3C0A4247DF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EB486E-4096-0AEF-406D-60941227491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A33F2CC-6DB8-8264-EE60-328AAA692E3B}"/>
              </a:ext>
            </a:extLst>
          </p:cNvPr>
          <p:cNvSpPr>
            <a:spLocks noGrp="1"/>
          </p:cNvSpPr>
          <p:nvPr>
            <p:ph type="sldNum" sz="quarter" idx="5"/>
          </p:nvPr>
        </p:nvSpPr>
        <p:spPr/>
        <p:txBody>
          <a:bodyPr/>
          <a:lstStyle/>
          <a:p>
            <a:fld id="{CAF77331-91B3-43F7-A8C7-939C2F0788BC}" type="slidenum">
              <a:rPr lang="en-IN" smtClean="0"/>
              <a:t>12</a:t>
            </a:fld>
            <a:endParaRPr lang="en-IN"/>
          </a:p>
        </p:txBody>
      </p:sp>
    </p:spTree>
    <p:extLst>
      <p:ext uri="{BB962C8B-B14F-4D97-AF65-F5344CB8AC3E}">
        <p14:creationId xmlns:p14="http://schemas.microsoft.com/office/powerpoint/2010/main" val="3029234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6BA84-68B7-C6EC-F946-E224563ED0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CD8ADB-9895-E84A-724A-28400D50E3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E32D13-940D-B7B7-1ABD-9FE309895A8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42A47C7-17B4-5783-3E31-5AAE3EBAE8AC}"/>
              </a:ext>
            </a:extLst>
          </p:cNvPr>
          <p:cNvSpPr>
            <a:spLocks noGrp="1"/>
          </p:cNvSpPr>
          <p:nvPr>
            <p:ph type="sldNum" sz="quarter" idx="5"/>
          </p:nvPr>
        </p:nvSpPr>
        <p:spPr/>
        <p:txBody>
          <a:bodyPr/>
          <a:lstStyle/>
          <a:p>
            <a:fld id="{CAF77331-91B3-43F7-A8C7-939C2F0788BC}" type="slidenum">
              <a:rPr lang="en-IN" smtClean="0"/>
              <a:t>13</a:t>
            </a:fld>
            <a:endParaRPr lang="en-IN"/>
          </a:p>
        </p:txBody>
      </p:sp>
    </p:spTree>
    <p:extLst>
      <p:ext uri="{BB962C8B-B14F-4D97-AF65-F5344CB8AC3E}">
        <p14:creationId xmlns:p14="http://schemas.microsoft.com/office/powerpoint/2010/main" val="5426528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3559F-F5C4-7ED7-46F3-D7E7102A41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EB560E-F901-E3A8-7E2B-BF5FEA0884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1FAD61-0A00-A34D-7647-328BD737D61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A7A4432-258B-DC11-F142-8FFD322CEAE3}"/>
              </a:ext>
            </a:extLst>
          </p:cNvPr>
          <p:cNvSpPr>
            <a:spLocks noGrp="1"/>
          </p:cNvSpPr>
          <p:nvPr>
            <p:ph type="sldNum" sz="quarter" idx="5"/>
          </p:nvPr>
        </p:nvSpPr>
        <p:spPr/>
        <p:txBody>
          <a:bodyPr/>
          <a:lstStyle/>
          <a:p>
            <a:fld id="{CAF77331-91B3-43F7-A8C7-939C2F0788BC}" type="slidenum">
              <a:rPr lang="en-IN" smtClean="0"/>
              <a:t>14</a:t>
            </a:fld>
            <a:endParaRPr lang="en-IN"/>
          </a:p>
        </p:txBody>
      </p:sp>
    </p:spTree>
    <p:extLst>
      <p:ext uri="{BB962C8B-B14F-4D97-AF65-F5344CB8AC3E}">
        <p14:creationId xmlns:p14="http://schemas.microsoft.com/office/powerpoint/2010/main" val="530714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B1683-3B18-1EE0-6619-A0ED6E79CB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5DEB22-2C5D-317B-EEC7-BBE7F7006C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D86938-0C2E-3635-D286-460B4A57AAA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F6E220E-43B7-D6F1-9900-1A313284394A}"/>
              </a:ext>
            </a:extLst>
          </p:cNvPr>
          <p:cNvSpPr>
            <a:spLocks noGrp="1"/>
          </p:cNvSpPr>
          <p:nvPr>
            <p:ph type="sldNum" sz="quarter" idx="5"/>
          </p:nvPr>
        </p:nvSpPr>
        <p:spPr/>
        <p:txBody>
          <a:bodyPr/>
          <a:lstStyle/>
          <a:p>
            <a:fld id="{CAF77331-91B3-43F7-A8C7-939C2F0788BC}" type="slidenum">
              <a:rPr lang="en-IN" smtClean="0"/>
              <a:t>15</a:t>
            </a:fld>
            <a:endParaRPr lang="en-IN"/>
          </a:p>
        </p:txBody>
      </p:sp>
    </p:spTree>
    <p:extLst>
      <p:ext uri="{BB962C8B-B14F-4D97-AF65-F5344CB8AC3E}">
        <p14:creationId xmlns:p14="http://schemas.microsoft.com/office/powerpoint/2010/main" val="3036013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71263-4712-DAC4-A3B6-39EFB672C6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28F03B-0FEE-8E49-B924-4ABE09A2E1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3DCAE5-18EE-1FE6-6DE9-47EEE9609E2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2AA6281-AD55-738B-3170-B1C46C3EF6E9}"/>
              </a:ext>
            </a:extLst>
          </p:cNvPr>
          <p:cNvSpPr>
            <a:spLocks noGrp="1"/>
          </p:cNvSpPr>
          <p:nvPr>
            <p:ph type="sldNum" sz="quarter" idx="5"/>
          </p:nvPr>
        </p:nvSpPr>
        <p:spPr/>
        <p:txBody>
          <a:bodyPr/>
          <a:lstStyle/>
          <a:p>
            <a:fld id="{CAF77331-91B3-43F7-A8C7-939C2F0788BC}" type="slidenum">
              <a:rPr lang="en-IN" smtClean="0"/>
              <a:t>16</a:t>
            </a:fld>
            <a:endParaRPr lang="en-IN"/>
          </a:p>
        </p:txBody>
      </p:sp>
    </p:spTree>
    <p:extLst>
      <p:ext uri="{BB962C8B-B14F-4D97-AF65-F5344CB8AC3E}">
        <p14:creationId xmlns:p14="http://schemas.microsoft.com/office/powerpoint/2010/main" val="2832477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1F0F5-18B8-528A-1AAF-E4EA4F10BE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01607-1966-D6DF-1489-CB5B866EF1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D42EF1-D6CF-141C-72A6-16DF2E1BB09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094F071-E06C-E39A-C9FB-4162B3391F59}"/>
              </a:ext>
            </a:extLst>
          </p:cNvPr>
          <p:cNvSpPr>
            <a:spLocks noGrp="1"/>
          </p:cNvSpPr>
          <p:nvPr>
            <p:ph type="sldNum" sz="quarter" idx="5"/>
          </p:nvPr>
        </p:nvSpPr>
        <p:spPr/>
        <p:txBody>
          <a:bodyPr/>
          <a:lstStyle/>
          <a:p>
            <a:fld id="{CAF77331-91B3-43F7-A8C7-939C2F0788BC}" type="slidenum">
              <a:rPr lang="en-IN" smtClean="0"/>
              <a:t>17</a:t>
            </a:fld>
            <a:endParaRPr lang="en-IN"/>
          </a:p>
        </p:txBody>
      </p:sp>
    </p:spTree>
    <p:extLst>
      <p:ext uri="{BB962C8B-B14F-4D97-AF65-F5344CB8AC3E}">
        <p14:creationId xmlns:p14="http://schemas.microsoft.com/office/powerpoint/2010/main" val="108254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5E086-B8A4-7E29-F04F-ABB2907BBA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E145B-CEB0-DBC0-3FAE-D0A7E38444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4DF7C7-44FA-FA3F-5EE2-E5E20C71040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383DC57-DC53-F6DF-47AA-99D8F09163DC}"/>
              </a:ext>
            </a:extLst>
          </p:cNvPr>
          <p:cNvSpPr>
            <a:spLocks noGrp="1"/>
          </p:cNvSpPr>
          <p:nvPr>
            <p:ph type="sldNum" sz="quarter" idx="5"/>
          </p:nvPr>
        </p:nvSpPr>
        <p:spPr/>
        <p:txBody>
          <a:bodyPr/>
          <a:lstStyle/>
          <a:p>
            <a:fld id="{CAF77331-91B3-43F7-A8C7-939C2F0788BC}" type="slidenum">
              <a:rPr lang="en-IN" smtClean="0"/>
              <a:t>18</a:t>
            </a:fld>
            <a:endParaRPr lang="en-IN"/>
          </a:p>
        </p:txBody>
      </p:sp>
    </p:spTree>
    <p:extLst>
      <p:ext uri="{BB962C8B-B14F-4D97-AF65-F5344CB8AC3E}">
        <p14:creationId xmlns:p14="http://schemas.microsoft.com/office/powerpoint/2010/main" val="15125020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7D630-A9F7-D9D4-223F-35529BF47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A5B06A-A8EA-C6A7-8526-06042589CA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B6F421-1993-5735-C1CA-889CB7972F9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0C90598-B45B-31BC-5673-4C06E3BD3857}"/>
              </a:ext>
            </a:extLst>
          </p:cNvPr>
          <p:cNvSpPr>
            <a:spLocks noGrp="1"/>
          </p:cNvSpPr>
          <p:nvPr>
            <p:ph type="sldNum" sz="quarter" idx="5"/>
          </p:nvPr>
        </p:nvSpPr>
        <p:spPr/>
        <p:txBody>
          <a:bodyPr/>
          <a:lstStyle/>
          <a:p>
            <a:fld id="{CAF77331-91B3-43F7-A8C7-939C2F0788BC}" type="slidenum">
              <a:rPr lang="en-IN" smtClean="0"/>
              <a:t>19</a:t>
            </a:fld>
            <a:endParaRPr lang="en-IN"/>
          </a:p>
        </p:txBody>
      </p:sp>
    </p:spTree>
    <p:extLst>
      <p:ext uri="{BB962C8B-B14F-4D97-AF65-F5344CB8AC3E}">
        <p14:creationId xmlns:p14="http://schemas.microsoft.com/office/powerpoint/2010/main" val="3264292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5AD12-361A-878A-1C51-BF8A2564A0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44735A-1FB8-03B0-A80B-CDBE1518EB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40DDE9-9E46-7C76-A1B0-2FBC4EE44B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F56F73D-5B2D-ED6D-6EBA-43D2BB737493}"/>
              </a:ext>
            </a:extLst>
          </p:cNvPr>
          <p:cNvSpPr>
            <a:spLocks noGrp="1"/>
          </p:cNvSpPr>
          <p:nvPr>
            <p:ph type="sldNum" sz="quarter" idx="5"/>
          </p:nvPr>
        </p:nvSpPr>
        <p:spPr/>
        <p:txBody>
          <a:bodyPr/>
          <a:lstStyle/>
          <a:p>
            <a:fld id="{CAF77331-91B3-43F7-A8C7-939C2F0788BC}" type="slidenum">
              <a:rPr lang="en-IN" smtClean="0"/>
              <a:t>20</a:t>
            </a:fld>
            <a:endParaRPr lang="en-IN"/>
          </a:p>
        </p:txBody>
      </p:sp>
    </p:spTree>
    <p:extLst>
      <p:ext uri="{BB962C8B-B14F-4D97-AF65-F5344CB8AC3E}">
        <p14:creationId xmlns:p14="http://schemas.microsoft.com/office/powerpoint/2010/main" val="28542547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2D060-831F-7D32-EEAE-E28167BA6D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EF6E20-EB71-A89A-7585-23CAB06C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6442A2-2C21-FF68-410E-1BCB1330CF2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B09A9EA-10EF-2635-4523-BF96BACA8B6F}"/>
              </a:ext>
            </a:extLst>
          </p:cNvPr>
          <p:cNvSpPr>
            <a:spLocks noGrp="1"/>
          </p:cNvSpPr>
          <p:nvPr>
            <p:ph type="sldNum" sz="quarter" idx="5"/>
          </p:nvPr>
        </p:nvSpPr>
        <p:spPr/>
        <p:txBody>
          <a:bodyPr/>
          <a:lstStyle/>
          <a:p>
            <a:fld id="{CAF77331-91B3-43F7-A8C7-939C2F0788BC}" type="slidenum">
              <a:rPr lang="en-IN" smtClean="0"/>
              <a:t>21</a:t>
            </a:fld>
            <a:endParaRPr lang="en-IN"/>
          </a:p>
        </p:txBody>
      </p:sp>
    </p:spTree>
    <p:extLst>
      <p:ext uri="{BB962C8B-B14F-4D97-AF65-F5344CB8AC3E}">
        <p14:creationId xmlns:p14="http://schemas.microsoft.com/office/powerpoint/2010/main" val="8692493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F38B6-96D2-A861-A589-10880E10D9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BFE45B-D541-BA1E-4670-16112F95B3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AEFAE-770B-6DE2-1428-DB3DCA0345F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D74AEE8-E4AF-B1D9-3EA2-049E65801155}"/>
              </a:ext>
            </a:extLst>
          </p:cNvPr>
          <p:cNvSpPr>
            <a:spLocks noGrp="1"/>
          </p:cNvSpPr>
          <p:nvPr>
            <p:ph type="sldNum" sz="quarter" idx="5"/>
          </p:nvPr>
        </p:nvSpPr>
        <p:spPr/>
        <p:txBody>
          <a:bodyPr/>
          <a:lstStyle/>
          <a:p>
            <a:fld id="{CAF77331-91B3-43F7-A8C7-939C2F0788BC}" type="slidenum">
              <a:rPr lang="en-IN" smtClean="0"/>
              <a:t>22</a:t>
            </a:fld>
            <a:endParaRPr lang="en-IN"/>
          </a:p>
        </p:txBody>
      </p:sp>
    </p:spTree>
    <p:extLst>
      <p:ext uri="{BB962C8B-B14F-4D97-AF65-F5344CB8AC3E}">
        <p14:creationId xmlns:p14="http://schemas.microsoft.com/office/powerpoint/2010/main" val="27213601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E49D7-7EE6-546C-0D16-004B533F7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0590A8-5197-C9EF-5071-D8A1093E95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9B26EB-382A-2731-0678-AD41D9040B6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8A3D84C-A544-1A51-B978-EEE290615D14}"/>
              </a:ext>
            </a:extLst>
          </p:cNvPr>
          <p:cNvSpPr>
            <a:spLocks noGrp="1"/>
          </p:cNvSpPr>
          <p:nvPr>
            <p:ph type="sldNum" sz="quarter" idx="5"/>
          </p:nvPr>
        </p:nvSpPr>
        <p:spPr/>
        <p:txBody>
          <a:bodyPr/>
          <a:lstStyle/>
          <a:p>
            <a:fld id="{CAF77331-91B3-43F7-A8C7-939C2F0788BC}" type="slidenum">
              <a:rPr lang="en-IN" smtClean="0"/>
              <a:t>23</a:t>
            </a:fld>
            <a:endParaRPr lang="en-IN"/>
          </a:p>
        </p:txBody>
      </p:sp>
    </p:spTree>
    <p:extLst>
      <p:ext uri="{BB962C8B-B14F-4D97-AF65-F5344CB8AC3E}">
        <p14:creationId xmlns:p14="http://schemas.microsoft.com/office/powerpoint/2010/main" val="28102400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24361-0DFB-4ED8-9258-40C0A1D8E3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DBF5FC-ACD1-B854-96A5-199B340809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F86C1A-4226-9ADF-9E13-317B2C32C9F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4037FDD-ACBB-8DEB-935D-0C0072346307}"/>
              </a:ext>
            </a:extLst>
          </p:cNvPr>
          <p:cNvSpPr>
            <a:spLocks noGrp="1"/>
          </p:cNvSpPr>
          <p:nvPr>
            <p:ph type="sldNum" sz="quarter" idx="5"/>
          </p:nvPr>
        </p:nvSpPr>
        <p:spPr/>
        <p:txBody>
          <a:bodyPr/>
          <a:lstStyle/>
          <a:p>
            <a:fld id="{CAF77331-91B3-43F7-A8C7-939C2F0788BC}" type="slidenum">
              <a:rPr lang="en-IN" smtClean="0"/>
              <a:t>24</a:t>
            </a:fld>
            <a:endParaRPr lang="en-IN"/>
          </a:p>
        </p:txBody>
      </p:sp>
    </p:spTree>
    <p:extLst>
      <p:ext uri="{BB962C8B-B14F-4D97-AF65-F5344CB8AC3E}">
        <p14:creationId xmlns:p14="http://schemas.microsoft.com/office/powerpoint/2010/main" val="28410185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000EF-14A4-638E-AA92-08BD05AC10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ED0CE7-0A9F-5493-510D-8E062621F1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0EC561-812C-7928-C8D2-C003D7CE6A7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9B500E0-63BC-5DAD-7B4F-E4BE8721FD8F}"/>
              </a:ext>
            </a:extLst>
          </p:cNvPr>
          <p:cNvSpPr>
            <a:spLocks noGrp="1"/>
          </p:cNvSpPr>
          <p:nvPr>
            <p:ph type="sldNum" sz="quarter" idx="5"/>
          </p:nvPr>
        </p:nvSpPr>
        <p:spPr/>
        <p:txBody>
          <a:bodyPr/>
          <a:lstStyle/>
          <a:p>
            <a:fld id="{CAF77331-91B3-43F7-A8C7-939C2F0788BC}" type="slidenum">
              <a:rPr lang="en-IN" smtClean="0"/>
              <a:t>25</a:t>
            </a:fld>
            <a:endParaRPr lang="en-IN"/>
          </a:p>
        </p:txBody>
      </p:sp>
    </p:spTree>
    <p:extLst>
      <p:ext uri="{BB962C8B-B14F-4D97-AF65-F5344CB8AC3E}">
        <p14:creationId xmlns:p14="http://schemas.microsoft.com/office/powerpoint/2010/main" val="4876070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93B49-9C73-ABCB-D079-BA10B34CAA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708CC-875E-D93F-86DE-7ADB7BB47E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7E5AFB-1CF1-947A-3E5E-8012AECE8DE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AFBE589-36A0-7F58-9530-3B8EB1AEF5FA}"/>
              </a:ext>
            </a:extLst>
          </p:cNvPr>
          <p:cNvSpPr>
            <a:spLocks noGrp="1"/>
          </p:cNvSpPr>
          <p:nvPr>
            <p:ph type="sldNum" sz="quarter" idx="5"/>
          </p:nvPr>
        </p:nvSpPr>
        <p:spPr/>
        <p:txBody>
          <a:bodyPr/>
          <a:lstStyle/>
          <a:p>
            <a:fld id="{CAF77331-91B3-43F7-A8C7-939C2F0788BC}" type="slidenum">
              <a:rPr lang="en-IN" smtClean="0"/>
              <a:t>27</a:t>
            </a:fld>
            <a:endParaRPr lang="en-IN"/>
          </a:p>
        </p:txBody>
      </p:sp>
    </p:spTree>
    <p:extLst>
      <p:ext uri="{BB962C8B-B14F-4D97-AF65-F5344CB8AC3E}">
        <p14:creationId xmlns:p14="http://schemas.microsoft.com/office/powerpoint/2010/main" val="1506742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D1729-4E9F-C9FD-2D41-93FDF9F130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96DD1B-13F1-4FED-9345-BD01EA7F1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34239B-8464-ABF4-1B83-79A01029A58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EBE3943-054E-A44C-1584-29B09ADC8502}"/>
              </a:ext>
            </a:extLst>
          </p:cNvPr>
          <p:cNvSpPr>
            <a:spLocks noGrp="1"/>
          </p:cNvSpPr>
          <p:nvPr>
            <p:ph type="sldNum" sz="quarter" idx="5"/>
          </p:nvPr>
        </p:nvSpPr>
        <p:spPr/>
        <p:txBody>
          <a:bodyPr/>
          <a:lstStyle/>
          <a:p>
            <a:fld id="{CAF77331-91B3-43F7-A8C7-939C2F0788BC}" type="slidenum">
              <a:rPr lang="en-IN" smtClean="0"/>
              <a:t>28</a:t>
            </a:fld>
            <a:endParaRPr lang="en-IN"/>
          </a:p>
        </p:txBody>
      </p:sp>
    </p:spTree>
    <p:extLst>
      <p:ext uri="{BB962C8B-B14F-4D97-AF65-F5344CB8AC3E}">
        <p14:creationId xmlns:p14="http://schemas.microsoft.com/office/powerpoint/2010/main" val="12701886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792C-2B35-00A8-53D5-B169E3D273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727876-99A3-0244-0A6D-424D3236A7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62C244-ECD4-93E4-33E9-0208A8985AD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C63486-97AF-D37A-2A9E-6DE36F10A299}"/>
              </a:ext>
            </a:extLst>
          </p:cNvPr>
          <p:cNvSpPr>
            <a:spLocks noGrp="1"/>
          </p:cNvSpPr>
          <p:nvPr>
            <p:ph type="sldNum" sz="quarter" idx="5"/>
          </p:nvPr>
        </p:nvSpPr>
        <p:spPr/>
        <p:txBody>
          <a:bodyPr/>
          <a:lstStyle/>
          <a:p>
            <a:fld id="{CAF77331-91B3-43F7-A8C7-939C2F0788BC}" type="slidenum">
              <a:rPr lang="en-IN" smtClean="0"/>
              <a:t>29</a:t>
            </a:fld>
            <a:endParaRPr lang="en-IN"/>
          </a:p>
        </p:txBody>
      </p:sp>
    </p:spTree>
    <p:extLst>
      <p:ext uri="{BB962C8B-B14F-4D97-AF65-F5344CB8AC3E}">
        <p14:creationId xmlns:p14="http://schemas.microsoft.com/office/powerpoint/2010/main" val="17996836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A029F-8E0F-6538-125B-5EEC3D2853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3245DB-A35B-43EA-526F-886764DCB2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2A8031-A8F6-F14F-5E6F-4722CA04CFB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D3E11C1-28BA-B6CA-032D-436C58E6FC42}"/>
              </a:ext>
            </a:extLst>
          </p:cNvPr>
          <p:cNvSpPr>
            <a:spLocks noGrp="1"/>
          </p:cNvSpPr>
          <p:nvPr>
            <p:ph type="sldNum" sz="quarter" idx="5"/>
          </p:nvPr>
        </p:nvSpPr>
        <p:spPr/>
        <p:txBody>
          <a:bodyPr/>
          <a:lstStyle/>
          <a:p>
            <a:fld id="{CAF77331-91B3-43F7-A8C7-939C2F0788BC}" type="slidenum">
              <a:rPr lang="en-IN" smtClean="0"/>
              <a:t>30</a:t>
            </a:fld>
            <a:endParaRPr lang="en-IN"/>
          </a:p>
        </p:txBody>
      </p:sp>
    </p:spTree>
    <p:extLst>
      <p:ext uri="{BB962C8B-B14F-4D97-AF65-F5344CB8AC3E}">
        <p14:creationId xmlns:p14="http://schemas.microsoft.com/office/powerpoint/2010/main" val="1815099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FCA61-E432-3DE4-BAE7-D0AA37361D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6DD2B4-E7D1-FF9A-2FFE-786C4A54A7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E37547-ABA5-A4B3-B71F-DA0272989E7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4C33A29-2250-415A-50C6-C95C27A73A9B}"/>
              </a:ext>
            </a:extLst>
          </p:cNvPr>
          <p:cNvSpPr>
            <a:spLocks noGrp="1"/>
          </p:cNvSpPr>
          <p:nvPr>
            <p:ph type="sldNum" sz="quarter" idx="5"/>
          </p:nvPr>
        </p:nvSpPr>
        <p:spPr/>
        <p:txBody>
          <a:bodyPr/>
          <a:lstStyle/>
          <a:p>
            <a:fld id="{CAF77331-91B3-43F7-A8C7-939C2F0788BC}" type="slidenum">
              <a:rPr lang="en-IN" smtClean="0"/>
              <a:t>31</a:t>
            </a:fld>
            <a:endParaRPr lang="en-IN"/>
          </a:p>
        </p:txBody>
      </p:sp>
    </p:spTree>
    <p:extLst>
      <p:ext uri="{BB962C8B-B14F-4D97-AF65-F5344CB8AC3E}">
        <p14:creationId xmlns:p14="http://schemas.microsoft.com/office/powerpoint/2010/main" val="8748056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C3C42-22C1-AD9D-31C3-6E8C3FCAB3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856565-E67F-0471-3885-30AEA673EC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BB100A-9936-B510-25B2-EA4DDEBA67E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5041F02-BE03-DABA-3A90-76A8222F3089}"/>
              </a:ext>
            </a:extLst>
          </p:cNvPr>
          <p:cNvSpPr>
            <a:spLocks noGrp="1"/>
          </p:cNvSpPr>
          <p:nvPr>
            <p:ph type="sldNum" sz="quarter" idx="5"/>
          </p:nvPr>
        </p:nvSpPr>
        <p:spPr/>
        <p:txBody>
          <a:bodyPr/>
          <a:lstStyle/>
          <a:p>
            <a:fld id="{CAF77331-91B3-43F7-A8C7-939C2F0788BC}" type="slidenum">
              <a:rPr lang="en-IN" smtClean="0"/>
              <a:t>32</a:t>
            </a:fld>
            <a:endParaRPr lang="en-IN"/>
          </a:p>
        </p:txBody>
      </p:sp>
    </p:spTree>
    <p:extLst>
      <p:ext uri="{BB962C8B-B14F-4D97-AF65-F5344CB8AC3E}">
        <p14:creationId xmlns:p14="http://schemas.microsoft.com/office/powerpoint/2010/main" val="37203457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446FE-8EF7-090E-6FE4-F88440C2EF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52B729-DCFB-A98D-764B-E072A7FD1E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D3F7E4-451F-99AE-464A-2FE40604801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7968597-EEFB-BD8F-DA24-951307F48D88}"/>
              </a:ext>
            </a:extLst>
          </p:cNvPr>
          <p:cNvSpPr>
            <a:spLocks noGrp="1"/>
          </p:cNvSpPr>
          <p:nvPr>
            <p:ph type="sldNum" sz="quarter" idx="5"/>
          </p:nvPr>
        </p:nvSpPr>
        <p:spPr/>
        <p:txBody>
          <a:bodyPr/>
          <a:lstStyle/>
          <a:p>
            <a:fld id="{CAF77331-91B3-43F7-A8C7-939C2F0788BC}" type="slidenum">
              <a:rPr lang="en-IN" smtClean="0"/>
              <a:t>33</a:t>
            </a:fld>
            <a:endParaRPr lang="en-IN"/>
          </a:p>
        </p:txBody>
      </p:sp>
    </p:spTree>
    <p:extLst>
      <p:ext uri="{BB962C8B-B14F-4D97-AF65-F5344CB8AC3E}">
        <p14:creationId xmlns:p14="http://schemas.microsoft.com/office/powerpoint/2010/main" val="7702350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D0D8F-2D4F-75FB-DD4B-09D0B2FC34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9ACF31-F508-98D4-4D3B-60129C01D1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4134BE-92B5-D7E1-6053-030B322FAA5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2EA58BA-9F49-792E-DA57-8A4E200045E8}"/>
              </a:ext>
            </a:extLst>
          </p:cNvPr>
          <p:cNvSpPr>
            <a:spLocks noGrp="1"/>
          </p:cNvSpPr>
          <p:nvPr>
            <p:ph type="sldNum" sz="quarter" idx="5"/>
          </p:nvPr>
        </p:nvSpPr>
        <p:spPr/>
        <p:txBody>
          <a:bodyPr/>
          <a:lstStyle/>
          <a:p>
            <a:fld id="{CAF77331-91B3-43F7-A8C7-939C2F0788BC}" type="slidenum">
              <a:rPr lang="en-IN" smtClean="0"/>
              <a:t>34</a:t>
            </a:fld>
            <a:endParaRPr lang="en-IN"/>
          </a:p>
        </p:txBody>
      </p:sp>
    </p:spTree>
    <p:extLst>
      <p:ext uri="{BB962C8B-B14F-4D97-AF65-F5344CB8AC3E}">
        <p14:creationId xmlns:p14="http://schemas.microsoft.com/office/powerpoint/2010/main" val="27524602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8251A-B501-36C1-DD2B-D6A078A82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2241AC-9DE4-A880-498D-1FD0405733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5466EF-16D0-06EC-FF31-E1062DE3C57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8A1F616-BDD3-D9DF-F1A4-AED31C73F5FF}"/>
              </a:ext>
            </a:extLst>
          </p:cNvPr>
          <p:cNvSpPr>
            <a:spLocks noGrp="1"/>
          </p:cNvSpPr>
          <p:nvPr>
            <p:ph type="sldNum" sz="quarter" idx="5"/>
          </p:nvPr>
        </p:nvSpPr>
        <p:spPr/>
        <p:txBody>
          <a:bodyPr/>
          <a:lstStyle/>
          <a:p>
            <a:fld id="{CAF77331-91B3-43F7-A8C7-939C2F0788BC}" type="slidenum">
              <a:rPr lang="en-IN" smtClean="0"/>
              <a:t>35</a:t>
            </a:fld>
            <a:endParaRPr lang="en-IN"/>
          </a:p>
        </p:txBody>
      </p:sp>
    </p:spTree>
    <p:extLst>
      <p:ext uri="{BB962C8B-B14F-4D97-AF65-F5344CB8AC3E}">
        <p14:creationId xmlns:p14="http://schemas.microsoft.com/office/powerpoint/2010/main" val="12783030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5AF6A-989D-A66F-D08A-4973BB0E11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1D6C4-A0CC-C72E-8B83-678ADBE66C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68373-A0A6-7EFE-5A86-23FFCD55A1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C9F98F9-A641-A9D0-8E7A-06E5D1E63909}"/>
              </a:ext>
            </a:extLst>
          </p:cNvPr>
          <p:cNvSpPr>
            <a:spLocks noGrp="1"/>
          </p:cNvSpPr>
          <p:nvPr>
            <p:ph type="sldNum" sz="quarter" idx="5"/>
          </p:nvPr>
        </p:nvSpPr>
        <p:spPr/>
        <p:txBody>
          <a:bodyPr/>
          <a:lstStyle/>
          <a:p>
            <a:fld id="{CAF77331-91B3-43F7-A8C7-939C2F0788BC}" type="slidenum">
              <a:rPr lang="en-IN" smtClean="0"/>
              <a:t>37</a:t>
            </a:fld>
            <a:endParaRPr lang="en-IN"/>
          </a:p>
        </p:txBody>
      </p:sp>
    </p:spTree>
    <p:extLst>
      <p:ext uri="{BB962C8B-B14F-4D97-AF65-F5344CB8AC3E}">
        <p14:creationId xmlns:p14="http://schemas.microsoft.com/office/powerpoint/2010/main" val="41264619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554B1-64AF-0F49-DBFE-48560CACC8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CC29C-0939-1211-5F7F-3D99C082FA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5D977-CDCB-C15F-7511-5912C123B0F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569E3C1-87EB-EC22-41EC-263599662B1D}"/>
              </a:ext>
            </a:extLst>
          </p:cNvPr>
          <p:cNvSpPr>
            <a:spLocks noGrp="1"/>
          </p:cNvSpPr>
          <p:nvPr>
            <p:ph type="sldNum" sz="quarter" idx="5"/>
          </p:nvPr>
        </p:nvSpPr>
        <p:spPr/>
        <p:txBody>
          <a:bodyPr/>
          <a:lstStyle/>
          <a:p>
            <a:fld id="{CAF77331-91B3-43F7-A8C7-939C2F0788BC}" type="slidenum">
              <a:rPr lang="en-IN" smtClean="0"/>
              <a:t>38</a:t>
            </a:fld>
            <a:endParaRPr lang="en-IN"/>
          </a:p>
        </p:txBody>
      </p:sp>
    </p:spTree>
    <p:extLst>
      <p:ext uri="{BB962C8B-B14F-4D97-AF65-F5344CB8AC3E}">
        <p14:creationId xmlns:p14="http://schemas.microsoft.com/office/powerpoint/2010/main" val="34352504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3E0A6-B1BE-A1EE-637D-C7BE1589FE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40B35-7F40-8C08-CD3F-8988A166A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81DC8B-F78A-10E1-0855-5DBFF7171A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C27977D-25B2-898C-13BC-4F688AED3FD5}"/>
              </a:ext>
            </a:extLst>
          </p:cNvPr>
          <p:cNvSpPr>
            <a:spLocks noGrp="1"/>
          </p:cNvSpPr>
          <p:nvPr>
            <p:ph type="sldNum" sz="quarter" idx="5"/>
          </p:nvPr>
        </p:nvSpPr>
        <p:spPr/>
        <p:txBody>
          <a:bodyPr/>
          <a:lstStyle/>
          <a:p>
            <a:fld id="{CAF77331-91B3-43F7-A8C7-939C2F0788BC}" type="slidenum">
              <a:rPr lang="en-IN" smtClean="0"/>
              <a:t>39</a:t>
            </a:fld>
            <a:endParaRPr lang="en-IN"/>
          </a:p>
        </p:txBody>
      </p:sp>
    </p:spTree>
    <p:extLst>
      <p:ext uri="{BB962C8B-B14F-4D97-AF65-F5344CB8AC3E}">
        <p14:creationId xmlns:p14="http://schemas.microsoft.com/office/powerpoint/2010/main" val="978321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8320B-B455-D6D9-B180-7DDAB9CCF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217B8C-F98C-6CDB-B5B5-AC79158B2B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ABD961-C808-24A7-79B1-21B79AC767C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A71E82C-A2ED-AB81-FBF5-080A8D54AF38}"/>
              </a:ext>
            </a:extLst>
          </p:cNvPr>
          <p:cNvSpPr>
            <a:spLocks noGrp="1"/>
          </p:cNvSpPr>
          <p:nvPr>
            <p:ph type="sldNum" sz="quarter" idx="5"/>
          </p:nvPr>
        </p:nvSpPr>
        <p:spPr/>
        <p:txBody>
          <a:bodyPr/>
          <a:lstStyle/>
          <a:p>
            <a:fld id="{CAF77331-91B3-43F7-A8C7-939C2F0788BC}" type="slidenum">
              <a:rPr lang="en-IN" smtClean="0"/>
              <a:t>40</a:t>
            </a:fld>
            <a:endParaRPr lang="en-IN"/>
          </a:p>
        </p:txBody>
      </p:sp>
    </p:spTree>
    <p:extLst>
      <p:ext uri="{BB962C8B-B14F-4D97-AF65-F5344CB8AC3E}">
        <p14:creationId xmlns:p14="http://schemas.microsoft.com/office/powerpoint/2010/main" val="30448431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987E2-6D36-350D-637A-7FE8E75A2D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758CBF-D523-4CCC-2EB9-7F2FBD7ABA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78A276-0E7C-556F-2D6B-AB2E2455B10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72685EB-FD4F-4134-27BB-D1169E58FE33}"/>
              </a:ext>
            </a:extLst>
          </p:cNvPr>
          <p:cNvSpPr>
            <a:spLocks noGrp="1"/>
          </p:cNvSpPr>
          <p:nvPr>
            <p:ph type="sldNum" sz="quarter" idx="5"/>
          </p:nvPr>
        </p:nvSpPr>
        <p:spPr/>
        <p:txBody>
          <a:bodyPr/>
          <a:lstStyle/>
          <a:p>
            <a:fld id="{CAF77331-91B3-43F7-A8C7-939C2F0788BC}" type="slidenum">
              <a:rPr lang="en-IN" smtClean="0"/>
              <a:t>41</a:t>
            </a:fld>
            <a:endParaRPr lang="en-IN"/>
          </a:p>
        </p:txBody>
      </p:sp>
    </p:spTree>
    <p:extLst>
      <p:ext uri="{BB962C8B-B14F-4D97-AF65-F5344CB8AC3E}">
        <p14:creationId xmlns:p14="http://schemas.microsoft.com/office/powerpoint/2010/main" val="38454128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21945-275A-3A82-611A-F5F99A2939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33362E-1FF5-0258-3E1F-BCA323317B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C5D926-523C-A0DF-388A-EC478826D34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EF0C76C-1F30-8ADF-0A74-44C4C08A13ED}"/>
              </a:ext>
            </a:extLst>
          </p:cNvPr>
          <p:cNvSpPr>
            <a:spLocks noGrp="1"/>
          </p:cNvSpPr>
          <p:nvPr>
            <p:ph type="sldNum" sz="quarter" idx="5"/>
          </p:nvPr>
        </p:nvSpPr>
        <p:spPr/>
        <p:txBody>
          <a:bodyPr/>
          <a:lstStyle/>
          <a:p>
            <a:fld id="{CAF77331-91B3-43F7-A8C7-939C2F0788BC}" type="slidenum">
              <a:rPr lang="en-IN" smtClean="0"/>
              <a:t>42</a:t>
            </a:fld>
            <a:endParaRPr lang="en-IN"/>
          </a:p>
        </p:txBody>
      </p:sp>
    </p:spTree>
    <p:extLst>
      <p:ext uri="{BB962C8B-B14F-4D97-AF65-F5344CB8AC3E}">
        <p14:creationId xmlns:p14="http://schemas.microsoft.com/office/powerpoint/2010/main" val="32971430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76E76-E1AB-5BC5-B4F2-B310A5861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8E27A3-47B4-2A9C-CCDB-BC4D95483E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85DF5B-6B85-2868-B115-666A04B558E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36486DA-71D8-71E7-3245-177E2B9F68D0}"/>
              </a:ext>
            </a:extLst>
          </p:cNvPr>
          <p:cNvSpPr>
            <a:spLocks noGrp="1"/>
          </p:cNvSpPr>
          <p:nvPr>
            <p:ph type="sldNum" sz="quarter" idx="5"/>
          </p:nvPr>
        </p:nvSpPr>
        <p:spPr/>
        <p:txBody>
          <a:bodyPr/>
          <a:lstStyle/>
          <a:p>
            <a:fld id="{CAF77331-91B3-43F7-A8C7-939C2F0788BC}" type="slidenum">
              <a:rPr lang="en-IN" smtClean="0"/>
              <a:t>43</a:t>
            </a:fld>
            <a:endParaRPr lang="en-IN"/>
          </a:p>
        </p:txBody>
      </p:sp>
    </p:spTree>
    <p:extLst>
      <p:ext uri="{BB962C8B-B14F-4D97-AF65-F5344CB8AC3E}">
        <p14:creationId xmlns:p14="http://schemas.microsoft.com/office/powerpoint/2010/main" val="30826870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2FD6B-9539-3459-722A-2D5C3C484F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7D5152-3881-8523-6EDD-0473887BE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22E3F-46EF-210C-1A9E-895ADE7F2BF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3431E0E-C19F-91C1-000F-DDB3BC278A70}"/>
              </a:ext>
            </a:extLst>
          </p:cNvPr>
          <p:cNvSpPr>
            <a:spLocks noGrp="1"/>
          </p:cNvSpPr>
          <p:nvPr>
            <p:ph type="sldNum" sz="quarter" idx="5"/>
          </p:nvPr>
        </p:nvSpPr>
        <p:spPr/>
        <p:txBody>
          <a:bodyPr/>
          <a:lstStyle/>
          <a:p>
            <a:fld id="{CAF77331-91B3-43F7-A8C7-939C2F0788BC}" type="slidenum">
              <a:rPr lang="en-IN" smtClean="0"/>
              <a:t>44</a:t>
            </a:fld>
            <a:endParaRPr lang="en-IN"/>
          </a:p>
        </p:txBody>
      </p:sp>
    </p:spTree>
    <p:extLst>
      <p:ext uri="{BB962C8B-B14F-4D97-AF65-F5344CB8AC3E}">
        <p14:creationId xmlns:p14="http://schemas.microsoft.com/office/powerpoint/2010/main" val="3000466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564C4-8CE5-6AC8-E276-02D00428EA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5CD4783-20FC-5BB0-A3B8-833F8A6805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4A6C259-A2AF-1916-B25C-F1C6E7304DBD}"/>
              </a:ext>
            </a:extLst>
          </p:cNvPr>
          <p:cNvSpPr>
            <a:spLocks noGrp="1"/>
          </p:cNvSpPr>
          <p:nvPr>
            <p:ph type="dt" sz="half" idx="10"/>
          </p:nvPr>
        </p:nvSpPr>
        <p:spPr/>
        <p:txBody>
          <a:bodyPr/>
          <a:lstStyle/>
          <a:p>
            <a:fld id="{AB422B3B-D934-43CB-AFBE-702725D96A52}" type="datetimeFigureOut">
              <a:rPr lang="en-IN" smtClean="0"/>
              <a:t>06-03-2026</a:t>
            </a:fld>
            <a:endParaRPr lang="en-IN"/>
          </a:p>
        </p:txBody>
      </p:sp>
      <p:sp>
        <p:nvSpPr>
          <p:cNvPr id="5" name="Footer Placeholder 4">
            <a:extLst>
              <a:ext uri="{FF2B5EF4-FFF2-40B4-BE49-F238E27FC236}">
                <a16:creationId xmlns:a16="http://schemas.microsoft.com/office/drawing/2014/main" id="{96676740-D85D-9741-04E0-29F923B432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B1475A-3008-1863-A818-86F72FB506EE}"/>
              </a:ext>
            </a:extLst>
          </p:cNvPr>
          <p:cNvSpPr>
            <a:spLocks noGrp="1"/>
          </p:cNvSpPr>
          <p:nvPr>
            <p:ph type="sldNum" sz="quarter" idx="12"/>
          </p:nvPr>
        </p:nvSpPr>
        <p:spPr/>
        <p:txBody>
          <a:bodyPr/>
          <a:lstStyle/>
          <a:p>
            <a:fld id="{7856CEF4-A663-4300-8161-6AC98A92BE99}" type="slidenum">
              <a:rPr lang="en-IN" smtClean="0"/>
              <a:t>‹#›</a:t>
            </a:fld>
            <a:endParaRPr lang="en-IN"/>
          </a:p>
        </p:txBody>
      </p:sp>
    </p:spTree>
    <p:extLst>
      <p:ext uri="{BB962C8B-B14F-4D97-AF65-F5344CB8AC3E}">
        <p14:creationId xmlns:p14="http://schemas.microsoft.com/office/powerpoint/2010/main" val="1879587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1C24B-120C-8751-EDE5-7320B519D03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3E714F-C8F8-B0BE-D458-02064A1CF8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11B3BB-62DD-9CF9-189B-DF4E547A4695}"/>
              </a:ext>
            </a:extLst>
          </p:cNvPr>
          <p:cNvSpPr>
            <a:spLocks noGrp="1"/>
          </p:cNvSpPr>
          <p:nvPr>
            <p:ph type="dt" sz="half" idx="10"/>
          </p:nvPr>
        </p:nvSpPr>
        <p:spPr/>
        <p:txBody>
          <a:bodyPr/>
          <a:lstStyle/>
          <a:p>
            <a:fld id="{AB422B3B-D934-43CB-AFBE-702725D96A52}" type="datetimeFigureOut">
              <a:rPr lang="en-IN" smtClean="0"/>
              <a:t>06-03-2026</a:t>
            </a:fld>
            <a:endParaRPr lang="en-IN"/>
          </a:p>
        </p:txBody>
      </p:sp>
      <p:sp>
        <p:nvSpPr>
          <p:cNvPr id="5" name="Footer Placeholder 4">
            <a:extLst>
              <a:ext uri="{FF2B5EF4-FFF2-40B4-BE49-F238E27FC236}">
                <a16:creationId xmlns:a16="http://schemas.microsoft.com/office/drawing/2014/main" id="{E9A4AFFC-49AB-51AA-C0E8-DC9EC5FCC8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54C26E-2C90-F454-D6BC-BD9B65B98578}"/>
              </a:ext>
            </a:extLst>
          </p:cNvPr>
          <p:cNvSpPr>
            <a:spLocks noGrp="1"/>
          </p:cNvSpPr>
          <p:nvPr>
            <p:ph type="sldNum" sz="quarter" idx="12"/>
          </p:nvPr>
        </p:nvSpPr>
        <p:spPr/>
        <p:txBody>
          <a:bodyPr/>
          <a:lstStyle/>
          <a:p>
            <a:fld id="{7856CEF4-A663-4300-8161-6AC98A92BE99}" type="slidenum">
              <a:rPr lang="en-IN" smtClean="0"/>
              <a:t>‹#›</a:t>
            </a:fld>
            <a:endParaRPr lang="en-IN"/>
          </a:p>
        </p:txBody>
      </p:sp>
    </p:spTree>
    <p:extLst>
      <p:ext uri="{BB962C8B-B14F-4D97-AF65-F5344CB8AC3E}">
        <p14:creationId xmlns:p14="http://schemas.microsoft.com/office/powerpoint/2010/main" val="2798170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438EA-334E-3825-10D6-279238688D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DC53938-7D98-454E-F902-7EF4B598E6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23B0FB-D80B-4ABE-BF16-8532B94A8D5E}"/>
              </a:ext>
            </a:extLst>
          </p:cNvPr>
          <p:cNvSpPr>
            <a:spLocks noGrp="1"/>
          </p:cNvSpPr>
          <p:nvPr>
            <p:ph type="dt" sz="half" idx="10"/>
          </p:nvPr>
        </p:nvSpPr>
        <p:spPr/>
        <p:txBody>
          <a:bodyPr/>
          <a:lstStyle/>
          <a:p>
            <a:fld id="{AB422B3B-D934-43CB-AFBE-702725D96A52}" type="datetimeFigureOut">
              <a:rPr lang="en-IN" smtClean="0"/>
              <a:t>06-03-2026</a:t>
            </a:fld>
            <a:endParaRPr lang="en-IN"/>
          </a:p>
        </p:txBody>
      </p:sp>
      <p:sp>
        <p:nvSpPr>
          <p:cNvPr id="5" name="Footer Placeholder 4">
            <a:extLst>
              <a:ext uri="{FF2B5EF4-FFF2-40B4-BE49-F238E27FC236}">
                <a16:creationId xmlns:a16="http://schemas.microsoft.com/office/drawing/2014/main" id="{E1D764DC-4E8D-0DDE-C502-C4C381860E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87BA1A-C81B-D5A9-7EAF-FF6180E144A8}"/>
              </a:ext>
            </a:extLst>
          </p:cNvPr>
          <p:cNvSpPr>
            <a:spLocks noGrp="1"/>
          </p:cNvSpPr>
          <p:nvPr>
            <p:ph type="sldNum" sz="quarter" idx="12"/>
          </p:nvPr>
        </p:nvSpPr>
        <p:spPr/>
        <p:txBody>
          <a:bodyPr/>
          <a:lstStyle/>
          <a:p>
            <a:fld id="{7856CEF4-A663-4300-8161-6AC98A92BE99}" type="slidenum">
              <a:rPr lang="en-IN" smtClean="0"/>
              <a:t>‹#›</a:t>
            </a:fld>
            <a:endParaRPr lang="en-IN"/>
          </a:p>
        </p:txBody>
      </p:sp>
    </p:spTree>
    <p:extLst>
      <p:ext uri="{BB962C8B-B14F-4D97-AF65-F5344CB8AC3E}">
        <p14:creationId xmlns:p14="http://schemas.microsoft.com/office/powerpoint/2010/main" val="4048811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EA912-302D-9A66-3224-3A925070B0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AAC8C1-5E73-E9EA-BA02-66B89A2486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391424D-61F2-BEE1-CB46-D35179E57E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B063BB-6D89-B9AE-E395-A88DF30AF042}"/>
              </a:ext>
            </a:extLst>
          </p:cNvPr>
          <p:cNvSpPr>
            <a:spLocks noGrp="1"/>
          </p:cNvSpPr>
          <p:nvPr>
            <p:ph type="dt" sz="half" idx="10"/>
          </p:nvPr>
        </p:nvSpPr>
        <p:spPr/>
        <p:txBody>
          <a:bodyPr/>
          <a:lstStyle/>
          <a:p>
            <a:fld id="{AB422B3B-D934-43CB-AFBE-702725D96A52}" type="datetimeFigureOut">
              <a:rPr lang="en-IN" smtClean="0"/>
              <a:t>06-03-2026</a:t>
            </a:fld>
            <a:endParaRPr lang="en-IN"/>
          </a:p>
        </p:txBody>
      </p:sp>
      <p:sp>
        <p:nvSpPr>
          <p:cNvPr id="6" name="Footer Placeholder 5">
            <a:extLst>
              <a:ext uri="{FF2B5EF4-FFF2-40B4-BE49-F238E27FC236}">
                <a16:creationId xmlns:a16="http://schemas.microsoft.com/office/drawing/2014/main" id="{B106091C-4CA2-F82C-94FB-948FEF0FDFA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90DE0D-C3DC-C8C8-EDFD-A3BA8372961D}"/>
              </a:ext>
            </a:extLst>
          </p:cNvPr>
          <p:cNvSpPr>
            <a:spLocks noGrp="1"/>
          </p:cNvSpPr>
          <p:nvPr>
            <p:ph type="sldNum" sz="quarter" idx="12"/>
          </p:nvPr>
        </p:nvSpPr>
        <p:spPr/>
        <p:txBody>
          <a:bodyPr/>
          <a:lstStyle/>
          <a:p>
            <a:fld id="{7856CEF4-A663-4300-8161-6AC98A92BE99}" type="slidenum">
              <a:rPr lang="en-IN" smtClean="0"/>
              <a:t>‹#›</a:t>
            </a:fld>
            <a:endParaRPr lang="en-IN"/>
          </a:p>
        </p:txBody>
      </p:sp>
    </p:spTree>
    <p:extLst>
      <p:ext uri="{BB962C8B-B14F-4D97-AF65-F5344CB8AC3E}">
        <p14:creationId xmlns:p14="http://schemas.microsoft.com/office/powerpoint/2010/main" val="1345946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2F190-E87B-7D3A-6836-F58FC3C8D00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CB9808-44F5-A69A-6D71-FEF9A1A35F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49F537-F18D-91F4-1158-DFB5CD0000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267EAC2-38F8-E241-27BF-0C1183118A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46F82D-6331-DFE6-95E9-84ECF9AB2E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0488C9D-C8BE-7565-95F4-A879D17591BB}"/>
              </a:ext>
            </a:extLst>
          </p:cNvPr>
          <p:cNvSpPr>
            <a:spLocks noGrp="1"/>
          </p:cNvSpPr>
          <p:nvPr>
            <p:ph type="dt" sz="half" idx="10"/>
          </p:nvPr>
        </p:nvSpPr>
        <p:spPr/>
        <p:txBody>
          <a:bodyPr/>
          <a:lstStyle/>
          <a:p>
            <a:fld id="{AB422B3B-D934-43CB-AFBE-702725D96A52}" type="datetimeFigureOut">
              <a:rPr lang="en-IN" smtClean="0"/>
              <a:t>06-03-2026</a:t>
            </a:fld>
            <a:endParaRPr lang="en-IN"/>
          </a:p>
        </p:txBody>
      </p:sp>
      <p:sp>
        <p:nvSpPr>
          <p:cNvPr id="8" name="Footer Placeholder 7">
            <a:extLst>
              <a:ext uri="{FF2B5EF4-FFF2-40B4-BE49-F238E27FC236}">
                <a16:creationId xmlns:a16="http://schemas.microsoft.com/office/drawing/2014/main" id="{D762DB84-F830-225C-A2F9-531F2C99543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BE7B309-C882-7577-9220-9FE02EF4F3D3}"/>
              </a:ext>
            </a:extLst>
          </p:cNvPr>
          <p:cNvSpPr>
            <a:spLocks noGrp="1"/>
          </p:cNvSpPr>
          <p:nvPr>
            <p:ph type="sldNum" sz="quarter" idx="12"/>
          </p:nvPr>
        </p:nvSpPr>
        <p:spPr/>
        <p:txBody>
          <a:bodyPr/>
          <a:lstStyle/>
          <a:p>
            <a:fld id="{7856CEF4-A663-4300-8161-6AC98A92BE99}" type="slidenum">
              <a:rPr lang="en-IN" smtClean="0"/>
              <a:t>‹#›</a:t>
            </a:fld>
            <a:endParaRPr lang="en-IN"/>
          </a:p>
        </p:txBody>
      </p:sp>
    </p:spTree>
    <p:extLst>
      <p:ext uri="{BB962C8B-B14F-4D97-AF65-F5344CB8AC3E}">
        <p14:creationId xmlns:p14="http://schemas.microsoft.com/office/powerpoint/2010/main" val="428346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7E721-8A28-3328-5F32-2D7D872E7EB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2DFDE5-BC2D-0386-68D5-C71181D09510}"/>
              </a:ext>
            </a:extLst>
          </p:cNvPr>
          <p:cNvSpPr>
            <a:spLocks noGrp="1"/>
          </p:cNvSpPr>
          <p:nvPr>
            <p:ph type="dt" sz="half" idx="10"/>
          </p:nvPr>
        </p:nvSpPr>
        <p:spPr/>
        <p:txBody>
          <a:bodyPr/>
          <a:lstStyle/>
          <a:p>
            <a:fld id="{AB422B3B-D934-43CB-AFBE-702725D96A52}" type="datetimeFigureOut">
              <a:rPr lang="en-IN" smtClean="0"/>
              <a:t>06-03-2026</a:t>
            </a:fld>
            <a:endParaRPr lang="en-IN"/>
          </a:p>
        </p:txBody>
      </p:sp>
      <p:sp>
        <p:nvSpPr>
          <p:cNvPr id="4" name="Footer Placeholder 3">
            <a:extLst>
              <a:ext uri="{FF2B5EF4-FFF2-40B4-BE49-F238E27FC236}">
                <a16:creationId xmlns:a16="http://schemas.microsoft.com/office/drawing/2014/main" id="{3A4543CE-6CD8-BBE6-234B-46C34225E4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2F63376-6FC6-626D-1269-157B6C2BBB96}"/>
              </a:ext>
            </a:extLst>
          </p:cNvPr>
          <p:cNvSpPr>
            <a:spLocks noGrp="1"/>
          </p:cNvSpPr>
          <p:nvPr>
            <p:ph type="sldNum" sz="quarter" idx="12"/>
          </p:nvPr>
        </p:nvSpPr>
        <p:spPr/>
        <p:txBody>
          <a:bodyPr/>
          <a:lstStyle/>
          <a:p>
            <a:fld id="{7856CEF4-A663-4300-8161-6AC98A92BE99}" type="slidenum">
              <a:rPr lang="en-IN" smtClean="0"/>
              <a:t>‹#›</a:t>
            </a:fld>
            <a:endParaRPr lang="en-IN"/>
          </a:p>
        </p:txBody>
      </p:sp>
    </p:spTree>
    <p:extLst>
      <p:ext uri="{BB962C8B-B14F-4D97-AF65-F5344CB8AC3E}">
        <p14:creationId xmlns:p14="http://schemas.microsoft.com/office/powerpoint/2010/main" val="2355249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0B64D7-00C2-363A-F44F-761A7508F289}"/>
              </a:ext>
            </a:extLst>
          </p:cNvPr>
          <p:cNvSpPr>
            <a:spLocks noGrp="1"/>
          </p:cNvSpPr>
          <p:nvPr>
            <p:ph type="dt" sz="half" idx="10"/>
          </p:nvPr>
        </p:nvSpPr>
        <p:spPr/>
        <p:txBody>
          <a:bodyPr/>
          <a:lstStyle/>
          <a:p>
            <a:fld id="{AB422B3B-D934-43CB-AFBE-702725D96A52}" type="datetimeFigureOut">
              <a:rPr lang="en-IN" smtClean="0"/>
              <a:t>06-03-2026</a:t>
            </a:fld>
            <a:endParaRPr lang="en-IN"/>
          </a:p>
        </p:txBody>
      </p:sp>
      <p:sp>
        <p:nvSpPr>
          <p:cNvPr id="3" name="Footer Placeholder 2">
            <a:extLst>
              <a:ext uri="{FF2B5EF4-FFF2-40B4-BE49-F238E27FC236}">
                <a16:creationId xmlns:a16="http://schemas.microsoft.com/office/drawing/2014/main" id="{7A7EE53F-A619-D29B-4DB7-1842498D935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5DBF7F8-0A2E-21B7-9E3C-5F83A6BB0D23}"/>
              </a:ext>
            </a:extLst>
          </p:cNvPr>
          <p:cNvSpPr>
            <a:spLocks noGrp="1"/>
          </p:cNvSpPr>
          <p:nvPr>
            <p:ph type="sldNum" sz="quarter" idx="12"/>
          </p:nvPr>
        </p:nvSpPr>
        <p:spPr/>
        <p:txBody>
          <a:bodyPr/>
          <a:lstStyle/>
          <a:p>
            <a:fld id="{7856CEF4-A663-4300-8161-6AC98A92BE99}" type="slidenum">
              <a:rPr lang="en-IN" smtClean="0"/>
              <a:t>‹#›</a:t>
            </a:fld>
            <a:endParaRPr lang="en-IN"/>
          </a:p>
        </p:txBody>
      </p:sp>
      <p:sp>
        <p:nvSpPr>
          <p:cNvPr id="5" name="Rectangle 4">
            <a:extLst>
              <a:ext uri="{FF2B5EF4-FFF2-40B4-BE49-F238E27FC236}">
                <a16:creationId xmlns:a16="http://schemas.microsoft.com/office/drawing/2014/main" id="{399D9A2A-459A-6C84-D7D3-1AA75FD8E4DC}"/>
              </a:ext>
            </a:extLst>
          </p:cNvPr>
          <p:cNvSpPr/>
          <p:nvPr userDrawn="1"/>
        </p:nvSpPr>
        <p:spPr>
          <a:xfrm>
            <a:off x="0" y="0"/>
            <a:ext cx="472966" cy="685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6211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4845B-9836-6C24-99CA-69C06A0852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07F101B-9CF3-135C-1D58-28BC712B9D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BBE79A6-6DC6-DCE6-98FC-F3CCD15652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733346-1A60-2113-03FE-7FCB2953B910}"/>
              </a:ext>
            </a:extLst>
          </p:cNvPr>
          <p:cNvSpPr>
            <a:spLocks noGrp="1"/>
          </p:cNvSpPr>
          <p:nvPr>
            <p:ph type="dt" sz="half" idx="10"/>
          </p:nvPr>
        </p:nvSpPr>
        <p:spPr/>
        <p:txBody>
          <a:bodyPr/>
          <a:lstStyle/>
          <a:p>
            <a:fld id="{AB422B3B-D934-43CB-AFBE-702725D96A52}" type="datetimeFigureOut">
              <a:rPr lang="en-IN" smtClean="0"/>
              <a:t>06-03-2026</a:t>
            </a:fld>
            <a:endParaRPr lang="en-IN"/>
          </a:p>
        </p:txBody>
      </p:sp>
      <p:sp>
        <p:nvSpPr>
          <p:cNvPr id="6" name="Footer Placeholder 5">
            <a:extLst>
              <a:ext uri="{FF2B5EF4-FFF2-40B4-BE49-F238E27FC236}">
                <a16:creationId xmlns:a16="http://schemas.microsoft.com/office/drawing/2014/main" id="{F7FC82EC-7BC5-9885-BFAA-972E280CC2F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667D6C-A7CC-033A-A6C1-FCC177507DC9}"/>
              </a:ext>
            </a:extLst>
          </p:cNvPr>
          <p:cNvSpPr>
            <a:spLocks noGrp="1"/>
          </p:cNvSpPr>
          <p:nvPr>
            <p:ph type="sldNum" sz="quarter" idx="12"/>
          </p:nvPr>
        </p:nvSpPr>
        <p:spPr/>
        <p:txBody>
          <a:bodyPr/>
          <a:lstStyle/>
          <a:p>
            <a:fld id="{7856CEF4-A663-4300-8161-6AC98A92BE99}" type="slidenum">
              <a:rPr lang="en-IN" smtClean="0"/>
              <a:t>‹#›</a:t>
            </a:fld>
            <a:endParaRPr lang="en-IN"/>
          </a:p>
        </p:txBody>
      </p:sp>
    </p:spTree>
    <p:extLst>
      <p:ext uri="{BB962C8B-B14F-4D97-AF65-F5344CB8AC3E}">
        <p14:creationId xmlns:p14="http://schemas.microsoft.com/office/powerpoint/2010/main" val="21376210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2E9B-70B8-193B-F074-74E6264FD0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F3084E8-238A-686A-21BC-3272391DBC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7137BE3-5070-6D10-2D9F-3D6B92EF51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048221-95D5-3EFE-3BF0-B7CEEC9FCD6D}"/>
              </a:ext>
            </a:extLst>
          </p:cNvPr>
          <p:cNvSpPr>
            <a:spLocks noGrp="1"/>
          </p:cNvSpPr>
          <p:nvPr>
            <p:ph type="dt" sz="half" idx="10"/>
          </p:nvPr>
        </p:nvSpPr>
        <p:spPr/>
        <p:txBody>
          <a:bodyPr/>
          <a:lstStyle/>
          <a:p>
            <a:fld id="{AB422B3B-D934-43CB-AFBE-702725D96A52}" type="datetimeFigureOut">
              <a:rPr lang="en-IN" smtClean="0"/>
              <a:t>06-03-2026</a:t>
            </a:fld>
            <a:endParaRPr lang="en-IN"/>
          </a:p>
        </p:txBody>
      </p:sp>
      <p:sp>
        <p:nvSpPr>
          <p:cNvPr id="6" name="Footer Placeholder 5">
            <a:extLst>
              <a:ext uri="{FF2B5EF4-FFF2-40B4-BE49-F238E27FC236}">
                <a16:creationId xmlns:a16="http://schemas.microsoft.com/office/drawing/2014/main" id="{CA74E30E-464E-D15A-36C4-1E8FCFC72E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0F4F7F-D5E0-D039-F03D-A8CA004FBC5C}"/>
              </a:ext>
            </a:extLst>
          </p:cNvPr>
          <p:cNvSpPr>
            <a:spLocks noGrp="1"/>
          </p:cNvSpPr>
          <p:nvPr>
            <p:ph type="sldNum" sz="quarter" idx="12"/>
          </p:nvPr>
        </p:nvSpPr>
        <p:spPr/>
        <p:txBody>
          <a:bodyPr/>
          <a:lstStyle/>
          <a:p>
            <a:fld id="{7856CEF4-A663-4300-8161-6AC98A92BE99}" type="slidenum">
              <a:rPr lang="en-IN" smtClean="0"/>
              <a:t>‹#›</a:t>
            </a:fld>
            <a:endParaRPr lang="en-IN"/>
          </a:p>
        </p:txBody>
      </p:sp>
    </p:spTree>
    <p:extLst>
      <p:ext uri="{BB962C8B-B14F-4D97-AF65-F5344CB8AC3E}">
        <p14:creationId xmlns:p14="http://schemas.microsoft.com/office/powerpoint/2010/main" val="1747534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813B1-F75D-C591-D288-C9D5EB19A6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DB62C3-1E4E-501E-02F0-3DC5FC4EE4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730141-E426-EFD7-EDD1-79C065596EB3}"/>
              </a:ext>
            </a:extLst>
          </p:cNvPr>
          <p:cNvSpPr>
            <a:spLocks noGrp="1"/>
          </p:cNvSpPr>
          <p:nvPr>
            <p:ph type="dt" sz="half" idx="10"/>
          </p:nvPr>
        </p:nvSpPr>
        <p:spPr/>
        <p:txBody>
          <a:bodyPr/>
          <a:lstStyle/>
          <a:p>
            <a:fld id="{AB422B3B-D934-43CB-AFBE-702725D96A52}" type="datetimeFigureOut">
              <a:rPr lang="en-IN" smtClean="0"/>
              <a:t>06-03-2026</a:t>
            </a:fld>
            <a:endParaRPr lang="en-IN"/>
          </a:p>
        </p:txBody>
      </p:sp>
      <p:sp>
        <p:nvSpPr>
          <p:cNvPr id="5" name="Footer Placeholder 4">
            <a:extLst>
              <a:ext uri="{FF2B5EF4-FFF2-40B4-BE49-F238E27FC236}">
                <a16:creationId xmlns:a16="http://schemas.microsoft.com/office/drawing/2014/main" id="{2E30A717-EF90-546F-9B42-81109290A9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CA21A2-B59D-9569-79B9-9415FA1D69E0}"/>
              </a:ext>
            </a:extLst>
          </p:cNvPr>
          <p:cNvSpPr>
            <a:spLocks noGrp="1"/>
          </p:cNvSpPr>
          <p:nvPr>
            <p:ph type="sldNum" sz="quarter" idx="12"/>
          </p:nvPr>
        </p:nvSpPr>
        <p:spPr/>
        <p:txBody>
          <a:bodyPr/>
          <a:lstStyle/>
          <a:p>
            <a:fld id="{7856CEF4-A663-4300-8161-6AC98A92BE99}" type="slidenum">
              <a:rPr lang="en-IN" smtClean="0"/>
              <a:t>‹#›</a:t>
            </a:fld>
            <a:endParaRPr lang="en-IN"/>
          </a:p>
        </p:txBody>
      </p:sp>
    </p:spTree>
    <p:extLst>
      <p:ext uri="{BB962C8B-B14F-4D97-AF65-F5344CB8AC3E}">
        <p14:creationId xmlns:p14="http://schemas.microsoft.com/office/powerpoint/2010/main" val="2302817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122AFA-7F00-E3FD-2B1A-1CE5A56ACF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8DD2004-66AD-7582-B382-FE8A4BB4CB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E52099-D2E8-C051-A6E0-BDEB68815242}"/>
              </a:ext>
            </a:extLst>
          </p:cNvPr>
          <p:cNvSpPr>
            <a:spLocks noGrp="1"/>
          </p:cNvSpPr>
          <p:nvPr>
            <p:ph type="dt" sz="half" idx="10"/>
          </p:nvPr>
        </p:nvSpPr>
        <p:spPr/>
        <p:txBody>
          <a:bodyPr/>
          <a:lstStyle/>
          <a:p>
            <a:fld id="{AB422B3B-D934-43CB-AFBE-702725D96A52}" type="datetimeFigureOut">
              <a:rPr lang="en-IN" smtClean="0"/>
              <a:t>06-03-2026</a:t>
            </a:fld>
            <a:endParaRPr lang="en-IN"/>
          </a:p>
        </p:txBody>
      </p:sp>
      <p:sp>
        <p:nvSpPr>
          <p:cNvPr id="5" name="Footer Placeholder 4">
            <a:extLst>
              <a:ext uri="{FF2B5EF4-FFF2-40B4-BE49-F238E27FC236}">
                <a16:creationId xmlns:a16="http://schemas.microsoft.com/office/drawing/2014/main" id="{D6B03100-0994-65C3-A670-E3CF4AE1F3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50DB1C-F393-5CB9-90CD-993B95505030}"/>
              </a:ext>
            </a:extLst>
          </p:cNvPr>
          <p:cNvSpPr>
            <a:spLocks noGrp="1"/>
          </p:cNvSpPr>
          <p:nvPr>
            <p:ph type="sldNum" sz="quarter" idx="12"/>
          </p:nvPr>
        </p:nvSpPr>
        <p:spPr/>
        <p:txBody>
          <a:bodyPr/>
          <a:lstStyle/>
          <a:p>
            <a:fld id="{7856CEF4-A663-4300-8161-6AC98A92BE99}" type="slidenum">
              <a:rPr lang="en-IN" smtClean="0"/>
              <a:t>‹#›</a:t>
            </a:fld>
            <a:endParaRPr lang="en-IN"/>
          </a:p>
        </p:txBody>
      </p:sp>
    </p:spTree>
    <p:extLst>
      <p:ext uri="{BB962C8B-B14F-4D97-AF65-F5344CB8AC3E}">
        <p14:creationId xmlns:p14="http://schemas.microsoft.com/office/powerpoint/2010/main" val="1180170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E23B9E-77B3-8B15-DC75-2539CD522C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E3A20E-5CA8-4805-16DA-6D0141936C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F626B2-7382-97CF-D04F-A50BF7EB7A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422B3B-D934-43CB-AFBE-702725D96A52}" type="datetimeFigureOut">
              <a:rPr lang="en-IN" smtClean="0"/>
              <a:t>06-03-2026</a:t>
            </a:fld>
            <a:endParaRPr lang="en-IN"/>
          </a:p>
        </p:txBody>
      </p:sp>
      <p:sp>
        <p:nvSpPr>
          <p:cNvPr id="5" name="Footer Placeholder 4">
            <a:extLst>
              <a:ext uri="{FF2B5EF4-FFF2-40B4-BE49-F238E27FC236}">
                <a16:creationId xmlns:a16="http://schemas.microsoft.com/office/drawing/2014/main" id="{49946E15-363F-79BE-0E24-7450B41200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197E08D-D3CC-3B0C-D43F-2D961E5329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56CEF4-A663-4300-8161-6AC98A92BE99}" type="slidenum">
              <a:rPr lang="en-IN" smtClean="0"/>
              <a:t>‹#›</a:t>
            </a:fld>
            <a:endParaRPr lang="en-IN"/>
          </a:p>
        </p:txBody>
      </p:sp>
    </p:spTree>
    <p:extLst>
      <p:ext uri="{BB962C8B-B14F-4D97-AF65-F5344CB8AC3E}">
        <p14:creationId xmlns:p14="http://schemas.microsoft.com/office/powerpoint/2010/main" val="3501987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34C325-28D0-F152-3D7A-469733E1A869}"/>
              </a:ext>
            </a:extLst>
          </p:cNvPr>
          <p:cNvPicPr>
            <a:picLocks noChangeAspect="1"/>
          </p:cNvPicPr>
          <p:nvPr/>
        </p:nvPicPr>
        <p:blipFill>
          <a:blip r:embed="rId2"/>
          <a:stretch>
            <a:fillRect/>
          </a:stretch>
        </p:blipFill>
        <p:spPr>
          <a:xfrm>
            <a:off x="485701" y="12191"/>
            <a:ext cx="7491651" cy="6858001"/>
          </a:xfrm>
          <a:prstGeom prst="rect">
            <a:avLst/>
          </a:prstGeom>
          <a:ln>
            <a:noFill/>
          </a:ln>
        </p:spPr>
      </p:pic>
      <p:pic>
        <p:nvPicPr>
          <p:cNvPr id="1028" name="Picture 4">
            <a:extLst>
              <a:ext uri="{FF2B5EF4-FFF2-40B4-BE49-F238E27FC236}">
                <a16:creationId xmlns:a16="http://schemas.microsoft.com/office/drawing/2014/main" id="{6F4C01B2-D273-9ED2-A27B-731CDC7065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8885" y="1416269"/>
            <a:ext cx="4025461" cy="4025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4661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B347B9D-DA08-B7BB-7B2E-C207B3AA4682}"/>
              </a:ext>
            </a:extLst>
          </p:cNvPr>
          <p:cNvSpPr/>
          <p:nvPr/>
        </p:nvSpPr>
        <p:spPr>
          <a:xfrm>
            <a:off x="807907" y="1384335"/>
            <a:ext cx="11142353" cy="4089329"/>
          </a:xfrm>
          <a:prstGeom prst="round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3200" b="1" dirty="0">
                <a:solidFill>
                  <a:srgbClr val="C00000"/>
                </a:solidFill>
              </a:rPr>
              <a:t>SUBJECT: </a:t>
            </a:r>
            <a:r>
              <a:rPr lang="en-IN" sz="3200" b="1" dirty="0">
                <a:solidFill>
                  <a:schemeClr val="tx1"/>
                </a:solidFill>
              </a:rPr>
              <a:t>SUPPLY CHAIN MANAGEMENT STRATEGY</a:t>
            </a:r>
          </a:p>
          <a:p>
            <a:endParaRPr lang="en-IN" sz="3200" b="1" dirty="0">
              <a:solidFill>
                <a:schemeClr val="tx1"/>
              </a:solidFill>
            </a:endParaRPr>
          </a:p>
          <a:p>
            <a:r>
              <a:rPr lang="en-IN" sz="3200" b="1" dirty="0">
                <a:solidFill>
                  <a:srgbClr val="C00000"/>
                </a:solidFill>
              </a:rPr>
              <a:t>CHAPTER: </a:t>
            </a:r>
            <a:r>
              <a:rPr lang="en-IN" sz="3200" b="1" dirty="0">
                <a:solidFill>
                  <a:schemeClr val="tx1"/>
                </a:solidFill>
              </a:rPr>
              <a:t>02</a:t>
            </a:r>
          </a:p>
          <a:p>
            <a:r>
              <a:rPr lang="en-IN" sz="3200" b="1" dirty="0">
                <a:solidFill>
                  <a:srgbClr val="C00000"/>
                </a:solidFill>
              </a:rPr>
              <a:t>CHAPTER TITLE: </a:t>
            </a:r>
            <a:r>
              <a:rPr lang="en-IN" sz="2800" b="1" u="sng" dirty="0">
                <a:solidFill>
                  <a:srgbClr val="00B050"/>
                </a:solidFill>
                <a:effectLst>
                  <a:outerShdw blurRad="38100" dist="38100" dir="2700000" algn="tl">
                    <a:srgbClr val="000000">
                      <a:alpha val="43137"/>
                    </a:srgbClr>
                  </a:outerShdw>
                </a:effectLst>
              </a:rPr>
              <a:t>SUPPLY CHAIN STRATEGY</a:t>
            </a:r>
            <a:endParaRPr lang="en-IN" sz="3200" b="1" u="sng" dirty="0">
              <a:solidFill>
                <a:srgbClr val="00B050"/>
              </a:solidFill>
              <a:effectLst>
                <a:outerShdw blurRad="38100" dist="38100" dir="2700000" algn="tl">
                  <a:srgbClr val="000000">
                    <a:alpha val="43137"/>
                  </a:srgbClr>
                </a:outerShdw>
              </a:effectLst>
            </a:endParaRPr>
          </a:p>
          <a:p>
            <a:endParaRPr lang="en-IN" sz="3200" b="1" dirty="0">
              <a:solidFill>
                <a:srgbClr val="C00000"/>
              </a:solidFill>
            </a:endParaRPr>
          </a:p>
          <a:p>
            <a:r>
              <a:rPr lang="en-IN" sz="2800" b="1" dirty="0">
                <a:solidFill>
                  <a:srgbClr val="C00000"/>
                </a:solidFill>
                <a:highlight>
                  <a:srgbClr val="FFFF00"/>
                </a:highlight>
              </a:rPr>
              <a:t>REFERENCE BOOK: </a:t>
            </a:r>
          </a:p>
          <a:p>
            <a:r>
              <a:rPr lang="en-IN" b="1" i="1" dirty="0">
                <a:solidFill>
                  <a:srgbClr val="0000CC"/>
                </a:solidFill>
                <a:effectLst>
                  <a:outerShdw blurRad="38100" dist="38100" dir="2700000" algn="tl">
                    <a:srgbClr val="000000">
                      <a:alpha val="43137"/>
                    </a:srgbClr>
                  </a:outerShdw>
                </a:effectLst>
              </a:rPr>
              <a:t>SUPPLY CHAIN MANAGEMENT (AN INDIAN ADAPTATION), N R SANDERS &amp; S </a:t>
            </a:r>
            <a:r>
              <a:rPr lang="en-IN" b="1" i="1" dirty="0" err="1">
                <a:solidFill>
                  <a:srgbClr val="0000CC"/>
                </a:solidFill>
                <a:effectLst>
                  <a:outerShdw blurRad="38100" dist="38100" dir="2700000" algn="tl">
                    <a:srgbClr val="000000">
                      <a:alpha val="43137"/>
                    </a:srgbClr>
                  </a:outerShdw>
                </a:effectLst>
              </a:rPr>
              <a:t>S</a:t>
            </a:r>
            <a:r>
              <a:rPr lang="en-IN" b="1" i="1" dirty="0">
                <a:solidFill>
                  <a:srgbClr val="0000CC"/>
                </a:solidFill>
                <a:effectLst>
                  <a:outerShdw blurRad="38100" dist="38100" dir="2700000" algn="tl">
                    <a:srgbClr val="000000">
                      <a:alpha val="43137"/>
                    </a:srgbClr>
                  </a:outerShdw>
                </a:effectLst>
              </a:rPr>
              <a:t> PADHI, WILEY, 3</a:t>
            </a:r>
            <a:r>
              <a:rPr lang="en-IN" b="1" i="1" baseline="30000" dirty="0">
                <a:solidFill>
                  <a:srgbClr val="0000CC"/>
                </a:solidFill>
                <a:effectLst>
                  <a:outerShdw blurRad="38100" dist="38100" dir="2700000" algn="tl">
                    <a:srgbClr val="000000">
                      <a:alpha val="43137"/>
                    </a:srgbClr>
                  </a:outerShdw>
                </a:effectLst>
              </a:rPr>
              <a:t>RD</a:t>
            </a:r>
            <a:r>
              <a:rPr lang="en-IN" b="1" i="1" dirty="0">
                <a:solidFill>
                  <a:srgbClr val="0000CC"/>
                </a:solidFill>
                <a:effectLst>
                  <a:outerShdw blurRad="38100" dist="38100" dir="2700000" algn="tl">
                    <a:srgbClr val="000000">
                      <a:alpha val="43137"/>
                    </a:srgbClr>
                  </a:outerShdw>
                </a:effectLst>
              </a:rPr>
              <a:t> ED. (2023)</a:t>
            </a:r>
          </a:p>
        </p:txBody>
      </p:sp>
    </p:spTree>
    <p:extLst>
      <p:ext uri="{BB962C8B-B14F-4D97-AF65-F5344CB8AC3E}">
        <p14:creationId xmlns:p14="http://schemas.microsoft.com/office/powerpoint/2010/main" val="910635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9D68D-0A4D-71FE-AE0F-FE9D730FB19E}"/>
              </a:ext>
            </a:extLst>
          </p:cNvPr>
          <p:cNvSpPr/>
          <p:nvPr/>
        </p:nvSpPr>
        <p:spPr>
          <a:xfrm>
            <a:off x="0" y="0"/>
            <a:ext cx="12192000" cy="78827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4800" b="1" dirty="0">
                <a:solidFill>
                  <a:schemeClr val="bg1"/>
                </a:solidFill>
              </a:rPr>
              <a:t>KEY CONCEPTS</a:t>
            </a:r>
            <a:endParaRPr lang="en-IN" sz="4800" b="1" dirty="0">
              <a:solidFill>
                <a:schemeClr val="bg1"/>
              </a:solidFill>
            </a:endParaRPr>
          </a:p>
        </p:txBody>
      </p:sp>
      <p:graphicFrame>
        <p:nvGraphicFramePr>
          <p:cNvPr id="5" name="Table 4">
            <a:extLst>
              <a:ext uri="{FF2B5EF4-FFF2-40B4-BE49-F238E27FC236}">
                <a16:creationId xmlns:a16="http://schemas.microsoft.com/office/drawing/2014/main" id="{252B9960-8ED6-1992-2456-03EDA708802C}"/>
              </a:ext>
            </a:extLst>
          </p:cNvPr>
          <p:cNvGraphicFramePr>
            <a:graphicFrameLocks noGrp="1"/>
          </p:cNvGraphicFramePr>
          <p:nvPr>
            <p:extLst>
              <p:ext uri="{D42A27DB-BD31-4B8C-83A1-F6EECF244321}">
                <p14:modId xmlns:p14="http://schemas.microsoft.com/office/powerpoint/2010/main" val="144852939"/>
              </p:ext>
            </p:extLst>
          </p:nvPr>
        </p:nvGraphicFramePr>
        <p:xfrm>
          <a:off x="834887" y="949278"/>
          <a:ext cx="11081810" cy="5486400"/>
        </p:xfrm>
        <a:graphic>
          <a:graphicData uri="http://schemas.openxmlformats.org/drawingml/2006/table">
            <a:tbl>
              <a:tblPr firstRow="1" bandRow="1">
                <a:tableStyleId>{5940675A-B579-460E-94D1-54222C63F5DA}</a:tableStyleId>
              </a:tblPr>
              <a:tblGrid>
                <a:gridCol w="2028954">
                  <a:extLst>
                    <a:ext uri="{9D8B030D-6E8A-4147-A177-3AD203B41FA5}">
                      <a16:colId xmlns:a16="http://schemas.microsoft.com/office/drawing/2014/main" val="1977987784"/>
                    </a:ext>
                  </a:extLst>
                </a:gridCol>
                <a:gridCol w="9052856">
                  <a:extLst>
                    <a:ext uri="{9D8B030D-6E8A-4147-A177-3AD203B41FA5}">
                      <a16:colId xmlns:a16="http://schemas.microsoft.com/office/drawing/2014/main" val="1654883193"/>
                    </a:ext>
                  </a:extLst>
                </a:gridCol>
              </a:tblGrid>
              <a:tr h="462748">
                <a:tc>
                  <a:txBody>
                    <a:bodyPr/>
                    <a:lstStyle/>
                    <a:p>
                      <a:pPr algn="l"/>
                      <a:r>
                        <a:rPr lang="en-US" sz="2200" b="1" dirty="0">
                          <a:solidFill>
                            <a:srgbClr val="C00000"/>
                          </a:solidFill>
                          <a:latin typeface="Arial" panose="020B0604020202020204" pitchFamily="34" charset="0"/>
                          <a:cs typeface="Arial" panose="020B0604020202020204" pitchFamily="34" charset="0"/>
                        </a:rPr>
                        <a:t>Business Strategy</a:t>
                      </a:r>
                      <a:endParaRPr lang="en-IN" sz="2200" b="1" dirty="0">
                        <a:solidFill>
                          <a:srgbClr val="C00000"/>
                        </a:solidFill>
                        <a:latin typeface="Arial" panose="020B0604020202020204" pitchFamily="34" charset="0"/>
                        <a:cs typeface="Arial" panose="020B0604020202020204" pitchFamily="34" charset="0"/>
                      </a:endParaRPr>
                    </a:p>
                  </a:txBody>
                  <a:tcPr anchor="ctr">
                    <a:solidFill>
                      <a:schemeClr val="accent6">
                        <a:lumMod val="20000"/>
                        <a:lumOff val="80000"/>
                      </a:schemeClr>
                    </a:solidFill>
                  </a:tcPr>
                </a:tc>
                <a:tc>
                  <a:txBody>
                    <a:bodyPr/>
                    <a:lstStyle/>
                    <a:p>
                      <a:pPr algn="just"/>
                      <a:r>
                        <a:rPr lang="en-US" sz="2200" b="0" i="0" u="none" strike="noStrike" kern="1200" baseline="0" dirty="0">
                          <a:solidFill>
                            <a:schemeClr val="tx1"/>
                          </a:solidFill>
                          <a:latin typeface="Arial" panose="020B0604020202020204" pitchFamily="34" charset="0"/>
                          <a:ea typeface="+mn-ea"/>
                          <a:cs typeface="Arial" panose="020B0604020202020204" pitchFamily="34" charset="0"/>
                        </a:rPr>
                        <a:t>A </a:t>
                      </a:r>
                      <a:r>
                        <a:rPr lang="en-US" sz="2200" b="1" i="0" u="none" strike="noStrike" kern="1200" baseline="0" dirty="0">
                          <a:solidFill>
                            <a:schemeClr val="tx1"/>
                          </a:solidFill>
                          <a:latin typeface="Arial" panose="020B0604020202020204" pitchFamily="34" charset="0"/>
                          <a:ea typeface="+mn-ea"/>
                          <a:cs typeface="Arial" panose="020B0604020202020204" pitchFamily="34" charset="0"/>
                        </a:rPr>
                        <a:t>business strategy </a:t>
                      </a:r>
                      <a:r>
                        <a:rPr lang="en-US" sz="2200" b="0" i="0" u="none" strike="noStrike" kern="1200" baseline="0" dirty="0">
                          <a:solidFill>
                            <a:schemeClr val="tx1"/>
                          </a:solidFill>
                          <a:latin typeface="Arial" panose="020B0604020202020204" pitchFamily="34" charset="0"/>
                          <a:ea typeface="+mn-ea"/>
                          <a:cs typeface="Arial" panose="020B0604020202020204" pitchFamily="34" charset="0"/>
                        </a:rPr>
                        <a:t>is a plan for the company that clearly defines the company’s long-term goals, how it plans to achieve these goals, and the way the company plans to differentiate itself from its </a:t>
                      </a:r>
                      <a:r>
                        <a:rPr lang="en-IN" sz="2200" b="0" i="0" u="none" strike="noStrike" kern="1200" baseline="0" dirty="0">
                          <a:solidFill>
                            <a:schemeClr val="tx1"/>
                          </a:solidFill>
                          <a:latin typeface="Arial" panose="020B0604020202020204" pitchFamily="34" charset="0"/>
                          <a:ea typeface="+mn-ea"/>
                          <a:cs typeface="Arial" panose="020B0604020202020204" pitchFamily="34" charset="0"/>
                        </a:rPr>
                        <a:t>competitors.</a:t>
                      </a:r>
                      <a:endParaRPr lang="en-IN" sz="2200" dirty="0">
                        <a:latin typeface="Arial" panose="020B0604020202020204" pitchFamily="34" charset="0"/>
                        <a:cs typeface="Arial" panose="020B060402020202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568289649"/>
                  </a:ext>
                </a:extLst>
              </a:tr>
              <a:tr h="462748">
                <a:tc>
                  <a:txBody>
                    <a:bodyPr/>
                    <a:lstStyle/>
                    <a:p>
                      <a:pPr algn="l"/>
                      <a:r>
                        <a:rPr lang="en-US" sz="2200" b="1" dirty="0">
                          <a:solidFill>
                            <a:srgbClr val="C00000"/>
                          </a:solidFill>
                          <a:latin typeface="Arial" panose="020B0604020202020204" pitchFamily="34" charset="0"/>
                          <a:cs typeface="Arial" panose="020B0604020202020204" pitchFamily="34" charset="0"/>
                        </a:rPr>
                        <a:t>Supply Chain Strategy</a:t>
                      </a:r>
                      <a:endParaRPr lang="en-IN" sz="2200" b="1" dirty="0">
                        <a:solidFill>
                          <a:srgbClr val="C00000"/>
                        </a:solidFill>
                        <a:latin typeface="Arial" panose="020B0604020202020204" pitchFamily="34" charset="0"/>
                        <a:cs typeface="Arial" panose="020B0604020202020204" pitchFamily="34" charset="0"/>
                      </a:endParaRPr>
                    </a:p>
                  </a:txBody>
                  <a:tcPr anchor="ctr">
                    <a:solidFill>
                      <a:schemeClr val="accent4">
                        <a:lumMod val="20000"/>
                        <a:lumOff val="80000"/>
                      </a:schemeClr>
                    </a:solidFill>
                  </a:tcPr>
                </a:tc>
                <a:tc>
                  <a:txBody>
                    <a:bodyPr/>
                    <a:lstStyle/>
                    <a:p>
                      <a:pPr algn="just"/>
                      <a:r>
                        <a:rPr lang="en-US" sz="2200" dirty="0">
                          <a:latin typeface="Arial" panose="020B0604020202020204" pitchFamily="34" charset="0"/>
                          <a:cs typeface="Arial" panose="020B0604020202020204" pitchFamily="34" charset="0"/>
                        </a:rPr>
                        <a:t>A </a:t>
                      </a:r>
                      <a:r>
                        <a:rPr lang="en-US" sz="2200" b="1" dirty="0">
                          <a:latin typeface="Arial" panose="020B0604020202020204" pitchFamily="34" charset="0"/>
                          <a:cs typeface="Arial" panose="020B0604020202020204" pitchFamily="34" charset="0"/>
                        </a:rPr>
                        <a:t>supply chain strategy</a:t>
                      </a:r>
                      <a:r>
                        <a:rPr lang="en-US" sz="2200" dirty="0">
                          <a:latin typeface="Arial" panose="020B0604020202020204" pitchFamily="34" charset="0"/>
                          <a:cs typeface="Arial" panose="020B0604020202020204" pitchFamily="34" charset="0"/>
                        </a:rPr>
                        <a:t> is the plan for managing the flow of goods, information, and finances from suppliers to customers in a way that supports the business strategy.</a:t>
                      </a:r>
                      <a:endParaRPr lang="en-IN" sz="2200" dirty="0">
                        <a:latin typeface="Arial" panose="020B0604020202020204" pitchFamily="34" charset="0"/>
                        <a:cs typeface="Arial" panose="020B0604020202020204" pitchFamily="34" charset="0"/>
                      </a:endParaRPr>
                    </a:p>
                  </a:txBody>
                  <a:tcPr anchor="ctr">
                    <a:solidFill>
                      <a:schemeClr val="accent4">
                        <a:lumMod val="20000"/>
                        <a:lumOff val="80000"/>
                      </a:schemeClr>
                    </a:solidFill>
                  </a:tcPr>
                </a:tc>
                <a:extLst>
                  <a:ext uri="{0D108BD9-81ED-4DB2-BD59-A6C34878D82A}">
                    <a16:rowId xmlns:a16="http://schemas.microsoft.com/office/drawing/2014/main" val="2614419949"/>
                  </a:ext>
                </a:extLst>
              </a:tr>
              <a:tr h="462748">
                <a:tc>
                  <a:txBody>
                    <a:bodyPr/>
                    <a:lstStyle/>
                    <a:p>
                      <a:pPr marL="0" algn="l" defTabSz="914400" rtl="0" eaLnBrk="1" latinLnBrk="0" hangingPunct="1"/>
                      <a:r>
                        <a:rPr lang="en-IN" sz="2200" b="1" kern="1200" dirty="0">
                          <a:solidFill>
                            <a:srgbClr val="C00000"/>
                          </a:solidFill>
                          <a:latin typeface="Arial" panose="020B0604020202020204" pitchFamily="34" charset="0"/>
                          <a:ea typeface="+mn-ea"/>
                          <a:cs typeface="Arial" panose="020B0604020202020204" pitchFamily="34" charset="0"/>
                        </a:rPr>
                        <a:t>Cost or productivity Advantage</a:t>
                      </a:r>
                    </a:p>
                  </a:txBody>
                  <a:tcPr anchor="ctr">
                    <a:solidFill>
                      <a:schemeClr val="accent6">
                        <a:lumMod val="20000"/>
                        <a:lumOff val="80000"/>
                      </a:schemeClr>
                    </a:solidFill>
                  </a:tcPr>
                </a:tc>
                <a:tc>
                  <a:txBody>
                    <a:bodyPr/>
                    <a:lstStyle/>
                    <a:p>
                      <a:pPr marL="0" algn="just" defTabSz="914400" rtl="0" eaLnBrk="1" latinLnBrk="0" hangingPunct="1"/>
                      <a:r>
                        <a:rPr lang="en-US" sz="2200" b="1" dirty="0">
                          <a:latin typeface="Arial" panose="020B0604020202020204" pitchFamily="34" charset="0"/>
                          <a:cs typeface="Arial" panose="020B0604020202020204" pitchFamily="34" charset="0"/>
                        </a:rPr>
                        <a:t>Cost or productivity advantage</a:t>
                      </a:r>
                      <a:r>
                        <a:rPr lang="en-US" sz="2200" dirty="0">
                          <a:latin typeface="Arial" panose="020B0604020202020204" pitchFamily="34" charset="0"/>
                          <a:cs typeface="Arial" panose="020B0604020202020204" pitchFamily="34" charset="0"/>
                        </a:rPr>
                        <a:t> </a:t>
                      </a:r>
                      <a:r>
                        <a:rPr lang="en-US" sz="2200" b="0" dirty="0">
                          <a:latin typeface="Arial" panose="020B0604020202020204" pitchFamily="34" charset="0"/>
                          <a:cs typeface="Arial" panose="020B0604020202020204" pitchFamily="34" charset="0"/>
                        </a:rPr>
                        <a:t>exists when a firm can produce and deliver products at a lower total cost than its competitors.</a:t>
                      </a:r>
                      <a:endParaRPr lang="en-IN" sz="2200" b="0" i="0" u="none" strike="noStrike" kern="1200" baseline="0" dirty="0">
                        <a:solidFill>
                          <a:schemeClr val="tx1"/>
                        </a:solidFill>
                        <a:latin typeface="Arial" panose="020B0604020202020204" pitchFamily="34" charset="0"/>
                        <a:ea typeface="+mn-ea"/>
                        <a:cs typeface="Arial" panose="020B060402020202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3401363355"/>
                  </a:ext>
                </a:extLst>
              </a:tr>
              <a:tr h="462748">
                <a:tc>
                  <a:txBody>
                    <a:bodyPr/>
                    <a:lstStyle/>
                    <a:p>
                      <a:pPr algn="l"/>
                      <a:r>
                        <a:rPr lang="en-IN" sz="2200" b="1" kern="1200" dirty="0">
                          <a:solidFill>
                            <a:srgbClr val="C00000"/>
                          </a:solidFill>
                          <a:latin typeface="Arial" panose="020B0604020202020204" pitchFamily="34" charset="0"/>
                          <a:ea typeface="+mn-ea"/>
                          <a:cs typeface="Arial" panose="020B0604020202020204" pitchFamily="34" charset="0"/>
                        </a:rPr>
                        <a:t>Value Advantage</a:t>
                      </a:r>
                    </a:p>
                  </a:txBody>
                  <a:tcPr anchor="ctr">
                    <a:solidFill>
                      <a:schemeClr val="accent4">
                        <a:lumMod val="20000"/>
                        <a:lumOff val="80000"/>
                      </a:schemeClr>
                    </a:solidFill>
                  </a:tcPr>
                </a:tc>
                <a:tc>
                  <a:txBody>
                    <a:bodyPr/>
                    <a:lstStyle/>
                    <a:p>
                      <a:pPr algn="just"/>
                      <a:r>
                        <a:rPr lang="en-US" sz="2200" b="1" dirty="0">
                          <a:latin typeface="Arial" panose="020B0604020202020204" pitchFamily="34" charset="0"/>
                          <a:cs typeface="Arial" panose="020B0604020202020204" pitchFamily="34" charset="0"/>
                        </a:rPr>
                        <a:t>Value advantage</a:t>
                      </a:r>
                      <a:r>
                        <a:rPr lang="en-US" sz="2200" dirty="0">
                          <a:latin typeface="Arial" panose="020B0604020202020204" pitchFamily="34" charset="0"/>
                          <a:cs typeface="Arial" panose="020B0604020202020204" pitchFamily="34" charset="0"/>
                        </a:rPr>
                        <a:t> exists when a company offers </a:t>
                      </a:r>
                      <a:r>
                        <a:rPr lang="en-US" sz="2200" b="0" dirty="0">
                          <a:latin typeface="Arial" panose="020B0604020202020204" pitchFamily="34" charset="0"/>
                          <a:cs typeface="Arial" panose="020B0604020202020204" pitchFamily="34" charset="0"/>
                        </a:rPr>
                        <a:t>greater perceived value to customers than competitors.</a:t>
                      </a:r>
                      <a:endParaRPr lang="en-IN" sz="2200" b="0" dirty="0">
                        <a:latin typeface="Arial" panose="020B0604020202020204" pitchFamily="34" charset="0"/>
                        <a:cs typeface="Arial" panose="020B0604020202020204" pitchFamily="34" charset="0"/>
                      </a:endParaRPr>
                    </a:p>
                  </a:txBody>
                  <a:tcPr anchor="ctr">
                    <a:solidFill>
                      <a:schemeClr val="accent4">
                        <a:lumMod val="20000"/>
                        <a:lumOff val="80000"/>
                      </a:schemeClr>
                    </a:solidFill>
                  </a:tcPr>
                </a:tc>
                <a:extLst>
                  <a:ext uri="{0D108BD9-81ED-4DB2-BD59-A6C34878D82A}">
                    <a16:rowId xmlns:a16="http://schemas.microsoft.com/office/drawing/2014/main" val="2934995893"/>
                  </a:ext>
                </a:extLst>
              </a:tr>
              <a:tr h="462748">
                <a:tc>
                  <a:txBody>
                    <a:bodyPr/>
                    <a:lstStyle/>
                    <a:p>
                      <a:pPr algn="l"/>
                      <a:r>
                        <a:rPr lang="en-IN" sz="2200" b="1" kern="1200" dirty="0">
                          <a:solidFill>
                            <a:srgbClr val="C00000"/>
                          </a:solidFill>
                          <a:latin typeface="Arial" panose="020B0604020202020204" pitchFamily="34" charset="0"/>
                          <a:ea typeface="+mn-ea"/>
                          <a:cs typeface="Arial" panose="020B0604020202020204" pitchFamily="34" charset="0"/>
                        </a:rPr>
                        <a:t>Experience Curve</a:t>
                      </a:r>
                    </a:p>
                  </a:txBody>
                  <a:tcPr anchor="ctr">
                    <a:solidFill>
                      <a:schemeClr val="accent6">
                        <a:lumMod val="20000"/>
                        <a:lumOff val="80000"/>
                      </a:schemeClr>
                    </a:solidFill>
                  </a:tcPr>
                </a:tc>
                <a:tc>
                  <a:txBody>
                    <a:bodyPr/>
                    <a:lstStyle/>
                    <a:p>
                      <a:pPr algn="just"/>
                      <a:r>
                        <a:rPr lang="en-US" sz="2200" b="0" i="0" u="none" strike="noStrike" kern="1200" baseline="0" dirty="0">
                          <a:solidFill>
                            <a:schemeClr val="tx1"/>
                          </a:solidFill>
                          <a:latin typeface="Arial" panose="020B0604020202020204" pitchFamily="34" charset="0"/>
                          <a:ea typeface="+mn-ea"/>
                          <a:cs typeface="Arial" panose="020B0604020202020204" pitchFamily="34" charset="0"/>
                        </a:rPr>
                        <a:t>The </a:t>
                      </a:r>
                      <a:r>
                        <a:rPr lang="en-US" sz="2200" b="1" i="0" u="none" strike="noStrike" kern="1200" baseline="0" dirty="0">
                          <a:solidFill>
                            <a:schemeClr val="tx1"/>
                          </a:solidFill>
                          <a:latin typeface="Arial" panose="020B0604020202020204" pitchFamily="34" charset="0"/>
                          <a:ea typeface="+mn-ea"/>
                          <a:cs typeface="Arial" panose="020B0604020202020204" pitchFamily="34" charset="0"/>
                        </a:rPr>
                        <a:t>experience curve </a:t>
                      </a:r>
                      <a:r>
                        <a:rPr lang="en-US" sz="2200" b="0" i="0" u="none" strike="noStrike" kern="1200" baseline="0" dirty="0">
                          <a:solidFill>
                            <a:schemeClr val="tx1"/>
                          </a:solidFill>
                          <a:latin typeface="Arial" panose="020B0604020202020204" pitchFamily="34" charset="0"/>
                          <a:ea typeface="+mn-ea"/>
                          <a:cs typeface="Arial" panose="020B0604020202020204" pitchFamily="34" charset="0"/>
                        </a:rPr>
                        <a:t>describes the relationship between unit costs and cumulative volume, where the cost per unit of a product decreases with increased volume</a:t>
                      </a:r>
                      <a:r>
                        <a:rPr lang="en-US" sz="2200" dirty="0">
                          <a:latin typeface="Arial" panose="020B0604020202020204" pitchFamily="34" charset="0"/>
                          <a:cs typeface="Arial" panose="020B0604020202020204" pitchFamily="34" charset="0"/>
                        </a:rPr>
                        <a:t> due to learning, efficiency improvements, and economies of scale.</a:t>
                      </a:r>
                      <a:endParaRPr lang="en-IN" sz="2200" dirty="0">
                        <a:latin typeface="Arial" panose="020B0604020202020204" pitchFamily="34" charset="0"/>
                        <a:cs typeface="Arial" panose="020B060402020202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400210056"/>
                  </a:ext>
                </a:extLst>
              </a:tr>
            </a:tbl>
          </a:graphicData>
        </a:graphic>
      </p:graphicFrame>
    </p:spTree>
    <p:extLst>
      <p:ext uri="{BB962C8B-B14F-4D97-AF65-F5344CB8AC3E}">
        <p14:creationId xmlns:p14="http://schemas.microsoft.com/office/powerpoint/2010/main" val="2012651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CAAF8-02D2-2EA1-8A1B-D6B00A1A9F1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2EC4F1C-3F47-56CA-A598-FEA7AEC00013}"/>
              </a:ext>
            </a:extLst>
          </p:cNvPr>
          <p:cNvSpPr/>
          <p:nvPr/>
        </p:nvSpPr>
        <p:spPr>
          <a:xfrm>
            <a:off x="0" y="0"/>
            <a:ext cx="12192000" cy="78827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4800" b="1" dirty="0">
                <a:solidFill>
                  <a:schemeClr val="bg1"/>
                </a:solidFill>
              </a:rPr>
              <a:t>KEY CONCEPTS</a:t>
            </a:r>
            <a:endParaRPr lang="en-IN" sz="4800" b="1" dirty="0">
              <a:solidFill>
                <a:schemeClr val="bg1"/>
              </a:solidFill>
            </a:endParaRPr>
          </a:p>
        </p:txBody>
      </p:sp>
      <p:graphicFrame>
        <p:nvGraphicFramePr>
          <p:cNvPr id="5" name="Table 4">
            <a:extLst>
              <a:ext uri="{FF2B5EF4-FFF2-40B4-BE49-F238E27FC236}">
                <a16:creationId xmlns:a16="http://schemas.microsoft.com/office/drawing/2014/main" id="{33BBFF00-2056-CC70-5E7A-721A5E9CAE5D}"/>
              </a:ext>
            </a:extLst>
          </p:cNvPr>
          <p:cNvGraphicFramePr>
            <a:graphicFrameLocks noGrp="1"/>
          </p:cNvGraphicFramePr>
          <p:nvPr>
            <p:extLst>
              <p:ext uri="{D42A27DB-BD31-4B8C-83A1-F6EECF244321}">
                <p14:modId xmlns:p14="http://schemas.microsoft.com/office/powerpoint/2010/main" val="100961371"/>
              </p:ext>
            </p:extLst>
          </p:nvPr>
        </p:nvGraphicFramePr>
        <p:xfrm>
          <a:off x="559398" y="863214"/>
          <a:ext cx="11357299" cy="5394960"/>
        </p:xfrm>
        <a:graphic>
          <a:graphicData uri="http://schemas.openxmlformats.org/drawingml/2006/table">
            <a:tbl>
              <a:tblPr firstRow="1" bandRow="1">
                <a:tableStyleId>{5940675A-B579-460E-94D1-54222C63F5DA}</a:tableStyleId>
              </a:tblPr>
              <a:tblGrid>
                <a:gridCol w="2420470">
                  <a:extLst>
                    <a:ext uri="{9D8B030D-6E8A-4147-A177-3AD203B41FA5}">
                      <a16:colId xmlns:a16="http://schemas.microsoft.com/office/drawing/2014/main" val="1977987784"/>
                    </a:ext>
                  </a:extLst>
                </a:gridCol>
                <a:gridCol w="8936829">
                  <a:extLst>
                    <a:ext uri="{9D8B030D-6E8A-4147-A177-3AD203B41FA5}">
                      <a16:colId xmlns:a16="http://schemas.microsoft.com/office/drawing/2014/main" val="1654883193"/>
                    </a:ext>
                  </a:extLst>
                </a:gridCol>
              </a:tblGrid>
              <a:tr h="0">
                <a:tc>
                  <a:txBody>
                    <a:bodyPr/>
                    <a:lstStyle/>
                    <a:p>
                      <a:pPr algn="l"/>
                      <a:r>
                        <a:rPr lang="en-US" sz="2200" b="1" dirty="0">
                          <a:solidFill>
                            <a:srgbClr val="C00000"/>
                          </a:solidFill>
                          <a:latin typeface="Arial" panose="020B0604020202020204" pitchFamily="34" charset="0"/>
                          <a:cs typeface="Arial" panose="020B0604020202020204" pitchFamily="34" charset="0"/>
                        </a:rPr>
                        <a:t>Vender-Managed Inventory (VMI)</a:t>
                      </a:r>
                      <a:endParaRPr lang="en-IN" sz="2200" b="1" dirty="0">
                        <a:solidFill>
                          <a:srgbClr val="C00000"/>
                        </a:solidFill>
                        <a:latin typeface="Arial" panose="020B0604020202020204" pitchFamily="34" charset="0"/>
                        <a:cs typeface="Arial" panose="020B0604020202020204" pitchFamily="34" charset="0"/>
                      </a:endParaRPr>
                    </a:p>
                  </a:txBody>
                  <a:tcPr anchor="ctr">
                    <a:solidFill>
                      <a:schemeClr val="accent4">
                        <a:lumMod val="20000"/>
                        <a:lumOff val="80000"/>
                      </a:schemeClr>
                    </a:solidFill>
                  </a:tcPr>
                </a:tc>
                <a:tc>
                  <a:txBody>
                    <a:bodyPr/>
                    <a:lstStyle/>
                    <a:p>
                      <a:pPr algn="just"/>
                      <a:r>
                        <a:rPr lang="en-US" sz="2200" b="1" i="0" kern="1200" dirty="0">
                          <a:solidFill>
                            <a:schemeClr val="tx1"/>
                          </a:solidFill>
                          <a:effectLst/>
                          <a:latin typeface="Arial" panose="020B0604020202020204" pitchFamily="34" charset="0"/>
                          <a:ea typeface="+mn-ea"/>
                          <a:cs typeface="Arial" panose="020B0604020202020204" pitchFamily="34" charset="0"/>
                        </a:rPr>
                        <a:t>Vendor-Managed Inventory (VMI) </a:t>
                      </a:r>
                      <a:r>
                        <a:rPr lang="en-US" sz="2200" b="0" i="0" kern="1200" dirty="0">
                          <a:solidFill>
                            <a:schemeClr val="tx1"/>
                          </a:solidFill>
                          <a:effectLst/>
                          <a:latin typeface="Arial" panose="020B0604020202020204" pitchFamily="34" charset="0"/>
                          <a:ea typeface="+mn-ea"/>
                          <a:cs typeface="Arial" panose="020B0604020202020204" pitchFamily="34" charset="0"/>
                        </a:rPr>
                        <a:t>is a system where the supplier takes responsibility for maintaining the buyer’s inventory levels based on shared demand and stock information.</a:t>
                      </a:r>
                      <a:endParaRPr lang="en-IN" sz="2200" b="0" i="0" kern="1200" dirty="0">
                        <a:solidFill>
                          <a:schemeClr val="tx1"/>
                        </a:solidFill>
                        <a:effectLst/>
                        <a:latin typeface="Arial" panose="020B0604020202020204" pitchFamily="34" charset="0"/>
                        <a:ea typeface="+mn-ea"/>
                        <a:cs typeface="Arial" panose="020B0604020202020204" pitchFamily="34" charset="0"/>
                      </a:endParaRPr>
                    </a:p>
                  </a:txBody>
                  <a:tcPr anchor="ctr">
                    <a:solidFill>
                      <a:schemeClr val="accent4">
                        <a:lumMod val="20000"/>
                        <a:lumOff val="80000"/>
                      </a:schemeClr>
                    </a:solidFill>
                  </a:tcPr>
                </a:tc>
                <a:extLst>
                  <a:ext uri="{0D108BD9-81ED-4DB2-BD59-A6C34878D82A}">
                    <a16:rowId xmlns:a16="http://schemas.microsoft.com/office/drawing/2014/main" val="740010251"/>
                  </a:ext>
                </a:extLst>
              </a:tr>
              <a:tr h="462748">
                <a:tc>
                  <a:txBody>
                    <a:bodyPr/>
                    <a:lstStyle/>
                    <a:p>
                      <a:pPr algn="l"/>
                      <a:r>
                        <a:rPr lang="en-IN" sz="2200" b="1" kern="1200" dirty="0">
                          <a:solidFill>
                            <a:srgbClr val="C00000"/>
                          </a:solidFill>
                          <a:latin typeface="Arial" panose="020B0604020202020204" pitchFamily="34" charset="0"/>
                          <a:ea typeface="+mn-ea"/>
                          <a:cs typeface="Arial" panose="020B0604020202020204" pitchFamily="34" charset="0"/>
                        </a:rPr>
                        <a:t>Value Segments</a:t>
                      </a:r>
                    </a:p>
                  </a:txBody>
                  <a:tcPr anchor="ctr">
                    <a:solidFill>
                      <a:schemeClr val="accent6">
                        <a:lumMod val="20000"/>
                        <a:lumOff val="80000"/>
                      </a:schemeClr>
                    </a:solidFill>
                  </a:tcPr>
                </a:tc>
                <a:tc>
                  <a:txBody>
                    <a:bodyPr/>
                    <a:lstStyle/>
                    <a:p>
                      <a:pPr algn="just"/>
                      <a:r>
                        <a:rPr lang="en-US" sz="2200" b="1" i="0" kern="1200" dirty="0">
                          <a:solidFill>
                            <a:schemeClr val="tx1"/>
                          </a:solidFill>
                          <a:effectLst/>
                          <a:latin typeface="Arial" panose="020B0604020202020204" pitchFamily="34" charset="0"/>
                          <a:ea typeface="+mn-ea"/>
                          <a:cs typeface="Arial" panose="020B0604020202020204" pitchFamily="34" charset="0"/>
                        </a:rPr>
                        <a:t>Value segments</a:t>
                      </a:r>
                      <a:r>
                        <a:rPr lang="en-US" sz="2200" b="0" i="0" kern="1200" dirty="0">
                          <a:solidFill>
                            <a:schemeClr val="tx1"/>
                          </a:solidFill>
                          <a:effectLst/>
                          <a:latin typeface="Arial" panose="020B0604020202020204" pitchFamily="34" charset="0"/>
                          <a:ea typeface="+mn-ea"/>
                          <a:cs typeface="Arial" panose="020B0604020202020204" pitchFamily="34" charset="0"/>
                        </a:rPr>
                        <a:t> are identified through market segmentation and represent different customer groups that place value on different product benefits</a:t>
                      </a:r>
                      <a:endParaRPr lang="en-IN" sz="2200" b="0" dirty="0">
                        <a:latin typeface="Arial" panose="020B0604020202020204" pitchFamily="34" charset="0"/>
                        <a:cs typeface="Arial" panose="020B060402020202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627740787"/>
                  </a:ext>
                </a:extLst>
              </a:tr>
              <a:tr h="462748">
                <a:tc>
                  <a:txBody>
                    <a:bodyPr/>
                    <a:lstStyle/>
                    <a:p>
                      <a:pPr algn="l"/>
                      <a:r>
                        <a:rPr lang="en-US" sz="2200" b="1" dirty="0">
                          <a:solidFill>
                            <a:srgbClr val="C00000"/>
                          </a:solidFill>
                          <a:latin typeface="Arial" panose="020B0604020202020204" pitchFamily="34" charset="0"/>
                          <a:cs typeface="Arial" panose="020B0604020202020204" pitchFamily="34" charset="0"/>
                        </a:rPr>
                        <a:t>Operation Strategy</a:t>
                      </a:r>
                      <a:endParaRPr lang="en-IN" sz="2200" b="1" dirty="0">
                        <a:solidFill>
                          <a:srgbClr val="C00000"/>
                        </a:solidFill>
                        <a:latin typeface="Arial" panose="020B0604020202020204" pitchFamily="34" charset="0"/>
                        <a:cs typeface="Arial" panose="020B0604020202020204" pitchFamily="34" charset="0"/>
                      </a:endParaRPr>
                    </a:p>
                  </a:txBody>
                  <a:tcPr anchor="ctr">
                    <a:solidFill>
                      <a:schemeClr val="accent6">
                        <a:lumMod val="20000"/>
                        <a:lumOff val="80000"/>
                      </a:schemeClr>
                    </a:solidFill>
                  </a:tcPr>
                </a:tc>
                <a:tc>
                  <a:txBody>
                    <a:bodyPr/>
                    <a:lstStyle/>
                    <a:p>
                      <a:pPr algn="just"/>
                      <a:r>
                        <a:rPr lang="en-US" sz="2200" b="0" i="0" kern="1200" dirty="0">
                          <a:solidFill>
                            <a:schemeClr val="tx1"/>
                          </a:solidFill>
                          <a:effectLst/>
                          <a:latin typeface="Arial" panose="020B0604020202020204" pitchFamily="34" charset="0"/>
                          <a:ea typeface="+mn-ea"/>
                          <a:cs typeface="Arial" panose="020B0604020202020204" pitchFamily="34" charset="0"/>
                        </a:rPr>
                        <a:t>An </a:t>
                      </a:r>
                      <a:r>
                        <a:rPr lang="en-US" sz="2200" b="1" i="0" kern="1200" dirty="0">
                          <a:solidFill>
                            <a:schemeClr val="tx1"/>
                          </a:solidFill>
                          <a:effectLst/>
                          <a:latin typeface="Arial" panose="020B0604020202020204" pitchFamily="34" charset="0"/>
                          <a:ea typeface="+mn-ea"/>
                          <a:cs typeface="Arial" panose="020B0604020202020204" pitchFamily="34" charset="0"/>
                        </a:rPr>
                        <a:t>operations strategy</a:t>
                      </a:r>
                      <a:r>
                        <a:rPr lang="en-US" sz="2200" b="0" i="0" kern="1200" dirty="0">
                          <a:solidFill>
                            <a:schemeClr val="tx1"/>
                          </a:solidFill>
                          <a:effectLst/>
                          <a:latin typeface="Arial" panose="020B0604020202020204" pitchFamily="34" charset="0"/>
                          <a:ea typeface="+mn-ea"/>
                          <a:cs typeface="Arial" panose="020B0604020202020204" pitchFamily="34" charset="0"/>
                        </a:rPr>
                        <a:t> involves a company's decisions regarding how it will produce goods and services and determines the design and management of manufacturing and internal processes, the use of equipment and information technology, and the specific employee skills required for production</a:t>
                      </a:r>
                      <a:endParaRPr lang="en-IN" sz="2200" b="0" dirty="0">
                        <a:latin typeface="Arial" panose="020B0604020202020204" pitchFamily="34" charset="0"/>
                        <a:cs typeface="Arial" panose="020B060402020202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251232459"/>
                  </a:ext>
                </a:extLst>
              </a:tr>
              <a:tr h="462748">
                <a:tc>
                  <a:txBody>
                    <a:bodyPr/>
                    <a:lstStyle/>
                    <a:p>
                      <a:pPr algn="l"/>
                      <a:r>
                        <a:rPr lang="en-US" sz="2200" b="1" dirty="0">
                          <a:solidFill>
                            <a:srgbClr val="C00000"/>
                          </a:solidFill>
                          <a:latin typeface="Arial" panose="020B0604020202020204" pitchFamily="34" charset="0"/>
                          <a:cs typeface="Arial" panose="020B0604020202020204" pitchFamily="34" charset="0"/>
                        </a:rPr>
                        <a:t>Product Positioning Strategy</a:t>
                      </a:r>
                      <a:endParaRPr lang="en-IN" sz="2200" b="1" dirty="0">
                        <a:solidFill>
                          <a:srgbClr val="C00000"/>
                        </a:solidFill>
                        <a:latin typeface="Arial" panose="020B0604020202020204" pitchFamily="34" charset="0"/>
                        <a:cs typeface="Arial" panose="020B0604020202020204" pitchFamily="34" charset="0"/>
                      </a:endParaRPr>
                    </a:p>
                  </a:txBody>
                  <a:tcPr anchor="ctr">
                    <a:solidFill>
                      <a:schemeClr val="accent6">
                        <a:lumMod val="20000"/>
                        <a:lumOff val="80000"/>
                      </a:schemeClr>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200" b="1" kern="1200" dirty="0">
                          <a:solidFill>
                            <a:schemeClr val="tx1"/>
                          </a:solidFill>
                          <a:latin typeface="Arial" panose="020B0604020202020204" pitchFamily="34" charset="0"/>
                          <a:ea typeface="+mn-ea"/>
                          <a:cs typeface="Arial" panose="020B0604020202020204" pitchFamily="34" charset="0"/>
                        </a:rPr>
                        <a:t>Product positioning strategy</a:t>
                      </a:r>
                      <a:r>
                        <a:rPr lang="en-US" sz="2200" kern="1200" dirty="0">
                          <a:solidFill>
                            <a:schemeClr val="tx1"/>
                          </a:solidFill>
                          <a:latin typeface="Arial" panose="020B0604020202020204" pitchFamily="34" charset="0"/>
                          <a:ea typeface="+mn-ea"/>
                          <a:cs typeface="Arial" panose="020B0604020202020204" pitchFamily="34" charset="0"/>
                        </a:rPr>
                        <a:t> refers to the degree of product customization a firm offers which is directly related to the form in which the company stores its finished products and the length of delivery lead time it can provide to its customers</a:t>
                      </a:r>
                      <a:endParaRPr lang="en-IN" sz="2200" kern="1200" dirty="0">
                        <a:solidFill>
                          <a:schemeClr val="tx1"/>
                        </a:solidFill>
                        <a:latin typeface="Arial" panose="020B0604020202020204" pitchFamily="34" charset="0"/>
                        <a:ea typeface="+mn-ea"/>
                        <a:cs typeface="Arial" panose="020B060402020202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375507229"/>
                  </a:ext>
                </a:extLst>
              </a:tr>
            </a:tbl>
          </a:graphicData>
        </a:graphic>
      </p:graphicFrame>
    </p:spTree>
    <p:extLst>
      <p:ext uri="{BB962C8B-B14F-4D97-AF65-F5344CB8AC3E}">
        <p14:creationId xmlns:p14="http://schemas.microsoft.com/office/powerpoint/2010/main" val="193492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7BD44-416E-A25B-963E-597D0DA87EA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87D810C-7C52-23E4-5856-914443DA7C72}"/>
              </a:ext>
            </a:extLst>
          </p:cNvPr>
          <p:cNvSpPr/>
          <p:nvPr/>
        </p:nvSpPr>
        <p:spPr>
          <a:xfrm>
            <a:off x="0" y="0"/>
            <a:ext cx="12192000" cy="78827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4800" b="1" dirty="0">
                <a:solidFill>
                  <a:schemeClr val="bg1"/>
                </a:solidFill>
              </a:rPr>
              <a:t>KEY CONCEPTS</a:t>
            </a:r>
            <a:endParaRPr lang="en-IN" sz="4800" b="1" dirty="0">
              <a:solidFill>
                <a:schemeClr val="bg1"/>
              </a:solidFill>
            </a:endParaRPr>
          </a:p>
        </p:txBody>
      </p:sp>
      <p:graphicFrame>
        <p:nvGraphicFramePr>
          <p:cNvPr id="5" name="Table 4">
            <a:extLst>
              <a:ext uri="{FF2B5EF4-FFF2-40B4-BE49-F238E27FC236}">
                <a16:creationId xmlns:a16="http://schemas.microsoft.com/office/drawing/2014/main" id="{28024A56-6CD6-B6AD-6263-55D8782BA4AB}"/>
              </a:ext>
            </a:extLst>
          </p:cNvPr>
          <p:cNvGraphicFramePr>
            <a:graphicFrameLocks noGrp="1"/>
          </p:cNvGraphicFramePr>
          <p:nvPr>
            <p:extLst>
              <p:ext uri="{D42A27DB-BD31-4B8C-83A1-F6EECF244321}">
                <p14:modId xmlns:p14="http://schemas.microsoft.com/office/powerpoint/2010/main" val="1511234240"/>
              </p:ext>
            </p:extLst>
          </p:nvPr>
        </p:nvGraphicFramePr>
        <p:xfrm>
          <a:off x="542911" y="788276"/>
          <a:ext cx="11473381" cy="5151120"/>
        </p:xfrm>
        <a:graphic>
          <a:graphicData uri="http://schemas.openxmlformats.org/drawingml/2006/table">
            <a:tbl>
              <a:tblPr firstRow="1" bandRow="1">
                <a:tableStyleId>{5940675A-B579-460E-94D1-54222C63F5DA}</a:tableStyleId>
              </a:tblPr>
              <a:tblGrid>
                <a:gridCol w="2503243">
                  <a:extLst>
                    <a:ext uri="{9D8B030D-6E8A-4147-A177-3AD203B41FA5}">
                      <a16:colId xmlns:a16="http://schemas.microsoft.com/office/drawing/2014/main" val="1977987784"/>
                    </a:ext>
                  </a:extLst>
                </a:gridCol>
                <a:gridCol w="8970138">
                  <a:extLst>
                    <a:ext uri="{9D8B030D-6E8A-4147-A177-3AD203B41FA5}">
                      <a16:colId xmlns:a16="http://schemas.microsoft.com/office/drawing/2014/main" val="1654883193"/>
                    </a:ext>
                  </a:extLst>
                </a:gridCol>
              </a:tblGrid>
              <a:tr h="462748">
                <a:tc>
                  <a:txBody>
                    <a:bodyPr/>
                    <a:lstStyle/>
                    <a:p>
                      <a:pPr marL="0" algn="l" defTabSz="914400" rtl="0" eaLnBrk="1" latinLnBrk="0" hangingPunct="1"/>
                      <a:r>
                        <a:rPr lang="en-US" sz="2200" b="1" kern="1200" dirty="0">
                          <a:solidFill>
                            <a:srgbClr val="C00000"/>
                          </a:solidFill>
                          <a:latin typeface="Arial" panose="020B0604020202020204" pitchFamily="34" charset="0"/>
                          <a:ea typeface="+mn-ea"/>
                          <a:cs typeface="Arial" panose="020B0604020202020204" pitchFamily="34" charset="0"/>
                        </a:rPr>
                        <a:t>Make-to-stock</a:t>
                      </a:r>
                      <a:endParaRPr lang="en-IN" sz="2200" b="1" kern="1200" dirty="0">
                        <a:solidFill>
                          <a:srgbClr val="C00000"/>
                        </a:solidFill>
                        <a:latin typeface="Arial" panose="020B0604020202020204" pitchFamily="34" charset="0"/>
                        <a:ea typeface="+mn-ea"/>
                        <a:cs typeface="Arial" panose="020B0604020202020204" pitchFamily="34" charset="0"/>
                      </a:endParaRPr>
                    </a:p>
                  </a:txBody>
                  <a:tcPr anchor="ctr">
                    <a:solidFill>
                      <a:schemeClr val="accent6">
                        <a:lumMod val="20000"/>
                        <a:lumOff val="80000"/>
                      </a:schemeClr>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200" b="1" kern="1200" dirty="0">
                          <a:solidFill>
                            <a:schemeClr val="tx1"/>
                          </a:solidFill>
                          <a:latin typeface="Arial" panose="020B0604020202020204" pitchFamily="34" charset="0"/>
                          <a:ea typeface="+mn-ea"/>
                          <a:cs typeface="Arial" panose="020B0604020202020204" pitchFamily="34" charset="0"/>
                        </a:rPr>
                        <a:t>Make-to-stock</a:t>
                      </a:r>
                      <a:r>
                        <a:rPr lang="en-US" sz="2200" kern="1200" dirty="0">
                          <a:solidFill>
                            <a:schemeClr val="tx1"/>
                          </a:solidFill>
                          <a:latin typeface="Arial" panose="020B0604020202020204" pitchFamily="34" charset="0"/>
                          <a:ea typeface="+mn-ea"/>
                          <a:cs typeface="Arial" panose="020B0604020202020204" pitchFamily="34" charset="0"/>
                        </a:rPr>
                        <a:t> is a strategy that produces high volume finished products for immediate sale or delivery, in anticipation of demand.</a:t>
                      </a:r>
                      <a:endParaRPr lang="en-IN" sz="2200" kern="1200" dirty="0">
                        <a:solidFill>
                          <a:schemeClr val="tx1"/>
                        </a:solidFill>
                        <a:latin typeface="Arial" panose="020B0604020202020204" pitchFamily="34" charset="0"/>
                        <a:ea typeface="+mn-ea"/>
                        <a:cs typeface="Arial" panose="020B060402020202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146985594"/>
                  </a:ext>
                </a:extLst>
              </a:tr>
              <a:tr h="4627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b="1" kern="1200" dirty="0">
                          <a:solidFill>
                            <a:srgbClr val="C00000"/>
                          </a:solidFill>
                          <a:latin typeface="Arial" panose="020B0604020202020204" pitchFamily="34" charset="0"/>
                          <a:ea typeface="+mn-ea"/>
                          <a:cs typeface="Arial" panose="020B0604020202020204" pitchFamily="34" charset="0"/>
                        </a:rPr>
                        <a:t>Assemble-to-order</a:t>
                      </a:r>
                      <a:endParaRPr lang="en-IN" sz="2200" b="1" kern="1200" dirty="0">
                        <a:solidFill>
                          <a:srgbClr val="C00000"/>
                        </a:solidFill>
                        <a:latin typeface="Arial" panose="020B0604020202020204" pitchFamily="34" charset="0"/>
                        <a:ea typeface="+mn-ea"/>
                        <a:cs typeface="Arial" panose="020B0604020202020204" pitchFamily="34" charset="0"/>
                      </a:endParaRPr>
                    </a:p>
                  </a:txBody>
                  <a:tcPr anchor="ctr">
                    <a:solidFill>
                      <a:schemeClr val="accent4">
                        <a:lumMod val="20000"/>
                        <a:lumOff val="80000"/>
                      </a:schemeClr>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200" b="1" kern="1200" dirty="0">
                          <a:solidFill>
                            <a:schemeClr val="tx1"/>
                          </a:solidFill>
                          <a:latin typeface="Arial" panose="020B0604020202020204" pitchFamily="34" charset="0"/>
                          <a:ea typeface="+mn-ea"/>
                          <a:cs typeface="Arial" panose="020B0604020202020204" pitchFamily="34" charset="0"/>
                        </a:rPr>
                        <a:t>Assemble-to-order </a:t>
                      </a:r>
                      <a:r>
                        <a:rPr lang="en-US" sz="2200" kern="1200" dirty="0">
                          <a:solidFill>
                            <a:schemeClr val="tx1"/>
                          </a:solidFill>
                          <a:latin typeface="Arial" panose="020B0604020202020204" pitchFamily="34" charset="0"/>
                          <a:ea typeface="+mn-ea"/>
                          <a:cs typeface="Arial" panose="020B0604020202020204" pitchFamily="34" charset="0"/>
                        </a:rPr>
                        <a:t>strategy, also known as built-to-order, is that strategy where the product is partially completed and kept in a generic form, then finished when an order is received.</a:t>
                      </a:r>
                      <a:endParaRPr lang="en-IN" sz="2200" kern="1200" dirty="0">
                        <a:solidFill>
                          <a:schemeClr val="tx1"/>
                        </a:solidFill>
                        <a:latin typeface="Arial" panose="020B0604020202020204" pitchFamily="34" charset="0"/>
                        <a:ea typeface="+mn-ea"/>
                        <a:cs typeface="Arial" panose="020B0604020202020204" pitchFamily="34" charset="0"/>
                      </a:endParaRPr>
                    </a:p>
                  </a:txBody>
                  <a:tcPr anchor="ctr">
                    <a:solidFill>
                      <a:schemeClr val="accent4">
                        <a:lumMod val="20000"/>
                        <a:lumOff val="80000"/>
                      </a:schemeClr>
                    </a:solidFill>
                  </a:tcPr>
                </a:tc>
                <a:extLst>
                  <a:ext uri="{0D108BD9-81ED-4DB2-BD59-A6C34878D82A}">
                    <a16:rowId xmlns:a16="http://schemas.microsoft.com/office/drawing/2014/main" val="388401886"/>
                  </a:ext>
                </a:extLst>
              </a:tr>
              <a:tr h="4627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b="1" kern="1200" dirty="0">
                          <a:solidFill>
                            <a:srgbClr val="C00000"/>
                          </a:solidFill>
                          <a:latin typeface="Arial" panose="020B0604020202020204" pitchFamily="34" charset="0"/>
                          <a:ea typeface="+mn-ea"/>
                          <a:cs typeface="Arial" panose="020B0604020202020204" pitchFamily="34" charset="0"/>
                        </a:rPr>
                        <a:t>Make-to-order</a:t>
                      </a:r>
                      <a:endParaRPr lang="en-IN" sz="2200" b="1" kern="1200" dirty="0">
                        <a:solidFill>
                          <a:srgbClr val="C00000"/>
                        </a:solidFill>
                        <a:latin typeface="Arial" panose="020B0604020202020204" pitchFamily="34" charset="0"/>
                        <a:ea typeface="+mn-ea"/>
                        <a:cs typeface="Arial" panose="020B0604020202020204" pitchFamily="34" charset="0"/>
                      </a:endParaRPr>
                    </a:p>
                  </a:txBody>
                  <a:tcPr anchor="ctr">
                    <a:solidFill>
                      <a:schemeClr val="accent4">
                        <a:lumMod val="20000"/>
                        <a:lumOff val="80000"/>
                      </a:schemeClr>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200" b="1" kern="1200" dirty="0">
                          <a:solidFill>
                            <a:schemeClr val="tx1"/>
                          </a:solidFill>
                          <a:latin typeface="Arial" panose="020B0604020202020204" pitchFamily="34" charset="0"/>
                          <a:ea typeface="+mn-ea"/>
                          <a:cs typeface="Arial" panose="020B0604020202020204" pitchFamily="34" charset="0"/>
                        </a:rPr>
                        <a:t>Make-to-order </a:t>
                      </a:r>
                      <a:r>
                        <a:rPr lang="en-US" sz="2200" kern="1200" dirty="0">
                          <a:solidFill>
                            <a:schemeClr val="tx1"/>
                          </a:solidFill>
                          <a:latin typeface="Arial" panose="020B0604020202020204" pitchFamily="34" charset="0"/>
                          <a:ea typeface="+mn-ea"/>
                          <a:cs typeface="Arial" panose="020B0604020202020204" pitchFamily="34" charset="0"/>
                        </a:rPr>
                        <a:t>is a strategy for customized products or products with infrequent demand which is used to produce products to customer specifications after an order has been received.</a:t>
                      </a:r>
                      <a:endParaRPr lang="en-IN" sz="2200" kern="1200" dirty="0">
                        <a:solidFill>
                          <a:schemeClr val="tx1"/>
                        </a:solidFill>
                        <a:latin typeface="Arial" panose="020B0604020202020204" pitchFamily="34" charset="0"/>
                        <a:ea typeface="+mn-ea"/>
                        <a:cs typeface="Arial" panose="020B0604020202020204" pitchFamily="34" charset="0"/>
                      </a:endParaRPr>
                    </a:p>
                  </a:txBody>
                  <a:tcPr anchor="ctr">
                    <a:solidFill>
                      <a:schemeClr val="accent4">
                        <a:lumMod val="20000"/>
                        <a:lumOff val="80000"/>
                      </a:schemeClr>
                    </a:solidFill>
                  </a:tcPr>
                </a:tc>
                <a:extLst>
                  <a:ext uri="{0D108BD9-81ED-4DB2-BD59-A6C34878D82A}">
                    <a16:rowId xmlns:a16="http://schemas.microsoft.com/office/drawing/2014/main" val="4180654453"/>
                  </a:ext>
                </a:extLst>
              </a:tr>
              <a:tr h="4627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b="1" kern="1200" dirty="0">
                          <a:solidFill>
                            <a:srgbClr val="C00000"/>
                          </a:solidFill>
                          <a:latin typeface="Arial" panose="020B0604020202020204" pitchFamily="34" charset="0"/>
                          <a:ea typeface="+mn-ea"/>
                          <a:cs typeface="Arial" panose="020B0604020202020204" pitchFamily="34" charset="0"/>
                        </a:rPr>
                        <a:t>Distribution Strategy</a:t>
                      </a:r>
                    </a:p>
                  </a:txBody>
                  <a:tcPr anchor="ctr">
                    <a:solidFill>
                      <a:schemeClr val="accent4">
                        <a:lumMod val="20000"/>
                        <a:lumOff val="80000"/>
                      </a:schemeClr>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200" b="1" i="0" kern="1200" dirty="0">
                          <a:solidFill>
                            <a:schemeClr val="tx1"/>
                          </a:solidFill>
                          <a:effectLst/>
                          <a:latin typeface="Arial" panose="020B0604020202020204" pitchFamily="34" charset="0"/>
                          <a:ea typeface="+mn-ea"/>
                          <a:cs typeface="Arial" panose="020B0604020202020204" pitchFamily="34" charset="0"/>
                        </a:rPr>
                        <a:t>Distribution Strategy </a:t>
                      </a:r>
                      <a:r>
                        <a:rPr lang="en-US" sz="2200" b="0" i="0" kern="1200" dirty="0">
                          <a:solidFill>
                            <a:schemeClr val="tx1"/>
                          </a:solidFill>
                          <a:effectLst/>
                          <a:latin typeface="Arial" panose="020B0604020202020204" pitchFamily="34" charset="0"/>
                          <a:ea typeface="+mn-ea"/>
                          <a:cs typeface="Arial" panose="020B0604020202020204" pitchFamily="34" charset="0"/>
                        </a:rPr>
                        <a:t>outlines how products reach the customer, whether through channel intermediaries (wholesalers/retailers) or direct-to-customer models like the Internet</a:t>
                      </a:r>
                      <a:endParaRPr lang="en-IN" sz="2200" b="0" dirty="0">
                        <a:latin typeface="Arial" panose="020B0604020202020204" pitchFamily="34" charset="0"/>
                        <a:cs typeface="Arial" panose="020B0604020202020204" pitchFamily="34" charset="0"/>
                      </a:endParaRPr>
                    </a:p>
                  </a:txBody>
                  <a:tcPr anchor="ctr">
                    <a:solidFill>
                      <a:schemeClr val="accent4">
                        <a:lumMod val="20000"/>
                        <a:lumOff val="80000"/>
                      </a:schemeClr>
                    </a:solidFill>
                  </a:tcPr>
                </a:tc>
                <a:extLst>
                  <a:ext uri="{0D108BD9-81ED-4DB2-BD59-A6C34878D82A}">
                    <a16:rowId xmlns:a16="http://schemas.microsoft.com/office/drawing/2014/main" val="2779063411"/>
                  </a:ext>
                </a:extLst>
              </a:tr>
              <a:tr h="462748">
                <a:tc>
                  <a:txBody>
                    <a:bodyPr/>
                    <a:lstStyle/>
                    <a:p>
                      <a:pPr algn="l"/>
                      <a:r>
                        <a:rPr lang="en-IN" sz="2200" b="1" kern="1200" dirty="0">
                          <a:solidFill>
                            <a:srgbClr val="C00000"/>
                          </a:solidFill>
                          <a:latin typeface="Arial" panose="020B0604020202020204" pitchFamily="34" charset="0"/>
                          <a:ea typeface="+mn-ea"/>
                          <a:cs typeface="Arial" panose="020B0604020202020204" pitchFamily="34" charset="0"/>
                        </a:rPr>
                        <a:t>Sourcing Strategy</a:t>
                      </a:r>
                    </a:p>
                  </a:txBody>
                  <a:tcPr anchor="ctr">
                    <a:solidFill>
                      <a:schemeClr val="accent4">
                        <a:lumMod val="20000"/>
                        <a:lumOff val="80000"/>
                      </a:schemeClr>
                    </a:solidFill>
                  </a:tcPr>
                </a:tc>
                <a:tc>
                  <a:txBody>
                    <a:bodyPr/>
                    <a:lstStyle/>
                    <a:p>
                      <a:pPr algn="just"/>
                      <a:r>
                        <a:rPr lang="en-US" sz="2200" b="1" i="0" kern="1200" dirty="0">
                          <a:solidFill>
                            <a:schemeClr val="tx1"/>
                          </a:solidFill>
                          <a:effectLst/>
                          <a:latin typeface="Arial" panose="020B0604020202020204" pitchFamily="34" charset="0"/>
                          <a:ea typeface="+mn-ea"/>
                          <a:cs typeface="Arial" panose="020B0604020202020204" pitchFamily="34" charset="0"/>
                        </a:rPr>
                        <a:t>Sourcing strategy,</a:t>
                      </a:r>
                      <a:r>
                        <a:rPr lang="en-US" sz="2200" b="0" i="0" kern="1200" dirty="0">
                          <a:solidFill>
                            <a:schemeClr val="tx1"/>
                          </a:solidFill>
                          <a:effectLst/>
                          <a:latin typeface="Arial" panose="020B0604020202020204" pitchFamily="34" charset="0"/>
                          <a:ea typeface="+mn-ea"/>
                          <a:cs typeface="Arial" panose="020B0604020202020204" pitchFamily="34" charset="0"/>
                        </a:rPr>
                        <a:t> as a fundamental building block of supply chain strategy, determines which business activities a company will outsource to third-party vendors and which it will retain internally.</a:t>
                      </a:r>
                      <a:endParaRPr lang="en-IN" sz="2200" b="0" dirty="0">
                        <a:latin typeface="Arial" panose="020B0604020202020204" pitchFamily="34" charset="0"/>
                        <a:cs typeface="Arial" panose="020B0604020202020204" pitchFamily="34" charset="0"/>
                      </a:endParaRPr>
                    </a:p>
                  </a:txBody>
                  <a:tcPr anchor="ctr">
                    <a:solidFill>
                      <a:schemeClr val="accent4">
                        <a:lumMod val="20000"/>
                        <a:lumOff val="80000"/>
                      </a:schemeClr>
                    </a:solidFill>
                  </a:tcPr>
                </a:tc>
                <a:extLst>
                  <a:ext uri="{0D108BD9-81ED-4DB2-BD59-A6C34878D82A}">
                    <a16:rowId xmlns:a16="http://schemas.microsoft.com/office/drawing/2014/main" val="997639427"/>
                  </a:ext>
                </a:extLst>
              </a:tr>
            </a:tbl>
          </a:graphicData>
        </a:graphic>
      </p:graphicFrame>
    </p:spTree>
    <p:extLst>
      <p:ext uri="{BB962C8B-B14F-4D97-AF65-F5344CB8AC3E}">
        <p14:creationId xmlns:p14="http://schemas.microsoft.com/office/powerpoint/2010/main" val="3851272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20288-957A-09F6-AC77-890DC428610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2BBE9C2-8C80-58D3-8EA6-37916D4AD231}"/>
              </a:ext>
            </a:extLst>
          </p:cNvPr>
          <p:cNvSpPr/>
          <p:nvPr/>
        </p:nvSpPr>
        <p:spPr>
          <a:xfrm>
            <a:off x="0" y="0"/>
            <a:ext cx="12192000" cy="78827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4800" b="1" dirty="0">
                <a:solidFill>
                  <a:schemeClr val="bg1"/>
                </a:solidFill>
              </a:rPr>
              <a:t>KEY CONCEPTS</a:t>
            </a:r>
            <a:endParaRPr lang="en-IN" sz="4800" b="1" dirty="0">
              <a:solidFill>
                <a:schemeClr val="bg1"/>
              </a:solidFill>
            </a:endParaRPr>
          </a:p>
        </p:txBody>
      </p:sp>
      <p:graphicFrame>
        <p:nvGraphicFramePr>
          <p:cNvPr id="5" name="Table 4">
            <a:extLst>
              <a:ext uri="{FF2B5EF4-FFF2-40B4-BE49-F238E27FC236}">
                <a16:creationId xmlns:a16="http://schemas.microsoft.com/office/drawing/2014/main" id="{ECE10187-B30E-C1EA-652C-A661722DD980}"/>
              </a:ext>
            </a:extLst>
          </p:cNvPr>
          <p:cNvGraphicFramePr>
            <a:graphicFrameLocks noGrp="1"/>
          </p:cNvGraphicFramePr>
          <p:nvPr>
            <p:extLst>
              <p:ext uri="{D42A27DB-BD31-4B8C-83A1-F6EECF244321}">
                <p14:modId xmlns:p14="http://schemas.microsoft.com/office/powerpoint/2010/main" val="3109702284"/>
              </p:ext>
            </p:extLst>
          </p:nvPr>
        </p:nvGraphicFramePr>
        <p:xfrm>
          <a:off x="542911" y="788276"/>
          <a:ext cx="11473381" cy="5821680"/>
        </p:xfrm>
        <a:graphic>
          <a:graphicData uri="http://schemas.openxmlformats.org/drawingml/2006/table">
            <a:tbl>
              <a:tblPr firstRow="1" bandRow="1">
                <a:tableStyleId>{5940675A-B579-460E-94D1-54222C63F5DA}</a:tableStyleId>
              </a:tblPr>
              <a:tblGrid>
                <a:gridCol w="2503243">
                  <a:extLst>
                    <a:ext uri="{9D8B030D-6E8A-4147-A177-3AD203B41FA5}">
                      <a16:colId xmlns:a16="http://schemas.microsoft.com/office/drawing/2014/main" val="1977987784"/>
                    </a:ext>
                  </a:extLst>
                </a:gridCol>
                <a:gridCol w="8970138">
                  <a:extLst>
                    <a:ext uri="{9D8B030D-6E8A-4147-A177-3AD203B41FA5}">
                      <a16:colId xmlns:a16="http://schemas.microsoft.com/office/drawing/2014/main" val="1654883193"/>
                    </a:ext>
                  </a:extLst>
                </a:gridCol>
              </a:tblGrid>
              <a:tr h="462748">
                <a:tc>
                  <a:txBody>
                    <a:bodyPr/>
                    <a:lstStyle/>
                    <a:p>
                      <a:pPr algn="l"/>
                      <a:r>
                        <a:rPr lang="en-IN" sz="2200" b="1" kern="1200" dirty="0">
                          <a:solidFill>
                            <a:srgbClr val="C00000"/>
                          </a:solidFill>
                          <a:latin typeface="Arial" panose="020B0604020202020204" pitchFamily="34" charset="0"/>
                          <a:ea typeface="+mn-ea"/>
                          <a:cs typeface="Arial" panose="020B0604020202020204" pitchFamily="34" charset="0"/>
                        </a:rPr>
                        <a:t>Loss of Control Risk</a:t>
                      </a:r>
                    </a:p>
                  </a:txBody>
                  <a:tcPr anchor="ctr">
                    <a:solidFill>
                      <a:schemeClr val="accent6">
                        <a:lumMod val="20000"/>
                        <a:lumOff val="80000"/>
                      </a:schemeClr>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2200" b="1" dirty="0">
                          <a:latin typeface="Arial" panose="020B0604020202020204" pitchFamily="34" charset="0"/>
                          <a:cs typeface="Arial" panose="020B0604020202020204" pitchFamily="34" charset="0"/>
                        </a:rPr>
                        <a:t>Loss of control risk </a:t>
                      </a:r>
                      <a:r>
                        <a:rPr lang="en-IN" sz="2200" dirty="0">
                          <a:latin typeface="Arial" panose="020B0604020202020204" pitchFamily="34" charset="0"/>
                          <a:cs typeface="Arial" panose="020B0604020202020204" pitchFamily="34" charset="0"/>
                        </a:rPr>
                        <a:t>refers to the decreasing ability of a firm to control of the task or performance of the vender with the increasing scope of the task passed on to it.</a:t>
                      </a:r>
                    </a:p>
                  </a:txBody>
                  <a:tcPr anchor="ctr">
                    <a:solidFill>
                      <a:schemeClr val="accent6">
                        <a:lumMod val="20000"/>
                        <a:lumOff val="80000"/>
                      </a:schemeClr>
                    </a:solidFill>
                  </a:tcPr>
                </a:tc>
                <a:extLst>
                  <a:ext uri="{0D108BD9-81ED-4DB2-BD59-A6C34878D82A}">
                    <a16:rowId xmlns:a16="http://schemas.microsoft.com/office/drawing/2014/main" val="2501420001"/>
                  </a:ext>
                </a:extLst>
              </a:tr>
              <a:tr h="462748">
                <a:tc>
                  <a:txBody>
                    <a:bodyPr/>
                    <a:lstStyle/>
                    <a:p>
                      <a:pPr algn="l"/>
                      <a:r>
                        <a:rPr lang="en-IN" sz="2200" b="1" kern="1200" dirty="0">
                          <a:solidFill>
                            <a:srgbClr val="C00000"/>
                          </a:solidFill>
                          <a:latin typeface="Arial" panose="020B0604020202020204" pitchFamily="34" charset="0"/>
                          <a:ea typeface="+mn-ea"/>
                          <a:cs typeface="Arial" panose="020B0604020202020204" pitchFamily="34" charset="0"/>
                        </a:rPr>
                        <a:t>Dependency Risk</a:t>
                      </a:r>
                    </a:p>
                  </a:txBody>
                  <a:tcPr anchor="ctr">
                    <a:solidFill>
                      <a:schemeClr val="accent4">
                        <a:lumMod val="20000"/>
                        <a:lumOff val="80000"/>
                      </a:schemeClr>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200" b="1" i="0" kern="1200" dirty="0">
                          <a:solidFill>
                            <a:schemeClr val="tx1"/>
                          </a:solidFill>
                          <a:effectLst/>
                          <a:latin typeface="Arial" panose="020B0604020202020204" pitchFamily="34" charset="0"/>
                          <a:ea typeface="+mn-ea"/>
                          <a:cs typeface="Arial" panose="020B0604020202020204" pitchFamily="34" charset="0"/>
                        </a:rPr>
                        <a:t>Dependency risk </a:t>
                      </a:r>
                      <a:r>
                        <a:rPr lang="en-US" sz="2200" b="0" i="0" kern="1200" dirty="0">
                          <a:solidFill>
                            <a:schemeClr val="tx1"/>
                          </a:solidFill>
                          <a:effectLst/>
                          <a:latin typeface="Arial" panose="020B0604020202020204" pitchFamily="34" charset="0"/>
                          <a:ea typeface="+mn-ea"/>
                          <a:cs typeface="Arial" panose="020B0604020202020204" pitchFamily="34" charset="0"/>
                        </a:rPr>
                        <a:t>refers to a risk that the firm will become overly dependent on the vendor when it engages the vender in more sophisticated sourcing engagements which requires specialized technology and equipment, and specialized training of staff.</a:t>
                      </a:r>
                      <a:endParaRPr lang="en-IN" sz="2200" dirty="0">
                        <a:latin typeface="Arial" panose="020B0604020202020204" pitchFamily="34" charset="0"/>
                        <a:cs typeface="Arial" panose="020B0604020202020204" pitchFamily="34" charset="0"/>
                      </a:endParaRPr>
                    </a:p>
                  </a:txBody>
                  <a:tcPr anchor="ctr">
                    <a:solidFill>
                      <a:schemeClr val="accent4">
                        <a:lumMod val="20000"/>
                        <a:lumOff val="80000"/>
                      </a:schemeClr>
                    </a:solidFill>
                  </a:tcPr>
                </a:tc>
                <a:extLst>
                  <a:ext uri="{0D108BD9-81ED-4DB2-BD59-A6C34878D82A}">
                    <a16:rowId xmlns:a16="http://schemas.microsoft.com/office/drawing/2014/main" val="4101897948"/>
                  </a:ext>
                </a:extLst>
              </a:tr>
              <a:tr h="462748">
                <a:tc>
                  <a:txBody>
                    <a:bodyPr/>
                    <a:lstStyle/>
                    <a:p>
                      <a:pPr marL="0" algn="l" defTabSz="914400" rtl="0" eaLnBrk="1" latinLnBrk="0" hangingPunct="1"/>
                      <a:r>
                        <a:rPr lang="en-IN" sz="2200" b="1" i="0" u="none" strike="noStrike" kern="1200" baseline="0" dirty="0">
                          <a:solidFill>
                            <a:srgbClr val="C00000"/>
                          </a:solidFill>
                          <a:latin typeface="Arial" panose="020B0604020202020204" pitchFamily="34" charset="0"/>
                          <a:ea typeface="+mn-ea"/>
                          <a:cs typeface="Arial" panose="020B0604020202020204" pitchFamily="34" charset="0"/>
                        </a:rPr>
                        <a:t>Competitive Priority</a:t>
                      </a:r>
                    </a:p>
                  </a:txBody>
                  <a:tcPr anchor="ctr">
                    <a:solidFill>
                      <a:schemeClr val="accent4">
                        <a:lumMod val="20000"/>
                        <a:lumOff val="80000"/>
                      </a:schemeClr>
                    </a:solidFill>
                  </a:tcPr>
                </a:tc>
                <a:tc>
                  <a:txBody>
                    <a:bodyPr/>
                    <a:lstStyle/>
                    <a:p>
                      <a:pPr algn="just"/>
                      <a:r>
                        <a:rPr lang="en-US" sz="2200" b="1" dirty="0">
                          <a:latin typeface="Arial" panose="020B0604020202020204" pitchFamily="34" charset="0"/>
                          <a:cs typeface="Arial" panose="020B0604020202020204" pitchFamily="34" charset="0"/>
                        </a:rPr>
                        <a:t>Competitive priorities</a:t>
                      </a:r>
                      <a:r>
                        <a:rPr lang="en-US" sz="2200" dirty="0">
                          <a:latin typeface="Arial" panose="020B0604020202020204" pitchFamily="34" charset="0"/>
                          <a:cs typeface="Arial" panose="020B0604020202020204" pitchFamily="34" charset="0"/>
                        </a:rPr>
                        <a:t> </a:t>
                      </a:r>
                      <a:r>
                        <a:rPr lang="en-US" sz="2200" b="0" dirty="0">
                          <a:latin typeface="Arial" panose="020B0604020202020204" pitchFamily="34" charset="0"/>
                          <a:cs typeface="Arial" panose="020B0604020202020204" pitchFamily="34" charset="0"/>
                        </a:rPr>
                        <a:t>are the key strategic objectives, viz., </a:t>
                      </a:r>
                      <a:r>
                        <a:rPr lang="en-US" sz="2200" dirty="0">
                          <a:latin typeface="Arial" panose="020B0604020202020204" pitchFamily="34" charset="0"/>
                          <a:cs typeface="Arial" panose="020B0604020202020204" pitchFamily="34" charset="0"/>
                        </a:rPr>
                        <a:t>cost, quality, delivery, flexibility, or innovation</a:t>
                      </a:r>
                      <a:r>
                        <a:rPr lang="en-US" sz="2200" b="0" dirty="0">
                          <a:latin typeface="Arial" panose="020B0604020202020204" pitchFamily="34" charset="0"/>
                          <a:cs typeface="Arial" panose="020B0604020202020204" pitchFamily="34" charset="0"/>
                        </a:rPr>
                        <a:t> that a firm emphasizes to gain competitive advantage in the market.</a:t>
                      </a:r>
                      <a:endParaRPr lang="en-IN" sz="2200" b="0" dirty="0">
                        <a:latin typeface="Arial" panose="020B0604020202020204" pitchFamily="34" charset="0"/>
                        <a:cs typeface="Arial" panose="020B0604020202020204" pitchFamily="34" charset="0"/>
                      </a:endParaRPr>
                    </a:p>
                  </a:txBody>
                  <a:tcPr anchor="ctr">
                    <a:solidFill>
                      <a:schemeClr val="accent4">
                        <a:lumMod val="20000"/>
                        <a:lumOff val="80000"/>
                      </a:schemeClr>
                    </a:solidFill>
                  </a:tcPr>
                </a:tc>
                <a:extLst>
                  <a:ext uri="{0D108BD9-81ED-4DB2-BD59-A6C34878D82A}">
                    <a16:rowId xmlns:a16="http://schemas.microsoft.com/office/drawing/2014/main" val="653539547"/>
                  </a:ext>
                </a:extLst>
              </a:tr>
              <a:tr h="462748">
                <a:tc>
                  <a:txBody>
                    <a:bodyPr/>
                    <a:lstStyle/>
                    <a:p>
                      <a:pPr marL="0" algn="l" defTabSz="914400" rtl="0" eaLnBrk="1" latinLnBrk="0" hangingPunct="1"/>
                      <a:r>
                        <a:rPr lang="en-IN" sz="2200" b="1" i="0" u="none" strike="noStrike" kern="1200" baseline="0" dirty="0">
                          <a:solidFill>
                            <a:srgbClr val="C00000"/>
                          </a:solidFill>
                          <a:latin typeface="Arial" panose="020B0604020202020204" pitchFamily="34" charset="0"/>
                          <a:ea typeface="+mn-ea"/>
                          <a:cs typeface="Arial" panose="020B0604020202020204" pitchFamily="34" charset="0"/>
                        </a:rPr>
                        <a:t>Product Traceability</a:t>
                      </a:r>
                    </a:p>
                  </a:txBody>
                  <a:tcPr anchor="ctr">
                    <a:solidFill>
                      <a:schemeClr val="accent4">
                        <a:lumMod val="20000"/>
                        <a:lumOff val="80000"/>
                      </a:schemeClr>
                    </a:solidFill>
                  </a:tcPr>
                </a:tc>
                <a:tc>
                  <a:txBody>
                    <a:bodyPr/>
                    <a:lstStyle/>
                    <a:p>
                      <a:pPr algn="just"/>
                      <a:r>
                        <a:rPr lang="en-US" sz="2200" b="1" kern="1200" dirty="0">
                          <a:solidFill>
                            <a:schemeClr val="tx1"/>
                          </a:solidFill>
                          <a:latin typeface="Arial" panose="020B0604020202020204" pitchFamily="34" charset="0"/>
                          <a:ea typeface="+mn-ea"/>
                          <a:cs typeface="Arial" panose="020B0604020202020204" pitchFamily="34" charset="0"/>
                        </a:rPr>
                        <a:t>Product traceability </a:t>
                      </a:r>
                      <a:r>
                        <a:rPr lang="en-US" sz="2200" kern="1200" dirty="0">
                          <a:solidFill>
                            <a:schemeClr val="tx1"/>
                          </a:solidFill>
                          <a:latin typeface="Arial" panose="020B0604020202020204" pitchFamily="34" charset="0"/>
                          <a:ea typeface="+mn-ea"/>
                          <a:cs typeface="Arial" panose="020B0604020202020204" pitchFamily="34" charset="0"/>
                        </a:rPr>
                        <a:t>refers to the ability to track and trace a product’s history, location, and movement throughout the entire supply chain — from raw materials to the final customer.</a:t>
                      </a:r>
                      <a:endParaRPr lang="en-IN" sz="2200" kern="1200" dirty="0">
                        <a:solidFill>
                          <a:schemeClr val="tx1"/>
                        </a:solidFill>
                        <a:latin typeface="Arial" panose="020B0604020202020204" pitchFamily="34" charset="0"/>
                        <a:ea typeface="+mn-ea"/>
                        <a:cs typeface="Arial" panose="020B0604020202020204" pitchFamily="34" charset="0"/>
                      </a:endParaRPr>
                    </a:p>
                  </a:txBody>
                  <a:tcPr anchor="ctr">
                    <a:solidFill>
                      <a:schemeClr val="accent4">
                        <a:lumMod val="20000"/>
                        <a:lumOff val="80000"/>
                      </a:schemeClr>
                    </a:solidFill>
                  </a:tcPr>
                </a:tc>
                <a:extLst>
                  <a:ext uri="{0D108BD9-81ED-4DB2-BD59-A6C34878D82A}">
                    <a16:rowId xmlns:a16="http://schemas.microsoft.com/office/drawing/2014/main" val="3101632670"/>
                  </a:ext>
                </a:extLst>
              </a:tr>
              <a:tr h="462748">
                <a:tc>
                  <a:txBody>
                    <a:bodyPr/>
                    <a:lstStyle/>
                    <a:p>
                      <a:pPr marL="0" algn="l" defTabSz="914400" rtl="0" eaLnBrk="1" latinLnBrk="0" hangingPunct="1"/>
                      <a:r>
                        <a:rPr lang="en-IN" sz="2200" b="1" i="0" u="none" strike="noStrike" kern="1200" baseline="0" dirty="0">
                          <a:solidFill>
                            <a:srgbClr val="C00000"/>
                          </a:solidFill>
                          <a:latin typeface="Arial" panose="020B0604020202020204" pitchFamily="34" charset="0"/>
                          <a:ea typeface="+mn-ea"/>
                          <a:cs typeface="Arial" panose="020B0604020202020204" pitchFamily="34" charset="0"/>
                        </a:rPr>
                        <a:t>Order Winners</a:t>
                      </a:r>
                    </a:p>
                  </a:txBody>
                  <a:tcPr anchor="ctr">
                    <a:solidFill>
                      <a:schemeClr val="accent4">
                        <a:lumMod val="20000"/>
                        <a:lumOff val="80000"/>
                      </a:schemeClr>
                    </a:solidFill>
                  </a:tcPr>
                </a:tc>
                <a:tc>
                  <a:txBody>
                    <a:bodyPr/>
                    <a:lstStyle/>
                    <a:p>
                      <a:r>
                        <a:rPr lang="en-US" sz="2200" b="1" dirty="0">
                          <a:latin typeface="Arial" panose="020B0604020202020204" pitchFamily="34" charset="0"/>
                          <a:cs typeface="Arial" panose="020B0604020202020204" pitchFamily="34" charset="0"/>
                        </a:rPr>
                        <a:t>Order winners </a:t>
                      </a:r>
                      <a:r>
                        <a:rPr lang="en-US" sz="2200" dirty="0">
                          <a:latin typeface="Arial" panose="020B0604020202020204" pitchFamily="34" charset="0"/>
                          <a:cs typeface="Arial" panose="020B0604020202020204" pitchFamily="34" charset="0"/>
                        </a:rPr>
                        <a:t>are the competitive priorities or product attributes that directly influence a customer’s purchasing decision and enable a firm to secure business over competitors.</a:t>
                      </a:r>
                      <a:endParaRPr lang="en-IN" sz="2200" kern="1200" dirty="0">
                        <a:solidFill>
                          <a:schemeClr val="tx1"/>
                        </a:solidFill>
                        <a:latin typeface="Arial" panose="020B0604020202020204" pitchFamily="34" charset="0"/>
                        <a:ea typeface="+mn-ea"/>
                        <a:cs typeface="Arial" panose="020B0604020202020204" pitchFamily="34" charset="0"/>
                      </a:endParaRPr>
                    </a:p>
                  </a:txBody>
                  <a:tcPr anchor="ctr">
                    <a:solidFill>
                      <a:schemeClr val="accent4">
                        <a:lumMod val="20000"/>
                        <a:lumOff val="80000"/>
                      </a:schemeClr>
                    </a:solidFill>
                  </a:tcPr>
                </a:tc>
                <a:extLst>
                  <a:ext uri="{0D108BD9-81ED-4DB2-BD59-A6C34878D82A}">
                    <a16:rowId xmlns:a16="http://schemas.microsoft.com/office/drawing/2014/main" val="3707272635"/>
                  </a:ext>
                </a:extLst>
              </a:tr>
            </a:tbl>
          </a:graphicData>
        </a:graphic>
      </p:graphicFrame>
    </p:spTree>
    <p:extLst>
      <p:ext uri="{BB962C8B-B14F-4D97-AF65-F5344CB8AC3E}">
        <p14:creationId xmlns:p14="http://schemas.microsoft.com/office/powerpoint/2010/main" val="3013504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17195-13C7-8F61-B5B5-7F52BC69C41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08CFD5A-55A4-074E-118A-BBFB1277088C}"/>
              </a:ext>
            </a:extLst>
          </p:cNvPr>
          <p:cNvSpPr/>
          <p:nvPr/>
        </p:nvSpPr>
        <p:spPr>
          <a:xfrm>
            <a:off x="0" y="0"/>
            <a:ext cx="12192000" cy="788276"/>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4800" b="1" dirty="0">
                <a:solidFill>
                  <a:schemeClr val="bg1"/>
                </a:solidFill>
              </a:rPr>
              <a:t>KEY CONCEPTS</a:t>
            </a:r>
            <a:endParaRPr lang="en-IN" sz="4800" b="1" dirty="0">
              <a:solidFill>
                <a:schemeClr val="bg1"/>
              </a:solidFill>
            </a:endParaRPr>
          </a:p>
        </p:txBody>
      </p:sp>
      <p:graphicFrame>
        <p:nvGraphicFramePr>
          <p:cNvPr id="5" name="Table 4">
            <a:extLst>
              <a:ext uri="{FF2B5EF4-FFF2-40B4-BE49-F238E27FC236}">
                <a16:creationId xmlns:a16="http://schemas.microsoft.com/office/drawing/2014/main" id="{5EBD7824-4E03-4F75-6592-BC5EE5B83AB1}"/>
              </a:ext>
            </a:extLst>
          </p:cNvPr>
          <p:cNvGraphicFramePr>
            <a:graphicFrameLocks noGrp="1"/>
          </p:cNvGraphicFramePr>
          <p:nvPr>
            <p:extLst>
              <p:ext uri="{D42A27DB-BD31-4B8C-83A1-F6EECF244321}">
                <p14:modId xmlns:p14="http://schemas.microsoft.com/office/powerpoint/2010/main" val="2980018514"/>
              </p:ext>
            </p:extLst>
          </p:nvPr>
        </p:nvGraphicFramePr>
        <p:xfrm>
          <a:off x="586409" y="918380"/>
          <a:ext cx="11448275" cy="5059680"/>
        </p:xfrm>
        <a:graphic>
          <a:graphicData uri="http://schemas.openxmlformats.org/drawingml/2006/table">
            <a:tbl>
              <a:tblPr firstRow="1" bandRow="1">
                <a:tableStyleId>{5940675A-B579-460E-94D1-54222C63F5DA}</a:tableStyleId>
              </a:tblPr>
              <a:tblGrid>
                <a:gridCol w="2363268">
                  <a:extLst>
                    <a:ext uri="{9D8B030D-6E8A-4147-A177-3AD203B41FA5}">
                      <a16:colId xmlns:a16="http://schemas.microsoft.com/office/drawing/2014/main" val="1977987784"/>
                    </a:ext>
                  </a:extLst>
                </a:gridCol>
                <a:gridCol w="9085007">
                  <a:extLst>
                    <a:ext uri="{9D8B030D-6E8A-4147-A177-3AD203B41FA5}">
                      <a16:colId xmlns:a16="http://schemas.microsoft.com/office/drawing/2014/main" val="1654883193"/>
                    </a:ext>
                  </a:extLst>
                </a:gridCol>
              </a:tblGrid>
              <a:tr h="462748">
                <a:tc>
                  <a:txBody>
                    <a:bodyPr/>
                    <a:lstStyle/>
                    <a:p>
                      <a:pPr marL="0" algn="l" defTabSz="914400" rtl="0" eaLnBrk="1" latinLnBrk="0" hangingPunct="1"/>
                      <a:r>
                        <a:rPr lang="en-IN" sz="2200" b="1" i="0" u="none" strike="noStrike" kern="1200" baseline="0" dirty="0">
                          <a:solidFill>
                            <a:srgbClr val="C00000"/>
                          </a:solidFill>
                          <a:latin typeface="Arial" panose="020B0604020202020204" pitchFamily="34" charset="0"/>
                          <a:ea typeface="+mn-ea"/>
                          <a:cs typeface="Arial" panose="020B0604020202020204" pitchFamily="34" charset="0"/>
                        </a:rPr>
                        <a:t>Order Qualifiers</a:t>
                      </a:r>
                    </a:p>
                  </a:txBody>
                  <a:tcPr anchor="ctr">
                    <a:solidFill>
                      <a:schemeClr val="accent4">
                        <a:lumMod val="20000"/>
                        <a:lumOff val="80000"/>
                      </a:schemeClr>
                    </a:solidFill>
                  </a:tcPr>
                </a:tc>
                <a:tc>
                  <a:txBody>
                    <a:bodyPr/>
                    <a:lstStyle/>
                    <a:p>
                      <a:pPr algn="just"/>
                      <a:r>
                        <a:rPr lang="en-US" sz="2200" b="1" kern="1200" dirty="0">
                          <a:solidFill>
                            <a:schemeClr val="tx1"/>
                          </a:solidFill>
                          <a:latin typeface="Arial" panose="020B0604020202020204" pitchFamily="34" charset="0"/>
                          <a:ea typeface="+mn-ea"/>
                          <a:cs typeface="Arial" panose="020B0604020202020204" pitchFamily="34" charset="0"/>
                        </a:rPr>
                        <a:t>Order qualifiers </a:t>
                      </a:r>
                      <a:r>
                        <a:rPr lang="en-US" sz="2200" kern="1200" dirty="0">
                          <a:solidFill>
                            <a:schemeClr val="tx1"/>
                          </a:solidFill>
                          <a:latin typeface="Arial" panose="020B0604020202020204" pitchFamily="34" charset="0"/>
                          <a:ea typeface="+mn-ea"/>
                          <a:cs typeface="Arial" panose="020B0604020202020204" pitchFamily="34" charset="0"/>
                        </a:rPr>
                        <a:t>are the basic competitive criteria that a firm must satisfy to be considered as a viable supplier in the market.</a:t>
                      </a:r>
                      <a:endParaRPr lang="en-IN" sz="2200" kern="1200" dirty="0">
                        <a:solidFill>
                          <a:schemeClr val="tx1"/>
                        </a:solidFill>
                        <a:latin typeface="Arial" panose="020B0604020202020204" pitchFamily="34" charset="0"/>
                        <a:ea typeface="+mn-ea"/>
                        <a:cs typeface="Arial" panose="020B0604020202020204" pitchFamily="34" charset="0"/>
                      </a:endParaRPr>
                    </a:p>
                  </a:txBody>
                  <a:tcPr anchor="ctr">
                    <a:solidFill>
                      <a:schemeClr val="accent4">
                        <a:lumMod val="20000"/>
                        <a:lumOff val="80000"/>
                      </a:schemeClr>
                    </a:solidFill>
                  </a:tcPr>
                </a:tc>
                <a:extLst>
                  <a:ext uri="{0D108BD9-81ED-4DB2-BD59-A6C34878D82A}">
                    <a16:rowId xmlns:a16="http://schemas.microsoft.com/office/drawing/2014/main" val="3889882129"/>
                  </a:ext>
                </a:extLst>
              </a:tr>
              <a:tr h="462748">
                <a:tc>
                  <a:txBody>
                    <a:bodyPr/>
                    <a:lstStyle/>
                    <a:p>
                      <a:pPr marL="0" algn="l" defTabSz="914400" rtl="0" eaLnBrk="1" latinLnBrk="0" hangingPunct="1"/>
                      <a:r>
                        <a:rPr lang="en-IN" sz="2200" b="1" i="0" u="none" strike="noStrike" kern="1200" baseline="0" dirty="0">
                          <a:solidFill>
                            <a:srgbClr val="C00000"/>
                          </a:solidFill>
                          <a:latin typeface="Arial" panose="020B0604020202020204" pitchFamily="34" charset="0"/>
                          <a:ea typeface="+mn-ea"/>
                          <a:cs typeface="Arial" panose="020B0604020202020204" pitchFamily="34" charset="0"/>
                        </a:rPr>
                        <a:t>Supply Chain Masters</a:t>
                      </a:r>
                    </a:p>
                  </a:txBody>
                  <a:tcPr anchor="ctr">
                    <a:solidFill>
                      <a:schemeClr val="accent6">
                        <a:lumMod val="20000"/>
                        <a:lumOff val="80000"/>
                      </a:schemeClr>
                    </a:solidFill>
                  </a:tcPr>
                </a:tc>
                <a:tc>
                  <a:txBody>
                    <a:bodyPr/>
                    <a:lstStyle/>
                    <a:p>
                      <a:pPr algn="just"/>
                      <a:r>
                        <a:rPr lang="en-US" sz="2200" b="1" dirty="0">
                          <a:latin typeface="Arial" panose="020B0604020202020204" pitchFamily="34" charset="0"/>
                          <a:cs typeface="Arial" panose="020B0604020202020204" pitchFamily="34" charset="0"/>
                        </a:rPr>
                        <a:t>Supply chain masters </a:t>
                      </a:r>
                      <a:r>
                        <a:rPr lang="en-US" sz="2200" dirty="0">
                          <a:latin typeface="Arial" panose="020B0604020202020204" pitchFamily="34" charset="0"/>
                          <a:cs typeface="Arial" panose="020B0604020202020204" pitchFamily="34" charset="0"/>
                        </a:rPr>
                        <a:t>are organizations that achieve sustained competitive advantage by effectively integrating supply chain strategy with business strategy, resulting in superior operational, financial, and market performance.</a:t>
                      </a:r>
                      <a:endParaRPr lang="en-IN" sz="2200" dirty="0">
                        <a:latin typeface="Arial" panose="020B0604020202020204" pitchFamily="34" charset="0"/>
                        <a:cs typeface="Arial" panose="020B060402020202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980977448"/>
                  </a:ext>
                </a:extLst>
              </a:tr>
              <a:tr h="462748">
                <a:tc>
                  <a:txBody>
                    <a:bodyPr/>
                    <a:lstStyle/>
                    <a:p>
                      <a:pPr algn="l"/>
                      <a:r>
                        <a:rPr lang="en-US" sz="2200" b="1" i="0" u="none" strike="noStrike" kern="1200" baseline="0" dirty="0">
                          <a:solidFill>
                            <a:srgbClr val="C00000"/>
                          </a:solidFill>
                          <a:latin typeface="Arial" panose="020B0604020202020204" pitchFamily="34" charset="0"/>
                          <a:ea typeface="+mn-ea"/>
                          <a:cs typeface="Arial" panose="020B0604020202020204" pitchFamily="34" charset="0"/>
                        </a:rPr>
                        <a:t>Supply Chain Metrics</a:t>
                      </a:r>
                      <a:endParaRPr lang="en-IN" sz="2200" b="1" i="0" u="none" strike="noStrike" kern="1200" baseline="0" dirty="0">
                        <a:solidFill>
                          <a:srgbClr val="C00000"/>
                        </a:solidFill>
                        <a:latin typeface="Arial" panose="020B0604020202020204" pitchFamily="34" charset="0"/>
                        <a:ea typeface="+mn-ea"/>
                        <a:cs typeface="Arial" panose="020B0604020202020204" pitchFamily="34" charset="0"/>
                      </a:endParaRPr>
                    </a:p>
                  </a:txBody>
                  <a:tcPr anchor="ctr">
                    <a:solidFill>
                      <a:schemeClr val="accent6">
                        <a:lumMod val="20000"/>
                        <a:lumOff val="80000"/>
                      </a:schemeClr>
                    </a:solidFill>
                  </a:tcPr>
                </a:tc>
                <a:tc>
                  <a:txBody>
                    <a:bodyPr/>
                    <a:lstStyle/>
                    <a:p>
                      <a:pPr algn="just"/>
                      <a:r>
                        <a:rPr lang="en-US" sz="2200" b="1" kern="1200" dirty="0">
                          <a:solidFill>
                            <a:schemeClr val="tx1"/>
                          </a:solidFill>
                          <a:latin typeface="Arial" panose="020B0604020202020204" pitchFamily="34" charset="0"/>
                          <a:ea typeface="+mn-ea"/>
                          <a:cs typeface="Arial" panose="020B0604020202020204" pitchFamily="34" charset="0"/>
                        </a:rPr>
                        <a:t>Supply chain metrics </a:t>
                      </a:r>
                      <a:r>
                        <a:rPr lang="en-US" sz="2200" kern="1200" dirty="0">
                          <a:solidFill>
                            <a:schemeClr val="tx1"/>
                          </a:solidFill>
                          <a:latin typeface="Arial" panose="020B0604020202020204" pitchFamily="34" charset="0"/>
                          <a:ea typeface="+mn-ea"/>
                          <a:cs typeface="Arial" panose="020B0604020202020204" pitchFamily="34" charset="0"/>
                        </a:rPr>
                        <a:t>are quantitative performance indicators used to assess the efficiency, responsiveness, cost-effectiveness, and reliability of supply chain operations, enabling strategic control and continuous improvement.</a:t>
                      </a:r>
                      <a:endParaRPr lang="en-IN" sz="2200" kern="1200" dirty="0">
                        <a:solidFill>
                          <a:schemeClr val="tx1"/>
                        </a:solidFill>
                        <a:latin typeface="Arial" panose="020B0604020202020204" pitchFamily="34" charset="0"/>
                        <a:ea typeface="+mn-ea"/>
                        <a:cs typeface="Arial" panose="020B060402020202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644011282"/>
                  </a:ext>
                </a:extLst>
              </a:tr>
              <a:tr h="462748">
                <a:tc>
                  <a:txBody>
                    <a:bodyPr/>
                    <a:lstStyle/>
                    <a:p>
                      <a:r>
                        <a:rPr lang="en-US" sz="2200" b="1" i="0" u="none" strike="noStrike" kern="1200" baseline="0" dirty="0">
                          <a:solidFill>
                            <a:srgbClr val="C00000"/>
                          </a:solidFill>
                          <a:latin typeface="Arial" panose="020B0604020202020204" pitchFamily="34" charset="0"/>
                          <a:ea typeface="+mn-ea"/>
                          <a:cs typeface="Arial" panose="020B0604020202020204" pitchFamily="34" charset="0"/>
                        </a:rPr>
                        <a:t>Logistic Performance</a:t>
                      </a:r>
                      <a:endParaRPr lang="en-IN" sz="2200" b="1" i="0" u="none" strike="noStrike" kern="1200" baseline="0" dirty="0">
                        <a:solidFill>
                          <a:srgbClr val="C00000"/>
                        </a:solidFill>
                        <a:latin typeface="Arial" panose="020B0604020202020204" pitchFamily="34" charset="0"/>
                        <a:ea typeface="+mn-ea"/>
                        <a:cs typeface="Arial" panose="020B0604020202020204" pitchFamily="34" charset="0"/>
                      </a:endParaRPr>
                    </a:p>
                  </a:txBody>
                  <a:tcPr anchor="ctr">
                    <a:solidFill>
                      <a:schemeClr val="accent6">
                        <a:lumMod val="20000"/>
                        <a:lumOff val="80000"/>
                      </a:schemeClr>
                    </a:solidFill>
                  </a:tcPr>
                </a:tc>
                <a:tc>
                  <a:txBody>
                    <a:bodyPr/>
                    <a:lstStyle/>
                    <a:p>
                      <a:pPr algn="just"/>
                      <a:r>
                        <a:rPr lang="en-US" sz="2200" b="1" kern="1200" dirty="0">
                          <a:solidFill>
                            <a:schemeClr val="tx1"/>
                          </a:solidFill>
                          <a:latin typeface="Arial" panose="020B0604020202020204" pitchFamily="34" charset="0"/>
                          <a:ea typeface="+mn-ea"/>
                          <a:cs typeface="Arial" panose="020B0604020202020204" pitchFamily="34" charset="0"/>
                        </a:rPr>
                        <a:t>Logistic performance </a:t>
                      </a:r>
                      <a:r>
                        <a:rPr lang="en-US" sz="2200" kern="1200" dirty="0">
                          <a:solidFill>
                            <a:schemeClr val="tx1"/>
                          </a:solidFill>
                          <a:latin typeface="Arial" panose="020B0604020202020204" pitchFamily="34" charset="0"/>
                          <a:ea typeface="+mn-ea"/>
                          <a:cs typeface="Arial" panose="020B0604020202020204" pitchFamily="34" charset="0"/>
                        </a:rPr>
                        <a:t>refers to the effectiveness and efficiency with which logistics activities—such as transportation, warehousing, inventory management, and order fulfillment—are managed to ensure timely, reliable, and cost-effective delivery of products to customers</a:t>
                      </a:r>
                      <a:endParaRPr lang="en-IN" sz="2200" kern="1200" dirty="0">
                        <a:solidFill>
                          <a:schemeClr val="tx1"/>
                        </a:solidFill>
                        <a:latin typeface="Arial" panose="020B0604020202020204" pitchFamily="34" charset="0"/>
                        <a:ea typeface="+mn-ea"/>
                        <a:cs typeface="Arial" panose="020B060402020202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3689305567"/>
                  </a:ext>
                </a:extLst>
              </a:tr>
            </a:tbl>
          </a:graphicData>
        </a:graphic>
      </p:graphicFrame>
    </p:spTree>
    <p:extLst>
      <p:ext uri="{BB962C8B-B14F-4D97-AF65-F5344CB8AC3E}">
        <p14:creationId xmlns:p14="http://schemas.microsoft.com/office/powerpoint/2010/main" val="1564017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83A0A-D389-557B-352A-FD1498614598}"/>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44AE5887-7EC7-406F-C29E-D4231184E9D0}"/>
              </a:ext>
            </a:extLst>
          </p:cNvPr>
          <p:cNvSpPr/>
          <p:nvPr/>
        </p:nvSpPr>
        <p:spPr>
          <a:xfrm>
            <a:off x="2821858" y="2580599"/>
            <a:ext cx="6548284" cy="169680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effectLst>
                  <a:outerShdw blurRad="38100" dist="38100" dir="2700000" algn="tl">
                    <a:srgbClr val="000000">
                      <a:alpha val="43137"/>
                    </a:srgbClr>
                  </a:outerShdw>
                </a:effectLst>
                <a:latin typeface="Arial Black" panose="020B0A04020102020204" pitchFamily="34" charset="0"/>
                <a:cs typeface="Aharoni" panose="02010803020104030203" pitchFamily="2" charset="-79"/>
              </a:rPr>
              <a:t>LECTURE 1</a:t>
            </a:r>
          </a:p>
        </p:txBody>
      </p:sp>
    </p:spTree>
    <p:extLst>
      <p:ext uri="{BB962C8B-B14F-4D97-AF65-F5344CB8AC3E}">
        <p14:creationId xmlns:p14="http://schemas.microsoft.com/office/powerpoint/2010/main" val="3945972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279FD-ED48-AC58-5330-90FB5C68AAA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3EECF80-5270-5671-F852-1BF03131D48D}"/>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accent4">
                    <a:lumMod val="20000"/>
                    <a:lumOff val="80000"/>
                  </a:schemeClr>
                </a:solidFill>
              </a:rPr>
              <a:t>WHAT IS SUPPLY CHAIN STRATEGY?</a:t>
            </a:r>
            <a:endParaRPr lang="en-IN" sz="4000" b="1" dirty="0">
              <a:solidFill>
                <a:schemeClr val="accent4">
                  <a:lumMod val="20000"/>
                  <a:lumOff val="80000"/>
                </a:schemeClr>
              </a:solidFill>
            </a:endParaRPr>
          </a:p>
        </p:txBody>
      </p:sp>
      <p:sp>
        <p:nvSpPr>
          <p:cNvPr id="16" name="TextBox 15">
            <a:extLst>
              <a:ext uri="{FF2B5EF4-FFF2-40B4-BE49-F238E27FC236}">
                <a16:creationId xmlns:a16="http://schemas.microsoft.com/office/drawing/2014/main" id="{CFDD0ABC-9D97-CF61-E1E5-C47DD0961F8D}"/>
              </a:ext>
            </a:extLst>
          </p:cNvPr>
          <p:cNvSpPr txBox="1"/>
          <p:nvPr/>
        </p:nvSpPr>
        <p:spPr>
          <a:xfrm>
            <a:off x="500344" y="879412"/>
            <a:ext cx="11595578" cy="2893100"/>
          </a:xfrm>
          <a:prstGeom prst="rect">
            <a:avLst/>
          </a:prstGeom>
          <a:solidFill>
            <a:schemeClr val="accent6">
              <a:lumMod val="20000"/>
              <a:lumOff val="80000"/>
            </a:schemeClr>
          </a:solidFill>
        </p:spPr>
        <p:txBody>
          <a:bodyPr wrap="square">
            <a:spAutoFit/>
          </a:bodyPr>
          <a:lstStyle/>
          <a:p>
            <a:r>
              <a:rPr lang="en-US" sz="2600" dirty="0"/>
              <a:t>A </a:t>
            </a:r>
            <a:r>
              <a:rPr lang="en-US" sz="2600" b="1" dirty="0"/>
              <a:t>business strategy </a:t>
            </a:r>
            <a:r>
              <a:rPr lang="en-US" sz="2600" dirty="0"/>
              <a:t>is a plan for the company that clearly defines </a:t>
            </a:r>
          </a:p>
          <a:p>
            <a:pPr marL="357188"/>
            <a:r>
              <a:rPr lang="en-US" sz="2600" dirty="0"/>
              <a:t>(a) the company’s long-term goals, </a:t>
            </a:r>
          </a:p>
          <a:p>
            <a:pPr marL="357188"/>
            <a:r>
              <a:rPr lang="en-US" sz="2600" dirty="0"/>
              <a:t>(b) plan to achieve these goals, and </a:t>
            </a:r>
          </a:p>
          <a:p>
            <a:pPr marL="357188"/>
            <a:r>
              <a:rPr lang="en-US" sz="2600" dirty="0"/>
              <a:t>(c) the way the company plans to differentiate itself from its </a:t>
            </a:r>
            <a:r>
              <a:rPr lang="en-IN" sz="2600" dirty="0"/>
              <a:t>competitors.</a:t>
            </a:r>
            <a:endParaRPr lang="en-US" sz="2600" dirty="0"/>
          </a:p>
          <a:p>
            <a:pPr algn="just"/>
            <a:r>
              <a:rPr lang="en-US" sz="2600" b="1" dirty="0">
                <a:solidFill>
                  <a:srgbClr val="0000CC"/>
                </a:solidFill>
              </a:rPr>
              <a:t>A supply chain strategy </a:t>
            </a:r>
            <a:r>
              <a:rPr lang="en-US" sz="2600" dirty="0">
                <a:solidFill>
                  <a:srgbClr val="0000CC"/>
                </a:solidFill>
              </a:rPr>
              <a:t>is the plan for managing the flow of goods, information, and finances from suppliers to customers in a way that supports the business strategy.</a:t>
            </a:r>
          </a:p>
          <a:p>
            <a:pPr algn="just"/>
            <a:endParaRPr lang="en-US" sz="2600" dirty="0">
              <a:solidFill>
                <a:srgbClr val="0000CC"/>
              </a:solidFill>
            </a:endParaRPr>
          </a:p>
        </p:txBody>
      </p:sp>
      <p:sp>
        <p:nvSpPr>
          <p:cNvPr id="4" name="TextBox 3">
            <a:extLst>
              <a:ext uri="{FF2B5EF4-FFF2-40B4-BE49-F238E27FC236}">
                <a16:creationId xmlns:a16="http://schemas.microsoft.com/office/drawing/2014/main" id="{764442ED-DF35-333E-0560-D047B94E1B4C}"/>
              </a:ext>
            </a:extLst>
          </p:cNvPr>
          <p:cNvSpPr txBox="1"/>
          <p:nvPr/>
        </p:nvSpPr>
        <p:spPr>
          <a:xfrm>
            <a:off x="489586" y="3467101"/>
            <a:ext cx="11606336" cy="3046988"/>
          </a:xfrm>
          <a:prstGeom prst="rect">
            <a:avLst/>
          </a:prstGeom>
          <a:solidFill>
            <a:schemeClr val="accent4">
              <a:lumMod val="20000"/>
              <a:lumOff val="80000"/>
            </a:schemeClr>
          </a:solidFill>
        </p:spPr>
        <p:txBody>
          <a:bodyPr wrap="square">
            <a:spAutoFit/>
          </a:bodyPr>
          <a:lstStyle/>
          <a:p>
            <a:pPr algn="just"/>
            <a:r>
              <a:rPr lang="en-US" sz="2400" b="1" u="sng" dirty="0"/>
              <a:t>Case of Zara</a:t>
            </a:r>
          </a:p>
          <a:p>
            <a:r>
              <a:rPr lang="en-US" sz="2400" b="1" dirty="0"/>
              <a:t>Business Strategy : </a:t>
            </a:r>
            <a:r>
              <a:rPr lang="en-US" sz="2400" dirty="0"/>
              <a:t>To produce and deliver look-alikes of the latest fashion trends to customers at an affordable price. </a:t>
            </a:r>
          </a:p>
          <a:p>
            <a:r>
              <a:rPr lang="en-US" sz="2400" b="1" dirty="0"/>
              <a:t>Supply Chain Strategy: </a:t>
            </a:r>
          </a:p>
          <a:p>
            <a:pPr marL="571500" indent="-571500">
              <a:buAutoNum type="romanLcParenBoth"/>
            </a:pPr>
            <a:r>
              <a:rPr lang="en-US" sz="2400" dirty="0"/>
              <a:t>To be vertically integrated - giving it speed, flexibility, and control of product design and delivery. </a:t>
            </a:r>
          </a:p>
          <a:p>
            <a:pPr marL="571500" indent="-571500">
              <a:buAutoNum type="romanLcParenBoth"/>
            </a:pPr>
            <a:r>
              <a:rPr lang="en-US" sz="2400" dirty="0"/>
              <a:t>Not to outsource most of its production, as doing so would hurt Zara’s ability to quickly adapt to fashion trends</a:t>
            </a:r>
            <a:endParaRPr lang="en-IN" sz="2400" dirty="0"/>
          </a:p>
        </p:txBody>
      </p:sp>
    </p:spTree>
    <p:extLst>
      <p:ext uri="{BB962C8B-B14F-4D97-AF65-F5344CB8AC3E}">
        <p14:creationId xmlns:p14="http://schemas.microsoft.com/office/powerpoint/2010/main" val="12919380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32571-4CDB-A822-6440-5352DE828B0B}"/>
            </a:ext>
          </a:extLst>
        </p:cNvPr>
        <p:cNvGrpSpPr/>
        <p:nvPr/>
      </p:nvGrpSpPr>
      <p:grpSpPr>
        <a:xfrm>
          <a:off x="0" y="0"/>
          <a:ext cx="0" cy="0"/>
          <a:chOff x="0" y="0"/>
          <a:chExt cx="0" cy="0"/>
        </a:xfrm>
      </p:grpSpPr>
      <p:graphicFrame>
        <p:nvGraphicFramePr>
          <p:cNvPr id="20" name="Table 19">
            <a:extLst>
              <a:ext uri="{FF2B5EF4-FFF2-40B4-BE49-F238E27FC236}">
                <a16:creationId xmlns:a16="http://schemas.microsoft.com/office/drawing/2014/main" id="{3D5EBA79-7111-79C9-4B3D-CACCE7551E78}"/>
              </a:ext>
            </a:extLst>
          </p:cNvPr>
          <p:cNvGraphicFramePr>
            <a:graphicFrameLocks noGrp="1"/>
          </p:cNvGraphicFramePr>
          <p:nvPr>
            <p:extLst>
              <p:ext uri="{D42A27DB-BD31-4B8C-83A1-F6EECF244321}">
                <p14:modId xmlns:p14="http://schemas.microsoft.com/office/powerpoint/2010/main" val="2346601187"/>
              </p:ext>
            </p:extLst>
          </p:nvPr>
        </p:nvGraphicFramePr>
        <p:xfrm>
          <a:off x="515179" y="4267200"/>
          <a:ext cx="11161642" cy="2590800"/>
        </p:xfrm>
        <a:graphic>
          <a:graphicData uri="http://schemas.openxmlformats.org/drawingml/2006/table">
            <a:tbl>
              <a:tblPr/>
              <a:tblGrid>
                <a:gridCol w="2474843">
                  <a:extLst>
                    <a:ext uri="{9D8B030D-6E8A-4147-A177-3AD203B41FA5}">
                      <a16:colId xmlns:a16="http://schemas.microsoft.com/office/drawing/2014/main" val="4111056563"/>
                    </a:ext>
                  </a:extLst>
                </a:gridCol>
                <a:gridCol w="4323522">
                  <a:extLst>
                    <a:ext uri="{9D8B030D-6E8A-4147-A177-3AD203B41FA5}">
                      <a16:colId xmlns:a16="http://schemas.microsoft.com/office/drawing/2014/main" val="1056447020"/>
                    </a:ext>
                  </a:extLst>
                </a:gridCol>
                <a:gridCol w="4363277">
                  <a:extLst>
                    <a:ext uri="{9D8B030D-6E8A-4147-A177-3AD203B41FA5}">
                      <a16:colId xmlns:a16="http://schemas.microsoft.com/office/drawing/2014/main" val="60642436"/>
                    </a:ext>
                  </a:extLst>
                </a:gridCol>
              </a:tblGrid>
              <a:tr h="0">
                <a:tc>
                  <a:txBody>
                    <a:bodyPr/>
                    <a:lstStyle/>
                    <a:p>
                      <a:pPr>
                        <a:buNone/>
                      </a:pPr>
                      <a:r>
                        <a:rPr lang="en-IN" sz="2800" b="1" u="sng" baseline="0" dirty="0">
                          <a:solidFill>
                            <a:schemeClr val="tx1"/>
                          </a:solidFill>
                        </a:rPr>
                        <a:t>Aspect</a:t>
                      </a:r>
                    </a:p>
                  </a:txBody>
                  <a:tcPr anchor="ctr">
                    <a:lnL>
                      <a:noFill/>
                    </a:lnL>
                    <a:lnR>
                      <a:noFill/>
                    </a:lnR>
                    <a:lnT>
                      <a:noFill/>
                    </a:lnT>
                    <a:lnB>
                      <a:noFill/>
                    </a:lnB>
                    <a:solidFill>
                      <a:schemeClr val="accent6">
                        <a:lumMod val="20000"/>
                        <a:lumOff val="80000"/>
                      </a:schemeClr>
                    </a:solidFill>
                  </a:tcPr>
                </a:tc>
                <a:tc>
                  <a:txBody>
                    <a:bodyPr/>
                    <a:lstStyle/>
                    <a:p>
                      <a:pPr marL="0" indent="0">
                        <a:buNone/>
                      </a:pPr>
                      <a:r>
                        <a:rPr lang="en-IN" sz="2800" b="1" u="sng" baseline="0" dirty="0">
                          <a:solidFill>
                            <a:schemeClr val="tx1"/>
                          </a:solidFill>
                        </a:rPr>
                        <a:t>Business Strategy</a:t>
                      </a:r>
                    </a:p>
                  </a:txBody>
                  <a:tcPr anchor="ctr">
                    <a:lnL>
                      <a:noFill/>
                    </a:lnL>
                    <a:lnR>
                      <a:noFill/>
                    </a:lnR>
                    <a:lnT>
                      <a:noFill/>
                    </a:lnT>
                    <a:lnB>
                      <a:noFill/>
                    </a:lnB>
                    <a:solidFill>
                      <a:schemeClr val="accent6">
                        <a:lumMod val="20000"/>
                        <a:lumOff val="80000"/>
                      </a:schemeClr>
                    </a:solidFill>
                  </a:tcPr>
                </a:tc>
                <a:tc>
                  <a:txBody>
                    <a:bodyPr/>
                    <a:lstStyle/>
                    <a:p>
                      <a:pPr>
                        <a:buNone/>
                      </a:pPr>
                      <a:r>
                        <a:rPr lang="en-IN" sz="2800" b="1" u="sng" baseline="0" dirty="0">
                          <a:solidFill>
                            <a:schemeClr val="tx1"/>
                          </a:solidFill>
                        </a:rPr>
                        <a:t>Supply Chain Strategy</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1410605867"/>
                  </a:ext>
                </a:extLst>
              </a:tr>
              <a:tr h="0">
                <a:tc>
                  <a:txBody>
                    <a:bodyPr/>
                    <a:lstStyle/>
                    <a:p>
                      <a:pPr>
                        <a:buNone/>
                        <a:tabLst>
                          <a:tab pos="1789113" algn="l"/>
                        </a:tabLst>
                      </a:pPr>
                      <a:r>
                        <a:rPr lang="en-IN" sz="2800" dirty="0">
                          <a:solidFill>
                            <a:schemeClr val="tx1"/>
                          </a:solidFill>
                        </a:rPr>
                        <a:t>Scope</a:t>
                      </a:r>
                    </a:p>
                  </a:txBody>
                  <a:tcPr anchor="ctr">
                    <a:lnL>
                      <a:noFill/>
                    </a:lnL>
                    <a:lnR>
                      <a:noFill/>
                    </a:lnR>
                    <a:lnT>
                      <a:noFill/>
                    </a:lnT>
                    <a:lnB>
                      <a:noFill/>
                    </a:lnB>
                    <a:solidFill>
                      <a:schemeClr val="accent6">
                        <a:lumMod val="20000"/>
                        <a:lumOff val="80000"/>
                      </a:schemeClr>
                    </a:solidFill>
                  </a:tcPr>
                </a:tc>
                <a:tc>
                  <a:txBody>
                    <a:bodyPr/>
                    <a:lstStyle/>
                    <a:p>
                      <a:pPr>
                        <a:buNone/>
                      </a:pPr>
                      <a:r>
                        <a:rPr lang="en-IN" sz="2800" dirty="0">
                          <a:solidFill>
                            <a:schemeClr val="tx1"/>
                          </a:solidFill>
                        </a:rPr>
                        <a:t>Whole organization</a:t>
                      </a:r>
                    </a:p>
                  </a:txBody>
                  <a:tcPr anchor="ctr">
                    <a:lnL>
                      <a:noFill/>
                    </a:lnL>
                    <a:lnR>
                      <a:noFill/>
                    </a:lnR>
                    <a:lnT>
                      <a:noFill/>
                    </a:lnT>
                    <a:lnB>
                      <a:noFill/>
                    </a:lnB>
                    <a:solidFill>
                      <a:schemeClr val="accent6">
                        <a:lumMod val="20000"/>
                        <a:lumOff val="80000"/>
                      </a:schemeClr>
                    </a:solidFill>
                  </a:tcPr>
                </a:tc>
                <a:tc>
                  <a:txBody>
                    <a:bodyPr/>
                    <a:lstStyle/>
                    <a:p>
                      <a:pPr>
                        <a:buNone/>
                      </a:pPr>
                      <a:r>
                        <a:rPr lang="en-IN" sz="2800" dirty="0">
                          <a:solidFill>
                            <a:schemeClr val="tx1"/>
                          </a:solidFill>
                        </a:rPr>
                        <a:t>Operations &amp; logistics</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838547370"/>
                  </a:ext>
                </a:extLst>
              </a:tr>
              <a:tr h="0">
                <a:tc>
                  <a:txBody>
                    <a:bodyPr/>
                    <a:lstStyle/>
                    <a:p>
                      <a:pPr>
                        <a:buNone/>
                      </a:pPr>
                      <a:r>
                        <a:rPr lang="en-IN" sz="2800" dirty="0">
                          <a:solidFill>
                            <a:schemeClr val="tx1"/>
                          </a:solidFill>
                        </a:rPr>
                        <a:t>Time Horizon</a:t>
                      </a:r>
                    </a:p>
                  </a:txBody>
                  <a:tcPr anchor="ctr">
                    <a:lnL>
                      <a:noFill/>
                    </a:lnL>
                    <a:lnR>
                      <a:noFill/>
                    </a:lnR>
                    <a:lnT>
                      <a:noFill/>
                    </a:lnT>
                    <a:lnB>
                      <a:noFill/>
                    </a:lnB>
                    <a:solidFill>
                      <a:schemeClr val="accent6">
                        <a:lumMod val="20000"/>
                        <a:lumOff val="80000"/>
                      </a:schemeClr>
                    </a:solidFill>
                  </a:tcPr>
                </a:tc>
                <a:tc>
                  <a:txBody>
                    <a:bodyPr/>
                    <a:lstStyle/>
                    <a:p>
                      <a:pPr>
                        <a:buNone/>
                      </a:pPr>
                      <a:r>
                        <a:rPr lang="en-IN" sz="2800" dirty="0">
                          <a:solidFill>
                            <a:schemeClr val="tx1"/>
                          </a:solidFill>
                        </a:rPr>
                        <a:t>Long-term</a:t>
                      </a:r>
                    </a:p>
                  </a:txBody>
                  <a:tcPr anchor="ctr">
                    <a:lnL>
                      <a:noFill/>
                    </a:lnL>
                    <a:lnR>
                      <a:noFill/>
                    </a:lnR>
                    <a:lnT>
                      <a:noFill/>
                    </a:lnT>
                    <a:lnB>
                      <a:noFill/>
                    </a:lnB>
                    <a:solidFill>
                      <a:schemeClr val="accent6">
                        <a:lumMod val="20000"/>
                        <a:lumOff val="80000"/>
                      </a:schemeClr>
                    </a:solidFill>
                  </a:tcPr>
                </a:tc>
                <a:tc>
                  <a:txBody>
                    <a:bodyPr/>
                    <a:lstStyle/>
                    <a:p>
                      <a:pPr>
                        <a:buNone/>
                      </a:pPr>
                      <a:r>
                        <a:rPr lang="en-IN" sz="2800" dirty="0">
                          <a:solidFill>
                            <a:schemeClr val="tx1"/>
                          </a:solidFill>
                        </a:rPr>
                        <a:t>Medium to long-term</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644851178"/>
                  </a:ext>
                </a:extLst>
              </a:tr>
              <a:tr h="0">
                <a:tc>
                  <a:txBody>
                    <a:bodyPr/>
                    <a:lstStyle/>
                    <a:p>
                      <a:pPr>
                        <a:buNone/>
                      </a:pPr>
                      <a:r>
                        <a:rPr lang="en-IN" sz="2800" dirty="0">
                          <a:solidFill>
                            <a:schemeClr val="tx1"/>
                          </a:solidFill>
                        </a:rPr>
                        <a:t>Main Goal</a:t>
                      </a:r>
                    </a:p>
                  </a:txBody>
                  <a:tcPr anchor="ctr">
                    <a:lnL>
                      <a:noFill/>
                    </a:lnL>
                    <a:lnR>
                      <a:noFill/>
                    </a:lnR>
                    <a:lnT>
                      <a:noFill/>
                    </a:lnT>
                    <a:lnB>
                      <a:noFill/>
                    </a:lnB>
                    <a:solidFill>
                      <a:schemeClr val="accent6">
                        <a:lumMod val="20000"/>
                        <a:lumOff val="80000"/>
                      </a:schemeClr>
                    </a:solidFill>
                  </a:tcPr>
                </a:tc>
                <a:tc>
                  <a:txBody>
                    <a:bodyPr/>
                    <a:lstStyle/>
                    <a:p>
                      <a:pPr>
                        <a:buNone/>
                      </a:pPr>
                      <a:r>
                        <a:rPr lang="en-IN" sz="2800" dirty="0">
                          <a:solidFill>
                            <a:schemeClr val="tx1"/>
                          </a:solidFill>
                        </a:rPr>
                        <a:t>Competitive advantage</a:t>
                      </a:r>
                    </a:p>
                  </a:txBody>
                  <a:tcPr anchor="ctr">
                    <a:lnL>
                      <a:noFill/>
                    </a:lnL>
                    <a:lnR>
                      <a:noFill/>
                    </a:lnR>
                    <a:lnT>
                      <a:noFill/>
                    </a:lnT>
                    <a:lnB>
                      <a:noFill/>
                    </a:lnB>
                    <a:solidFill>
                      <a:schemeClr val="accent6">
                        <a:lumMod val="20000"/>
                        <a:lumOff val="80000"/>
                      </a:schemeClr>
                    </a:solidFill>
                  </a:tcPr>
                </a:tc>
                <a:tc>
                  <a:txBody>
                    <a:bodyPr/>
                    <a:lstStyle/>
                    <a:p>
                      <a:pPr>
                        <a:buNone/>
                      </a:pPr>
                      <a:r>
                        <a:rPr lang="en-IN" sz="2800" dirty="0">
                          <a:solidFill>
                            <a:schemeClr val="tx1"/>
                          </a:solidFill>
                        </a:rPr>
                        <a:t>Operational support</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1503923289"/>
                  </a:ext>
                </a:extLst>
              </a:tr>
              <a:tr h="0">
                <a:tc>
                  <a:txBody>
                    <a:bodyPr/>
                    <a:lstStyle/>
                    <a:p>
                      <a:pPr>
                        <a:buNone/>
                      </a:pPr>
                      <a:r>
                        <a:rPr lang="en-IN" sz="2800" dirty="0">
                          <a:solidFill>
                            <a:schemeClr val="tx1"/>
                          </a:solidFill>
                        </a:rPr>
                        <a:t>Level</a:t>
                      </a:r>
                    </a:p>
                  </a:txBody>
                  <a:tcPr anchor="ctr">
                    <a:lnL>
                      <a:noFill/>
                    </a:lnL>
                    <a:lnR>
                      <a:noFill/>
                    </a:lnR>
                    <a:lnT>
                      <a:noFill/>
                    </a:lnT>
                    <a:lnB>
                      <a:noFill/>
                    </a:lnB>
                    <a:solidFill>
                      <a:schemeClr val="accent6">
                        <a:lumMod val="20000"/>
                        <a:lumOff val="80000"/>
                      </a:schemeClr>
                    </a:solidFill>
                  </a:tcPr>
                </a:tc>
                <a:tc>
                  <a:txBody>
                    <a:bodyPr/>
                    <a:lstStyle/>
                    <a:p>
                      <a:pPr>
                        <a:buNone/>
                      </a:pPr>
                      <a:r>
                        <a:rPr lang="en-IN" sz="2800" dirty="0">
                          <a:solidFill>
                            <a:schemeClr val="tx1"/>
                          </a:solidFill>
                        </a:rPr>
                        <a:t>Corporate/top management</a:t>
                      </a:r>
                    </a:p>
                  </a:txBody>
                  <a:tcPr anchor="ctr">
                    <a:lnL>
                      <a:noFill/>
                    </a:lnL>
                    <a:lnR>
                      <a:noFill/>
                    </a:lnR>
                    <a:lnT>
                      <a:noFill/>
                    </a:lnT>
                    <a:lnB>
                      <a:noFill/>
                    </a:lnB>
                    <a:solidFill>
                      <a:schemeClr val="accent6">
                        <a:lumMod val="20000"/>
                        <a:lumOff val="80000"/>
                      </a:schemeClr>
                    </a:solidFill>
                  </a:tcPr>
                </a:tc>
                <a:tc>
                  <a:txBody>
                    <a:bodyPr/>
                    <a:lstStyle/>
                    <a:p>
                      <a:pPr>
                        <a:buNone/>
                      </a:pPr>
                      <a:r>
                        <a:rPr lang="en-IN" sz="2800" dirty="0">
                          <a:solidFill>
                            <a:schemeClr val="tx1"/>
                          </a:solidFill>
                        </a:rPr>
                        <a:t>Operations/functional</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1393068681"/>
                  </a:ext>
                </a:extLst>
              </a:tr>
            </a:tbl>
          </a:graphicData>
        </a:graphic>
      </p:graphicFrame>
      <p:sp>
        <p:nvSpPr>
          <p:cNvPr id="21" name="Rectangle 1">
            <a:extLst>
              <a:ext uri="{FF2B5EF4-FFF2-40B4-BE49-F238E27FC236}">
                <a16:creationId xmlns:a16="http://schemas.microsoft.com/office/drawing/2014/main" id="{6204A0ED-4827-E5DB-EAE2-156F9EB08A5C}"/>
              </a:ext>
            </a:extLst>
          </p:cNvPr>
          <p:cNvSpPr>
            <a:spLocks noChangeArrowheads="1"/>
          </p:cNvSpPr>
          <p:nvPr/>
        </p:nvSpPr>
        <p:spPr bwMode="auto">
          <a:xfrm>
            <a:off x="3936111" y="3497759"/>
            <a:ext cx="2795958" cy="769441"/>
          </a:xfrm>
          <a:prstGeom prst="rect">
            <a:avLst/>
          </a:prstGeom>
          <a:solidFill>
            <a:schemeClr val="accent4">
              <a:lumMod val="40000"/>
              <a:lumOff val="60000"/>
            </a:schemeClr>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chemeClr val="tx1"/>
                </a:solidFill>
                <a:effectLst/>
                <a:latin typeface="Arial" panose="020B0604020202020204" pitchFamily="34" charset="0"/>
              </a:rPr>
              <a:t>Key </a:t>
            </a:r>
            <a:r>
              <a:rPr kumimoji="0" lang="en-US" altLang="en-US" sz="2800" b="1" i="0" u="sng" strike="noStrike" cap="none" normalizeH="0" baseline="0" dirty="0">
                <a:ln>
                  <a:noFill/>
                </a:ln>
                <a:solidFill>
                  <a:schemeClr val="tx1"/>
                </a:solidFill>
                <a:effectLst/>
                <a:latin typeface="Arial" panose="020B0604020202020204" pitchFamily="34" charset="0"/>
              </a:rPr>
              <a:t>Differences</a:t>
            </a:r>
            <a:endParaRPr kumimoji="0" lang="en-US" altLang="en-US" sz="2400" b="1" i="0" u="sng"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05745BBC-8535-BEFE-B8CC-D3FEEDE711B7}"/>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accent4">
                    <a:lumMod val="20000"/>
                    <a:lumOff val="80000"/>
                  </a:schemeClr>
                </a:solidFill>
              </a:rPr>
              <a:t>WHAT IS SUPPLY CHAIN STRATEGY?</a:t>
            </a:r>
            <a:endParaRPr lang="en-IN" sz="4000" b="1" dirty="0">
              <a:solidFill>
                <a:schemeClr val="accent4">
                  <a:lumMod val="20000"/>
                  <a:lumOff val="80000"/>
                </a:schemeClr>
              </a:solidFill>
            </a:endParaRPr>
          </a:p>
        </p:txBody>
      </p:sp>
      <p:pic>
        <p:nvPicPr>
          <p:cNvPr id="1030" name="Picture 6" descr="DMart Shares Rise By Over 12% After Its Revenue Surges To ₹15,565 Crore">
            <a:extLst>
              <a:ext uri="{FF2B5EF4-FFF2-40B4-BE49-F238E27FC236}">
                <a16:creationId xmlns:a16="http://schemas.microsoft.com/office/drawing/2014/main" id="{4227C810-6B6F-B694-DFE1-8D11C4BF03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179" y="960825"/>
            <a:ext cx="2889616" cy="253693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3494F1E-2411-903C-EBD7-BFBC1422E5C8}"/>
              </a:ext>
            </a:extLst>
          </p:cNvPr>
          <p:cNvSpPr txBox="1"/>
          <p:nvPr/>
        </p:nvSpPr>
        <p:spPr>
          <a:xfrm>
            <a:off x="7562626" y="960825"/>
            <a:ext cx="4399877" cy="2677656"/>
          </a:xfrm>
          <a:prstGeom prst="rect">
            <a:avLst/>
          </a:prstGeom>
          <a:solidFill>
            <a:schemeClr val="accent4">
              <a:lumMod val="20000"/>
              <a:lumOff val="80000"/>
            </a:schemeClr>
          </a:solidFill>
        </p:spPr>
        <p:txBody>
          <a:bodyPr wrap="square">
            <a:spAutoFit/>
          </a:bodyPr>
          <a:lstStyle/>
          <a:p>
            <a:r>
              <a:rPr lang="en-US" sz="2800" b="1" dirty="0"/>
              <a:t>Supply Chain Alignment:</a:t>
            </a:r>
          </a:p>
          <a:p>
            <a:pPr marL="457200" indent="-457200">
              <a:buFont typeface="Arial" panose="020B0604020202020204" pitchFamily="34" charset="0"/>
              <a:buChar char="•"/>
            </a:pPr>
            <a:r>
              <a:rPr lang="en-US" sz="2800" dirty="0"/>
              <a:t>Own warehouses</a:t>
            </a:r>
          </a:p>
          <a:p>
            <a:pPr marL="457200" indent="-457200">
              <a:buFont typeface="Arial" panose="020B0604020202020204" pitchFamily="34" charset="0"/>
              <a:buChar char="•"/>
            </a:pPr>
            <a:r>
              <a:rPr lang="en-US" sz="2800" dirty="0"/>
              <a:t>Bulk purchasing</a:t>
            </a:r>
          </a:p>
          <a:p>
            <a:pPr marL="457200" indent="-457200">
              <a:buFont typeface="Arial" panose="020B0604020202020204" pitchFamily="34" charset="0"/>
              <a:buChar char="•"/>
            </a:pPr>
            <a:r>
              <a:rPr lang="en-US" sz="2800" dirty="0"/>
              <a:t>Limited SKUs</a:t>
            </a:r>
          </a:p>
          <a:p>
            <a:pPr marL="457200" indent="-457200">
              <a:buFont typeface="Arial" panose="020B0604020202020204" pitchFamily="34" charset="0"/>
              <a:buChar char="•"/>
            </a:pPr>
            <a:r>
              <a:rPr lang="en-US" sz="2800" dirty="0"/>
              <a:t>Low inventory variety</a:t>
            </a:r>
          </a:p>
          <a:p>
            <a:pPr marL="457200" indent="-457200">
              <a:buFont typeface="Arial" panose="020B0604020202020204" pitchFamily="34" charset="0"/>
              <a:buChar char="•"/>
            </a:pPr>
            <a:r>
              <a:rPr lang="en-US" sz="2800" dirty="0"/>
              <a:t>Minimal advertising cost</a:t>
            </a:r>
          </a:p>
        </p:txBody>
      </p:sp>
      <p:sp>
        <p:nvSpPr>
          <p:cNvPr id="8" name="TextBox 7">
            <a:extLst>
              <a:ext uri="{FF2B5EF4-FFF2-40B4-BE49-F238E27FC236}">
                <a16:creationId xmlns:a16="http://schemas.microsoft.com/office/drawing/2014/main" id="{93F2F3B5-F029-2E45-A63F-D6FAF91F8D88}"/>
              </a:ext>
            </a:extLst>
          </p:cNvPr>
          <p:cNvSpPr txBox="1"/>
          <p:nvPr/>
        </p:nvSpPr>
        <p:spPr>
          <a:xfrm>
            <a:off x="3404795" y="960825"/>
            <a:ext cx="4157831" cy="2246769"/>
          </a:xfrm>
          <a:prstGeom prst="rect">
            <a:avLst/>
          </a:prstGeom>
          <a:solidFill>
            <a:schemeClr val="accent6">
              <a:lumMod val="20000"/>
              <a:lumOff val="80000"/>
            </a:schemeClr>
          </a:solidFill>
        </p:spPr>
        <p:txBody>
          <a:bodyPr wrap="square">
            <a:spAutoFit/>
          </a:bodyPr>
          <a:lstStyle/>
          <a:p>
            <a:pPr>
              <a:buNone/>
            </a:pPr>
            <a:r>
              <a:rPr lang="en-US" sz="2800" b="1" dirty="0"/>
              <a:t>Business Strategy:</a:t>
            </a:r>
          </a:p>
          <a:p>
            <a:pPr marL="182563" indent="-182563">
              <a:buFont typeface="Arial" panose="020B0604020202020204" pitchFamily="34" charset="0"/>
              <a:buChar char="•"/>
            </a:pPr>
            <a:r>
              <a:rPr lang="en-US" sz="2800" dirty="0"/>
              <a:t>Everyday Low Price (EDLP)</a:t>
            </a:r>
          </a:p>
          <a:p>
            <a:pPr marL="182563" indent="-182563">
              <a:buFont typeface="Arial" panose="020B0604020202020204" pitchFamily="34" charset="0"/>
              <a:buChar char="•"/>
            </a:pPr>
            <a:r>
              <a:rPr lang="en-US" sz="2800" dirty="0"/>
              <a:t>Limited assortment</a:t>
            </a:r>
          </a:p>
          <a:p>
            <a:pPr marL="182563" indent="-182563">
              <a:buFont typeface="Arial" panose="020B0604020202020204" pitchFamily="34" charset="0"/>
              <a:buChar char="•"/>
            </a:pPr>
            <a:r>
              <a:rPr lang="en-US" sz="2800" dirty="0"/>
              <a:t>Focus on middle-class consumers</a:t>
            </a:r>
          </a:p>
        </p:txBody>
      </p:sp>
    </p:spTree>
    <p:extLst>
      <p:ext uri="{BB962C8B-B14F-4D97-AF65-F5344CB8AC3E}">
        <p14:creationId xmlns:p14="http://schemas.microsoft.com/office/powerpoint/2010/main" val="4142055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8BF94-6D2E-BE4F-81EC-ED3296A4892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0B91185-5292-5291-4EC5-2ECDBCA4A148}"/>
              </a:ext>
            </a:extLst>
          </p:cNvPr>
          <p:cNvSpPr/>
          <p:nvPr/>
        </p:nvSpPr>
        <p:spPr>
          <a:xfrm>
            <a:off x="0" y="5080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accent4">
                    <a:lumMod val="20000"/>
                    <a:lumOff val="80000"/>
                  </a:schemeClr>
                </a:solidFill>
              </a:rPr>
              <a:t>STRATEGIC ALLIGNMENT</a:t>
            </a:r>
            <a:endParaRPr lang="en-IN" sz="4000" b="1" dirty="0">
              <a:solidFill>
                <a:schemeClr val="accent4">
                  <a:lumMod val="20000"/>
                  <a:lumOff val="80000"/>
                </a:schemeClr>
              </a:solidFill>
            </a:endParaRPr>
          </a:p>
        </p:txBody>
      </p:sp>
      <p:sp>
        <p:nvSpPr>
          <p:cNvPr id="4" name="TextBox 3">
            <a:extLst>
              <a:ext uri="{FF2B5EF4-FFF2-40B4-BE49-F238E27FC236}">
                <a16:creationId xmlns:a16="http://schemas.microsoft.com/office/drawing/2014/main" id="{231B9653-4E31-83E1-CDC1-35CB9E963E91}"/>
              </a:ext>
            </a:extLst>
          </p:cNvPr>
          <p:cNvSpPr txBox="1"/>
          <p:nvPr/>
        </p:nvSpPr>
        <p:spPr>
          <a:xfrm>
            <a:off x="447262" y="996732"/>
            <a:ext cx="11504483" cy="3108543"/>
          </a:xfrm>
          <a:prstGeom prst="rect">
            <a:avLst/>
          </a:prstGeom>
          <a:solidFill>
            <a:schemeClr val="accent4">
              <a:lumMod val="20000"/>
              <a:lumOff val="80000"/>
            </a:schemeClr>
          </a:solidFill>
        </p:spPr>
        <p:txBody>
          <a:bodyPr wrap="square">
            <a:spAutoFit/>
          </a:bodyPr>
          <a:lstStyle/>
          <a:p>
            <a:pPr marL="457200" indent="-457200" algn="just">
              <a:buFont typeface="Wingdings" panose="05000000000000000000" pitchFamily="2" charset="2"/>
              <a:buChar char="v"/>
            </a:pPr>
            <a:r>
              <a:rPr lang="en-US" sz="2800" b="1" dirty="0"/>
              <a:t>Alignment</a:t>
            </a:r>
            <a:r>
              <a:rPr lang="en-US" sz="2800" dirty="0"/>
              <a:t> </a:t>
            </a:r>
            <a:r>
              <a:rPr lang="en-US" sz="2400" dirty="0"/>
              <a:t>means the </a:t>
            </a:r>
            <a:r>
              <a:rPr lang="en-US" sz="2400" b="1" dirty="0"/>
              <a:t>supply chain design that supports the business strategy of the firm.</a:t>
            </a:r>
            <a:r>
              <a:rPr lang="en-US" sz="2400" dirty="0"/>
              <a:t> </a:t>
            </a:r>
          </a:p>
          <a:p>
            <a:pPr marL="457200" indent="-457200" algn="just">
              <a:buFont typeface="Wingdings" panose="05000000000000000000" pitchFamily="2" charset="2"/>
              <a:buChar char="v"/>
            </a:pPr>
            <a:r>
              <a:rPr lang="en-US" sz="2400" dirty="0"/>
              <a:t>The challenge for modern businesses is to align their supply chain strategy with their overall business objectives, leveraging it as a competitive advantage rather than just a functional necessity. </a:t>
            </a:r>
          </a:p>
          <a:p>
            <a:pPr marL="457200" indent="-457200" algn="just">
              <a:buFont typeface="Wingdings" panose="05000000000000000000" pitchFamily="2" charset="2"/>
              <a:buChar char="v"/>
            </a:pPr>
            <a:r>
              <a:rPr lang="en-US" sz="2400" dirty="0"/>
              <a:t>A firm’s supply chain framework must be strictly aligned with its broader business goals, whether the objective is to compete on cost, time, innovation, quality, or service.</a:t>
            </a:r>
          </a:p>
          <a:p>
            <a:pPr algn="just"/>
            <a:endParaRPr lang="en-IN" sz="2400" dirty="0"/>
          </a:p>
        </p:txBody>
      </p:sp>
      <p:sp>
        <p:nvSpPr>
          <p:cNvPr id="5" name="TextBox 4">
            <a:extLst>
              <a:ext uri="{FF2B5EF4-FFF2-40B4-BE49-F238E27FC236}">
                <a16:creationId xmlns:a16="http://schemas.microsoft.com/office/drawing/2014/main" id="{731C23D4-27CD-C05E-7E3F-96E06D45233E}"/>
              </a:ext>
            </a:extLst>
          </p:cNvPr>
          <p:cNvSpPr txBox="1"/>
          <p:nvPr/>
        </p:nvSpPr>
        <p:spPr>
          <a:xfrm>
            <a:off x="447261" y="3698756"/>
            <a:ext cx="11504483" cy="3108543"/>
          </a:xfrm>
          <a:prstGeom prst="rect">
            <a:avLst/>
          </a:prstGeom>
          <a:solidFill>
            <a:schemeClr val="accent6">
              <a:lumMod val="20000"/>
              <a:lumOff val="80000"/>
            </a:schemeClr>
          </a:solidFill>
        </p:spPr>
        <p:txBody>
          <a:bodyPr wrap="square">
            <a:spAutoFit/>
          </a:bodyPr>
          <a:lstStyle/>
          <a:p>
            <a:r>
              <a:rPr lang="en-IN" sz="2800" b="1" u="sng" dirty="0"/>
              <a:t>Case of an </a:t>
            </a:r>
            <a:r>
              <a:rPr lang="en-US" sz="2800" b="1" u="sng" dirty="0"/>
              <a:t>electronics company</a:t>
            </a:r>
          </a:p>
          <a:p>
            <a:r>
              <a:rPr lang="en-US" sz="2400" b="1" dirty="0"/>
              <a:t>Business strategy </a:t>
            </a:r>
            <a:r>
              <a:rPr lang="en-US" sz="2400" dirty="0"/>
              <a:t>-  to compete on delivery excellence, such as order-fulfillment time. </a:t>
            </a:r>
          </a:p>
          <a:p>
            <a:r>
              <a:rPr lang="en-US" sz="2400" b="1" dirty="0"/>
              <a:t>Supply chain strategy </a:t>
            </a:r>
            <a:r>
              <a:rPr lang="en-US" sz="2400" dirty="0"/>
              <a:t>- speed of delivery although perhaps at a higher cost.</a:t>
            </a:r>
          </a:p>
          <a:p>
            <a:r>
              <a:rPr lang="en-US" sz="2400" b="1" dirty="0"/>
              <a:t>Change its business strategy – </a:t>
            </a:r>
            <a:r>
              <a:rPr lang="en-US" sz="2400" dirty="0"/>
              <a:t>to compete on cost rather than delivery.</a:t>
            </a:r>
          </a:p>
          <a:p>
            <a:r>
              <a:rPr lang="en-US" sz="2400" b="1" dirty="0"/>
              <a:t>If this change in business strategy is not communicated to SCM</a:t>
            </a:r>
            <a:r>
              <a:rPr lang="en-US" sz="2400" dirty="0"/>
              <a:t>, </a:t>
            </a:r>
          </a:p>
          <a:p>
            <a:pPr marL="715963" indent="-358775">
              <a:buFont typeface="Wingdings" panose="05000000000000000000" pitchFamily="2" charset="2"/>
              <a:buChar char="v"/>
            </a:pPr>
            <a:r>
              <a:rPr lang="en-US" sz="2400" dirty="0"/>
              <a:t> the supply chain will continue to focus on delivery rather than cost</a:t>
            </a:r>
          </a:p>
          <a:p>
            <a:pPr marL="715963" indent="-358775">
              <a:buFont typeface="Wingdings" panose="05000000000000000000" pitchFamily="2" charset="2"/>
              <a:buChar char="v"/>
            </a:pPr>
            <a:r>
              <a:rPr lang="en-US" sz="2400" dirty="0"/>
              <a:t> not meeting the business goals set for the company,  the company will continue to excel at delivery, while incurring a higher cost.</a:t>
            </a:r>
            <a:endParaRPr lang="en-IN" sz="2400" dirty="0"/>
          </a:p>
        </p:txBody>
      </p:sp>
    </p:spTree>
    <p:extLst>
      <p:ext uri="{BB962C8B-B14F-4D97-AF65-F5344CB8AC3E}">
        <p14:creationId xmlns:p14="http://schemas.microsoft.com/office/powerpoint/2010/main" val="2305553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C63FF-54E7-DBCE-DC94-D69BFEA3E08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12F195F-407F-B5E0-BF1D-97BC25AE1073}"/>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000" b="1" dirty="0"/>
              <a:t>ACHIEVING A COMPETITIVE ADVANTAGE</a:t>
            </a:r>
            <a:endParaRPr lang="en-IN" sz="4000" b="1" dirty="0">
              <a:solidFill>
                <a:schemeClr val="accent4">
                  <a:lumMod val="20000"/>
                  <a:lumOff val="80000"/>
                </a:schemeClr>
              </a:solidFill>
            </a:endParaRPr>
          </a:p>
        </p:txBody>
      </p:sp>
      <p:sp>
        <p:nvSpPr>
          <p:cNvPr id="4" name="TextBox 3">
            <a:extLst>
              <a:ext uri="{FF2B5EF4-FFF2-40B4-BE49-F238E27FC236}">
                <a16:creationId xmlns:a16="http://schemas.microsoft.com/office/drawing/2014/main" id="{59A71675-E3EA-A4CD-42E7-0D0C0F603F2E}"/>
              </a:ext>
            </a:extLst>
          </p:cNvPr>
          <p:cNvSpPr txBox="1"/>
          <p:nvPr/>
        </p:nvSpPr>
        <p:spPr>
          <a:xfrm>
            <a:off x="490294" y="965811"/>
            <a:ext cx="11482967" cy="5755422"/>
          </a:xfrm>
          <a:prstGeom prst="rect">
            <a:avLst/>
          </a:prstGeom>
          <a:solidFill>
            <a:schemeClr val="accent4">
              <a:lumMod val="20000"/>
              <a:lumOff val="80000"/>
            </a:schemeClr>
          </a:solidFill>
        </p:spPr>
        <p:txBody>
          <a:bodyPr wrap="square">
            <a:spAutoFit/>
          </a:bodyPr>
          <a:lstStyle/>
          <a:p>
            <a:pPr marL="457200" indent="-457200" algn="just">
              <a:buFont typeface="Wingdings" panose="05000000000000000000" pitchFamily="2" charset="2"/>
              <a:buChar char="v"/>
            </a:pPr>
            <a:r>
              <a:rPr lang="en-US" sz="2400" b="1" dirty="0"/>
              <a:t>Competitive advantage</a:t>
            </a:r>
            <a:r>
              <a:rPr lang="en-US" sz="2400" dirty="0"/>
              <a:t> </a:t>
            </a:r>
            <a:r>
              <a:rPr lang="en-US" sz="2300" dirty="0"/>
              <a:t>is the strategic positioning that allows a firm to differentiate itself from its competitors and achieve superior marketplace success. </a:t>
            </a:r>
          </a:p>
          <a:p>
            <a:pPr marL="457200" indent="-457200" algn="just">
              <a:buFont typeface="Wingdings" panose="05000000000000000000" pitchFamily="2" charset="2"/>
              <a:buChar char="v"/>
            </a:pPr>
            <a:r>
              <a:rPr lang="en-US" sz="2300" dirty="0"/>
              <a:t>This can be achieved through </a:t>
            </a:r>
            <a:r>
              <a:rPr lang="en-US" sz="2300" b="1" dirty="0"/>
              <a:t>(a)</a:t>
            </a:r>
            <a:r>
              <a:rPr lang="en-US" sz="2300" dirty="0"/>
              <a:t> </a:t>
            </a:r>
            <a:r>
              <a:rPr lang="en-US" sz="2300" b="1" dirty="0"/>
              <a:t>Cost or productivity advantage  and (b) Value advantage</a:t>
            </a:r>
            <a:r>
              <a:rPr lang="en-US" sz="2300" dirty="0"/>
              <a:t> </a:t>
            </a:r>
          </a:p>
          <a:p>
            <a:pPr marL="989013" indent="-536575" algn="just">
              <a:buAutoNum type="alphaLcParenBoth"/>
              <a:tabLst>
                <a:tab pos="989013" algn="l"/>
              </a:tabLst>
            </a:pPr>
            <a:r>
              <a:rPr lang="en-US" sz="2300" b="1" dirty="0">
                <a:solidFill>
                  <a:srgbClr val="0000CC"/>
                </a:solidFill>
              </a:rPr>
              <a:t>Cost or productivity advantage</a:t>
            </a:r>
          </a:p>
          <a:p>
            <a:pPr marL="990600" indent="-635000" algn="just">
              <a:buFont typeface="+mj-lt"/>
              <a:buAutoNum type="arabicParenR"/>
              <a:tabLst>
                <a:tab pos="989013" algn="l"/>
              </a:tabLst>
            </a:pPr>
            <a:r>
              <a:rPr lang="en-US" sz="2300" b="1" dirty="0">
                <a:solidFill>
                  <a:srgbClr val="0000CC"/>
                </a:solidFill>
              </a:rPr>
              <a:t>Advantage derived from offering the lowest cost product or service</a:t>
            </a:r>
            <a:r>
              <a:rPr lang="en-US" sz="2300" dirty="0">
                <a:solidFill>
                  <a:srgbClr val="0000CC"/>
                </a:solidFill>
              </a:rPr>
              <a:t>. </a:t>
            </a:r>
          </a:p>
          <a:p>
            <a:pPr marL="909638" indent="-457200" algn="just">
              <a:buFont typeface="Wingdings" panose="05000000000000000000" pitchFamily="2" charset="2"/>
              <a:buChar char="v"/>
              <a:tabLst>
                <a:tab pos="989013" algn="l"/>
              </a:tabLst>
            </a:pPr>
            <a:r>
              <a:rPr lang="en-US" sz="2300" dirty="0">
                <a:solidFill>
                  <a:srgbClr val="0000CC"/>
                </a:solidFill>
              </a:rPr>
              <a:t>A </a:t>
            </a:r>
            <a:r>
              <a:rPr lang="en-US" sz="2300" b="1" dirty="0">
                <a:solidFill>
                  <a:srgbClr val="0000CC"/>
                </a:solidFill>
              </a:rPr>
              <a:t>large sales volume </a:t>
            </a:r>
            <a:r>
              <a:rPr lang="en-US" sz="2300" dirty="0">
                <a:solidFill>
                  <a:srgbClr val="0000CC"/>
                </a:solidFill>
              </a:rPr>
              <a:t>can contribute greatly to a cost advantage.</a:t>
            </a:r>
          </a:p>
          <a:p>
            <a:pPr marL="1366838" lvl="1" indent="-457200" algn="just">
              <a:buFont typeface="Wingdings" panose="05000000000000000000" pitchFamily="2" charset="2"/>
              <a:buChar char="v"/>
              <a:tabLst>
                <a:tab pos="989013" algn="l"/>
              </a:tabLst>
            </a:pPr>
            <a:r>
              <a:rPr lang="en-US" sz="2300" b="1" dirty="0">
                <a:solidFill>
                  <a:srgbClr val="0000CC"/>
                </a:solidFill>
              </a:rPr>
              <a:t>Two factors </a:t>
            </a:r>
            <a:r>
              <a:rPr lang="en-US" sz="2300" dirty="0">
                <a:solidFill>
                  <a:srgbClr val="0000CC"/>
                </a:solidFill>
              </a:rPr>
              <a:t>explain reaping cost advantage from large sales volume</a:t>
            </a:r>
          </a:p>
          <a:p>
            <a:pPr marL="1612900" lvl="2" indent="-444500" algn="just">
              <a:buFont typeface="Wingdings" panose="05000000000000000000" pitchFamily="2" charset="2"/>
              <a:buChar char="v"/>
              <a:tabLst>
                <a:tab pos="989013" algn="l"/>
              </a:tabLst>
            </a:pPr>
            <a:r>
              <a:rPr lang="en-US" sz="2300" b="1" dirty="0">
                <a:solidFill>
                  <a:srgbClr val="0000CC"/>
                </a:solidFill>
              </a:rPr>
              <a:t>E</a:t>
            </a:r>
            <a:r>
              <a:rPr lang="en-IN" sz="2300" b="1" dirty="0" err="1">
                <a:solidFill>
                  <a:srgbClr val="0000CC"/>
                </a:solidFill>
              </a:rPr>
              <a:t>conomies</a:t>
            </a:r>
            <a:r>
              <a:rPr lang="en-IN" sz="2300" b="1" dirty="0">
                <a:solidFill>
                  <a:srgbClr val="0000CC"/>
                </a:solidFill>
              </a:rPr>
              <a:t> of </a:t>
            </a:r>
            <a:r>
              <a:rPr lang="en-US" sz="2300" b="1" dirty="0">
                <a:solidFill>
                  <a:srgbClr val="0000CC"/>
                </a:solidFill>
              </a:rPr>
              <a:t>scale </a:t>
            </a:r>
            <a:r>
              <a:rPr lang="en-US" sz="2300" dirty="0">
                <a:solidFill>
                  <a:srgbClr val="0000CC"/>
                </a:solidFill>
              </a:rPr>
              <a:t>that enable the company to spread its fixed costs over a greater volume</a:t>
            </a:r>
          </a:p>
          <a:p>
            <a:pPr marL="1612900" lvl="2" indent="-444500" algn="just">
              <a:buFont typeface="Wingdings" panose="05000000000000000000" pitchFamily="2" charset="2"/>
              <a:buChar char="v"/>
              <a:tabLst>
                <a:tab pos="989013" algn="l"/>
              </a:tabLst>
            </a:pPr>
            <a:r>
              <a:rPr lang="en-US" sz="2300" dirty="0">
                <a:solidFill>
                  <a:srgbClr val="0000CC"/>
                </a:solidFill>
              </a:rPr>
              <a:t>The impact of the </a:t>
            </a:r>
            <a:r>
              <a:rPr lang="en-US" sz="2300" b="1" dirty="0">
                <a:solidFill>
                  <a:srgbClr val="0000CC"/>
                </a:solidFill>
              </a:rPr>
              <a:t>experience curve / Learning curve.</a:t>
            </a:r>
          </a:p>
          <a:p>
            <a:pPr marL="1968500" lvl="3" indent="-444500" algn="just">
              <a:buFont typeface="Wingdings" panose="05000000000000000000" pitchFamily="2" charset="2"/>
              <a:buChar char="v"/>
              <a:tabLst>
                <a:tab pos="989013" algn="l"/>
              </a:tabLst>
            </a:pPr>
            <a:r>
              <a:rPr lang="en-US" sz="2300" b="1" dirty="0">
                <a:solidFill>
                  <a:srgbClr val="0000CC"/>
                </a:solidFill>
              </a:rPr>
              <a:t>Learning curve - </a:t>
            </a:r>
            <a:r>
              <a:rPr lang="en-US" sz="2300" dirty="0">
                <a:solidFill>
                  <a:srgbClr val="0000CC"/>
                </a:solidFill>
              </a:rPr>
              <a:t>As workers gain experience with specific tasks and processes, they become more skilled and perform more efficiently.</a:t>
            </a:r>
          </a:p>
          <a:p>
            <a:pPr marL="1968500" lvl="3" indent="-444500" algn="just">
              <a:buFont typeface="Wingdings" panose="05000000000000000000" pitchFamily="2" charset="2"/>
              <a:buChar char="v"/>
              <a:tabLst>
                <a:tab pos="989013" algn="l"/>
              </a:tabLst>
            </a:pPr>
            <a:r>
              <a:rPr lang="en-US" sz="2300" dirty="0">
                <a:solidFill>
                  <a:srgbClr val="0000CC"/>
                </a:solidFill>
              </a:rPr>
              <a:t>As a company processes higher volumes, it discovers more efficient ways to manage its operations, leading to reduced organizational costs</a:t>
            </a:r>
          </a:p>
          <a:p>
            <a:pPr marL="989013" indent="-633413">
              <a:buFont typeface="+mj-lt"/>
              <a:buAutoNum type="arabicParenR" startAt="2"/>
            </a:pPr>
            <a:r>
              <a:rPr lang="en-IN" sz="2300" b="1" dirty="0">
                <a:solidFill>
                  <a:srgbClr val="0000CC"/>
                </a:solidFill>
              </a:rPr>
              <a:t>An efficient supply </a:t>
            </a:r>
            <a:r>
              <a:rPr lang="en-US" sz="2300" b="1" dirty="0">
                <a:solidFill>
                  <a:srgbClr val="0000CC"/>
                </a:solidFill>
              </a:rPr>
              <a:t>chain network </a:t>
            </a:r>
            <a:r>
              <a:rPr lang="en-US" sz="2300" dirty="0">
                <a:solidFill>
                  <a:srgbClr val="0000CC"/>
                </a:solidFill>
              </a:rPr>
              <a:t>can increase efficiency and improve productivity, thereby reducing </a:t>
            </a:r>
            <a:r>
              <a:rPr lang="en-IN" sz="2300" dirty="0">
                <a:solidFill>
                  <a:srgbClr val="0000CC"/>
                </a:solidFill>
              </a:rPr>
              <a:t>overall cost per unit.</a:t>
            </a:r>
            <a:endParaRPr lang="en-US" sz="2300" dirty="0">
              <a:solidFill>
                <a:srgbClr val="0000CC"/>
              </a:solidFill>
            </a:endParaRPr>
          </a:p>
        </p:txBody>
      </p:sp>
    </p:spTree>
    <p:extLst>
      <p:ext uri="{BB962C8B-B14F-4D97-AF65-F5344CB8AC3E}">
        <p14:creationId xmlns:p14="http://schemas.microsoft.com/office/powerpoint/2010/main" val="3542861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89A86-01CE-82BC-D418-61E0CC56C0C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52811E7-22AE-6ADF-996A-D23DFEB3C124}"/>
              </a:ext>
            </a:extLst>
          </p:cNvPr>
          <p:cNvSpPr/>
          <p:nvPr/>
        </p:nvSpPr>
        <p:spPr>
          <a:xfrm>
            <a:off x="456714" y="0"/>
            <a:ext cx="11735286"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000" b="1" dirty="0"/>
              <a:t>ACHIEVING A COMPETITIVE ADVANTAGE</a:t>
            </a:r>
            <a:endParaRPr lang="en-IN" sz="4000" b="1" dirty="0">
              <a:solidFill>
                <a:schemeClr val="accent4">
                  <a:lumMod val="20000"/>
                  <a:lumOff val="80000"/>
                </a:schemeClr>
              </a:solidFill>
            </a:endParaRPr>
          </a:p>
        </p:txBody>
      </p:sp>
      <p:sp>
        <p:nvSpPr>
          <p:cNvPr id="4" name="TextBox 3">
            <a:extLst>
              <a:ext uri="{FF2B5EF4-FFF2-40B4-BE49-F238E27FC236}">
                <a16:creationId xmlns:a16="http://schemas.microsoft.com/office/drawing/2014/main" id="{0034CF4F-AF47-D17C-D71A-3C71B53D4DBF}"/>
              </a:ext>
            </a:extLst>
          </p:cNvPr>
          <p:cNvSpPr txBox="1"/>
          <p:nvPr/>
        </p:nvSpPr>
        <p:spPr>
          <a:xfrm>
            <a:off x="456714" y="945932"/>
            <a:ext cx="11538062" cy="5632311"/>
          </a:xfrm>
          <a:prstGeom prst="rect">
            <a:avLst/>
          </a:prstGeom>
          <a:solidFill>
            <a:schemeClr val="accent4">
              <a:lumMod val="20000"/>
              <a:lumOff val="80000"/>
            </a:schemeClr>
          </a:solidFill>
        </p:spPr>
        <p:txBody>
          <a:bodyPr wrap="square">
            <a:spAutoFit/>
          </a:bodyPr>
          <a:lstStyle/>
          <a:p>
            <a:pPr marL="622300" indent="-533400" algn="just">
              <a:buFont typeface="+mj-lt"/>
              <a:buAutoNum type="alphaLcParenR" startAt="2"/>
              <a:tabLst>
                <a:tab pos="533400" algn="l"/>
                <a:tab pos="1079500" algn="l"/>
              </a:tabLst>
            </a:pPr>
            <a:r>
              <a:rPr lang="en-US" sz="2400" b="1" dirty="0"/>
              <a:t>Value Advantage</a:t>
            </a:r>
            <a:r>
              <a:rPr lang="en-US" sz="2400" dirty="0"/>
              <a:t>–  </a:t>
            </a:r>
            <a:r>
              <a:rPr lang="en-IN" sz="2400" dirty="0"/>
              <a:t>The advantage comes from </a:t>
            </a:r>
            <a:r>
              <a:rPr lang="en-US" sz="2400" dirty="0"/>
              <a:t>providing a product with the greatest perceived differential value compared with </a:t>
            </a:r>
            <a:r>
              <a:rPr lang="en-IN" sz="2400" dirty="0"/>
              <a:t>its competitors.</a:t>
            </a:r>
          </a:p>
          <a:p>
            <a:pPr marL="990600" indent="-546100">
              <a:buFont typeface="Wingdings" panose="05000000000000000000" pitchFamily="2" charset="2"/>
              <a:buChar char="v"/>
            </a:pPr>
            <a:r>
              <a:rPr lang="en-US" sz="2400" dirty="0"/>
              <a:t>When a product is viewed as a commodity, it is typically bought on the spot market for the lowest price. </a:t>
            </a:r>
          </a:p>
          <a:p>
            <a:pPr marL="990600" indent="-546100">
              <a:buFont typeface="Wingdings" panose="05000000000000000000" pitchFamily="2" charset="2"/>
              <a:buChar char="v"/>
            </a:pPr>
            <a:r>
              <a:rPr lang="en-US" sz="2400" dirty="0"/>
              <a:t>But the companies add value to the products and services which differentiate their products or services from competitors.</a:t>
            </a:r>
          </a:p>
          <a:p>
            <a:pPr marL="990600" indent="-546100">
              <a:buFont typeface="Wingdings" panose="05000000000000000000" pitchFamily="2" charset="2"/>
              <a:buChar char="v"/>
            </a:pPr>
            <a:r>
              <a:rPr lang="en-US" sz="2400" b="1" dirty="0"/>
              <a:t>Ways to gain a value advantage </a:t>
            </a:r>
            <a:r>
              <a:rPr lang="en-US" sz="2400" dirty="0"/>
              <a:t>– </a:t>
            </a:r>
          </a:p>
          <a:p>
            <a:pPr marL="1435100" lvl="1" indent="-622300" algn="just">
              <a:buFont typeface="Wingdings" panose="05000000000000000000" pitchFamily="2" charset="2"/>
              <a:buChar char="v"/>
            </a:pPr>
            <a:r>
              <a:rPr lang="en-US" sz="2400" b="1" dirty="0"/>
              <a:t>Segmenting the market </a:t>
            </a:r>
            <a:r>
              <a:rPr lang="en-US" sz="2400" dirty="0"/>
              <a:t>and identifying ‘‘</a:t>
            </a:r>
            <a:r>
              <a:rPr lang="en-US" sz="2400" b="1" dirty="0"/>
              <a:t>value-segments</a:t>
            </a:r>
            <a:r>
              <a:rPr lang="en-US" sz="2400" dirty="0"/>
              <a:t>’’ in the </a:t>
            </a:r>
            <a:r>
              <a:rPr lang="en-IN" sz="2400" dirty="0"/>
              <a:t>marketplace and then create a </a:t>
            </a:r>
            <a:r>
              <a:rPr lang="en-IN" sz="2400" b="1" dirty="0"/>
              <a:t>differential </a:t>
            </a:r>
            <a:r>
              <a:rPr lang="en-US" sz="2400" b="1" dirty="0"/>
              <a:t>appeal </a:t>
            </a:r>
            <a:r>
              <a:rPr lang="en-US" sz="2400" dirty="0"/>
              <a:t>tailored to different segments</a:t>
            </a:r>
            <a:r>
              <a:rPr lang="en-IN" sz="2400" dirty="0"/>
              <a:t>. </a:t>
            </a:r>
          </a:p>
          <a:p>
            <a:pPr marL="1790700" lvl="2" indent="-533400" algn="just">
              <a:buFont typeface="Wingdings" panose="05000000000000000000" pitchFamily="2" charset="2"/>
              <a:buChar char="v"/>
            </a:pPr>
            <a:r>
              <a:rPr lang="en-IN" sz="2400" dirty="0"/>
              <a:t>Auto manufacturers create </a:t>
            </a:r>
            <a:r>
              <a:rPr lang="en-US" sz="2400" dirty="0"/>
              <a:t>different versions of the same vehicle to compete in different market segments, such as a basic two-door model versus the four-door, high-performance model</a:t>
            </a:r>
          </a:p>
          <a:p>
            <a:pPr marL="1435100" lvl="1" indent="-533400" algn="just">
              <a:buFont typeface="Wingdings" panose="05000000000000000000" pitchFamily="2" charset="2"/>
              <a:buChar char="v"/>
            </a:pPr>
            <a:r>
              <a:rPr lang="en-US" sz="2400" dirty="0"/>
              <a:t>Focusing on </a:t>
            </a:r>
            <a:r>
              <a:rPr lang="en-US" sz="2400" b="1" dirty="0"/>
              <a:t>service excellence </a:t>
            </a:r>
            <a:r>
              <a:rPr lang="en-US" sz="2400" dirty="0"/>
              <a:t>including </a:t>
            </a:r>
            <a:r>
              <a:rPr lang="en-US" sz="2400" b="1" dirty="0"/>
              <a:t>shorter lead times, just-in-time deliveries, and specialized after-sales support, </a:t>
            </a:r>
            <a:r>
              <a:rPr lang="en-US" sz="2400" dirty="0"/>
              <a:t>which is harder for competitors to replicate than technology or production practices alone</a:t>
            </a:r>
          </a:p>
        </p:txBody>
      </p:sp>
      <p:sp>
        <p:nvSpPr>
          <p:cNvPr id="7" name="Rectangle 4">
            <a:extLst>
              <a:ext uri="{FF2B5EF4-FFF2-40B4-BE49-F238E27FC236}">
                <a16:creationId xmlns:a16="http://schemas.microsoft.com/office/drawing/2014/main" id="{70B8DF9F-E107-E146-FA5E-D3D2D09BDDA3}"/>
              </a:ext>
            </a:extLst>
          </p:cNvPr>
          <p:cNvSpPr>
            <a:spLocks noChangeArrowheads="1"/>
          </p:cNvSpPr>
          <p:nvPr/>
        </p:nvSpPr>
        <p:spPr bwMode="auto">
          <a:xfrm>
            <a:off x="0" y="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03030"/>
                </a:solidFill>
                <a:effectLst/>
                <a:latin typeface="Google Sans Text"/>
              </a:rPr>
              <a:t>focusing on </a:t>
            </a:r>
            <a:r>
              <a:rPr kumimoji="0" lang="en-US" altLang="en-US" sz="1000" b="1" i="0" u="none" strike="noStrike" cap="none" normalizeH="0" baseline="0">
                <a:ln>
                  <a:noFill/>
                </a:ln>
                <a:solidFill>
                  <a:srgbClr val="303030"/>
                </a:solidFill>
                <a:effectLst/>
                <a:latin typeface="Google Sans Text"/>
              </a:rPr>
              <a:t>service excellence</a:t>
            </a:r>
            <a:r>
              <a:rPr kumimoji="0" lang="en-US" altLang="en-US" sz="1000" b="0" i="0" u="none" strike="noStrike" cap="none" normalizeH="0" baseline="0">
                <a:ln>
                  <a:noFill/>
                </a:ln>
                <a:solidFill>
                  <a:srgbClr val="303030"/>
                </a:solidFill>
                <a:effectLst/>
                <a:latin typeface="Google Sans Text"/>
              </a:rPr>
              <a:t>, which is harder for competitors to replicate than technology or production practices alone. This includes shorter lead times, just-in-time deliveries, and specialized after-sales</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0420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696C7-9E1E-478A-306B-E60197693A6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B921F73-F203-FD3F-127E-CDE920EC86B2}"/>
              </a:ext>
            </a:extLst>
          </p:cNvPr>
          <p:cNvSpPr/>
          <p:nvPr/>
        </p:nvSpPr>
        <p:spPr>
          <a:xfrm>
            <a:off x="456714" y="0"/>
            <a:ext cx="11735286"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000" b="1" dirty="0"/>
              <a:t>ACHIEVING A COMPETITIVE ADVANTAGE</a:t>
            </a:r>
            <a:endParaRPr lang="en-IN" sz="4000" b="1" dirty="0">
              <a:solidFill>
                <a:schemeClr val="accent4">
                  <a:lumMod val="20000"/>
                  <a:lumOff val="80000"/>
                </a:schemeClr>
              </a:solidFill>
            </a:endParaRPr>
          </a:p>
        </p:txBody>
      </p:sp>
      <p:pic>
        <p:nvPicPr>
          <p:cNvPr id="11" name="Picture 10">
            <a:extLst>
              <a:ext uri="{FF2B5EF4-FFF2-40B4-BE49-F238E27FC236}">
                <a16:creationId xmlns:a16="http://schemas.microsoft.com/office/drawing/2014/main" id="{DF103B84-0CD5-6EDB-7BFA-67BD4A2DAB89}"/>
              </a:ext>
            </a:extLst>
          </p:cNvPr>
          <p:cNvPicPr>
            <a:picLocks noChangeAspect="1"/>
          </p:cNvPicPr>
          <p:nvPr/>
        </p:nvPicPr>
        <p:blipFill>
          <a:blip r:embed="rId3"/>
          <a:stretch>
            <a:fillRect/>
          </a:stretch>
        </p:blipFill>
        <p:spPr>
          <a:xfrm>
            <a:off x="5600700" y="962370"/>
            <a:ext cx="6613403" cy="5693866"/>
          </a:xfrm>
          <a:prstGeom prst="rect">
            <a:avLst/>
          </a:prstGeom>
        </p:spPr>
      </p:pic>
      <p:sp>
        <p:nvSpPr>
          <p:cNvPr id="13" name="TextBox 12">
            <a:extLst>
              <a:ext uri="{FF2B5EF4-FFF2-40B4-BE49-F238E27FC236}">
                <a16:creationId xmlns:a16="http://schemas.microsoft.com/office/drawing/2014/main" id="{F418A027-BFD3-CD61-A5EB-EFE550D858E3}"/>
              </a:ext>
            </a:extLst>
          </p:cNvPr>
          <p:cNvSpPr txBox="1"/>
          <p:nvPr/>
        </p:nvSpPr>
        <p:spPr>
          <a:xfrm>
            <a:off x="456715" y="962370"/>
            <a:ext cx="5143985" cy="5693866"/>
          </a:xfrm>
          <a:prstGeom prst="rect">
            <a:avLst/>
          </a:prstGeom>
          <a:solidFill>
            <a:schemeClr val="accent4">
              <a:lumMod val="20000"/>
              <a:lumOff val="80000"/>
            </a:schemeClr>
          </a:solidFill>
        </p:spPr>
        <p:txBody>
          <a:bodyPr wrap="square">
            <a:spAutoFit/>
          </a:bodyPr>
          <a:lstStyle/>
          <a:p>
            <a:pPr algn="l"/>
            <a:r>
              <a:rPr lang="en-IN" sz="2800" b="1" i="0" u="none" strike="noStrike" baseline="0" dirty="0">
                <a:latin typeface="Times New Roman" panose="02020603050405020304" pitchFamily="18" charset="0"/>
                <a:cs typeface="Times New Roman" panose="02020603050405020304" pitchFamily="18" charset="0"/>
              </a:rPr>
              <a:t>Competitive advantage matrix</a:t>
            </a:r>
            <a:r>
              <a:rPr lang="en-IN" sz="2800" b="1" dirty="0">
                <a:latin typeface="Times New Roman" panose="02020603050405020304" pitchFamily="18" charset="0"/>
                <a:cs typeface="Times New Roman" panose="02020603050405020304" pitchFamily="18" charset="0"/>
              </a:rPr>
              <a:t>:</a:t>
            </a:r>
            <a:endParaRPr lang="en-IN" sz="2800" b="1" i="0" u="none" strike="noStrike" baseline="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A strategic framework used to determine a company's competitive position based on two primary dimensions, i.e., </a:t>
            </a:r>
            <a:r>
              <a:rPr lang="en-US" sz="2800" b="1" dirty="0">
                <a:latin typeface="Times New Roman" panose="02020603050405020304" pitchFamily="18" charset="0"/>
                <a:cs typeface="Times New Roman" panose="02020603050405020304" pitchFamily="18" charset="0"/>
              </a:rPr>
              <a:t>cost-productivity advantage</a:t>
            </a:r>
            <a:r>
              <a:rPr lang="en-US" sz="2800" dirty="0">
                <a:latin typeface="Times New Roman" panose="02020603050405020304" pitchFamily="18" charset="0"/>
                <a:cs typeface="Times New Roman" panose="02020603050405020304" pitchFamily="18" charset="0"/>
              </a:rPr>
              <a:t> and </a:t>
            </a:r>
            <a:r>
              <a:rPr lang="en-US" sz="2800" b="1" dirty="0">
                <a:latin typeface="Times New Roman" panose="02020603050405020304" pitchFamily="18" charset="0"/>
                <a:cs typeface="Times New Roman" panose="02020603050405020304" pitchFamily="18" charset="0"/>
              </a:rPr>
              <a:t>value advantage</a:t>
            </a:r>
          </a:p>
          <a:p>
            <a:pPr marL="457200" indent="-4572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Supply Chain Management (SCM) is a powerful tool for moving a company from the "commodity" quadrant toward leadership positions</a:t>
            </a:r>
          </a:p>
          <a:p>
            <a:pPr marL="457200" indent="-457200" algn="just">
              <a:buFont typeface="Wingdings" panose="05000000000000000000" pitchFamily="2" charset="2"/>
              <a:buChar char="v"/>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4118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EA0D8-D5F9-86A9-FBB6-4C50881525F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1C019AD-42D7-A660-1E92-1A5CC086F453}"/>
              </a:ext>
            </a:extLst>
          </p:cNvPr>
          <p:cNvSpPr/>
          <p:nvPr/>
        </p:nvSpPr>
        <p:spPr>
          <a:xfrm>
            <a:off x="456714" y="0"/>
            <a:ext cx="11735286"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000" b="1" dirty="0"/>
              <a:t>ACHIEVING A COMPETITIVE ADVANTAGE</a:t>
            </a:r>
            <a:endParaRPr lang="en-IN" sz="4000" b="1" dirty="0">
              <a:solidFill>
                <a:schemeClr val="accent4">
                  <a:lumMod val="20000"/>
                  <a:lumOff val="80000"/>
                </a:schemeClr>
              </a:solidFill>
            </a:endParaRPr>
          </a:p>
        </p:txBody>
      </p:sp>
      <p:pic>
        <p:nvPicPr>
          <p:cNvPr id="11" name="Picture 10">
            <a:extLst>
              <a:ext uri="{FF2B5EF4-FFF2-40B4-BE49-F238E27FC236}">
                <a16:creationId xmlns:a16="http://schemas.microsoft.com/office/drawing/2014/main" id="{35B8173D-BC6A-8579-25C8-B5E38A7FDA94}"/>
              </a:ext>
            </a:extLst>
          </p:cNvPr>
          <p:cNvPicPr>
            <a:picLocks noChangeAspect="1"/>
          </p:cNvPicPr>
          <p:nvPr/>
        </p:nvPicPr>
        <p:blipFill>
          <a:blip r:embed="rId3"/>
          <a:stretch>
            <a:fillRect/>
          </a:stretch>
        </p:blipFill>
        <p:spPr>
          <a:xfrm>
            <a:off x="8218842" y="945932"/>
            <a:ext cx="3670142" cy="2377414"/>
          </a:xfrm>
          <a:prstGeom prst="rect">
            <a:avLst/>
          </a:prstGeom>
        </p:spPr>
      </p:pic>
      <p:sp>
        <p:nvSpPr>
          <p:cNvPr id="17" name="TextBox 16">
            <a:extLst>
              <a:ext uri="{FF2B5EF4-FFF2-40B4-BE49-F238E27FC236}">
                <a16:creationId xmlns:a16="http://schemas.microsoft.com/office/drawing/2014/main" id="{8FE08A88-0458-B48F-617C-D2BE73920E9A}"/>
              </a:ext>
            </a:extLst>
          </p:cNvPr>
          <p:cNvSpPr txBox="1"/>
          <p:nvPr/>
        </p:nvSpPr>
        <p:spPr>
          <a:xfrm>
            <a:off x="554020" y="1015022"/>
            <a:ext cx="7664821" cy="2308324"/>
          </a:xfrm>
          <a:prstGeom prst="rect">
            <a:avLst/>
          </a:prstGeom>
          <a:solidFill>
            <a:schemeClr val="accent6">
              <a:lumMod val="20000"/>
              <a:lumOff val="80000"/>
            </a:schemeClr>
          </a:solidFill>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Four distinct competitive positions</a:t>
            </a:r>
          </a:p>
          <a:p>
            <a:pPr marL="355600" indent="-355600" algn="just">
              <a:buFont typeface="+mj-lt"/>
              <a:buAutoNum type="alphaLcParenR"/>
            </a:pPr>
            <a:r>
              <a:rPr lang="en-US" sz="2400" b="1" dirty="0">
                <a:latin typeface="Times New Roman" panose="02020603050405020304" pitchFamily="18" charset="0"/>
                <a:cs typeface="Times New Roman" panose="02020603050405020304" pitchFamily="18" charset="0"/>
              </a:rPr>
              <a:t>The Commodity Position </a:t>
            </a:r>
            <a:r>
              <a:rPr lang="en-US" sz="2400" dirty="0">
                <a:latin typeface="Times New Roman" panose="02020603050405020304" pitchFamily="18" charset="0"/>
                <a:cs typeface="Times New Roman" panose="02020603050405020304" pitchFamily="18" charset="0"/>
              </a:rPr>
              <a:t>(Low Cost, Low Value) : Product is viewed as a commodity, typically bought at the lowest price on the spot market, forcing the company to compete solely on price with no unique benefits to offer. </a:t>
            </a:r>
          </a:p>
          <a:p>
            <a:pPr marL="355600" indent="-355600" algn="just">
              <a:buFont typeface="+mj-lt"/>
              <a:buAutoNum type="alphaLcParenR"/>
            </a:pPr>
            <a:endParaRPr lang="en-US"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FB1311E-BD12-0040-5132-A44F7D73F17C}"/>
              </a:ext>
            </a:extLst>
          </p:cNvPr>
          <p:cNvSpPr txBox="1"/>
          <p:nvPr/>
        </p:nvSpPr>
        <p:spPr>
          <a:xfrm>
            <a:off x="554020" y="3323346"/>
            <a:ext cx="11334964" cy="3416320"/>
          </a:xfrm>
          <a:prstGeom prst="rect">
            <a:avLst/>
          </a:prstGeom>
          <a:solidFill>
            <a:schemeClr val="accent6">
              <a:lumMod val="20000"/>
              <a:lumOff val="80000"/>
            </a:schemeClr>
          </a:solidFill>
        </p:spPr>
        <p:txBody>
          <a:bodyPr wrap="square">
            <a:spAutoFit/>
          </a:bodyPr>
          <a:lstStyle/>
          <a:p>
            <a:pPr marL="457200" indent="-457200" algn="just">
              <a:buFont typeface="+mj-lt"/>
              <a:buAutoNum type="alphaLcParenR" startAt="2"/>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Cost Leadership </a:t>
            </a:r>
            <a:r>
              <a:rPr lang="en-US" sz="2400" dirty="0">
                <a:latin typeface="Times New Roman" panose="02020603050405020304" pitchFamily="18" charset="0"/>
                <a:cs typeface="Times New Roman" panose="02020603050405020304" pitchFamily="18" charset="0"/>
              </a:rPr>
              <a:t>(High Cost Advantage, Low Value Advantage) - The company focuses on being the low-cost producer in its market, often associated with high sales volume </a:t>
            </a:r>
          </a:p>
          <a:p>
            <a:pPr marL="355600" indent="-355600" algn="just">
              <a:buFont typeface="+mj-lt"/>
              <a:buAutoNum type="alphaLcParenR" startAt="2"/>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Value Leadership </a:t>
            </a:r>
            <a:r>
              <a:rPr lang="en-US" sz="2400" dirty="0">
                <a:latin typeface="Times New Roman" panose="02020603050405020304" pitchFamily="18" charset="0"/>
                <a:cs typeface="Times New Roman" panose="02020603050405020304" pitchFamily="18" charset="0"/>
              </a:rPr>
              <a:t>(Low Cost Advantage, High Value Advantage) - Companies differentiate themselves by providing products with the greatest perceived differential value compared to competitors </a:t>
            </a:r>
          </a:p>
          <a:p>
            <a:pPr marL="355600" indent="-355600" algn="just">
              <a:buFont typeface="+mj-lt"/>
              <a:buAutoNum type="alphaLcParenR" startAt="2"/>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Cost and Value Leadership</a:t>
            </a:r>
            <a:r>
              <a:rPr lang="en-US" sz="2400" dirty="0">
                <a:latin typeface="Times New Roman" panose="02020603050405020304" pitchFamily="18" charset="0"/>
                <a:cs typeface="Times New Roman" panose="02020603050405020304" pitchFamily="18" charset="0"/>
              </a:rPr>
              <a:t> (High Cost, High Value)- Ideal position for a company where firms have successfully achieved both a cost-productivity advantage and high perceived value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5194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960EB-EFB5-578E-09D1-F012A0E95A5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B7B676A-873B-14C0-C234-1BFA33407525}"/>
              </a:ext>
            </a:extLst>
          </p:cNvPr>
          <p:cNvSpPr/>
          <p:nvPr/>
        </p:nvSpPr>
        <p:spPr>
          <a:xfrm>
            <a:off x="456714" y="0"/>
            <a:ext cx="11735286"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t>PRODUCTIVITY AS A MEASURE OF COMPETITIVENESS</a:t>
            </a:r>
            <a:endParaRPr lang="en-IN" sz="7200" b="1" dirty="0">
              <a:solidFill>
                <a:schemeClr val="accent4">
                  <a:lumMod val="20000"/>
                  <a:lumOff val="80000"/>
                </a:schemeClr>
              </a:solidFill>
            </a:endParaRPr>
          </a:p>
        </p:txBody>
      </p:sp>
      <p:sp>
        <p:nvSpPr>
          <p:cNvPr id="4" name="TextBox 3">
            <a:extLst>
              <a:ext uri="{FF2B5EF4-FFF2-40B4-BE49-F238E27FC236}">
                <a16:creationId xmlns:a16="http://schemas.microsoft.com/office/drawing/2014/main" id="{1CC3F56B-565E-26E0-A6B5-41F5465AAD67}"/>
              </a:ext>
            </a:extLst>
          </p:cNvPr>
          <p:cNvSpPr txBox="1"/>
          <p:nvPr/>
        </p:nvSpPr>
        <p:spPr>
          <a:xfrm>
            <a:off x="605115" y="1026919"/>
            <a:ext cx="11421933" cy="1200329"/>
          </a:xfrm>
          <a:prstGeom prst="rect">
            <a:avLst/>
          </a:prstGeom>
          <a:solidFill>
            <a:schemeClr val="accent4">
              <a:lumMod val="20000"/>
              <a:lumOff val="80000"/>
            </a:schemeClr>
          </a:solidFill>
        </p:spPr>
        <p:txBody>
          <a:bodyPr wrap="square">
            <a:spAutoFit/>
          </a:bodyPr>
          <a:lstStyle/>
          <a:p>
            <a:pPr marL="285750" indent="-285750" algn="l">
              <a:buFont typeface="Wingdings" panose="05000000000000000000" pitchFamily="2" charset="2"/>
              <a:buChar char="v"/>
            </a:pPr>
            <a:r>
              <a:rPr lang="en-US" sz="2400" b="0" i="0" u="none" strike="noStrike" baseline="0" dirty="0">
                <a:latin typeface="Arial" panose="020B0604020202020204" pitchFamily="34" charset="0"/>
                <a:cs typeface="Arial" panose="020B0604020202020204" pitchFamily="34" charset="0"/>
              </a:rPr>
              <a:t>One of the most common measures of competitiveness </a:t>
            </a:r>
            <a:r>
              <a:rPr lang="en-IN" sz="2400" b="0" i="0" u="none" strike="noStrike" baseline="0" dirty="0">
                <a:latin typeface="Arial" panose="020B0604020202020204" pitchFamily="34" charset="0"/>
                <a:cs typeface="Arial" panose="020B0604020202020204" pitchFamily="34" charset="0"/>
              </a:rPr>
              <a:t>is productivity</a:t>
            </a:r>
          </a:p>
          <a:p>
            <a:pPr marL="285750" indent="-285750">
              <a:buFont typeface="Wingdings" panose="05000000000000000000" pitchFamily="2" charset="2"/>
              <a:buChar char="v"/>
            </a:pPr>
            <a:r>
              <a:rPr lang="en-US" sz="2400" dirty="0">
                <a:latin typeface="Arial" panose="020B0604020202020204" pitchFamily="34" charset="0"/>
                <a:cs typeface="Arial" panose="020B0604020202020204" pitchFamily="34" charset="0"/>
              </a:rPr>
              <a:t>it is calculated as a ratio of </a:t>
            </a:r>
            <a:r>
              <a:rPr lang="en-US" sz="2400" b="1" dirty="0">
                <a:latin typeface="Arial" panose="020B0604020202020204" pitchFamily="34" charset="0"/>
                <a:cs typeface="Arial" panose="020B0604020202020204" pitchFamily="34" charset="0"/>
              </a:rPr>
              <a:t>outputs</a:t>
            </a:r>
            <a:r>
              <a:rPr lang="en-US" sz="2400" dirty="0">
                <a:latin typeface="Arial" panose="020B0604020202020204" pitchFamily="34" charset="0"/>
                <a:cs typeface="Arial" panose="020B0604020202020204" pitchFamily="34" charset="0"/>
              </a:rPr>
              <a:t> (goods and services produced) to </a:t>
            </a:r>
            <a:r>
              <a:rPr lang="en-US" sz="2400" b="1" dirty="0">
                <a:latin typeface="Arial" panose="020B0604020202020204" pitchFamily="34" charset="0"/>
                <a:cs typeface="Arial" panose="020B0604020202020204" pitchFamily="34" charset="0"/>
              </a:rPr>
              <a:t>inputs</a:t>
            </a:r>
            <a:r>
              <a:rPr lang="en-US" sz="2400" dirty="0">
                <a:latin typeface="Arial" panose="020B0604020202020204" pitchFamily="34" charset="0"/>
                <a:cs typeface="Arial" panose="020B0604020202020204" pitchFamily="34" charset="0"/>
              </a:rPr>
              <a:t> (resources such as labor, materials, or capital)</a:t>
            </a:r>
            <a:endParaRPr lang="en-IN" sz="24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A02ABE9F-063F-9523-EF59-96F8B3AB76E3}"/>
              </a:ext>
            </a:extLst>
          </p:cNvPr>
          <p:cNvPicPr>
            <a:picLocks noChangeAspect="1"/>
          </p:cNvPicPr>
          <p:nvPr/>
        </p:nvPicPr>
        <p:blipFill>
          <a:blip r:embed="rId3">
            <a:duotone>
              <a:prstClr val="black"/>
              <a:schemeClr val="accent4">
                <a:lumMod val="20000"/>
                <a:lumOff val="80000"/>
                <a:tint val="45000"/>
                <a:satMod val="400000"/>
              </a:schemeClr>
            </a:duotone>
            <a:extLst>
              <a:ext uri="{BEBA8EAE-BF5A-486C-A8C5-ECC9F3942E4B}">
                <a14:imgProps xmlns:a14="http://schemas.microsoft.com/office/drawing/2010/main">
                  <a14:imgLayer r:embed="rId4">
                    <a14:imgEffect>
                      <a14:brightnessContrast bright="-20000" contrast="40000"/>
                    </a14:imgEffect>
                  </a14:imgLayer>
                </a14:imgProps>
              </a:ext>
            </a:extLst>
          </a:blip>
          <a:stretch>
            <a:fillRect/>
          </a:stretch>
        </p:blipFill>
        <p:spPr>
          <a:xfrm>
            <a:off x="3805995" y="2227248"/>
            <a:ext cx="3562847" cy="1086002"/>
          </a:xfrm>
          <a:prstGeom prst="rect">
            <a:avLst/>
          </a:prstGeom>
        </p:spPr>
      </p:pic>
      <p:sp>
        <p:nvSpPr>
          <p:cNvPr id="10" name="TextBox 9">
            <a:extLst>
              <a:ext uri="{FF2B5EF4-FFF2-40B4-BE49-F238E27FC236}">
                <a16:creationId xmlns:a16="http://schemas.microsoft.com/office/drawing/2014/main" id="{D0BED4E3-425C-39B9-A81B-0AE5AD7A241A}"/>
              </a:ext>
            </a:extLst>
          </p:cNvPr>
          <p:cNvSpPr txBox="1"/>
          <p:nvPr/>
        </p:nvSpPr>
        <p:spPr>
          <a:xfrm>
            <a:off x="630218" y="3171215"/>
            <a:ext cx="10931563" cy="3477875"/>
          </a:xfrm>
          <a:prstGeom prst="rect">
            <a:avLst/>
          </a:prstGeom>
          <a:solidFill>
            <a:schemeClr val="accent4">
              <a:lumMod val="20000"/>
              <a:lumOff val="80000"/>
            </a:schemeClr>
          </a:solidFill>
        </p:spPr>
        <p:txBody>
          <a:bodyPr wrap="square">
            <a:spAutoFit/>
          </a:bodyPr>
          <a:lstStyle/>
          <a:p>
            <a:pPr algn="just"/>
            <a:r>
              <a:rPr lang="en-US" sz="2200" b="0" i="0" dirty="0">
                <a:solidFill>
                  <a:srgbClr val="303030"/>
                </a:solidFill>
                <a:effectLst/>
                <a:latin typeface="Arial" panose="020B0604020202020204" pitchFamily="34" charset="0"/>
                <a:cs typeface="Arial" panose="020B0604020202020204" pitchFamily="34" charset="0"/>
              </a:rPr>
              <a:t>Three different measures of productivity depending on the scope of what companies are evaluating</a:t>
            </a:r>
            <a:r>
              <a:rPr lang="en-US" sz="2200" dirty="0">
                <a:solidFill>
                  <a:srgbClr val="303030"/>
                </a:solidFill>
                <a:latin typeface="Arial" panose="020B0604020202020204" pitchFamily="34" charset="0"/>
                <a:cs typeface="Arial" panose="020B0604020202020204" pitchFamily="34" charset="0"/>
              </a:rPr>
              <a:t> </a:t>
            </a:r>
          </a:p>
          <a:p>
            <a:pPr marL="342900" indent="-342900" algn="just">
              <a:buFont typeface="+mj-lt"/>
              <a:buAutoNum type="alphaLcParenR"/>
            </a:pPr>
            <a:r>
              <a:rPr lang="en-US" sz="2200" b="1" dirty="0">
                <a:latin typeface="Arial" panose="020B0604020202020204" pitchFamily="34" charset="0"/>
                <a:cs typeface="Arial" panose="020B0604020202020204" pitchFamily="34" charset="0"/>
              </a:rPr>
              <a:t>Total Productivity:</a:t>
            </a:r>
            <a:r>
              <a:rPr lang="en-US" sz="2200" dirty="0">
                <a:latin typeface="Arial" panose="020B0604020202020204" pitchFamily="34" charset="0"/>
                <a:cs typeface="Arial" panose="020B0604020202020204" pitchFamily="34" charset="0"/>
              </a:rPr>
              <a:t> Often used to assess the performance of an entire organization, warehouse, or supply chain and calculated by total output divided by the sum of labor, machines, and capital. </a:t>
            </a:r>
          </a:p>
          <a:p>
            <a:pPr marL="342900" indent="-342900" algn="just">
              <a:buFont typeface="+mj-lt"/>
              <a:buAutoNum type="alphaLcParenR"/>
            </a:pPr>
            <a:r>
              <a:rPr lang="en-US" sz="2200" b="1" dirty="0">
                <a:latin typeface="Arial" panose="020B0604020202020204" pitchFamily="34" charset="0"/>
                <a:cs typeface="Arial" panose="020B0604020202020204" pitchFamily="34" charset="0"/>
              </a:rPr>
              <a:t>Partial Productivity: </a:t>
            </a:r>
            <a:r>
              <a:rPr lang="en-US" sz="2200" dirty="0">
                <a:latin typeface="Arial" panose="020B0604020202020204" pitchFamily="34" charset="0"/>
                <a:cs typeface="Arial" panose="020B0604020202020204" pitchFamily="34" charset="0"/>
              </a:rPr>
              <a:t>Focuses on a single input. For example, a company might measure labor productivity (units produced per labor hour) or machine productivity (items processed per machine hour)</a:t>
            </a:r>
          </a:p>
          <a:p>
            <a:pPr marL="342900" indent="-342900" algn="just">
              <a:buFont typeface="+mj-lt"/>
              <a:buAutoNum type="alphaLcParenR"/>
            </a:pPr>
            <a:r>
              <a:rPr lang="en-US" sz="2200" b="1" dirty="0">
                <a:latin typeface="Arial" panose="020B0604020202020204" pitchFamily="34" charset="0"/>
                <a:cs typeface="Arial" panose="020B0604020202020204" pitchFamily="34" charset="0"/>
              </a:rPr>
              <a:t>Multifactor Productivity: </a:t>
            </a:r>
            <a:r>
              <a:rPr lang="en-US" sz="2200" dirty="0">
                <a:latin typeface="Arial" panose="020B0604020202020204" pitchFamily="34" charset="0"/>
                <a:cs typeface="Arial" panose="020B0604020202020204" pitchFamily="34" charset="0"/>
              </a:rPr>
              <a:t>A middle ground that measures output against several combined inputs, such as (Labor + Materials) or (Labor + Capital + Energy)</a:t>
            </a:r>
            <a:endParaRPr lang="en-I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77336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0823F-C328-A587-AB65-991C6E2C8AA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A0D037F-9760-970C-5F4A-1CB51694D968}"/>
              </a:ext>
            </a:extLst>
          </p:cNvPr>
          <p:cNvSpPr/>
          <p:nvPr/>
        </p:nvSpPr>
        <p:spPr>
          <a:xfrm>
            <a:off x="456714" y="0"/>
            <a:ext cx="11735286"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t>PRODUCTIVITY AS A MEASURE OF COMPETITIVENESS</a:t>
            </a:r>
            <a:endParaRPr lang="en-IN" sz="7200" b="1" dirty="0">
              <a:solidFill>
                <a:schemeClr val="accent4">
                  <a:lumMod val="20000"/>
                  <a:lumOff val="80000"/>
                </a:schemeClr>
              </a:solidFill>
            </a:endParaRPr>
          </a:p>
        </p:txBody>
      </p:sp>
      <p:pic>
        <p:nvPicPr>
          <p:cNvPr id="10" name="Picture 9">
            <a:extLst>
              <a:ext uri="{FF2B5EF4-FFF2-40B4-BE49-F238E27FC236}">
                <a16:creationId xmlns:a16="http://schemas.microsoft.com/office/drawing/2014/main" id="{5046C54D-D513-9194-5724-CE382762DC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779" y="945932"/>
            <a:ext cx="11148507" cy="5546383"/>
          </a:xfrm>
          <a:prstGeom prst="rect">
            <a:avLst/>
          </a:prstGeom>
        </p:spPr>
      </p:pic>
    </p:spTree>
    <p:extLst>
      <p:ext uri="{BB962C8B-B14F-4D97-AF65-F5344CB8AC3E}">
        <p14:creationId xmlns:p14="http://schemas.microsoft.com/office/powerpoint/2010/main" val="2458417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5313E-8CE7-2112-69DC-CF1007D8D6F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0C73F6A-2B60-68ED-5915-E4B419529023}"/>
              </a:ext>
            </a:extLst>
          </p:cNvPr>
          <p:cNvSpPr/>
          <p:nvPr/>
        </p:nvSpPr>
        <p:spPr>
          <a:xfrm>
            <a:off x="456714" y="0"/>
            <a:ext cx="11735286"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t>PRODUCTIVITY AS A MEASURE OF COMPETITIVENESS</a:t>
            </a:r>
            <a:endParaRPr lang="en-IN" sz="7200" b="1" dirty="0">
              <a:solidFill>
                <a:schemeClr val="accent4">
                  <a:lumMod val="20000"/>
                  <a:lumOff val="80000"/>
                </a:schemeClr>
              </a:solidFill>
            </a:endParaRPr>
          </a:p>
        </p:txBody>
      </p:sp>
      <p:sp>
        <p:nvSpPr>
          <p:cNvPr id="4" name="TextBox 3">
            <a:extLst>
              <a:ext uri="{FF2B5EF4-FFF2-40B4-BE49-F238E27FC236}">
                <a16:creationId xmlns:a16="http://schemas.microsoft.com/office/drawing/2014/main" id="{86EE7893-7C9E-F0F4-15D5-44C1A11BE27E}"/>
              </a:ext>
            </a:extLst>
          </p:cNvPr>
          <p:cNvSpPr txBox="1"/>
          <p:nvPr/>
        </p:nvSpPr>
        <p:spPr>
          <a:xfrm>
            <a:off x="507401" y="984032"/>
            <a:ext cx="11608399" cy="5663089"/>
          </a:xfrm>
          <a:prstGeom prst="rect">
            <a:avLst/>
          </a:prstGeom>
          <a:solidFill>
            <a:schemeClr val="accent4">
              <a:lumMod val="20000"/>
              <a:lumOff val="80000"/>
            </a:schemeClr>
          </a:solidFill>
        </p:spPr>
        <p:txBody>
          <a:bodyPr wrap="square">
            <a:spAutoFit/>
          </a:bodyPr>
          <a:lstStyle/>
          <a:p>
            <a:r>
              <a:rPr lang="en-IN" sz="3200" b="1" i="0" u="none" strike="noStrike" baseline="0" dirty="0">
                <a:latin typeface="AdvP184C"/>
              </a:rPr>
              <a:t>INTERPRETING PRODUCTIVITY</a:t>
            </a:r>
          </a:p>
          <a:p>
            <a:pPr marL="514350" indent="-514350">
              <a:buAutoNum type="alphaUcPeriod"/>
            </a:pPr>
            <a:r>
              <a:rPr lang="en-IN" sz="3000" b="1" dirty="0">
                <a:latin typeface="AdvP184C"/>
              </a:rPr>
              <a:t>Compare with a Baseline (Benchmarking)</a:t>
            </a:r>
          </a:p>
          <a:p>
            <a:pPr marL="342900" indent="-342900">
              <a:buFont typeface="Wingdings" panose="05000000000000000000" pitchFamily="2" charset="2"/>
              <a:buChar char="v"/>
            </a:pPr>
            <a:r>
              <a:rPr lang="en-US" sz="3000" dirty="0"/>
              <a:t>It tells us </a:t>
            </a:r>
            <a:r>
              <a:rPr lang="en-US" sz="3000" b="1" dirty="0"/>
              <a:t>how efficiently resources are converted into output</a:t>
            </a:r>
            <a:r>
              <a:rPr lang="en-US" sz="3000" dirty="0"/>
              <a:t>.</a:t>
            </a:r>
          </a:p>
          <a:p>
            <a:pPr marL="342900" indent="-342900">
              <a:buFont typeface="Wingdings" panose="05000000000000000000" pitchFamily="2" charset="2"/>
              <a:buChar char="v"/>
            </a:pPr>
            <a:r>
              <a:rPr lang="en-US" sz="3000" dirty="0"/>
              <a:t>Higher ratio = More efficient use of resources and suggest more competitive</a:t>
            </a:r>
          </a:p>
          <a:p>
            <a:pPr marL="342900" indent="-342900">
              <a:buFont typeface="Wingdings" panose="05000000000000000000" pitchFamily="2" charset="2"/>
              <a:buChar char="v"/>
            </a:pPr>
            <a:r>
              <a:rPr lang="en-US" sz="3000" dirty="0"/>
              <a:t>Lower ratio = Inefficient use of resources and suggest less competitive</a:t>
            </a:r>
          </a:p>
          <a:p>
            <a:r>
              <a:rPr lang="en-US" sz="3000" b="1" dirty="0"/>
              <a:t>Example :</a:t>
            </a:r>
            <a:r>
              <a:rPr lang="en-US" sz="3000" dirty="0"/>
              <a:t> </a:t>
            </a:r>
          </a:p>
          <a:p>
            <a:pPr marL="342900" indent="-342900">
              <a:buFont typeface="Wingdings" panose="05000000000000000000" pitchFamily="2" charset="2"/>
              <a:buChar char="ü"/>
            </a:pPr>
            <a:r>
              <a:rPr lang="en-US" sz="3000" dirty="0"/>
              <a:t>The baseline measure of productivity of dry-cleaner  machine is 25 garments per hour</a:t>
            </a:r>
          </a:p>
          <a:p>
            <a:pPr marL="342900" indent="-342900">
              <a:buFont typeface="Wingdings" panose="05000000000000000000" pitchFamily="2" charset="2"/>
              <a:buChar char="ü"/>
            </a:pPr>
            <a:r>
              <a:rPr lang="en-US" sz="3000" dirty="0"/>
              <a:t>The productivity of ‘ABC’ dry-cleaner machine is 22 garments per hour.</a:t>
            </a:r>
          </a:p>
          <a:p>
            <a:pPr marL="342900" indent="-342900">
              <a:buFont typeface="Wingdings" panose="05000000000000000000" pitchFamily="2" charset="2"/>
              <a:buChar char="ü"/>
            </a:pPr>
            <a:r>
              <a:rPr lang="en-US" sz="3000" dirty="0"/>
              <a:t> So, there is inefficient use of ‘ABC’ machine. The productivity of its’ competitors are higher </a:t>
            </a:r>
            <a:r>
              <a:rPr lang="en-US" sz="2800" dirty="0"/>
              <a:t>and other brand machines are more competitive.</a:t>
            </a:r>
            <a:endParaRPr lang="en-IN" sz="4000" b="1" dirty="0"/>
          </a:p>
        </p:txBody>
      </p:sp>
    </p:spTree>
    <p:extLst>
      <p:ext uri="{BB962C8B-B14F-4D97-AF65-F5344CB8AC3E}">
        <p14:creationId xmlns:p14="http://schemas.microsoft.com/office/powerpoint/2010/main" val="2515790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6A607-A9EE-515D-7916-01A56B3FE7A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61417D1-32C8-5580-2544-F1649D043C2E}"/>
              </a:ext>
            </a:extLst>
          </p:cNvPr>
          <p:cNvSpPr/>
          <p:nvPr/>
        </p:nvSpPr>
        <p:spPr>
          <a:xfrm>
            <a:off x="456714" y="0"/>
            <a:ext cx="11735286"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t>PRODUCTIVITY AS A MEASURE OF COMPETITIVENESS</a:t>
            </a:r>
            <a:endParaRPr lang="en-IN" sz="7200" b="1" dirty="0">
              <a:solidFill>
                <a:schemeClr val="accent4">
                  <a:lumMod val="20000"/>
                  <a:lumOff val="80000"/>
                </a:schemeClr>
              </a:solidFill>
            </a:endParaRPr>
          </a:p>
        </p:txBody>
      </p:sp>
      <p:sp>
        <p:nvSpPr>
          <p:cNvPr id="7" name="TextBox 6">
            <a:extLst>
              <a:ext uri="{FF2B5EF4-FFF2-40B4-BE49-F238E27FC236}">
                <a16:creationId xmlns:a16="http://schemas.microsoft.com/office/drawing/2014/main" id="{6D4C5790-DC81-99ED-629E-09E9B5E5C41D}"/>
              </a:ext>
            </a:extLst>
          </p:cNvPr>
          <p:cNvSpPr txBox="1"/>
          <p:nvPr/>
        </p:nvSpPr>
        <p:spPr>
          <a:xfrm>
            <a:off x="456714" y="945932"/>
            <a:ext cx="10711928" cy="646331"/>
          </a:xfrm>
          <a:prstGeom prst="rect">
            <a:avLst/>
          </a:prstGeom>
          <a:solidFill>
            <a:schemeClr val="accent6">
              <a:lumMod val="20000"/>
              <a:lumOff val="80000"/>
            </a:schemeClr>
          </a:solidFill>
        </p:spPr>
        <p:txBody>
          <a:bodyPr wrap="square">
            <a:spAutoFit/>
          </a:bodyPr>
          <a:lstStyle/>
          <a:p>
            <a:r>
              <a:rPr lang="en-IN" sz="3600" b="1" dirty="0"/>
              <a:t>B. </a:t>
            </a:r>
            <a:r>
              <a:rPr lang="en-US" sz="3600" b="1" dirty="0"/>
              <a:t>Compare Across Time (Trend Interpretation)</a:t>
            </a:r>
            <a:endParaRPr lang="en-IN" sz="3600" b="1" dirty="0"/>
          </a:p>
        </p:txBody>
      </p:sp>
      <p:sp>
        <p:nvSpPr>
          <p:cNvPr id="11" name="TextBox 10">
            <a:extLst>
              <a:ext uri="{FF2B5EF4-FFF2-40B4-BE49-F238E27FC236}">
                <a16:creationId xmlns:a16="http://schemas.microsoft.com/office/drawing/2014/main" id="{FF3D1A08-D6C8-1776-95FE-A768DAAC6784}"/>
              </a:ext>
            </a:extLst>
          </p:cNvPr>
          <p:cNvSpPr txBox="1"/>
          <p:nvPr/>
        </p:nvSpPr>
        <p:spPr>
          <a:xfrm>
            <a:off x="507514" y="3589288"/>
            <a:ext cx="10711928" cy="3046988"/>
          </a:xfrm>
          <a:prstGeom prst="rect">
            <a:avLst/>
          </a:prstGeom>
          <a:solidFill>
            <a:schemeClr val="accent4">
              <a:lumMod val="20000"/>
              <a:lumOff val="80000"/>
            </a:schemeClr>
          </a:solidFill>
        </p:spPr>
        <p:txBody>
          <a:bodyPr wrap="square">
            <a:spAutoFit/>
          </a:bodyPr>
          <a:lstStyle/>
          <a:p>
            <a:pPr marL="285750" indent="-285750" algn="just">
              <a:buFont typeface="Wingdings" panose="05000000000000000000" pitchFamily="2" charset="2"/>
              <a:buChar char="v"/>
            </a:pPr>
            <a:r>
              <a:rPr lang="en-US" sz="3200" dirty="0">
                <a:latin typeface="AdvP5D8B"/>
              </a:rPr>
              <a:t>Productivity is more than the base line productivity of 25 garments per hour</a:t>
            </a:r>
          </a:p>
          <a:p>
            <a:pPr marL="285750" indent="-285750" algn="just">
              <a:buFont typeface="Wingdings" panose="05000000000000000000" pitchFamily="2" charset="2"/>
              <a:buChar char="v"/>
            </a:pPr>
            <a:r>
              <a:rPr lang="en-US" sz="3200" dirty="0">
                <a:latin typeface="AdvP5D8B"/>
              </a:rPr>
              <a:t>P</a:t>
            </a:r>
            <a:r>
              <a:rPr lang="en-US" sz="3200" b="0" i="0" u="none" strike="noStrike" baseline="0" dirty="0">
                <a:latin typeface="AdvP5D8B"/>
              </a:rPr>
              <a:t>roductivity had gone up after the purchase of the new </a:t>
            </a:r>
            <a:r>
              <a:rPr lang="en-IN" sz="3200" b="0" i="0" u="none" strike="noStrike" baseline="0" dirty="0">
                <a:latin typeface="AdvP5D8B"/>
              </a:rPr>
              <a:t>machines</a:t>
            </a:r>
          </a:p>
          <a:p>
            <a:pPr marL="285750" indent="-285750" algn="just">
              <a:buFont typeface="Wingdings" panose="05000000000000000000" pitchFamily="2" charset="2"/>
              <a:buChar char="v"/>
            </a:pPr>
            <a:r>
              <a:rPr lang="en-US" sz="3200" dirty="0"/>
              <a:t>Productivity continued to grow perhaps as the workers adjust to </a:t>
            </a:r>
            <a:r>
              <a:rPr lang="en-IN" sz="3200" dirty="0"/>
              <a:t>using the new equipment</a:t>
            </a:r>
          </a:p>
        </p:txBody>
      </p:sp>
      <p:graphicFrame>
        <p:nvGraphicFramePr>
          <p:cNvPr id="2" name="Table 1">
            <a:extLst>
              <a:ext uri="{FF2B5EF4-FFF2-40B4-BE49-F238E27FC236}">
                <a16:creationId xmlns:a16="http://schemas.microsoft.com/office/drawing/2014/main" id="{E75E9062-604C-FAB1-3649-63332B13DB28}"/>
              </a:ext>
            </a:extLst>
          </p:cNvPr>
          <p:cNvGraphicFramePr>
            <a:graphicFrameLocks noGrp="1"/>
          </p:cNvGraphicFramePr>
          <p:nvPr>
            <p:extLst>
              <p:ext uri="{D42A27DB-BD31-4B8C-83A1-F6EECF244321}">
                <p14:modId xmlns:p14="http://schemas.microsoft.com/office/powerpoint/2010/main" val="2575588389"/>
              </p:ext>
            </p:extLst>
          </p:nvPr>
        </p:nvGraphicFramePr>
        <p:xfrm>
          <a:off x="596912" y="1624990"/>
          <a:ext cx="10571729" cy="1828800"/>
        </p:xfrm>
        <a:graphic>
          <a:graphicData uri="http://schemas.openxmlformats.org/drawingml/2006/table">
            <a:tbl>
              <a:tblPr firstRow="1" bandRow="1">
                <a:tableStyleId>{16D9F66E-5EB9-4882-86FB-DCBF35E3C3E4}</a:tableStyleId>
              </a:tblPr>
              <a:tblGrid>
                <a:gridCol w="4845368">
                  <a:extLst>
                    <a:ext uri="{9D8B030D-6E8A-4147-A177-3AD203B41FA5}">
                      <a16:colId xmlns:a16="http://schemas.microsoft.com/office/drawing/2014/main" val="3335351707"/>
                    </a:ext>
                  </a:extLst>
                </a:gridCol>
                <a:gridCol w="1101223">
                  <a:extLst>
                    <a:ext uri="{9D8B030D-6E8A-4147-A177-3AD203B41FA5}">
                      <a16:colId xmlns:a16="http://schemas.microsoft.com/office/drawing/2014/main" val="4270401822"/>
                    </a:ext>
                  </a:extLst>
                </a:gridCol>
                <a:gridCol w="1101223">
                  <a:extLst>
                    <a:ext uri="{9D8B030D-6E8A-4147-A177-3AD203B41FA5}">
                      <a16:colId xmlns:a16="http://schemas.microsoft.com/office/drawing/2014/main" val="2078721100"/>
                    </a:ext>
                  </a:extLst>
                </a:gridCol>
                <a:gridCol w="1069760">
                  <a:extLst>
                    <a:ext uri="{9D8B030D-6E8A-4147-A177-3AD203B41FA5}">
                      <a16:colId xmlns:a16="http://schemas.microsoft.com/office/drawing/2014/main" val="2524040197"/>
                    </a:ext>
                  </a:extLst>
                </a:gridCol>
                <a:gridCol w="1038296">
                  <a:extLst>
                    <a:ext uri="{9D8B030D-6E8A-4147-A177-3AD203B41FA5}">
                      <a16:colId xmlns:a16="http://schemas.microsoft.com/office/drawing/2014/main" val="2663945352"/>
                    </a:ext>
                  </a:extLst>
                </a:gridCol>
                <a:gridCol w="1415859">
                  <a:extLst>
                    <a:ext uri="{9D8B030D-6E8A-4147-A177-3AD203B41FA5}">
                      <a16:colId xmlns:a16="http://schemas.microsoft.com/office/drawing/2014/main" val="1311180673"/>
                    </a:ext>
                  </a:extLst>
                </a:gridCol>
              </a:tblGrid>
              <a:tr h="0">
                <a:tc>
                  <a:txBody>
                    <a:bodyPr/>
                    <a:lstStyle/>
                    <a:p>
                      <a:r>
                        <a:rPr lang="en-IN" sz="3600" dirty="0"/>
                        <a:t>Month.</a:t>
                      </a:r>
                    </a:p>
                  </a:txBody>
                  <a:tcPr/>
                </a:tc>
                <a:tc>
                  <a:txBody>
                    <a:bodyPr/>
                    <a:lstStyle/>
                    <a:p>
                      <a:pPr algn="ctr"/>
                      <a:r>
                        <a:rPr lang="en-IN" sz="3600" dirty="0"/>
                        <a:t>1</a:t>
                      </a:r>
                    </a:p>
                  </a:txBody>
                  <a:tcPr/>
                </a:tc>
                <a:tc>
                  <a:txBody>
                    <a:bodyPr/>
                    <a:lstStyle/>
                    <a:p>
                      <a:pPr algn="ctr"/>
                      <a:r>
                        <a:rPr lang="en-IN" sz="3600" dirty="0"/>
                        <a:t>2</a:t>
                      </a:r>
                    </a:p>
                  </a:txBody>
                  <a:tcPr/>
                </a:tc>
                <a:tc>
                  <a:txBody>
                    <a:bodyPr/>
                    <a:lstStyle/>
                    <a:p>
                      <a:pPr algn="ctr"/>
                      <a:r>
                        <a:rPr lang="en-IN" sz="3600" dirty="0"/>
                        <a:t>3</a:t>
                      </a:r>
                    </a:p>
                  </a:txBody>
                  <a:tcPr/>
                </a:tc>
                <a:tc>
                  <a:txBody>
                    <a:bodyPr/>
                    <a:lstStyle/>
                    <a:p>
                      <a:pPr algn="ctr"/>
                      <a:r>
                        <a:rPr lang="en-IN" sz="3600" dirty="0"/>
                        <a:t>4</a:t>
                      </a:r>
                    </a:p>
                  </a:txBody>
                  <a:tcPr/>
                </a:tc>
                <a:tc>
                  <a:txBody>
                    <a:bodyPr/>
                    <a:lstStyle/>
                    <a:p>
                      <a:pPr algn="ctr"/>
                      <a:r>
                        <a:rPr lang="en-IN" sz="3600" dirty="0"/>
                        <a:t>5</a:t>
                      </a:r>
                    </a:p>
                  </a:txBody>
                  <a:tcPr/>
                </a:tc>
                <a:extLst>
                  <a:ext uri="{0D108BD9-81ED-4DB2-BD59-A6C34878D82A}">
                    <a16:rowId xmlns:a16="http://schemas.microsoft.com/office/drawing/2014/main" val="396864657"/>
                  </a:ext>
                </a:extLst>
              </a:tr>
              <a:tr h="903394">
                <a:tc>
                  <a:txBody>
                    <a:bodyPr/>
                    <a:lstStyle/>
                    <a:p>
                      <a:r>
                        <a:rPr lang="en-IN" sz="3600" dirty="0"/>
                        <a:t>Productivity</a:t>
                      </a:r>
                    </a:p>
                    <a:p>
                      <a:r>
                        <a:rPr lang="en-IN" sz="3600" dirty="0"/>
                        <a:t>(in garments per hour)</a:t>
                      </a:r>
                    </a:p>
                  </a:txBody>
                  <a:tcPr/>
                </a:tc>
                <a:tc>
                  <a:txBody>
                    <a:bodyPr/>
                    <a:lstStyle/>
                    <a:p>
                      <a:pPr algn="ctr"/>
                      <a:r>
                        <a:rPr lang="en-IN" sz="3600" dirty="0"/>
                        <a:t>28</a:t>
                      </a:r>
                    </a:p>
                  </a:txBody>
                  <a:tcPr/>
                </a:tc>
                <a:tc>
                  <a:txBody>
                    <a:bodyPr/>
                    <a:lstStyle/>
                    <a:p>
                      <a:pPr algn="ctr"/>
                      <a:r>
                        <a:rPr lang="en-IN" sz="3600" dirty="0"/>
                        <a:t>34</a:t>
                      </a:r>
                    </a:p>
                  </a:txBody>
                  <a:tcPr/>
                </a:tc>
                <a:tc>
                  <a:txBody>
                    <a:bodyPr/>
                    <a:lstStyle/>
                    <a:p>
                      <a:pPr algn="ctr"/>
                      <a:r>
                        <a:rPr lang="en-IN" sz="3600" dirty="0"/>
                        <a:t>41</a:t>
                      </a:r>
                    </a:p>
                  </a:txBody>
                  <a:tcPr/>
                </a:tc>
                <a:tc>
                  <a:txBody>
                    <a:bodyPr/>
                    <a:lstStyle/>
                    <a:p>
                      <a:pPr algn="ctr"/>
                      <a:r>
                        <a:rPr lang="en-IN" sz="3600" dirty="0"/>
                        <a:t>50</a:t>
                      </a:r>
                    </a:p>
                  </a:txBody>
                  <a:tcPr/>
                </a:tc>
                <a:tc>
                  <a:txBody>
                    <a:bodyPr/>
                    <a:lstStyle/>
                    <a:p>
                      <a:pPr algn="ctr"/>
                      <a:r>
                        <a:rPr lang="en-IN" sz="3600" dirty="0"/>
                        <a:t>62</a:t>
                      </a:r>
                    </a:p>
                  </a:txBody>
                  <a:tcPr/>
                </a:tc>
                <a:extLst>
                  <a:ext uri="{0D108BD9-81ED-4DB2-BD59-A6C34878D82A}">
                    <a16:rowId xmlns:a16="http://schemas.microsoft.com/office/drawing/2014/main" val="1179379378"/>
                  </a:ext>
                </a:extLst>
              </a:tr>
            </a:tbl>
          </a:graphicData>
        </a:graphic>
      </p:graphicFrame>
    </p:spTree>
    <p:extLst>
      <p:ext uri="{BB962C8B-B14F-4D97-AF65-F5344CB8AC3E}">
        <p14:creationId xmlns:p14="http://schemas.microsoft.com/office/powerpoint/2010/main" val="5031396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85B46-2104-80C9-F702-A568315C324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098B6F9-C353-1FD6-72B0-05B0C0F0F5AC}"/>
              </a:ext>
            </a:extLst>
          </p:cNvPr>
          <p:cNvSpPr/>
          <p:nvPr/>
        </p:nvSpPr>
        <p:spPr>
          <a:xfrm>
            <a:off x="456714" y="0"/>
            <a:ext cx="11735286"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t>PRODUCTIVITY AS A MEASURE OF COMPETITIVENESS</a:t>
            </a:r>
            <a:endParaRPr lang="en-IN" sz="7200" b="1" dirty="0">
              <a:solidFill>
                <a:schemeClr val="accent4">
                  <a:lumMod val="20000"/>
                  <a:lumOff val="80000"/>
                </a:schemeClr>
              </a:solidFill>
            </a:endParaRPr>
          </a:p>
        </p:txBody>
      </p:sp>
      <p:sp>
        <p:nvSpPr>
          <p:cNvPr id="4" name="TextBox 3">
            <a:extLst>
              <a:ext uri="{FF2B5EF4-FFF2-40B4-BE49-F238E27FC236}">
                <a16:creationId xmlns:a16="http://schemas.microsoft.com/office/drawing/2014/main" id="{C0FBA527-B36F-A1A8-A835-CD1318F1FC51}"/>
              </a:ext>
            </a:extLst>
          </p:cNvPr>
          <p:cNvSpPr txBox="1"/>
          <p:nvPr/>
        </p:nvSpPr>
        <p:spPr>
          <a:xfrm>
            <a:off x="572844" y="945932"/>
            <a:ext cx="10980869" cy="1815882"/>
          </a:xfrm>
          <a:prstGeom prst="rect">
            <a:avLst/>
          </a:prstGeom>
          <a:solidFill>
            <a:schemeClr val="bg2"/>
          </a:solid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Lovely Styles is a mid-sized apparel company competing with fast-fashion retailers. Management wants to evaluate whether its </a:t>
            </a:r>
            <a:r>
              <a:rPr lang="en-US" sz="2800" b="1" dirty="0">
                <a:latin typeface="Times New Roman" panose="02020603050405020304" pitchFamily="18" charset="0"/>
                <a:cs typeface="Times New Roman" panose="02020603050405020304" pitchFamily="18" charset="0"/>
              </a:rPr>
              <a:t>current supply chain strategy is efficient enough</a:t>
            </a:r>
            <a:r>
              <a:rPr lang="en-US" sz="2800" dirty="0">
                <a:latin typeface="Times New Roman" panose="02020603050405020304" pitchFamily="18" charset="0"/>
                <a:cs typeface="Times New Roman" panose="02020603050405020304" pitchFamily="18" charset="0"/>
              </a:rPr>
              <a:t> to compete on cost and responsiveness. </a:t>
            </a:r>
            <a:r>
              <a:rPr lang="en-US" sz="2800" dirty="0"/>
              <a:t>The firm collected the following annual data for two years, viz., 2020 and 2022. </a:t>
            </a:r>
          </a:p>
        </p:txBody>
      </p:sp>
      <p:graphicFrame>
        <p:nvGraphicFramePr>
          <p:cNvPr id="5" name="Table 4">
            <a:extLst>
              <a:ext uri="{FF2B5EF4-FFF2-40B4-BE49-F238E27FC236}">
                <a16:creationId xmlns:a16="http://schemas.microsoft.com/office/drawing/2014/main" id="{A8B12AAE-768A-2618-FD8B-9074918D63A5}"/>
              </a:ext>
            </a:extLst>
          </p:cNvPr>
          <p:cNvGraphicFramePr>
            <a:graphicFrameLocks noGrp="1"/>
          </p:cNvGraphicFramePr>
          <p:nvPr>
            <p:extLst>
              <p:ext uri="{D42A27DB-BD31-4B8C-83A1-F6EECF244321}">
                <p14:modId xmlns:p14="http://schemas.microsoft.com/office/powerpoint/2010/main" val="4290341610"/>
              </p:ext>
            </p:extLst>
          </p:nvPr>
        </p:nvGraphicFramePr>
        <p:xfrm>
          <a:off x="568956" y="2871200"/>
          <a:ext cx="10980869" cy="3627120"/>
        </p:xfrm>
        <a:graphic>
          <a:graphicData uri="http://schemas.openxmlformats.org/drawingml/2006/table">
            <a:tbl>
              <a:tblPr firstRow="1" bandRow="1">
                <a:tableStyleId>{5940675A-B579-460E-94D1-54222C63F5DA}</a:tableStyleId>
              </a:tblPr>
              <a:tblGrid>
                <a:gridCol w="6106271">
                  <a:extLst>
                    <a:ext uri="{9D8B030D-6E8A-4147-A177-3AD203B41FA5}">
                      <a16:colId xmlns:a16="http://schemas.microsoft.com/office/drawing/2014/main" val="166325064"/>
                    </a:ext>
                  </a:extLst>
                </a:gridCol>
                <a:gridCol w="2363066">
                  <a:extLst>
                    <a:ext uri="{9D8B030D-6E8A-4147-A177-3AD203B41FA5}">
                      <a16:colId xmlns:a16="http://schemas.microsoft.com/office/drawing/2014/main" val="893233036"/>
                    </a:ext>
                  </a:extLst>
                </a:gridCol>
                <a:gridCol w="2511532">
                  <a:extLst>
                    <a:ext uri="{9D8B030D-6E8A-4147-A177-3AD203B41FA5}">
                      <a16:colId xmlns:a16="http://schemas.microsoft.com/office/drawing/2014/main" val="3790497685"/>
                    </a:ext>
                  </a:extLst>
                </a:gridCol>
              </a:tblGrid>
              <a:tr h="370840">
                <a:tc>
                  <a:txBody>
                    <a:bodyPr/>
                    <a:lstStyle/>
                    <a:p>
                      <a:endParaRPr lang="en-IN" sz="2800"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tc>
                  <a:txBody>
                    <a:bodyPr/>
                    <a:lstStyle/>
                    <a:p>
                      <a:pPr algn="ctr"/>
                      <a:r>
                        <a:rPr lang="en-IN" sz="2800" b="1" dirty="0">
                          <a:latin typeface="Times New Roman" panose="02020603050405020304" pitchFamily="18" charset="0"/>
                          <a:cs typeface="Times New Roman" panose="02020603050405020304" pitchFamily="18" charset="0"/>
                        </a:rPr>
                        <a:t>2020</a:t>
                      </a:r>
                    </a:p>
                  </a:txBody>
                  <a:tcPr>
                    <a:solidFill>
                      <a:schemeClr val="accent4">
                        <a:lumMod val="20000"/>
                        <a:lumOff val="80000"/>
                      </a:schemeClr>
                    </a:solidFill>
                  </a:tcPr>
                </a:tc>
                <a:tc>
                  <a:txBody>
                    <a:bodyPr/>
                    <a:lstStyle/>
                    <a:p>
                      <a:pPr algn="ctr"/>
                      <a:r>
                        <a:rPr lang="en-IN" sz="2800" b="1" dirty="0">
                          <a:latin typeface="Times New Roman" panose="02020603050405020304" pitchFamily="18" charset="0"/>
                          <a:cs typeface="Times New Roman" panose="02020603050405020304" pitchFamily="18" charset="0"/>
                        </a:rPr>
                        <a:t>2022</a:t>
                      </a:r>
                    </a:p>
                  </a:txBody>
                  <a:tcPr>
                    <a:solidFill>
                      <a:schemeClr val="accent4">
                        <a:lumMod val="20000"/>
                        <a:lumOff val="80000"/>
                      </a:schemeClr>
                    </a:solidFill>
                  </a:tcPr>
                </a:tc>
                <a:extLst>
                  <a:ext uri="{0D108BD9-81ED-4DB2-BD59-A6C34878D82A}">
                    <a16:rowId xmlns:a16="http://schemas.microsoft.com/office/drawing/2014/main" val="2148336110"/>
                  </a:ext>
                </a:extLst>
              </a:tr>
              <a:tr h="370840">
                <a:tc>
                  <a:txBody>
                    <a:bodyPr/>
                    <a:lstStyle/>
                    <a:p>
                      <a:r>
                        <a:rPr lang="en-IN" sz="2800" dirty="0">
                          <a:latin typeface="Times New Roman" panose="02020603050405020304" pitchFamily="18" charset="0"/>
                          <a:cs typeface="Times New Roman" panose="02020603050405020304" pitchFamily="18" charset="0"/>
                        </a:rPr>
                        <a:t>Units produced (No of garments)</a:t>
                      </a:r>
                    </a:p>
                  </a:txBody>
                  <a:tcPr>
                    <a:solidFill>
                      <a:schemeClr val="accent4">
                        <a:lumMod val="20000"/>
                        <a:lumOff val="80000"/>
                      </a:schemeClr>
                    </a:solidFill>
                  </a:tcPr>
                </a:tc>
                <a:tc>
                  <a:txBody>
                    <a:bodyPr/>
                    <a:lstStyle/>
                    <a:p>
                      <a:pPr algn="r"/>
                      <a:r>
                        <a:rPr lang="en-IN" sz="2800" dirty="0">
                          <a:latin typeface="Times New Roman" panose="02020603050405020304" pitchFamily="18" charset="0"/>
                          <a:cs typeface="Times New Roman" panose="02020603050405020304" pitchFamily="18" charset="0"/>
                        </a:rPr>
                        <a:t>1,20,000</a:t>
                      </a:r>
                    </a:p>
                  </a:txBody>
                  <a:tcPr>
                    <a:solidFill>
                      <a:schemeClr val="accent4">
                        <a:lumMod val="20000"/>
                        <a:lumOff val="80000"/>
                      </a:schemeClr>
                    </a:solidFill>
                  </a:tcPr>
                </a:tc>
                <a:tc>
                  <a:txBody>
                    <a:bodyPr/>
                    <a:lstStyle/>
                    <a:p>
                      <a:pPr algn="r"/>
                      <a:r>
                        <a:rPr lang="en-IN" sz="2800" dirty="0">
                          <a:latin typeface="Times New Roman" panose="02020603050405020304" pitchFamily="18" charset="0"/>
                          <a:cs typeface="Times New Roman" panose="02020603050405020304" pitchFamily="18" charset="0"/>
                        </a:rPr>
                        <a:t>1,40,000</a:t>
                      </a:r>
                    </a:p>
                  </a:txBody>
                  <a:tcPr>
                    <a:solidFill>
                      <a:schemeClr val="accent4">
                        <a:lumMod val="20000"/>
                        <a:lumOff val="80000"/>
                      </a:schemeClr>
                    </a:solidFill>
                  </a:tcPr>
                </a:tc>
                <a:extLst>
                  <a:ext uri="{0D108BD9-81ED-4DB2-BD59-A6C34878D82A}">
                    <a16:rowId xmlns:a16="http://schemas.microsoft.com/office/drawing/2014/main" val="3393740365"/>
                  </a:ext>
                </a:extLst>
              </a:tr>
              <a:tr h="370840">
                <a:tc>
                  <a:txBody>
                    <a:bodyPr/>
                    <a:lstStyle/>
                    <a:p>
                      <a:r>
                        <a:rPr lang="en-IN" sz="2800" dirty="0">
                          <a:latin typeface="Times New Roman" panose="02020603050405020304" pitchFamily="18" charset="0"/>
                          <a:cs typeface="Times New Roman" panose="02020603050405020304" pitchFamily="18" charset="0"/>
                        </a:rPr>
                        <a:t>Selling price per unit (Rs.)</a:t>
                      </a:r>
                    </a:p>
                  </a:txBody>
                  <a:tcPr>
                    <a:solidFill>
                      <a:schemeClr val="accent4">
                        <a:lumMod val="20000"/>
                        <a:lumOff val="80000"/>
                      </a:schemeClr>
                    </a:solidFill>
                  </a:tcPr>
                </a:tc>
                <a:tc>
                  <a:txBody>
                    <a:bodyPr/>
                    <a:lstStyle/>
                    <a:p>
                      <a:pPr algn="r"/>
                      <a:r>
                        <a:rPr lang="en-IN" sz="2800" dirty="0">
                          <a:latin typeface="Times New Roman" panose="02020603050405020304" pitchFamily="18" charset="0"/>
                          <a:cs typeface="Times New Roman" panose="02020603050405020304" pitchFamily="18" charset="0"/>
                        </a:rPr>
                        <a:t>800</a:t>
                      </a:r>
                    </a:p>
                  </a:txBody>
                  <a:tcPr>
                    <a:solidFill>
                      <a:schemeClr val="accent4">
                        <a:lumMod val="20000"/>
                        <a:lumOff val="80000"/>
                      </a:schemeClr>
                    </a:solidFill>
                  </a:tcPr>
                </a:tc>
                <a:tc>
                  <a:txBody>
                    <a:bodyPr/>
                    <a:lstStyle/>
                    <a:p>
                      <a:pPr algn="r"/>
                      <a:r>
                        <a:rPr lang="en-IN" sz="2800" dirty="0">
                          <a:latin typeface="Times New Roman" panose="02020603050405020304" pitchFamily="18" charset="0"/>
                          <a:cs typeface="Times New Roman" panose="02020603050405020304" pitchFamily="18" charset="0"/>
                        </a:rPr>
                        <a:t>800</a:t>
                      </a:r>
                    </a:p>
                  </a:txBody>
                  <a:tcPr>
                    <a:solidFill>
                      <a:schemeClr val="accent4">
                        <a:lumMod val="20000"/>
                        <a:lumOff val="80000"/>
                      </a:schemeClr>
                    </a:solidFill>
                  </a:tcPr>
                </a:tc>
                <a:extLst>
                  <a:ext uri="{0D108BD9-81ED-4DB2-BD59-A6C34878D82A}">
                    <a16:rowId xmlns:a16="http://schemas.microsoft.com/office/drawing/2014/main" val="4200990385"/>
                  </a:ext>
                </a:extLst>
              </a:tr>
              <a:tr h="370840">
                <a:tc>
                  <a:txBody>
                    <a:bodyPr/>
                    <a:lstStyle/>
                    <a:p>
                      <a:r>
                        <a:rPr lang="en-IN" sz="2800" dirty="0">
                          <a:latin typeface="Times New Roman" panose="02020603050405020304" pitchFamily="18" charset="0"/>
                          <a:cs typeface="Times New Roman" panose="02020603050405020304" pitchFamily="18" charset="0"/>
                        </a:rPr>
                        <a:t>Labor cost (Rs.)</a:t>
                      </a:r>
                    </a:p>
                  </a:txBody>
                  <a:tcPr>
                    <a:solidFill>
                      <a:schemeClr val="accent4">
                        <a:lumMod val="20000"/>
                        <a:lumOff val="80000"/>
                      </a:schemeClr>
                    </a:solidFill>
                  </a:tcPr>
                </a:tc>
                <a:tc>
                  <a:txBody>
                    <a:bodyPr/>
                    <a:lstStyle/>
                    <a:p>
                      <a:pPr algn="r"/>
                      <a:r>
                        <a:rPr lang="en-IN" sz="2800" dirty="0">
                          <a:latin typeface="Times New Roman" panose="02020603050405020304" pitchFamily="18" charset="0"/>
                          <a:cs typeface="Times New Roman" panose="02020603050405020304" pitchFamily="18" charset="0"/>
                        </a:rPr>
                        <a:t>1,80,00,000</a:t>
                      </a:r>
                    </a:p>
                  </a:txBody>
                  <a:tcPr>
                    <a:solidFill>
                      <a:schemeClr val="accent4">
                        <a:lumMod val="20000"/>
                        <a:lumOff val="80000"/>
                      </a:schemeClr>
                    </a:solidFill>
                  </a:tcPr>
                </a:tc>
                <a:tc>
                  <a:txBody>
                    <a:bodyPr/>
                    <a:lstStyle/>
                    <a:p>
                      <a:pPr algn="r"/>
                      <a:r>
                        <a:rPr lang="en-IN" sz="2800" dirty="0">
                          <a:latin typeface="Times New Roman" panose="02020603050405020304" pitchFamily="18" charset="0"/>
                          <a:cs typeface="Times New Roman" panose="02020603050405020304" pitchFamily="18" charset="0"/>
                        </a:rPr>
                        <a:t>1,75,00,000</a:t>
                      </a:r>
                    </a:p>
                  </a:txBody>
                  <a:tcPr>
                    <a:solidFill>
                      <a:schemeClr val="accent4">
                        <a:lumMod val="20000"/>
                        <a:lumOff val="80000"/>
                      </a:schemeClr>
                    </a:solidFill>
                  </a:tcPr>
                </a:tc>
                <a:extLst>
                  <a:ext uri="{0D108BD9-81ED-4DB2-BD59-A6C34878D82A}">
                    <a16:rowId xmlns:a16="http://schemas.microsoft.com/office/drawing/2014/main" val="3682918501"/>
                  </a:ext>
                </a:extLst>
              </a:tr>
              <a:tr h="370840">
                <a:tc>
                  <a:txBody>
                    <a:bodyPr/>
                    <a:lstStyle/>
                    <a:p>
                      <a:r>
                        <a:rPr lang="en-IN" sz="2800" dirty="0">
                          <a:latin typeface="Times New Roman" panose="02020603050405020304" pitchFamily="18" charset="0"/>
                          <a:cs typeface="Times New Roman" panose="02020603050405020304" pitchFamily="18" charset="0"/>
                        </a:rPr>
                        <a:t>Material cost (Rs.)</a:t>
                      </a:r>
                    </a:p>
                  </a:txBody>
                  <a:tcPr>
                    <a:solidFill>
                      <a:schemeClr val="accent4">
                        <a:lumMod val="20000"/>
                        <a:lumOff val="80000"/>
                      </a:schemeClr>
                    </a:solidFill>
                  </a:tcPr>
                </a:tc>
                <a:tc>
                  <a:txBody>
                    <a:bodyPr/>
                    <a:lstStyle/>
                    <a:p>
                      <a:pPr algn="r"/>
                      <a:r>
                        <a:rPr lang="en-IN" sz="2800" dirty="0">
                          <a:latin typeface="Times New Roman" panose="02020603050405020304" pitchFamily="18" charset="0"/>
                          <a:cs typeface="Times New Roman" panose="02020603050405020304" pitchFamily="18" charset="0"/>
                        </a:rPr>
                        <a:t>3,00,00,000</a:t>
                      </a:r>
                    </a:p>
                  </a:txBody>
                  <a:tcPr>
                    <a:solidFill>
                      <a:schemeClr val="accent4">
                        <a:lumMod val="20000"/>
                        <a:lumOff val="80000"/>
                      </a:schemeClr>
                    </a:solidFill>
                  </a:tcPr>
                </a:tc>
                <a:tc>
                  <a:txBody>
                    <a:bodyPr/>
                    <a:lstStyle/>
                    <a:p>
                      <a:pPr algn="r"/>
                      <a:r>
                        <a:rPr lang="en-IN" sz="2800" dirty="0">
                          <a:latin typeface="Times New Roman" panose="02020603050405020304" pitchFamily="18" charset="0"/>
                          <a:cs typeface="Times New Roman" panose="02020603050405020304" pitchFamily="18" charset="0"/>
                        </a:rPr>
                        <a:t>3,20,00,000</a:t>
                      </a:r>
                    </a:p>
                  </a:txBody>
                  <a:tcPr>
                    <a:solidFill>
                      <a:schemeClr val="accent4">
                        <a:lumMod val="20000"/>
                        <a:lumOff val="80000"/>
                      </a:schemeClr>
                    </a:solidFill>
                  </a:tcPr>
                </a:tc>
                <a:extLst>
                  <a:ext uri="{0D108BD9-81ED-4DB2-BD59-A6C34878D82A}">
                    <a16:rowId xmlns:a16="http://schemas.microsoft.com/office/drawing/2014/main" val="310693700"/>
                  </a:ext>
                </a:extLst>
              </a:tr>
              <a:tr h="370840">
                <a:tc>
                  <a:txBody>
                    <a:bodyPr/>
                    <a:lstStyle/>
                    <a:p>
                      <a:r>
                        <a:rPr lang="en-IN" sz="2800" dirty="0">
                          <a:latin typeface="Times New Roman" panose="02020603050405020304" pitchFamily="18" charset="0"/>
                          <a:cs typeface="Times New Roman" panose="02020603050405020304" pitchFamily="18" charset="0"/>
                        </a:rPr>
                        <a:t>Overhead cost (Rs.)</a:t>
                      </a:r>
                    </a:p>
                  </a:txBody>
                  <a:tcPr>
                    <a:solidFill>
                      <a:schemeClr val="accent4">
                        <a:lumMod val="20000"/>
                        <a:lumOff val="80000"/>
                      </a:schemeClr>
                    </a:solidFill>
                  </a:tcPr>
                </a:tc>
                <a:tc>
                  <a:txBody>
                    <a:bodyPr/>
                    <a:lstStyle/>
                    <a:p>
                      <a:pPr algn="r"/>
                      <a:r>
                        <a:rPr lang="en-IN" sz="2800" dirty="0">
                          <a:latin typeface="Times New Roman" panose="02020603050405020304" pitchFamily="18" charset="0"/>
                          <a:cs typeface="Times New Roman" panose="02020603050405020304" pitchFamily="18" charset="0"/>
                        </a:rPr>
                        <a:t>1,20,00,000</a:t>
                      </a:r>
                    </a:p>
                  </a:txBody>
                  <a:tcPr>
                    <a:solidFill>
                      <a:schemeClr val="accent4">
                        <a:lumMod val="20000"/>
                        <a:lumOff val="80000"/>
                      </a:schemeClr>
                    </a:solidFill>
                  </a:tcPr>
                </a:tc>
                <a:tc>
                  <a:txBody>
                    <a:bodyPr/>
                    <a:lstStyle/>
                    <a:p>
                      <a:pPr algn="r"/>
                      <a:r>
                        <a:rPr lang="en-IN" sz="2800" dirty="0">
                          <a:latin typeface="Times New Roman" panose="02020603050405020304" pitchFamily="18" charset="0"/>
                          <a:cs typeface="Times New Roman" panose="02020603050405020304" pitchFamily="18" charset="0"/>
                        </a:rPr>
                        <a:t>1,10,00,000</a:t>
                      </a:r>
                    </a:p>
                  </a:txBody>
                  <a:tcPr>
                    <a:solidFill>
                      <a:schemeClr val="accent4">
                        <a:lumMod val="20000"/>
                        <a:lumOff val="80000"/>
                      </a:schemeClr>
                    </a:solidFill>
                  </a:tcPr>
                </a:tc>
                <a:extLst>
                  <a:ext uri="{0D108BD9-81ED-4DB2-BD59-A6C34878D82A}">
                    <a16:rowId xmlns:a16="http://schemas.microsoft.com/office/drawing/2014/main" val="4133358348"/>
                  </a:ext>
                </a:extLst>
              </a:tr>
              <a:tr h="370840">
                <a:tc>
                  <a:txBody>
                    <a:bodyPr/>
                    <a:lstStyle/>
                    <a:p>
                      <a:r>
                        <a:rPr lang="en-IN" sz="2800" dirty="0">
                          <a:latin typeface="Times New Roman" panose="02020603050405020304" pitchFamily="18" charset="0"/>
                          <a:cs typeface="Times New Roman" panose="02020603050405020304" pitchFamily="18" charset="0"/>
                        </a:rPr>
                        <a:t>Number of workers </a:t>
                      </a:r>
                    </a:p>
                  </a:txBody>
                  <a:tcPr>
                    <a:solidFill>
                      <a:schemeClr val="accent4">
                        <a:lumMod val="20000"/>
                        <a:lumOff val="80000"/>
                      </a:schemeClr>
                    </a:solidFill>
                  </a:tcPr>
                </a:tc>
                <a:tc>
                  <a:txBody>
                    <a:bodyPr/>
                    <a:lstStyle/>
                    <a:p>
                      <a:pPr algn="r"/>
                      <a:r>
                        <a:rPr lang="en-IN" sz="2800" dirty="0">
                          <a:latin typeface="Times New Roman" panose="02020603050405020304" pitchFamily="18" charset="0"/>
                          <a:cs typeface="Times New Roman" panose="02020603050405020304" pitchFamily="18" charset="0"/>
                        </a:rPr>
                        <a:t>150</a:t>
                      </a:r>
                    </a:p>
                  </a:txBody>
                  <a:tcPr>
                    <a:solidFill>
                      <a:schemeClr val="accent4">
                        <a:lumMod val="20000"/>
                        <a:lumOff val="80000"/>
                      </a:schemeClr>
                    </a:solidFill>
                  </a:tcPr>
                </a:tc>
                <a:tc>
                  <a:txBody>
                    <a:bodyPr/>
                    <a:lstStyle/>
                    <a:p>
                      <a:pPr algn="r"/>
                      <a:r>
                        <a:rPr lang="en-IN" sz="2800" dirty="0">
                          <a:latin typeface="Times New Roman" panose="02020603050405020304" pitchFamily="18" charset="0"/>
                          <a:cs typeface="Times New Roman" panose="02020603050405020304" pitchFamily="18" charset="0"/>
                        </a:rPr>
                        <a:t>140</a:t>
                      </a:r>
                    </a:p>
                  </a:txBody>
                  <a:tcPr>
                    <a:solidFill>
                      <a:schemeClr val="accent4">
                        <a:lumMod val="20000"/>
                        <a:lumOff val="80000"/>
                      </a:schemeClr>
                    </a:solidFill>
                  </a:tcPr>
                </a:tc>
                <a:extLst>
                  <a:ext uri="{0D108BD9-81ED-4DB2-BD59-A6C34878D82A}">
                    <a16:rowId xmlns:a16="http://schemas.microsoft.com/office/drawing/2014/main" val="900197527"/>
                  </a:ext>
                </a:extLst>
              </a:tr>
            </a:tbl>
          </a:graphicData>
        </a:graphic>
      </p:graphicFrame>
    </p:spTree>
    <p:extLst>
      <p:ext uri="{BB962C8B-B14F-4D97-AF65-F5344CB8AC3E}">
        <p14:creationId xmlns:p14="http://schemas.microsoft.com/office/powerpoint/2010/main" val="34248820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DCFED-158E-BDDE-46C8-0044EF28166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78009BF-A031-4057-DC2C-1E0829791EEA}"/>
              </a:ext>
            </a:extLst>
          </p:cNvPr>
          <p:cNvSpPr/>
          <p:nvPr/>
        </p:nvSpPr>
        <p:spPr>
          <a:xfrm>
            <a:off x="456714" y="0"/>
            <a:ext cx="11735286"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t>PRODUCTIVITY AS A MEASURE OF COMPETITIVENESS</a:t>
            </a:r>
            <a:endParaRPr lang="en-IN" sz="7200" b="1" dirty="0">
              <a:solidFill>
                <a:schemeClr val="accent4">
                  <a:lumMod val="20000"/>
                  <a:lumOff val="80000"/>
                </a:schemeClr>
              </a:solidFill>
            </a:endParaRPr>
          </a:p>
        </p:txBody>
      </p:sp>
      <p:sp>
        <p:nvSpPr>
          <p:cNvPr id="4" name="TextBox 3">
            <a:extLst>
              <a:ext uri="{FF2B5EF4-FFF2-40B4-BE49-F238E27FC236}">
                <a16:creationId xmlns:a16="http://schemas.microsoft.com/office/drawing/2014/main" id="{4E7C335A-F6CA-8263-6AF8-3A6D429A2427}"/>
              </a:ext>
            </a:extLst>
          </p:cNvPr>
          <p:cNvSpPr txBox="1"/>
          <p:nvPr/>
        </p:nvSpPr>
        <p:spPr>
          <a:xfrm>
            <a:off x="680424" y="945932"/>
            <a:ext cx="11389660" cy="461665"/>
          </a:xfrm>
          <a:prstGeom prst="rect">
            <a:avLst/>
          </a:prstGeom>
          <a:solidFill>
            <a:schemeClr val="accent1">
              <a:lumMod val="20000"/>
              <a:lumOff val="80000"/>
            </a:schemeClr>
          </a:solidFill>
        </p:spPr>
        <p:txBody>
          <a:bodyPr wrap="square">
            <a:spAutoFit/>
          </a:bodyPr>
          <a:lstStyle/>
          <a:p>
            <a:pPr marL="457200" indent="-457200" algn="just">
              <a:buFont typeface="+mj-lt"/>
              <a:buAutoNum type="arabicParenR"/>
            </a:pPr>
            <a:r>
              <a:rPr lang="en-US" sz="2400" b="1" dirty="0"/>
              <a:t>Calculate, </a:t>
            </a:r>
            <a:r>
              <a:rPr lang="en-US" sz="2400" b="1" dirty="0" err="1"/>
              <a:t>Labour</a:t>
            </a:r>
            <a:r>
              <a:rPr lang="en-US" sz="2400" b="1" dirty="0"/>
              <a:t> Productivity, Total Productivity (TP), and </a:t>
            </a:r>
            <a:r>
              <a:rPr lang="en-IN" sz="2400" b="1" dirty="0"/>
              <a:t>percentage change in TP. </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3B923B9-4418-1264-6EA9-D0779A5F060F}"/>
                  </a:ext>
                </a:extLst>
              </p:cNvPr>
              <p:cNvSpPr txBox="1"/>
              <p:nvPr/>
            </p:nvSpPr>
            <p:spPr>
              <a:xfrm>
                <a:off x="680420" y="1407597"/>
                <a:ext cx="6658086" cy="3058145"/>
              </a:xfrm>
              <a:prstGeom prst="rect">
                <a:avLst/>
              </a:prstGeom>
              <a:solidFill>
                <a:schemeClr val="accent2">
                  <a:lumMod val="20000"/>
                  <a:lumOff val="80000"/>
                </a:schemeClr>
              </a:solid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Labor Productivity</a:t>
                </a:r>
              </a:p>
              <a:p>
                <a:pPr>
                  <a:buNone/>
                </a:pPr>
                <a:r>
                  <a:rPr lang="en-IN" sz="2000" b="1" dirty="0">
                    <a:latin typeface="Times New Roman" panose="02020603050405020304" pitchFamily="18" charset="0"/>
                    <a:cs typeface="Times New Roman" panose="02020603050405020304" pitchFamily="18" charset="0"/>
                  </a:rPr>
                  <a:t>Year 2020</a:t>
                </a:r>
              </a:p>
              <a:p>
                <a:pPr>
                  <a:buNone/>
                </a:pPr>
                <a14:m>
                  <m:oMathPara xmlns:m="http://schemas.openxmlformats.org/officeDocument/2006/math">
                    <m:oMathParaPr>
                      <m:jc m:val="centerGroup"/>
                    </m:oMathParaPr>
                    <m:oMath xmlns:m="http://schemas.openxmlformats.org/officeDocument/2006/math">
                      <m:f>
                        <m:fPr>
                          <m:ctrlPr>
                            <a:rPr lang="ar-AE" sz="2000" i="1">
                              <a:latin typeface="Cambria Math" panose="02040503050406030204" pitchFamily="18" charset="0"/>
                            </a:rPr>
                          </m:ctrlPr>
                        </m:fPr>
                        <m:num>
                          <m:r>
                            <a:rPr lang="ar-AE" sz="2000">
                              <a:latin typeface="Cambria Math" panose="02040503050406030204" pitchFamily="18" charset="0"/>
                            </a:rPr>
                            <m:t>1</m:t>
                          </m:r>
                          <m:r>
                            <a:rPr lang="ar-AE" sz="2000" i="0">
                              <a:latin typeface="Cambria Math" panose="02040503050406030204" pitchFamily="18" charset="0"/>
                            </a:rPr>
                            <m:t>,</m:t>
                          </m:r>
                          <m:r>
                            <a:rPr lang="ar-AE" sz="2000" i="0">
                              <a:latin typeface="Cambria Math" panose="02040503050406030204" pitchFamily="18" charset="0"/>
                            </a:rPr>
                            <m:t>20</m:t>
                          </m:r>
                          <m:r>
                            <a:rPr lang="ar-AE" sz="2000" i="0">
                              <a:latin typeface="Cambria Math" panose="02040503050406030204" pitchFamily="18" charset="0"/>
                            </a:rPr>
                            <m:t>,</m:t>
                          </m:r>
                          <m:r>
                            <a:rPr lang="ar-AE" sz="2000" i="0">
                              <a:latin typeface="Cambria Math" panose="02040503050406030204" pitchFamily="18" charset="0"/>
                            </a:rPr>
                            <m:t>000</m:t>
                          </m:r>
                        </m:num>
                        <m:den>
                          <m:r>
                            <a:rPr lang="ar-AE" sz="2000" i="0">
                              <a:latin typeface="Cambria Math" panose="02040503050406030204" pitchFamily="18" charset="0"/>
                            </a:rPr>
                            <m:t>150</m:t>
                          </m:r>
                        </m:den>
                      </m:f>
                      <m:r>
                        <a:rPr lang="ar-AE" sz="2000" i="0">
                          <a:latin typeface="Cambria Math" panose="02040503050406030204" pitchFamily="18" charset="0"/>
                        </a:rPr>
                        <m:t>=</m:t>
                      </m:r>
                      <m:r>
                        <a:rPr lang="ar-AE" sz="2000" i="0">
                          <a:latin typeface="Cambria Math" panose="02040503050406030204" pitchFamily="18" charset="0"/>
                        </a:rPr>
                        <m:t>800</m:t>
                      </m:r>
                      <m:r>
                        <m:rPr>
                          <m:nor/>
                        </m:rPr>
                        <a:rPr lang="ar-AE" sz="2000" b="0" i="1">
                          <a:latin typeface="Times New Roman" panose="02020603050405020304" pitchFamily="18" charset="0"/>
                          <a:cs typeface="Times New Roman" panose="02020603050405020304" pitchFamily="18" charset="0"/>
                        </a:rPr>
                        <m:t> </m:t>
                      </m:r>
                      <m:r>
                        <m:rPr>
                          <m:nor/>
                        </m:rPr>
                        <a:rPr lang="en-IN" sz="2000" b="0" i="1">
                          <a:latin typeface="Times New Roman" panose="02020603050405020304" pitchFamily="18" charset="0"/>
                          <a:cs typeface="Times New Roman" panose="02020603050405020304" pitchFamily="18" charset="0"/>
                        </a:rPr>
                        <m:t>units</m:t>
                      </m:r>
                      <m:r>
                        <m:rPr>
                          <m:nor/>
                        </m:rPr>
                        <a:rPr lang="en-IN" sz="2000" b="0" i="1">
                          <a:latin typeface="Times New Roman" panose="02020603050405020304" pitchFamily="18" charset="0"/>
                          <a:cs typeface="Times New Roman" panose="02020603050405020304" pitchFamily="18" charset="0"/>
                        </a:rPr>
                        <m:t> </m:t>
                      </m:r>
                      <m:r>
                        <m:rPr>
                          <m:nor/>
                        </m:rPr>
                        <a:rPr lang="en-IN" sz="2000" b="0" i="1">
                          <a:latin typeface="Times New Roman" panose="02020603050405020304" pitchFamily="18" charset="0"/>
                          <a:cs typeface="Times New Roman" panose="02020603050405020304" pitchFamily="18" charset="0"/>
                        </a:rPr>
                        <m:t>per</m:t>
                      </m:r>
                      <m:r>
                        <m:rPr>
                          <m:nor/>
                        </m:rPr>
                        <a:rPr lang="en-IN" sz="2000" b="0" i="1">
                          <a:latin typeface="Times New Roman" panose="02020603050405020304" pitchFamily="18" charset="0"/>
                          <a:cs typeface="Times New Roman" panose="02020603050405020304" pitchFamily="18" charset="0"/>
                        </a:rPr>
                        <m:t> </m:t>
                      </m:r>
                      <m:r>
                        <m:rPr>
                          <m:nor/>
                        </m:rPr>
                        <a:rPr lang="en-IN" sz="2000" b="0" i="1">
                          <a:latin typeface="Times New Roman" panose="02020603050405020304" pitchFamily="18" charset="0"/>
                          <a:cs typeface="Times New Roman" panose="02020603050405020304" pitchFamily="18" charset="0"/>
                        </a:rPr>
                        <m:t>worker</m:t>
                      </m:r>
                    </m:oMath>
                  </m:oMathPara>
                </a14:m>
                <a:endParaRPr lang="en-IN" sz="2000" b="0"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Year 2022</a:t>
                </a:r>
              </a:p>
              <a:p>
                <a:pPr>
                  <a:buNone/>
                </a:pPr>
                <a14:m>
                  <m:oMathPara xmlns:m="http://schemas.openxmlformats.org/officeDocument/2006/math">
                    <m:oMathParaPr>
                      <m:jc m:val="centerGroup"/>
                    </m:oMathParaPr>
                    <m:oMath xmlns:m="http://schemas.openxmlformats.org/officeDocument/2006/math">
                      <m:f>
                        <m:fPr>
                          <m:ctrlPr>
                            <a:rPr lang="ar-AE" sz="2000" i="1">
                              <a:latin typeface="Cambria Math" panose="02040503050406030204" pitchFamily="18" charset="0"/>
                            </a:rPr>
                          </m:ctrlPr>
                        </m:fPr>
                        <m:num>
                          <m:r>
                            <a:rPr lang="ar-AE" sz="2000">
                              <a:latin typeface="Cambria Math" panose="02040503050406030204" pitchFamily="18" charset="0"/>
                            </a:rPr>
                            <m:t>1</m:t>
                          </m:r>
                          <m:r>
                            <a:rPr lang="ar-AE" sz="2000" i="0">
                              <a:latin typeface="Cambria Math" panose="02040503050406030204" pitchFamily="18" charset="0"/>
                            </a:rPr>
                            <m:t>,</m:t>
                          </m:r>
                          <m:r>
                            <a:rPr lang="ar-AE" sz="2000" i="0">
                              <a:latin typeface="Cambria Math" panose="02040503050406030204" pitchFamily="18" charset="0"/>
                            </a:rPr>
                            <m:t>40</m:t>
                          </m:r>
                          <m:r>
                            <a:rPr lang="ar-AE" sz="2000" i="0">
                              <a:latin typeface="Cambria Math" panose="02040503050406030204" pitchFamily="18" charset="0"/>
                            </a:rPr>
                            <m:t>,</m:t>
                          </m:r>
                          <m:r>
                            <a:rPr lang="ar-AE" sz="2000" i="0">
                              <a:latin typeface="Cambria Math" panose="02040503050406030204" pitchFamily="18" charset="0"/>
                            </a:rPr>
                            <m:t>000</m:t>
                          </m:r>
                        </m:num>
                        <m:den>
                          <m:r>
                            <a:rPr lang="ar-AE" sz="2000" i="0">
                              <a:latin typeface="Cambria Math" panose="02040503050406030204" pitchFamily="18" charset="0"/>
                            </a:rPr>
                            <m:t>140</m:t>
                          </m:r>
                        </m:den>
                      </m:f>
                      <m:r>
                        <a:rPr lang="ar-AE" sz="2000" i="0">
                          <a:latin typeface="Cambria Math" panose="02040503050406030204" pitchFamily="18" charset="0"/>
                        </a:rPr>
                        <m:t>=</m:t>
                      </m:r>
                      <m:r>
                        <a:rPr lang="ar-AE" sz="2000" i="0">
                          <a:latin typeface="Cambria Math" panose="02040503050406030204" pitchFamily="18" charset="0"/>
                        </a:rPr>
                        <m:t>1000</m:t>
                      </m:r>
                      <m:r>
                        <m:rPr>
                          <m:nor/>
                        </m:rPr>
                        <a:rPr lang="ar-AE" sz="2000" b="0" i="1">
                          <a:latin typeface="Times New Roman" panose="02020603050405020304" pitchFamily="18" charset="0"/>
                          <a:cs typeface="Times New Roman" panose="02020603050405020304" pitchFamily="18" charset="0"/>
                        </a:rPr>
                        <m:t> </m:t>
                      </m:r>
                      <m:r>
                        <m:rPr>
                          <m:nor/>
                        </m:rPr>
                        <a:rPr lang="en-IN" sz="2000" b="0" i="1">
                          <a:latin typeface="Times New Roman" panose="02020603050405020304" pitchFamily="18" charset="0"/>
                          <a:cs typeface="Times New Roman" panose="02020603050405020304" pitchFamily="18" charset="0"/>
                        </a:rPr>
                        <m:t>units</m:t>
                      </m:r>
                      <m:r>
                        <m:rPr>
                          <m:nor/>
                        </m:rPr>
                        <a:rPr lang="en-IN" sz="2000" b="0" i="1">
                          <a:latin typeface="Times New Roman" panose="02020603050405020304" pitchFamily="18" charset="0"/>
                          <a:cs typeface="Times New Roman" panose="02020603050405020304" pitchFamily="18" charset="0"/>
                        </a:rPr>
                        <m:t> </m:t>
                      </m:r>
                      <m:r>
                        <m:rPr>
                          <m:nor/>
                        </m:rPr>
                        <a:rPr lang="en-IN" sz="2000" b="0" i="1">
                          <a:latin typeface="Times New Roman" panose="02020603050405020304" pitchFamily="18" charset="0"/>
                          <a:cs typeface="Times New Roman" panose="02020603050405020304" pitchFamily="18" charset="0"/>
                        </a:rPr>
                        <m:t>per</m:t>
                      </m:r>
                      <m:r>
                        <m:rPr>
                          <m:nor/>
                        </m:rPr>
                        <a:rPr lang="en-IN" sz="2000" b="0" i="1">
                          <a:latin typeface="Times New Roman" panose="02020603050405020304" pitchFamily="18" charset="0"/>
                          <a:cs typeface="Times New Roman" panose="02020603050405020304" pitchFamily="18" charset="0"/>
                        </a:rPr>
                        <m:t> </m:t>
                      </m:r>
                      <m:r>
                        <m:rPr>
                          <m:nor/>
                        </m:rPr>
                        <a:rPr lang="en-IN" sz="2000" b="0" i="1">
                          <a:latin typeface="Times New Roman" panose="02020603050405020304" pitchFamily="18" charset="0"/>
                          <a:cs typeface="Times New Roman" panose="02020603050405020304" pitchFamily="18" charset="0"/>
                        </a:rPr>
                        <m:t>worker</m:t>
                      </m:r>
                    </m:oMath>
                  </m:oMathPara>
                </a14:m>
                <a:endParaRPr lang="en-IN" sz="2000" b="0"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 Increase:</a:t>
                </a:r>
              </a:p>
              <a:p>
                <a:pPr>
                  <a:buNone/>
                </a:pPr>
                <a14:m>
                  <m:oMathPara xmlns:m="http://schemas.openxmlformats.org/officeDocument/2006/math">
                    <m:oMathParaPr>
                      <m:jc m:val="centerGroup"/>
                    </m:oMathParaPr>
                    <m:oMath xmlns:m="http://schemas.openxmlformats.org/officeDocument/2006/math">
                      <m:f>
                        <m:fPr>
                          <m:ctrlPr>
                            <a:rPr lang="ar-AE" sz="2000" i="1">
                              <a:latin typeface="Cambria Math" panose="02040503050406030204" pitchFamily="18" charset="0"/>
                            </a:rPr>
                          </m:ctrlPr>
                        </m:fPr>
                        <m:num>
                          <m:r>
                            <a:rPr lang="ar-AE" sz="2000">
                              <a:latin typeface="Cambria Math" panose="02040503050406030204" pitchFamily="18" charset="0"/>
                            </a:rPr>
                            <m:t>1000</m:t>
                          </m:r>
                          <m:r>
                            <a:rPr lang="ar-AE" sz="2000" i="0">
                              <a:latin typeface="Cambria Math" panose="02040503050406030204" pitchFamily="18" charset="0"/>
                            </a:rPr>
                            <m:t>−</m:t>
                          </m:r>
                          <m:r>
                            <a:rPr lang="ar-AE" sz="2000" i="0">
                              <a:latin typeface="Cambria Math" panose="02040503050406030204" pitchFamily="18" charset="0"/>
                            </a:rPr>
                            <m:t>800</m:t>
                          </m:r>
                        </m:num>
                        <m:den>
                          <m:r>
                            <a:rPr lang="ar-AE" sz="2000" i="0">
                              <a:latin typeface="Cambria Math" panose="02040503050406030204" pitchFamily="18" charset="0"/>
                            </a:rPr>
                            <m:t>800</m:t>
                          </m:r>
                        </m:den>
                      </m:f>
                      <m:r>
                        <a:rPr lang="ar-AE" sz="2000" i="0">
                          <a:latin typeface="Cambria Math" panose="02040503050406030204" pitchFamily="18" charset="0"/>
                        </a:rPr>
                        <m:t>×</m:t>
                      </m:r>
                      <m:r>
                        <a:rPr lang="ar-AE" sz="2000" i="0">
                          <a:latin typeface="Cambria Math" panose="02040503050406030204" pitchFamily="18" charset="0"/>
                        </a:rPr>
                        <m:t>100</m:t>
                      </m:r>
                      <m:r>
                        <a:rPr lang="ar-AE" sz="2000" i="0">
                          <a:latin typeface="Cambria Math" panose="02040503050406030204" pitchFamily="18" charset="0"/>
                        </a:rPr>
                        <m:t>=</m:t>
                      </m:r>
                      <m:r>
                        <a:rPr lang="ar-AE" sz="2000" i="0">
                          <a:latin typeface="Cambria Math" panose="02040503050406030204" pitchFamily="18" charset="0"/>
                        </a:rPr>
                        <m:t>25</m:t>
                      </m:r>
                      <m:r>
                        <a:rPr lang="ar-AE" sz="2000" i="0">
                          <a:latin typeface="Cambria Math" panose="02040503050406030204" pitchFamily="18" charset="0"/>
                        </a:rPr>
                        <m:t>%</m:t>
                      </m:r>
                    </m:oMath>
                  </m:oMathPara>
                </a14:m>
                <a:endParaRPr lang="ar-AE" sz="2000" dirty="0">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03B923B9-4418-1264-6EA9-D0779A5F060F}"/>
                  </a:ext>
                </a:extLst>
              </p:cNvPr>
              <p:cNvSpPr txBox="1">
                <a:spLocks noRot="1" noChangeAspect="1" noMove="1" noResize="1" noEditPoints="1" noAdjustHandles="1" noChangeArrowheads="1" noChangeShapeType="1" noTextEdit="1"/>
              </p:cNvSpPr>
              <p:nvPr/>
            </p:nvSpPr>
            <p:spPr>
              <a:xfrm>
                <a:off x="680420" y="1407597"/>
                <a:ext cx="6658086" cy="3058145"/>
              </a:xfrm>
              <a:prstGeom prst="rect">
                <a:avLst/>
              </a:prstGeom>
              <a:blipFill>
                <a:blip r:embed="rId3"/>
                <a:stretch>
                  <a:fillRect l="-1007" t="-11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71E6FC2-AD68-C486-5B6E-5CCF7EF6A12F}"/>
                  </a:ext>
                </a:extLst>
              </p:cNvPr>
              <p:cNvSpPr txBox="1"/>
              <p:nvPr/>
            </p:nvSpPr>
            <p:spPr>
              <a:xfrm>
                <a:off x="7338506" y="1341398"/>
                <a:ext cx="4774610" cy="5429243"/>
              </a:xfrm>
              <a:prstGeom prst="rect">
                <a:avLst/>
              </a:prstGeom>
              <a:solidFill>
                <a:schemeClr val="accent6">
                  <a:lumMod val="20000"/>
                  <a:lumOff val="80000"/>
                </a:schemeClr>
              </a:solidFill>
            </p:spPr>
            <p:txBody>
              <a:bodyPr wrap="square">
                <a:spAutoFit/>
              </a:bodyPr>
              <a:lstStyle/>
              <a:p>
                <a:r>
                  <a:rPr lang="en-IN" sz="2400" b="1" dirty="0">
                    <a:latin typeface="Times New Roman" panose="02020603050405020304" pitchFamily="18" charset="0"/>
                    <a:cs typeface="Times New Roman" panose="02020603050405020304" pitchFamily="18" charset="0"/>
                  </a:rPr>
                  <a:t>Total Productivity</a:t>
                </a:r>
              </a:p>
              <a:p>
                <a:r>
                  <a:rPr lang="en-IN" sz="2400" b="1" dirty="0">
                    <a:latin typeface="Times New Roman" panose="02020603050405020304" pitchFamily="18" charset="0"/>
                    <a:cs typeface="Times New Roman" panose="02020603050405020304" pitchFamily="18" charset="0"/>
                  </a:rPr>
                  <a:t>Year 2020</a:t>
                </a:r>
              </a:p>
              <a:p>
                <a:r>
                  <a:rPr lang="en-IN" sz="2400" dirty="0">
                    <a:latin typeface="Times New Roman" panose="02020603050405020304" pitchFamily="18" charset="0"/>
                    <a:cs typeface="Times New Roman" panose="02020603050405020304" pitchFamily="18" charset="0"/>
                  </a:rPr>
                  <a:t>Output Value:</a:t>
                </a:r>
              </a:p>
              <a:p>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1</m:t>
                      </m:r>
                      <m:r>
                        <a:rPr lang="en-IN">
                          <a:latin typeface="Cambria Math" panose="02040503050406030204" pitchFamily="18" charset="0"/>
                        </a:rPr>
                        <m:t>,</m:t>
                      </m:r>
                      <m:r>
                        <a:rPr lang="en-IN">
                          <a:latin typeface="Cambria Math" panose="02040503050406030204" pitchFamily="18" charset="0"/>
                        </a:rPr>
                        <m:t>20</m:t>
                      </m:r>
                      <m:r>
                        <a:rPr lang="en-IN">
                          <a:latin typeface="Cambria Math" panose="02040503050406030204" pitchFamily="18" charset="0"/>
                        </a:rPr>
                        <m:t>,</m:t>
                      </m:r>
                      <m:r>
                        <a:rPr lang="en-IN">
                          <a:latin typeface="Cambria Math" panose="02040503050406030204" pitchFamily="18" charset="0"/>
                        </a:rPr>
                        <m:t>000</m:t>
                      </m:r>
                      <m:r>
                        <a:rPr lang="en-IN">
                          <a:latin typeface="Cambria Math" panose="02040503050406030204" pitchFamily="18" charset="0"/>
                        </a:rPr>
                        <m:t>×</m:t>
                      </m:r>
                      <m:r>
                        <a:rPr lang="en-IN">
                          <a:latin typeface="Cambria Math" panose="02040503050406030204" pitchFamily="18" charset="0"/>
                        </a:rPr>
                        <m:t>800</m:t>
                      </m:r>
                      <m:r>
                        <a:rPr lang="en-IN">
                          <a:latin typeface="Cambria Math" panose="02040503050406030204" pitchFamily="18" charset="0"/>
                        </a:rPr>
                        <m:t>=</m:t>
                      </m:r>
                      <m:r>
                        <m:rPr>
                          <m:nor/>
                        </m:rPr>
                        <a:rPr lang="en-IN" i="1">
                          <a:latin typeface="Times New Roman" panose="02020603050405020304" pitchFamily="18" charset="0"/>
                          <a:cs typeface="Times New Roman" panose="02020603050405020304" pitchFamily="18" charset="0"/>
                        </a:rPr>
                        <m:t>₹</m:t>
                      </m:r>
                      <m:r>
                        <a:rPr lang="en-IN">
                          <a:latin typeface="Cambria Math" panose="02040503050406030204" pitchFamily="18" charset="0"/>
                        </a:rPr>
                        <m:t>9</m:t>
                      </m:r>
                      <m:r>
                        <a:rPr lang="en-IN">
                          <a:latin typeface="Cambria Math" panose="02040503050406030204" pitchFamily="18" charset="0"/>
                        </a:rPr>
                        <m:t>,</m:t>
                      </m:r>
                      <m:r>
                        <a:rPr lang="en-IN">
                          <a:latin typeface="Cambria Math" panose="02040503050406030204" pitchFamily="18" charset="0"/>
                        </a:rPr>
                        <m:t>60</m:t>
                      </m:r>
                      <m:r>
                        <a:rPr lang="en-IN">
                          <a:latin typeface="Cambria Math" panose="02040503050406030204" pitchFamily="18" charset="0"/>
                        </a:rPr>
                        <m:t>,</m:t>
                      </m:r>
                      <m:r>
                        <a:rPr lang="en-IN">
                          <a:latin typeface="Cambria Math" panose="02040503050406030204" pitchFamily="18" charset="0"/>
                        </a:rPr>
                        <m:t>00</m:t>
                      </m:r>
                      <m:r>
                        <a:rPr lang="en-IN">
                          <a:latin typeface="Cambria Math" panose="02040503050406030204" pitchFamily="18" charset="0"/>
                        </a:rPr>
                        <m:t>,</m:t>
                      </m:r>
                      <m:r>
                        <a:rPr lang="en-IN">
                          <a:latin typeface="Cambria Math" panose="02040503050406030204" pitchFamily="18" charset="0"/>
                        </a:rPr>
                        <m:t>000</m:t>
                      </m:r>
                    </m:oMath>
                  </m:oMathPara>
                </a14:m>
                <a:endParaRPr lang="en-IN" sz="2400" b="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Total Input:</a:t>
                </a:r>
              </a:p>
              <a:p>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1</m:t>
                      </m:r>
                      <m:r>
                        <a:rPr lang="en-IN">
                          <a:latin typeface="Cambria Math" panose="02040503050406030204" pitchFamily="18" charset="0"/>
                        </a:rPr>
                        <m:t>,</m:t>
                      </m:r>
                      <m:r>
                        <a:rPr lang="en-IN">
                          <a:latin typeface="Cambria Math" panose="02040503050406030204" pitchFamily="18" charset="0"/>
                        </a:rPr>
                        <m:t>80</m:t>
                      </m:r>
                      <m:r>
                        <a:rPr lang="en-IN">
                          <a:latin typeface="Cambria Math" panose="02040503050406030204" pitchFamily="18" charset="0"/>
                        </a:rPr>
                        <m:t>,</m:t>
                      </m:r>
                      <m:r>
                        <a:rPr lang="en-IN">
                          <a:latin typeface="Cambria Math" panose="02040503050406030204" pitchFamily="18" charset="0"/>
                        </a:rPr>
                        <m:t>00</m:t>
                      </m:r>
                      <m:r>
                        <a:rPr lang="en-IN">
                          <a:latin typeface="Cambria Math" panose="02040503050406030204" pitchFamily="18" charset="0"/>
                        </a:rPr>
                        <m:t>,</m:t>
                      </m:r>
                      <m:r>
                        <a:rPr lang="en-IN">
                          <a:latin typeface="Cambria Math" panose="02040503050406030204" pitchFamily="18" charset="0"/>
                        </a:rPr>
                        <m:t>000</m:t>
                      </m:r>
                      <m:r>
                        <a:rPr lang="en-IN">
                          <a:latin typeface="Cambria Math" panose="02040503050406030204" pitchFamily="18" charset="0"/>
                        </a:rPr>
                        <m:t>+</m:t>
                      </m:r>
                      <m:r>
                        <a:rPr lang="en-IN">
                          <a:latin typeface="Cambria Math" panose="02040503050406030204" pitchFamily="18" charset="0"/>
                        </a:rPr>
                        <m:t>3</m:t>
                      </m:r>
                      <m:r>
                        <a:rPr lang="en-IN">
                          <a:latin typeface="Cambria Math" panose="02040503050406030204" pitchFamily="18" charset="0"/>
                        </a:rPr>
                        <m:t>,</m:t>
                      </m:r>
                      <m:r>
                        <a:rPr lang="en-IN">
                          <a:latin typeface="Cambria Math" panose="02040503050406030204" pitchFamily="18" charset="0"/>
                        </a:rPr>
                        <m:t>00</m:t>
                      </m:r>
                      <m:r>
                        <a:rPr lang="en-IN">
                          <a:latin typeface="Cambria Math" panose="02040503050406030204" pitchFamily="18" charset="0"/>
                        </a:rPr>
                        <m:t>,</m:t>
                      </m:r>
                      <m:r>
                        <a:rPr lang="en-IN">
                          <a:latin typeface="Cambria Math" panose="02040503050406030204" pitchFamily="18" charset="0"/>
                        </a:rPr>
                        <m:t>00</m:t>
                      </m:r>
                      <m:r>
                        <a:rPr lang="en-IN">
                          <a:latin typeface="Cambria Math" panose="02040503050406030204" pitchFamily="18" charset="0"/>
                        </a:rPr>
                        <m:t>,</m:t>
                      </m:r>
                      <m:r>
                        <a:rPr lang="en-IN">
                          <a:latin typeface="Cambria Math" panose="02040503050406030204" pitchFamily="18" charset="0"/>
                        </a:rPr>
                        <m:t>000</m:t>
                      </m:r>
                      <m:r>
                        <a:rPr lang="en-IN">
                          <a:latin typeface="Cambria Math" panose="02040503050406030204" pitchFamily="18" charset="0"/>
                        </a:rPr>
                        <m:t>+</m:t>
                      </m:r>
                      <m:r>
                        <a:rPr lang="en-IN">
                          <a:latin typeface="Cambria Math" panose="02040503050406030204" pitchFamily="18" charset="0"/>
                        </a:rPr>
                        <m:t>1</m:t>
                      </m:r>
                      <m:r>
                        <a:rPr lang="en-IN">
                          <a:latin typeface="Cambria Math" panose="02040503050406030204" pitchFamily="18" charset="0"/>
                        </a:rPr>
                        <m:t>,</m:t>
                      </m:r>
                      <m:r>
                        <a:rPr lang="en-IN">
                          <a:latin typeface="Cambria Math" panose="02040503050406030204" pitchFamily="18" charset="0"/>
                        </a:rPr>
                        <m:t>20</m:t>
                      </m:r>
                      <m:r>
                        <a:rPr lang="en-IN">
                          <a:latin typeface="Cambria Math" panose="02040503050406030204" pitchFamily="18" charset="0"/>
                        </a:rPr>
                        <m:t>,</m:t>
                      </m:r>
                      <m:r>
                        <a:rPr lang="en-IN">
                          <a:latin typeface="Cambria Math" panose="02040503050406030204" pitchFamily="18" charset="0"/>
                        </a:rPr>
                        <m:t>00</m:t>
                      </m:r>
                      <m:r>
                        <a:rPr lang="en-IN">
                          <a:latin typeface="Cambria Math" panose="02040503050406030204" pitchFamily="18" charset="0"/>
                        </a:rPr>
                        <m:t>,</m:t>
                      </m:r>
                      <m:r>
                        <a:rPr lang="en-IN">
                          <a:latin typeface="Cambria Math" panose="02040503050406030204" pitchFamily="18" charset="0"/>
                        </a:rPr>
                        <m:t>000</m:t>
                      </m:r>
                      <m:r>
                        <a:rPr lang="en-IN">
                          <a:latin typeface="Cambria Math" panose="02040503050406030204" pitchFamily="18" charset="0"/>
                        </a:rPr>
                        <m:t>=</m:t>
                      </m:r>
                      <m:r>
                        <m:rPr>
                          <m:nor/>
                        </m:rPr>
                        <a:rPr lang="en-IN" i="1">
                          <a:latin typeface="Times New Roman" panose="02020603050405020304" pitchFamily="18" charset="0"/>
                          <a:cs typeface="Times New Roman" panose="02020603050405020304" pitchFamily="18" charset="0"/>
                        </a:rPr>
                        <m:t>₹</m:t>
                      </m:r>
                      <m:r>
                        <a:rPr lang="en-IN">
                          <a:latin typeface="Cambria Math" panose="02040503050406030204" pitchFamily="18" charset="0"/>
                        </a:rPr>
                        <m:t>6</m:t>
                      </m:r>
                      <m:r>
                        <a:rPr lang="en-IN">
                          <a:latin typeface="Cambria Math" panose="02040503050406030204" pitchFamily="18" charset="0"/>
                        </a:rPr>
                        <m:t>,</m:t>
                      </m:r>
                      <m:r>
                        <a:rPr lang="en-IN">
                          <a:latin typeface="Cambria Math" panose="02040503050406030204" pitchFamily="18" charset="0"/>
                        </a:rPr>
                        <m:t>00</m:t>
                      </m:r>
                      <m:r>
                        <a:rPr lang="en-IN">
                          <a:latin typeface="Cambria Math" panose="02040503050406030204" pitchFamily="18" charset="0"/>
                        </a:rPr>
                        <m:t>,</m:t>
                      </m:r>
                      <m:r>
                        <a:rPr lang="en-IN">
                          <a:latin typeface="Cambria Math" panose="02040503050406030204" pitchFamily="18" charset="0"/>
                        </a:rPr>
                        <m:t>00</m:t>
                      </m:r>
                      <m:r>
                        <a:rPr lang="en-IN">
                          <a:latin typeface="Cambria Math" panose="02040503050406030204" pitchFamily="18" charset="0"/>
                        </a:rPr>
                        <m:t>,</m:t>
                      </m:r>
                      <m:r>
                        <a:rPr lang="en-IN">
                          <a:latin typeface="Cambria Math" panose="02040503050406030204" pitchFamily="18" charset="0"/>
                        </a:rPr>
                        <m:t>000</m:t>
                      </m:r>
                    </m:oMath>
                  </m:oMathPara>
                </a14:m>
                <a:endParaRPr lang="en-IN" sz="2400" b="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𝑇</m:t>
                      </m:r>
                      <m:sSub>
                        <m:sSubPr>
                          <m:ctrlPr>
                            <a:rPr lang="ar-AE" i="1">
                              <a:latin typeface="Cambria Math" panose="02040503050406030204" pitchFamily="18" charset="0"/>
                            </a:rPr>
                          </m:ctrlPr>
                        </m:sSubPr>
                        <m:e>
                          <m:r>
                            <a:rPr lang="ar-AE" i="1">
                              <a:latin typeface="Cambria Math" panose="02040503050406030204" pitchFamily="18" charset="0"/>
                            </a:rPr>
                            <m:t>𝑃</m:t>
                          </m:r>
                        </m:e>
                        <m:sub>
                          <m:r>
                            <a:rPr lang="en-IN" b="0" i="0" smtClean="0">
                              <a:latin typeface="Cambria Math" panose="02040503050406030204" pitchFamily="18" charset="0"/>
                            </a:rPr>
                            <m:t>20</m:t>
                          </m:r>
                        </m:sub>
                      </m:sSub>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9</m:t>
                          </m:r>
                          <m:r>
                            <a:rPr lang="ar-AE">
                              <a:latin typeface="Cambria Math" panose="02040503050406030204" pitchFamily="18" charset="0"/>
                            </a:rPr>
                            <m:t>,</m:t>
                          </m:r>
                          <m:r>
                            <a:rPr lang="ar-AE">
                              <a:latin typeface="Cambria Math" panose="02040503050406030204" pitchFamily="18" charset="0"/>
                            </a:rPr>
                            <m:t>60</m:t>
                          </m:r>
                          <m:r>
                            <a:rPr lang="ar-AE">
                              <a:latin typeface="Cambria Math" panose="02040503050406030204" pitchFamily="18" charset="0"/>
                            </a:rPr>
                            <m:t>,</m:t>
                          </m:r>
                          <m:r>
                            <a:rPr lang="ar-AE">
                              <a:latin typeface="Cambria Math" panose="02040503050406030204" pitchFamily="18" charset="0"/>
                            </a:rPr>
                            <m:t>00</m:t>
                          </m:r>
                          <m:r>
                            <a:rPr lang="ar-AE">
                              <a:latin typeface="Cambria Math" panose="02040503050406030204" pitchFamily="18" charset="0"/>
                            </a:rPr>
                            <m:t>,</m:t>
                          </m:r>
                          <m:r>
                            <a:rPr lang="ar-AE">
                              <a:latin typeface="Cambria Math" panose="02040503050406030204" pitchFamily="18" charset="0"/>
                            </a:rPr>
                            <m:t>000</m:t>
                          </m:r>
                        </m:num>
                        <m:den>
                          <m:r>
                            <a:rPr lang="ar-AE">
                              <a:latin typeface="Cambria Math" panose="02040503050406030204" pitchFamily="18" charset="0"/>
                            </a:rPr>
                            <m:t>6</m:t>
                          </m:r>
                          <m:r>
                            <a:rPr lang="ar-AE">
                              <a:latin typeface="Cambria Math" panose="02040503050406030204" pitchFamily="18" charset="0"/>
                            </a:rPr>
                            <m:t>,</m:t>
                          </m:r>
                          <m:r>
                            <a:rPr lang="ar-AE">
                              <a:latin typeface="Cambria Math" panose="02040503050406030204" pitchFamily="18" charset="0"/>
                            </a:rPr>
                            <m:t>00</m:t>
                          </m:r>
                          <m:r>
                            <a:rPr lang="ar-AE">
                              <a:latin typeface="Cambria Math" panose="02040503050406030204" pitchFamily="18" charset="0"/>
                            </a:rPr>
                            <m:t>,</m:t>
                          </m:r>
                          <m:r>
                            <a:rPr lang="ar-AE">
                              <a:latin typeface="Cambria Math" panose="02040503050406030204" pitchFamily="18" charset="0"/>
                            </a:rPr>
                            <m:t>00</m:t>
                          </m:r>
                          <m:r>
                            <a:rPr lang="ar-AE">
                              <a:latin typeface="Cambria Math" panose="02040503050406030204" pitchFamily="18" charset="0"/>
                            </a:rPr>
                            <m:t>,</m:t>
                          </m:r>
                          <m:r>
                            <a:rPr lang="ar-AE">
                              <a:latin typeface="Cambria Math" panose="02040503050406030204" pitchFamily="18" charset="0"/>
                            </a:rPr>
                            <m:t>000</m:t>
                          </m:r>
                        </m:den>
                      </m:f>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6</m:t>
                      </m:r>
                    </m:oMath>
                  </m:oMathPara>
                </a14:m>
                <a:endParaRPr lang="en-IN" sz="2400" dirty="0">
                  <a:latin typeface="Times New Roman" panose="02020603050405020304" pitchFamily="18" charset="0"/>
                  <a:cs typeface="Times New Roman" panose="02020603050405020304" pitchFamily="18" charset="0"/>
                </a:endParaRPr>
              </a:p>
              <a:p>
                <a:r>
                  <a:rPr lang="en-IN" sz="2400" b="1" dirty="0"/>
                  <a:t>Year 2022</a:t>
                </a:r>
              </a:p>
              <a:p>
                <a:r>
                  <a:rPr lang="en-IN" sz="2400" dirty="0"/>
                  <a:t>Output Value:</a:t>
                </a:r>
              </a:p>
              <a:p>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1</m:t>
                      </m:r>
                      <m:r>
                        <a:rPr lang="en-IN">
                          <a:latin typeface="Cambria Math" panose="02040503050406030204" pitchFamily="18" charset="0"/>
                        </a:rPr>
                        <m:t>,</m:t>
                      </m:r>
                      <m:r>
                        <a:rPr lang="en-IN">
                          <a:latin typeface="Cambria Math" panose="02040503050406030204" pitchFamily="18" charset="0"/>
                        </a:rPr>
                        <m:t>40</m:t>
                      </m:r>
                      <m:r>
                        <a:rPr lang="en-IN">
                          <a:latin typeface="Cambria Math" panose="02040503050406030204" pitchFamily="18" charset="0"/>
                        </a:rPr>
                        <m:t>,</m:t>
                      </m:r>
                      <m:r>
                        <a:rPr lang="en-IN">
                          <a:latin typeface="Cambria Math" panose="02040503050406030204" pitchFamily="18" charset="0"/>
                        </a:rPr>
                        <m:t>000</m:t>
                      </m:r>
                      <m:r>
                        <a:rPr lang="en-IN">
                          <a:latin typeface="Cambria Math" panose="02040503050406030204" pitchFamily="18" charset="0"/>
                        </a:rPr>
                        <m:t>×</m:t>
                      </m:r>
                      <m:r>
                        <a:rPr lang="en-IN">
                          <a:latin typeface="Cambria Math" panose="02040503050406030204" pitchFamily="18" charset="0"/>
                        </a:rPr>
                        <m:t>800</m:t>
                      </m:r>
                      <m:r>
                        <a:rPr lang="en-IN">
                          <a:latin typeface="Cambria Math" panose="02040503050406030204" pitchFamily="18" charset="0"/>
                        </a:rPr>
                        <m:t>=</m:t>
                      </m:r>
                      <m:r>
                        <m:rPr>
                          <m:nor/>
                        </m:rPr>
                        <a:rPr lang="en-IN" i="1"/>
                        <m:t>₹</m:t>
                      </m:r>
                      <m:r>
                        <a:rPr lang="en-IN">
                          <a:latin typeface="Cambria Math" panose="02040503050406030204" pitchFamily="18" charset="0"/>
                        </a:rPr>
                        <m:t>11</m:t>
                      </m:r>
                      <m:r>
                        <a:rPr lang="en-IN">
                          <a:latin typeface="Cambria Math" panose="02040503050406030204" pitchFamily="18" charset="0"/>
                        </a:rPr>
                        <m:t>,</m:t>
                      </m:r>
                      <m:r>
                        <a:rPr lang="en-IN">
                          <a:latin typeface="Cambria Math" panose="02040503050406030204" pitchFamily="18" charset="0"/>
                        </a:rPr>
                        <m:t>20</m:t>
                      </m:r>
                      <m:r>
                        <a:rPr lang="en-IN">
                          <a:latin typeface="Cambria Math" panose="02040503050406030204" pitchFamily="18" charset="0"/>
                        </a:rPr>
                        <m:t>,</m:t>
                      </m:r>
                      <m:r>
                        <a:rPr lang="en-IN">
                          <a:latin typeface="Cambria Math" panose="02040503050406030204" pitchFamily="18" charset="0"/>
                        </a:rPr>
                        <m:t>00</m:t>
                      </m:r>
                      <m:r>
                        <a:rPr lang="en-IN">
                          <a:latin typeface="Cambria Math" panose="02040503050406030204" pitchFamily="18" charset="0"/>
                        </a:rPr>
                        <m:t>,</m:t>
                      </m:r>
                      <m:r>
                        <a:rPr lang="en-IN">
                          <a:latin typeface="Cambria Math" panose="02040503050406030204" pitchFamily="18" charset="0"/>
                        </a:rPr>
                        <m:t>000</m:t>
                      </m:r>
                    </m:oMath>
                  </m:oMathPara>
                </a14:m>
                <a:endParaRPr lang="en-IN" sz="2400" b="0" dirty="0"/>
              </a:p>
              <a:p>
                <a:r>
                  <a:rPr lang="en-IN" sz="2400" dirty="0"/>
                  <a:t>Total Input:</a:t>
                </a:r>
              </a:p>
              <a:p>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1</m:t>
                      </m:r>
                      <m:r>
                        <a:rPr lang="en-IN">
                          <a:latin typeface="Cambria Math" panose="02040503050406030204" pitchFamily="18" charset="0"/>
                        </a:rPr>
                        <m:t>,</m:t>
                      </m:r>
                      <m:r>
                        <a:rPr lang="en-IN">
                          <a:latin typeface="Cambria Math" panose="02040503050406030204" pitchFamily="18" charset="0"/>
                        </a:rPr>
                        <m:t>75</m:t>
                      </m:r>
                      <m:r>
                        <a:rPr lang="en-IN">
                          <a:latin typeface="Cambria Math" panose="02040503050406030204" pitchFamily="18" charset="0"/>
                        </a:rPr>
                        <m:t>,</m:t>
                      </m:r>
                      <m:r>
                        <a:rPr lang="en-IN">
                          <a:latin typeface="Cambria Math" panose="02040503050406030204" pitchFamily="18" charset="0"/>
                        </a:rPr>
                        <m:t>00</m:t>
                      </m:r>
                      <m:r>
                        <a:rPr lang="en-IN">
                          <a:latin typeface="Cambria Math" panose="02040503050406030204" pitchFamily="18" charset="0"/>
                        </a:rPr>
                        <m:t>,</m:t>
                      </m:r>
                      <m:r>
                        <a:rPr lang="en-IN">
                          <a:latin typeface="Cambria Math" panose="02040503050406030204" pitchFamily="18" charset="0"/>
                        </a:rPr>
                        <m:t>000</m:t>
                      </m:r>
                      <m:r>
                        <a:rPr lang="en-IN">
                          <a:latin typeface="Cambria Math" panose="02040503050406030204" pitchFamily="18" charset="0"/>
                        </a:rPr>
                        <m:t>+</m:t>
                      </m:r>
                      <m:r>
                        <a:rPr lang="en-IN">
                          <a:latin typeface="Cambria Math" panose="02040503050406030204" pitchFamily="18" charset="0"/>
                        </a:rPr>
                        <m:t>3</m:t>
                      </m:r>
                      <m:r>
                        <a:rPr lang="en-IN">
                          <a:latin typeface="Cambria Math" panose="02040503050406030204" pitchFamily="18" charset="0"/>
                        </a:rPr>
                        <m:t>,</m:t>
                      </m:r>
                      <m:r>
                        <a:rPr lang="en-IN">
                          <a:latin typeface="Cambria Math" panose="02040503050406030204" pitchFamily="18" charset="0"/>
                        </a:rPr>
                        <m:t>20</m:t>
                      </m:r>
                      <m:r>
                        <a:rPr lang="en-IN">
                          <a:latin typeface="Cambria Math" panose="02040503050406030204" pitchFamily="18" charset="0"/>
                        </a:rPr>
                        <m:t>,</m:t>
                      </m:r>
                      <m:r>
                        <a:rPr lang="en-IN">
                          <a:latin typeface="Cambria Math" panose="02040503050406030204" pitchFamily="18" charset="0"/>
                        </a:rPr>
                        <m:t>00</m:t>
                      </m:r>
                      <m:r>
                        <a:rPr lang="en-IN">
                          <a:latin typeface="Cambria Math" panose="02040503050406030204" pitchFamily="18" charset="0"/>
                        </a:rPr>
                        <m:t>,</m:t>
                      </m:r>
                      <m:r>
                        <a:rPr lang="en-IN">
                          <a:latin typeface="Cambria Math" panose="02040503050406030204" pitchFamily="18" charset="0"/>
                        </a:rPr>
                        <m:t>000</m:t>
                      </m:r>
                      <m:r>
                        <a:rPr lang="en-IN">
                          <a:latin typeface="Cambria Math" panose="02040503050406030204" pitchFamily="18" charset="0"/>
                        </a:rPr>
                        <m:t>+</m:t>
                      </m:r>
                      <m:r>
                        <a:rPr lang="en-IN">
                          <a:latin typeface="Cambria Math" panose="02040503050406030204" pitchFamily="18" charset="0"/>
                        </a:rPr>
                        <m:t>1</m:t>
                      </m:r>
                      <m:r>
                        <a:rPr lang="en-IN">
                          <a:latin typeface="Cambria Math" panose="02040503050406030204" pitchFamily="18" charset="0"/>
                        </a:rPr>
                        <m:t>,</m:t>
                      </m:r>
                      <m:r>
                        <a:rPr lang="en-IN">
                          <a:latin typeface="Cambria Math" panose="02040503050406030204" pitchFamily="18" charset="0"/>
                        </a:rPr>
                        <m:t>10</m:t>
                      </m:r>
                      <m:r>
                        <a:rPr lang="en-IN">
                          <a:latin typeface="Cambria Math" panose="02040503050406030204" pitchFamily="18" charset="0"/>
                        </a:rPr>
                        <m:t>,</m:t>
                      </m:r>
                      <m:r>
                        <a:rPr lang="en-IN">
                          <a:latin typeface="Cambria Math" panose="02040503050406030204" pitchFamily="18" charset="0"/>
                        </a:rPr>
                        <m:t>00</m:t>
                      </m:r>
                      <m:r>
                        <a:rPr lang="en-IN">
                          <a:latin typeface="Cambria Math" panose="02040503050406030204" pitchFamily="18" charset="0"/>
                        </a:rPr>
                        <m:t>,</m:t>
                      </m:r>
                      <m:r>
                        <a:rPr lang="en-IN">
                          <a:latin typeface="Cambria Math" panose="02040503050406030204" pitchFamily="18" charset="0"/>
                        </a:rPr>
                        <m:t>000</m:t>
                      </m:r>
                      <m:r>
                        <a:rPr lang="en-IN">
                          <a:latin typeface="Cambria Math" panose="02040503050406030204" pitchFamily="18" charset="0"/>
                        </a:rPr>
                        <m:t>=</m:t>
                      </m:r>
                      <m:r>
                        <m:rPr>
                          <m:nor/>
                        </m:rPr>
                        <a:rPr lang="en-IN" i="1"/>
                        <m:t>₹</m:t>
                      </m:r>
                      <m:r>
                        <a:rPr lang="en-IN">
                          <a:latin typeface="Cambria Math" panose="02040503050406030204" pitchFamily="18" charset="0"/>
                        </a:rPr>
                        <m:t>6</m:t>
                      </m:r>
                      <m:r>
                        <a:rPr lang="en-IN">
                          <a:latin typeface="Cambria Math" panose="02040503050406030204" pitchFamily="18" charset="0"/>
                        </a:rPr>
                        <m:t>,</m:t>
                      </m:r>
                      <m:r>
                        <a:rPr lang="en-IN">
                          <a:latin typeface="Cambria Math" panose="02040503050406030204" pitchFamily="18" charset="0"/>
                        </a:rPr>
                        <m:t>05</m:t>
                      </m:r>
                      <m:r>
                        <a:rPr lang="en-IN">
                          <a:latin typeface="Cambria Math" panose="02040503050406030204" pitchFamily="18" charset="0"/>
                        </a:rPr>
                        <m:t>,</m:t>
                      </m:r>
                      <m:r>
                        <a:rPr lang="en-IN">
                          <a:latin typeface="Cambria Math" panose="02040503050406030204" pitchFamily="18" charset="0"/>
                        </a:rPr>
                        <m:t>00</m:t>
                      </m:r>
                      <m:r>
                        <a:rPr lang="en-IN">
                          <a:latin typeface="Cambria Math" panose="02040503050406030204" pitchFamily="18" charset="0"/>
                        </a:rPr>
                        <m:t>,</m:t>
                      </m:r>
                      <m:r>
                        <a:rPr lang="en-IN">
                          <a:latin typeface="Cambria Math" panose="02040503050406030204" pitchFamily="18" charset="0"/>
                        </a:rPr>
                        <m:t>000</m:t>
                      </m:r>
                    </m:oMath>
                  </m:oMathPara>
                </a14:m>
                <a:endParaRPr lang="en-IN" sz="2400" b="0" dirty="0"/>
              </a:p>
              <a:p>
                <a14:m>
                  <m:oMath xmlns:m="http://schemas.openxmlformats.org/officeDocument/2006/math">
                    <m:r>
                      <a:rPr lang="en-IN" sz="2400" b="0" i="1" smtClean="0">
                        <a:latin typeface="Cambria Math" panose="02040503050406030204" pitchFamily="18" charset="0"/>
                      </a:rPr>
                      <m:t>𝑇</m:t>
                    </m:r>
                    <m:sSub>
                      <m:sSubPr>
                        <m:ctrlPr>
                          <a:rPr lang="ar-AE" sz="2400" i="1">
                            <a:latin typeface="Cambria Math" panose="02040503050406030204" pitchFamily="18" charset="0"/>
                          </a:rPr>
                        </m:ctrlPr>
                      </m:sSubPr>
                      <m:e>
                        <m:r>
                          <a:rPr lang="ar-AE" sz="2400" i="1">
                            <a:latin typeface="Cambria Math" panose="02040503050406030204" pitchFamily="18" charset="0"/>
                          </a:rPr>
                          <m:t>𝑃</m:t>
                        </m:r>
                      </m:e>
                      <m:sub>
                        <m:r>
                          <a:rPr lang="ar-AE" sz="2400">
                            <a:latin typeface="Cambria Math" panose="02040503050406030204" pitchFamily="18" charset="0"/>
                          </a:rPr>
                          <m:t>2</m:t>
                        </m:r>
                        <m:r>
                          <a:rPr lang="en-IN" sz="2400" b="0" i="0" smtClean="0">
                            <a:latin typeface="Cambria Math" panose="02040503050406030204" pitchFamily="18" charset="0"/>
                          </a:rPr>
                          <m:t>2</m:t>
                        </m:r>
                      </m:sub>
                    </m:sSub>
                    <m:r>
                      <a:rPr lang="ar-AE" sz="2400">
                        <a:latin typeface="Cambria Math" panose="02040503050406030204" pitchFamily="18" charset="0"/>
                      </a:rPr>
                      <m:t>=</m:t>
                    </m:r>
                    <m:f>
                      <m:fPr>
                        <m:ctrlPr>
                          <a:rPr lang="ar-AE" sz="2400" i="1">
                            <a:latin typeface="Cambria Math" panose="02040503050406030204" pitchFamily="18" charset="0"/>
                          </a:rPr>
                        </m:ctrlPr>
                      </m:fPr>
                      <m:num>
                        <m:r>
                          <a:rPr lang="ar-AE" sz="2400">
                            <a:latin typeface="Cambria Math" panose="02040503050406030204" pitchFamily="18" charset="0"/>
                          </a:rPr>
                          <m:t>11</m:t>
                        </m:r>
                        <m:r>
                          <a:rPr lang="ar-AE" sz="2400">
                            <a:latin typeface="Cambria Math" panose="02040503050406030204" pitchFamily="18" charset="0"/>
                          </a:rPr>
                          <m:t>,</m:t>
                        </m:r>
                        <m:r>
                          <a:rPr lang="ar-AE" sz="2400">
                            <a:latin typeface="Cambria Math" panose="02040503050406030204" pitchFamily="18" charset="0"/>
                          </a:rPr>
                          <m:t>20</m:t>
                        </m:r>
                        <m:r>
                          <a:rPr lang="ar-AE" sz="2400">
                            <a:latin typeface="Cambria Math" panose="02040503050406030204" pitchFamily="18" charset="0"/>
                          </a:rPr>
                          <m:t>,</m:t>
                        </m:r>
                        <m:r>
                          <a:rPr lang="ar-AE" sz="2400">
                            <a:latin typeface="Cambria Math" panose="02040503050406030204" pitchFamily="18" charset="0"/>
                          </a:rPr>
                          <m:t>00</m:t>
                        </m:r>
                        <m:r>
                          <a:rPr lang="ar-AE" sz="2400">
                            <a:latin typeface="Cambria Math" panose="02040503050406030204" pitchFamily="18" charset="0"/>
                          </a:rPr>
                          <m:t>,</m:t>
                        </m:r>
                        <m:r>
                          <a:rPr lang="ar-AE" sz="2400">
                            <a:latin typeface="Cambria Math" panose="02040503050406030204" pitchFamily="18" charset="0"/>
                          </a:rPr>
                          <m:t>000</m:t>
                        </m:r>
                      </m:num>
                      <m:den>
                        <m:r>
                          <a:rPr lang="ar-AE" sz="2400">
                            <a:latin typeface="Cambria Math" panose="02040503050406030204" pitchFamily="18" charset="0"/>
                          </a:rPr>
                          <m:t>6</m:t>
                        </m:r>
                        <m:r>
                          <a:rPr lang="ar-AE" sz="2400">
                            <a:latin typeface="Cambria Math" panose="02040503050406030204" pitchFamily="18" charset="0"/>
                          </a:rPr>
                          <m:t>,</m:t>
                        </m:r>
                        <m:r>
                          <a:rPr lang="ar-AE" sz="2400">
                            <a:latin typeface="Cambria Math" panose="02040503050406030204" pitchFamily="18" charset="0"/>
                          </a:rPr>
                          <m:t>05</m:t>
                        </m:r>
                        <m:r>
                          <a:rPr lang="ar-AE" sz="2400">
                            <a:latin typeface="Cambria Math" panose="02040503050406030204" pitchFamily="18" charset="0"/>
                          </a:rPr>
                          <m:t>,</m:t>
                        </m:r>
                        <m:r>
                          <a:rPr lang="ar-AE" sz="2400">
                            <a:latin typeface="Cambria Math" panose="02040503050406030204" pitchFamily="18" charset="0"/>
                          </a:rPr>
                          <m:t>00</m:t>
                        </m:r>
                        <m:r>
                          <a:rPr lang="ar-AE" sz="2400">
                            <a:latin typeface="Cambria Math" panose="02040503050406030204" pitchFamily="18" charset="0"/>
                          </a:rPr>
                          <m:t>,</m:t>
                        </m:r>
                        <m:r>
                          <a:rPr lang="ar-AE" sz="2400">
                            <a:latin typeface="Cambria Math" panose="02040503050406030204" pitchFamily="18" charset="0"/>
                          </a:rPr>
                          <m:t>000</m:t>
                        </m:r>
                      </m:den>
                    </m:f>
                    <m:r>
                      <a:rPr lang="ar-AE" sz="2400">
                        <a:latin typeface="Cambria Math" panose="02040503050406030204" pitchFamily="18" charset="0"/>
                      </a:rPr>
                      <m:t>=</m:t>
                    </m:r>
                    <m:r>
                      <a:rPr lang="ar-AE" sz="2400">
                        <a:latin typeface="Cambria Math" panose="02040503050406030204" pitchFamily="18" charset="0"/>
                      </a:rPr>
                      <m:t>1</m:t>
                    </m:r>
                    <m:r>
                      <a:rPr lang="ar-AE" sz="2400">
                        <a:latin typeface="Cambria Math" panose="02040503050406030204" pitchFamily="18" charset="0"/>
                      </a:rPr>
                      <m:t>.</m:t>
                    </m:r>
                    <m:r>
                      <a:rPr lang="ar-AE" sz="2400">
                        <a:latin typeface="Cambria Math" panose="02040503050406030204" pitchFamily="18" charset="0"/>
                      </a:rPr>
                      <m:t>85</m:t>
                    </m:r>
                    <m:r>
                      <a:rPr lang="en-IN" sz="2400" b="0" i="0" smtClean="0">
                        <a:latin typeface="Cambria Math" panose="02040503050406030204" pitchFamily="18" charset="0"/>
                      </a:rPr>
                      <m:t> </m:t>
                    </m:r>
                  </m:oMath>
                </a14:m>
                <a:r>
                  <a:rPr lang="en-IN" sz="2800" b="1" dirty="0">
                    <a:latin typeface="Times New Roman" panose="02020603050405020304" pitchFamily="18" charset="0"/>
                    <a:cs typeface="Times New Roman" panose="02020603050405020304" pitchFamily="18" charset="0"/>
                  </a:rPr>
                  <a:t> </a:t>
                </a:r>
                <a:endParaRPr lang="en-IN" sz="2400" b="1" dirty="0">
                  <a:latin typeface="Times New Roman" panose="020206030504050203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F71E6FC2-AD68-C486-5B6E-5CCF7EF6A12F}"/>
                  </a:ext>
                </a:extLst>
              </p:cNvPr>
              <p:cNvSpPr txBox="1">
                <a:spLocks noRot="1" noChangeAspect="1" noMove="1" noResize="1" noEditPoints="1" noAdjustHandles="1" noChangeArrowheads="1" noChangeShapeType="1" noTextEdit="1"/>
              </p:cNvSpPr>
              <p:nvPr/>
            </p:nvSpPr>
            <p:spPr>
              <a:xfrm>
                <a:off x="7338506" y="1341398"/>
                <a:ext cx="4774610" cy="5429243"/>
              </a:xfrm>
              <a:prstGeom prst="rect">
                <a:avLst/>
              </a:prstGeom>
              <a:blipFill>
                <a:blip r:embed="rId4"/>
                <a:stretch>
                  <a:fillRect l="-2043" t="-89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443DB24-A1C6-0730-4405-771453CF53BB}"/>
                  </a:ext>
                </a:extLst>
              </p:cNvPr>
              <p:cNvSpPr txBox="1"/>
              <p:nvPr/>
            </p:nvSpPr>
            <p:spPr>
              <a:xfrm>
                <a:off x="680421" y="4465774"/>
                <a:ext cx="6767450" cy="984629"/>
              </a:xfrm>
              <a:prstGeom prst="rect">
                <a:avLst/>
              </a:prstGeom>
              <a:solidFill>
                <a:schemeClr val="accent6">
                  <a:lumMod val="20000"/>
                  <a:lumOff val="80000"/>
                </a:schemeClr>
              </a:solidFill>
            </p:spPr>
            <p:txBody>
              <a:bodyPr wrap="square">
                <a:spAutoFit/>
              </a:bodyPr>
              <a:lstStyle/>
              <a:p>
                <a:pPr>
                  <a:buNone/>
                </a:pPr>
                <a:r>
                  <a:rPr lang="en-IN" sz="2000" b="1" dirty="0"/>
                  <a:t>Percentage Change in TP</a:t>
                </a:r>
              </a:p>
              <a:p>
                <a:pPr>
                  <a:buNone/>
                </a:pPr>
                <a14:m>
                  <m:oMathPara xmlns:m="http://schemas.openxmlformats.org/officeDocument/2006/math">
                    <m:oMathParaPr>
                      <m:jc m:val="centerGroup"/>
                    </m:oMathParaPr>
                    <m:oMath xmlns:m="http://schemas.openxmlformats.org/officeDocument/2006/math">
                      <m:f>
                        <m:fPr>
                          <m:ctrlPr>
                            <a:rPr lang="ar-AE" sz="2000" i="1">
                              <a:latin typeface="Cambria Math" panose="02040503050406030204" pitchFamily="18" charset="0"/>
                            </a:rPr>
                          </m:ctrlPr>
                        </m:fPr>
                        <m:num>
                          <m:r>
                            <a:rPr lang="ar-AE" sz="2000">
                              <a:latin typeface="Cambria Math" panose="02040503050406030204" pitchFamily="18" charset="0"/>
                            </a:rPr>
                            <m:t>1</m:t>
                          </m:r>
                          <m:r>
                            <a:rPr lang="ar-AE" sz="2000">
                              <a:latin typeface="Cambria Math" panose="02040503050406030204" pitchFamily="18" charset="0"/>
                            </a:rPr>
                            <m:t>.</m:t>
                          </m:r>
                          <m:r>
                            <a:rPr lang="ar-AE" sz="2000">
                              <a:latin typeface="Cambria Math" panose="02040503050406030204" pitchFamily="18" charset="0"/>
                            </a:rPr>
                            <m:t>85</m:t>
                          </m:r>
                          <m:r>
                            <a:rPr lang="ar-AE" sz="2000" i="0">
                              <a:latin typeface="Cambria Math" panose="02040503050406030204" pitchFamily="18" charset="0"/>
                            </a:rPr>
                            <m:t>−</m:t>
                          </m:r>
                          <m:r>
                            <a:rPr lang="ar-AE" sz="2000" i="0">
                              <a:latin typeface="Cambria Math" panose="02040503050406030204" pitchFamily="18" charset="0"/>
                            </a:rPr>
                            <m:t>1</m:t>
                          </m:r>
                          <m:r>
                            <a:rPr lang="ar-AE" sz="2000" i="0">
                              <a:latin typeface="Cambria Math" panose="02040503050406030204" pitchFamily="18" charset="0"/>
                            </a:rPr>
                            <m:t>.</m:t>
                          </m:r>
                          <m:r>
                            <a:rPr lang="ar-AE" sz="2000" i="0">
                              <a:latin typeface="Cambria Math" panose="02040503050406030204" pitchFamily="18" charset="0"/>
                            </a:rPr>
                            <m:t>6</m:t>
                          </m:r>
                        </m:num>
                        <m:den>
                          <m:r>
                            <a:rPr lang="ar-AE" sz="2000" i="0">
                              <a:latin typeface="Cambria Math" panose="02040503050406030204" pitchFamily="18" charset="0"/>
                            </a:rPr>
                            <m:t>1</m:t>
                          </m:r>
                          <m:r>
                            <a:rPr lang="ar-AE" sz="2000" i="0">
                              <a:latin typeface="Cambria Math" panose="02040503050406030204" pitchFamily="18" charset="0"/>
                            </a:rPr>
                            <m:t>.</m:t>
                          </m:r>
                          <m:r>
                            <a:rPr lang="ar-AE" sz="2000" i="0">
                              <a:latin typeface="Cambria Math" panose="02040503050406030204" pitchFamily="18" charset="0"/>
                            </a:rPr>
                            <m:t>6</m:t>
                          </m:r>
                        </m:den>
                      </m:f>
                      <m:r>
                        <a:rPr lang="ar-AE" sz="2000" i="0">
                          <a:latin typeface="Cambria Math" panose="02040503050406030204" pitchFamily="18" charset="0"/>
                        </a:rPr>
                        <m:t>×</m:t>
                      </m:r>
                      <m:r>
                        <a:rPr lang="ar-AE" sz="2000" i="0">
                          <a:latin typeface="Cambria Math" panose="02040503050406030204" pitchFamily="18" charset="0"/>
                        </a:rPr>
                        <m:t>100</m:t>
                      </m:r>
                      <m:r>
                        <a:rPr lang="ar-AE" sz="2000" i="0">
                          <a:latin typeface="Cambria Math" panose="02040503050406030204" pitchFamily="18" charset="0"/>
                        </a:rPr>
                        <m:t>=</m:t>
                      </m:r>
                      <m:r>
                        <a:rPr lang="ar-AE" sz="2000" i="0">
                          <a:latin typeface="Cambria Math" panose="02040503050406030204" pitchFamily="18" charset="0"/>
                        </a:rPr>
                        <m:t>15</m:t>
                      </m:r>
                      <m:r>
                        <a:rPr lang="ar-AE" sz="2000" i="0">
                          <a:latin typeface="Cambria Math" panose="02040503050406030204" pitchFamily="18" charset="0"/>
                        </a:rPr>
                        <m:t>.</m:t>
                      </m:r>
                      <m:r>
                        <a:rPr lang="ar-AE" sz="2000" i="0">
                          <a:latin typeface="Cambria Math" panose="02040503050406030204" pitchFamily="18" charset="0"/>
                        </a:rPr>
                        <m:t>6</m:t>
                      </m:r>
                      <m:r>
                        <a:rPr lang="ar-AE" sz="2000" i="0">
                          <a:latin typeface="Cambria Math" panose="02040503050406030204" pitchFamily="18" charset="0"/>
                        </a:rPr>
                        <m:t>%</m:t>
                      </m:r>
                    </m:oMath>
                  </m:oMathPara>
                </a14:m>
                <a:endParaRPr lang="ar-AE" sz="2000" dirty="0"/>
              </a:p>
            </p:txBody>
          </p:sp>
        </mc:Choice>
        <mc:Fallback xmlns="">
          <p:sp>
            <p:nvSpPr>
              <p:cNvPr id="11" name="TextBox 10">
                <a:extLst>
                  <a:ext uri="{FF2B5EF4-FFF2-40B4-BE49-F238E27FC236}">
                    <a16:creationId xmlns:a16="http://schemas.microsoft.com/office/drawing/2014/main" id="{8443DB24-A1C6-0730-4405-771453CF53BB}"/>
                  </a:ext>
                </a:extLst>
              </p:cNvPr>
              <p:cNvSpPr txBox="1">
                <a:spLocks noRot="1" noChangeAspect="1" noMove="1" noResize="1" noEditPoints="1" noAdjustHandles="1" noChangeArrowheads="1" noChangeShapeType="1" noTextEdit="1"/>
              </p:cNvSpPr>
              <p:nvPr/>
            </p:nvSpPr>
            <p:spPr>
              <a:xfrm>
                <a:off x="680421" y="4465774"/>
                <a:ext cx="6767450" cy="984629"/>
              </a:xfrm>
              <a:prstGeom prst="rect">
                <a:avLst/>
              </a:prstGeom>
              <a:blipFill>
                <a:blip r:embed="rId5"/>
                <a:stretch>
                  <a:fillRect l="-991" t="-3727"/>
                </a:stretch>
              </a:blipFill>
            </p:spPr>
            <p:txBody>
              <a:bodyPr/>
              <a:lstStyle/>
              <a:p>
                <a:r>
                  <a:rPr lang="en-IN">
                    <a:noFill/>
                  </a:rPr>
                  <a:t> </a:t>
                </a:r>
              </a:p>
            </p:txBody>
          </p:sp>
        </mc:Fallback>
      </mc:AlternateContent>
      <p:sp>
        <p:nvSpPr>
          <p:cNvPr id="13" name="TextBox 12">
            <a:extLst>
              <a:ext uri="{FF2B5EF4-FFF2-40B4-BE49-F238E27FC236}">
                <a16:creationId xmlns:a16="http://schemas.microsoft.com/office/drawing/2014/main" id="{39A15EC9-0EB4-12D0-A01A-3DC831A5F9F1}"/>
              </a:ext>
            </a:extLst>
          </p:cNvPr>
          <p:cNvSpPr txBox="1"/>
          <p:nvPr/>
        </p:nvSpPr>
        <p:spPr>
          <a:xfrm>
            <a:off x="692078" y="5471919"/>
            <a:ext cx="6646428" cy="1323439"/>
          </a:xfrm>
          <a:prstGeom prst="rect">
            <a:avLst/>
          </a:prstGeom>
          <a:solidFill>
            <a:schemeClr val="accent1">
              <a:lumMod val="20000"/>
              <a:lumOff val="80000"/>
            </a:schemeClr>
          </a:solidFill>
        </p:spPr>
        <p:txBody>
          <a:bodyPr wrap="square">
            <a:spAutoFit/>
          </a:bodyPr>
          <a:lstStyle/>
          <a:p>
            <a:pPr>
              <a:buNone/>
            </a:pPr>
            <a:r>
              <a:rPr lang="en-US" sz="2000" b="1" dirty="0"/>
              <a:t>Interpretation</a:t>
            </a:r>
          </a:p>
          <a:p>
            <a:pPr>
              <a:buNone/>
            </a:pPr>
            <a:r>
              <a:rPr lang="en-US" sz="2000" dirty="0"/>
              <a:t>✔ Labor productivity increased 25%</a:t>
            </a:r>
            <a:br>
              <a:rPr lang="en-US" sz="2000" dirty="0"/>
            </a:br>
            <a:r>
              <a:rPr lang="en-US" sz="2000" dirty="0"/>
              <a:t>✔ Overall productivity increased 15.6%</a:t>
            </a:r>
            <a:br>
              <a:rPr lang="en-US" sz="2000" dirty="0"/>
            </a:br>
            <a:r>
              <a:rPr lang="en-US" sz="2000" dirty="0"/>
              <a:t>✔ Output increased with only marginal increase in total input</a:t>
            </a:r>
          </a:p>
        </p:txBody>
      </p:sp>
    </p:spTree>
    <p:extLst>
      <p:ext uri="{BB962C8B-B14F-4D97-AF65-F5344CB8AC3E}">
        <p14:creationId xmlns:p14="http://schemas.microsoft.com/office/powerpoint/2010/main" val="2149079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CB9D8-5885-8840-FBD7-37038A8CBDE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C77572F-E506-9ED6-FF20-28E809F886DF}"/>
              </a:ext>
            </a:extLst>
          </p:cNvPr>
          <p:cNvSpPr/>
          <p:nvPr/>
        </p:nvSpPr>
        <p:spPr>
          <a:xfrm>
            <a:off x="456714" y="0"/>
            <a:ext cx="11735286"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t>PRODUCTIVITY AS A MEASURE OF COMPETITIVENESS</a:t>
            </a:r>
            <a:endParaRPr lang="en-IN" sz="7200" b="1" dirty="0">
              <a:solidFill>
                <a:schemeClr val="accent4">
                  <a:lumMod val="20000"/>
                  <a:lumOff val="80000"/>
                </a:schemeClr>
              </a:solidFill>
            </a:endParaRPr>
          </a:p>
        </p:txBody>
      </p:sp>
      <p:sp>
        <p:nvSpPr>
          <p:cNvPr id="4" name="TextBox 3">
            <a:extLst>
              <a:ext uri="{FF2B5EF4-FFF2-40B4-BE49-F238E27FC236}">
                <a16:creationId xmlns:a16="http://schemas.microsoft.com/office/drawing/2014/main" id="{B5A3893A-2EFE-E972-94B8-96F9B63A90F4}"/>
              </a:ext>
            </a:extLst>
          </p:cNvPr>
          <p:cNvSpPr txBox="1"/>
          <p:nvPr/>
        </p:nvSpPr>
        <p:spPr>
          <a:xfrm>
            <a:off x="456714" y="945932"/>
            <a:ext cx="11432694" cy="1200329"/>
          </a:xfrm>
          <a:prstGeom prst="rect">
            <a:avLst/>
          </a:prstGeom>
          <a:solidFill>
            <a:schemeClr val="accent1">
              <a:lumMod val="20000"/>
              <a:lumOff val="80000"/>
            </a:schemeClr>
          </a:solidFill>
        </p:spPr>
        <p:txBody>
          <a:bodyPr wrap="square">
            <a:spAutoFit/>
          </a:bodyPr>
          <a:lstStyle/>
          <a:p>
            <a:pPr marL="355600" indent="-355600" algn="just">
              <a:buFont typeface="+mj-lt"/>
              <a:buAutoNum type="arabicParenR" startAt="2"/>
            </a:pPr>
            <a:r>
              <a:rPr lang="en-US" sz="2400" b="1" dirty="0">
                <a:latin typeface="Times New Roman" panose="02020603050405020304" pitchFamily="18" charset="0"/>
                <a:cs typeface="Times New Roman" panose="02020603050405020304" pitchFamily="18" charset="0"/>
              </a:rPr>
              <a:t>Assume Year 2022 selling price dropped to ₹750 due to competitive pressure. </a:t>
            </a:r>
            <a:r>
              <a:rPr lang="en-US" sz="2400" b="1" dirty="0" err="1">
                <a:latin typeface="Times New Roman" panose="02020603050405020304" pitchFamily="18" charset="0"/>
                <a:cs typeface="Times New Roman" panose="02020603050405020304" pitchFamily="18" charset="0"/>
              </a:rPr>
              <a:t>Analyse</a:t>
            </a:r>
            <a:r>
              <a:rPr lang="en-US" sz="2400" b="1" dirty="0">
                <a:latin typeface="Times New Roman" panose="02020603050405020304" pitchFamily="18" charset="0"/>
                <a:cs typeface="Times New Roman" panose="02020603050405020304" pitchFamily="18" charset="0"/>
              </a:rPr>
              <a:t> whether total productivity improvement offsets price reduction. Should the company pursue cost leadership or differentiation strategy?</a:t>
            </a:r>
            <a:endParaRPr lang="en-IN" sz="24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E6DB66A-59B6-4090-AD43-DB3D0E4876A1}"/>
                  </a:ext>
                </a:extLst>
              </p:cNvPr>
              <p:cNvSpPr txBox="1"/>
              <p:nvPr/>
            </p:nvSpPr>
            <p:spPr>
              <a:xfrm>
                <a:off x="456714" y="2146261"/>
                <a:ext cx="6658086" cy="4459747"/>
              </a:xfrm>
              <a:prstGeom prst="rect">
                <a:avLst/>
              </a:prstGeom>
              <a:solidFill>
                <a:schemeClr val="accent6">
                  <a:lumMod val="20000"/>
                  <a:lumOff val="80000"/>
                </a:schemeClr>
              </a:solidFill>
            </p:spPr>
            <p:txBody>
              <a:bodyPr wrap="square">
                <a:spAutoFit/>
              </a:bodyPr>
              <a:lstStyle/>
              <a:p>
                <a:r>
                  <a:rPr lang="en-IN" sz="2400" b="1" dirty="0">
                    <a:latin typeface="Times New Roman" panose="02020603050405020304" pitchFamily="18" charset="0"/>
                    <a:cs typeface="Times New Roman" panose="02020603050405020304" pitchFamily="18" charset="0"/>
                  </a:rPr>
                  <a:t>Total Productivity - Year 2020</a:t>
                </a:r>
              </a:p>
              <a:p>
                <a:r>
                  <a:rPr lang="en-IN" sz="2400" dirty="0">
                    <a:latin typeface="Times New Roman" panose="02020603050405020304" pitchFamily="18" charset="0"/>
                    <a:cs typeface="Times New Roman" panose="02020603050405020304" pitchFamily="18" charset="0"/>
                  </a:rPr>
                  <a:t>Output Value:</a:t>
                </a:r>
              </a:p>
              <a:p>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1,20,000×800=</m:t>
                      </m:r>
                      <m:r>
                        <m:rPr>
                          <m:nor/>
                        </m:rPr>
                        <a:rPr lang="en-IN" i="1">
                          <a:latin typeface="Times New Roman" panose="02020603050405020304" pitchFamily="18" charset="0"/>
                          <a:cs typeface="Times New Roman" panose="02020603050405020304" pitchFamily="18" charset="0"/>
                        </a:rPr>
                        <m:t>₹</m:t>
                      </m:r>
                      <m:r>
                        <a:rPr lang="en-IN">
                          <a:latin typeface="Cambria Math" panose="02040503050406030204" pitchFamily="18" charset="0"/>
                        </a:rPr>
                        <m:t>9,60,00,000</m:t>
                      </m:r>
                    </m:oMath>
                  </m:oMathPara>
                </a14:m>
                <a:endParaRPr lang="en-IN" sz="2400" b="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Total Input:</a:t>
                </a:r>
              </a:p>
              <a:p>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1,80,00,000+3,00,00,000+1,20,00,000=</m:t>
                      </m:r>
                      <m:r>
                        <m:rPr>
                          <m:nor/>
                        </m:rPr>
                        <a:rPr lang="en-IN" i="1">
                          <a:latin typeface="Times New Roman" panose="02020603050405020304" pitchFamily="18" charset="0"/>
                          <a:cs typeface="Times New Roman" panose="02020603050405020304" pitchFamily="18" charset="0"/>
                        </a:rPr>
                        <m:t>₹</m:t>
                      </m:r>
                      <m:r>
                        <a:rPr lang="en-IN">
                          <a:latin typeface="Cambria Math" panose="02040503050406030204" pitchFamily="18" charset="0"/>
                        </a:rPr>
                        <m:t>6,00,00,000</m:t>
                      </m:r>
                    </m:oMath>
                  </m:oMathPara>
                </a14:m>
                <a:endParaRPr lang="en-IN" sz="2400" b="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𝑇</m:t>
                      </m:r>
                      <m:sSub>
                        <m:sSubPr>
                          <m:ctrlPr>
                            <a:rPr lang="ar-AE" i="1">
                              <a:latin typeface="Cambria Math" panose="02040503050406030204" pitchFamily="18" charset="0"/>
                            </a:rPr>
                          </m:ctrlPr>
                        </m:sSubPr>
                        <m:e>
                          <m:r>
                            <a:rPr lang="ar-AE" i="1">
                              <a:latin typeface="Cambria Math" panose="02040503050406030204" pitchFamily="18" charset="0"/>
                            </a:rPr>
                            <m:t>𝑃</m:t>
                          </m:r>
                        </m:e>
                        <m:sub>
                          <m:r>
                            <a:rPr lang="en-IN" b="0" i="0" smtClean="0">
                              <a:latin typeface="Cambria Math" panose="02040503050406030204" pitchFamily="18" charset="0"/>
                            </a:rPr>
                            <m:t>20</m:t>
                          </m:r>
                        </m:sub>
                      </m:sSub>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9</m:t>
                          </m:r>
                          <m:r>
                            <a:rPr lang="ar-AE">
                              <a:latin typeface="Cambria Math" panose="02040503050406030204" pitchFamily="18" charset="0"/>
                            </a:rPr>
                            <m:t>,</m:t>
                          </m:r>
                          <m:r>
                            <a:rPr lang="ar-AE">
                              <a:latin typeface="Cambria Math" panose="02040503050406030204" pitchFamily="18" charset="0"/>
                            </a:rPr>
                            <m:t>60</m:t>
                          </m:r>
                          <m:r>
                            <a:rPr lang="ar-AE">
                              <a:latin typeface="Cambria Math" panose="02040503050406030204" pitchFamily="18" charset="0"/>
                            </a:rPr>
                            <m:t>,</m:t>
                          </m:r>
                          <m:r>
                            <a:rPr lang="ar-AE">
                              <a:latin typeface="Cambria Math" panose="02040503050406030204" pitchFamily="18" charset="0"/>
                            </a:rPr>
                            <m:t>00</m:t>
                          </m:r>
                          <m:r>
                            <a:rPr lang="ar-AE">
                              <a:latin typeface="Cambria Math" panose="02040503050406030204" pitchFamily="18" charset="0"/>
                            </a:rPr>
                            <m:t>,</m:t>
                          </m:r>
                          <m:r>
                            <a:rPr lang="ar-AE">
                              <a:latin typeface="Cambria Math" panose="02040503050406030204" pitchFamily="18" charset="0"/>
                            </a:rPr>
                            <m:t>000</m:t>
                          </m:r>
                        </m:num>
                        <m:den>
                          <m:r>
                            <a:rPr lang="ar-AE">
                              <a:latin typeface="Cambria Math" panose="02040503050406030204" pitchFamily="18" charset="0"/>
                            </a:rPr>
                            <m:t>6</m:t>
                          </m:r>
                          <m:r>
                            <a:rPr lang="ar-AE">
                              <a:latin typeface="Cambria Math" panose="02040503050406030204" pitchFamily="18" charset="0"/>
                            </a:rPr>
                            <m:t>,</m:t>
                          </m:r>
                          <m:r>
                            <a:rPr lang="ar-AE">
                              <a:latin typeface="Cambria Math" panose="02040503050406030204" pitchFamily="18" charset="0"/>
                            </a:rPr>
                            <m:t>00</m:t>
                          </m:r>
                          <m:r>
                            <a:rPr lang="ar-AE">
                              <a:latin typeface="Cambria Math" panose="02040503050406030204" pitchFamily="18" charset="0"/>
                            </a:rPr>
                            <m:t>,</m:t>
                          </m:r>
                          <m:r>
                            <a:rPr lang="ar-AE">
                              <a:latin typeface="Cambria Math" panose="02040503050406030204" pitchFamily="18" charset="0"/>
                            </a:rPr>
                            <m:t>00</m:t>
                          </m:r>
                          <m:r>
                            <a:rPr lang="ar-AE">
                              <a:latin typeface="Cambria Math" panose="02040503050406030204" pitchFamily="18" charset="0"/>
                            </a:rPr>
                            <m:t>,</m:t>
                          </m:r>
                          <m:r>
                            <a:rPr lang="ar-AE">
                              <a:latin typeface="Cambria Math" panose="02040503050406030204" pitchFamily="18" charset="0"/>
                            </a:rPr>
                            <m:t>000</m:t>
                          </m:r>
                        </m:den>
                      </m:f>
                      <m:r>
                        <a:rPr lang="ar-AE">
                          <a:latin typeface="Cambria Math" panose="02040503050406030204" pitchFamily="18" charset="0"/>
                        </a:rPr>
                        <m:t>=</m:t>
                      </m:r>
                      <m:r>
                        <a:rPr lang="en-IN" b="0" i="0" smtClean="0">
                          <a:latin typeface="Cambria Math" panose="02040503050406030204" pitchFamily="18" charset="0"/>
                        </a:rPr>
                        <m:t>1</m:t>
                      </m:r>
                      <m:r>
                        <a:rPr lang="en-IN" b="0" i="0" smtClean="0">
                          <a:latin typeface="Cambria Math" panose="02040503050406030204" pitchFamily="18" charset="0"/>
                        </a:rPr>
                        <m:t>.</m:t>
                      </m:r>
                      <m:r>
                        <a:rPr lang="en-IN" b="0" i="0" smtClean="0">
                          <a:latin typeface="Cambria Math" panose="02040503050406030204" pitchFamily="18" charset="0"/>
                        </a:rPr>
                        <m:t>6</m:t>
                      </m:r>
                    </m:oMath>
                  </m:oMathPara>
                </a14:m>
                <a:endParaRPr lang="en-IN" sz="2400" dirty="0">
                  <a:latin typeface="Times New Roman" panose="02020603050405020304" pitchFamily="18" charset="0"/>
                  <a:cs typeface="Times New Roman" panose="02020603050405020304" pitchFamily="18" charset="0"/>
                </a:endParaRPr>
              </a:p>
              <a:p>
                <a:r>
                  <a:rPr lang="en-IN" sz="2400" b="1" dirty="0"/>
                  <a:t>Year 2022</a:t>
                </a:r>
              </a:p>
              <a:p>
                <a:r>
                  <a:rPr lang="en-IN" sz="2400" dirty="0"/>
                  <a:t>Output Value:</a:t>
                </a:r>
              </a:p>
              <a:p>
                <a:r>
                  <a:rPr lang="en-IN" dirty="0"/>
                  <a:t>		1,40,000×750=₹10,50,00,000 </a:t>
                </a:r>
              </a:p>
              <a:p>
                <a:r>
                  <a:rPr lang="en-IN" dirty="0"/>
                  <a:t>Total Input remains:</a:t>
                </a:r>
              </a:p>
              <a:p>
                <a:pPr/>
                <a14:m>
                  <m:oMathPara xmlns:m="http://schemas.openxmlformats.org/officeDocument/2006/math">
                    <m:oMathParaPr>
                      <m:jc m:val="centerGroup"/>
                    </m:oMathParaPr>
                    <m:oMath xmlns:m="http://schemas.openxmlformats.org/officeDocument/2006/math">
                      <m:r>
                        <m:rPr>
                          <m:nor/>
                        </m:rPr>
                        <a:rPr lang="en-IN" b="0"/>
                        <m:t>₹</m:t>
                      </m:r>
                      <m:r>
                        <a:rPr lang="en-IN" sz="2000">
                          <a:latin typeface="Cambria Math" panose="02040503050406030204" pitchFamily="18" charset="0"/>
                        </a:rPr>
                        <m:t>6</m:t>
                      </m:r>
                      <m:r>
                        <a:rPr lang="en-IN" sz="2000">
                          <a:latin typeface="Cambria Math" panose="02040503050406030204" pitchFamily="18" charset="0"/>
                        </a:rPr>
                        <m:t>,</m:t>
                      </m:r>
                      <m:r>
                        <a:rPr lang="en-IN" sz="2000">
                          <a:latin typeface="Cambria Math" panose="02040503050406030204" pitchFamily="18" charset="0"/>
                        </a:rPr>
                        <m:t>05</m:t>
                      </m:r>
                      <m:r>
                        <a:rPr lang="en-IN" sz="2000">
                          <a:latin typeface="Cambria Math" panose="02040503050406030204" pitchFamily="18" charset="0"/>
                        </a:rPr>
                        <m:t>,</m:t>
                      </m:r>
                      <m:r>
                        <a:rPr lang="en-IN" sz="2000">
                          <a:latin typeface="Cambria Math" panose="02040503050406030204" pitchFamily="18" charset="0"/>
                        </a:rPr>
                        <m:t>00</m:t>
                      </m:r>
                      <m:r>
                        <a:rPr lang="en-IN" sz="2000">
                          <a:latin typeface="Cambria Math" panose="02040503050406030204" pitchFamily="18" charset="0"/>
                        </a:rPr>
                        <m:t>,</m:t>
                      </m:r>
                      <m:r>
                        <a:rPr lang="en-IN" sz="2000">
                          <a:latin typeface="Cambria Math" panose="02040503050406030204" pitchFamily="18" charset="0"/>
                        </a:rPr>
                        <m:t>000</m:t>
                      </m:r>
                    </m:oMath>
                  </m:oMathPara>
                </a14:m>
                <a:endParaRPr lang="en-IN" b="0" dirty="0"/>
              </a:p>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𝑇</m:t>
                      </m:r>
                      <m:r>
                        <a:rPr lang="en-IN" i="1">
                          <a:latin typeface="Cambria Math" panose="02040503050406030204" pitchFamily="18" charset="0"/>
                        </a:rPr>
                        <m:t>𝑃</m:t>
                      </m:r>
                      <m:r>
                        <a:rPr lang="en-IN">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10</m:t>
                          </m:r>
                          <m:r>
                            <a:rPr lang="ar-AE">
                              <a:latin typeface="Cambria Math" panose="02040503050406030204" pitchFamily="18" charset="0"/>
                            </a:rPr>
                            <m:t>,</m:t>
                          </m:r>
                          <m:r>
                            <a:rPr lang="ar-AE">
                              <a:latin typeface="Cambria Math" panose="02040503050406030204" pitchFamily="18" charset="0"/>
                            </a:rPr>
                            <m:t>50</m:t>
                          </m:r>
                          <m:r>
                            <a:rPr lang="ar-AE">
                              <a:latin typeface="Cambria Math" panose="02040503050406030204" pitchFamily="18" charset="0"/>
                            </a:rPr>
                            <m:t>,</m:t>
                          </m:r>
                          <m:r>
                            <a:rPr lang="ar-AE">
                              <a:latin typeface="Cambria Math" panose="02040503050406030204" pitchFamily="18" charset="0"/>
                            </a:rPr>
                            <m:t>00</m:t>
                          </m:r>
                          <m:r>
                            <a:rPr lang="ar-AE">
                              <a:latin typeface="Cambria Math" panose="02040503050406030204" pitchFamily="18" charset="0"/>
                            </a:rPr>
                            <m:t>,</m:t>
                          </m:r>
                          <m:r>
                            <a:rPr lang="ar-AE">
                              <a:latin typeface="Cambria Math" panose="02040503050406030204" pitchFamily="18" charset="0"/>
                            </a:rPr>
                            <m:t>000</m:t>
                          </m:r>
                        </m:num>
                        <m:den>
                          <m:r>
                            <a:rPr lang="ar-AE">
                              <a:latin typeface="Cambria Math" panose="02040503050406030204" pitchFamily="18" charset="0"/>
                            </a:rPr>
                            <m:t>6</m:t>
                          </m:r>
                          <m:r>
                            <a:rPr lang="ar-AE">
                              <a:latin typeface="Cambria Math" panose="02040503050406030204" pitchFamily="18" charset="0"/>
                            </a:rPr>
                            <m:t>,</m:t>
                          </m:r>
                          <m:r>
                            <a:rPr lang="ar-AE">
                              <a:latin typeface="Cambria Math" panose="02040503050406030204" pitchFamily="18" charset="0"/>
                            </a:rPr>
                            <m:t>05</m:t>
                          </m:r>
                          <m:r>
                            <a:rPr lang="ar-AE">
                              <a:latin typeface="Cambria Math" panose="02040503050406030204" pitchFamily="18" charset="0"/>
                            </a:rPr>
                            <m:t>,</m:t>
                          </m:r>
                          <m:r>
                            <a:rPr lang="ar-AE">
                              <a:latin typeface="Cambria Math" panose="02040503050406030204" pitchFamily="18" charset="0"/>
                            </a:rPr>
                            <m:t>00</m:t>
                          </m:r>
                          <m:r>
                            <a:rPr lang="ar-AE">
                              <a:latin typeface="Cambria Math" panose="02040503050406030204" pitchFamily="18" charset="0"/>
                            </a:rPr>
                            <m:t>,</m:t>
                          </m:r>
                          <m:r>
                            <a:rPr lang="ar-AE">
                              <a:latin typeface="Cambria Math" panose="02040503050406030204" pitchFamily="18" charset="0"/>
                            </a:rPr>
                            <m:t>000</m:t>
                          </m:r>
                        </m:den>
                      </m:f>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74</m:t>
                      </m:r>
                      <m:r>
                        <a:rPr lang="en-US" b="0" i="0" smtClean="0">
                          <a:latin typeface="Cambria Math" panose="02040503050406030204" pitchFamily="18" charset="0"/>
                        </a:rPr>
                        <m:t> (</m:t>
                      </m:r>
                      <m:r>
                        <m:rPr>
                          <m:sty m:val="p"/>
                        </m:rPr>
                        <a:rPr lang="en-US" b="0" i="0" smtClean="0">
                          <a:latin typeface="Cambria Math" panose="02040503050406030204" pitchFamily="18" charset="0"/>
                        </a:rPr>
                        <m:t>Approx</m:t>
                      </m:r>
                      <m:r>
                        <a:rPr lang="en-US" b="0" i="0" smtClean="0">
                          <a:latin typeface="Cambria Math" panose="02040503050406030204" pitchFamily="18" charset="0"/>
                        </a:rPr>
                        <m:t>)</m:t>
                      </m:r>
                    </m:oMath>
                  </m:oMathPara>
                </a14:m>
                <a:endParaRPr lang="ar-AE" sz="1600" dirty="0"/>
              </a:p>
            </p:txBody>
          </p:sp>
        </mc:Choice>
        <mc:Fallback xmlns="">
          <p:sp>
            <p:nvSpPr>
              <p:cNvPr id="9" name="TextBox 8">
                <a:extLst>
                  <a:ext uri="{FF2B5EF4-FFF2-40B4-BE49-F238E27FC236}">
                    <a16:creationId xmlns:a16="http://schemas.microsoft.com/office/drawing/2014/main" id="{BE6DB66A-59B6-4090-AD43-DB3D0E4876A1}"/>
                  </a:ext>
                </a:extLst>
              </p:cNvPr>
              <p:cNvSpPr txBox="1">
                <a:spLocks noRot="1" noChangeAspect="1" noMove="1" noResize="1" noEditPoints="1" noAdjustHandles="1" noChangeArrowheads="1" noChangeShapeType="1" noTextEdit="1"/>
              </p:cNvSpPr>
              <p:nvPr/>
            </p:nvSpPr>
            <p:spPr>
              <a:xfrm>
                <a:off x="456714" y="2146261"/>
                <a:ext cx="6658086" cy="4459747"/>
              </a:xfrm>
              <a:prstGeom prst="rect">
                <a:avLst/>
              </a:prstGeom>
              <a:blipFill>
                <a:blip r:embed="rId3"/>
                <a:stretch>
                  <a:fillRect l="-1465" t="-109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1A133E0-BA52-3CBD-598E-DF13EF62F79C}"/>
                  </a:ext>
                </a:extLst>
              </p:cNvPr>
              <p:cNvSpPr txBox="1"/>
              <p:nvPr/>
            </p:nvSpPr>
            <p:spPr>
              <a:xfrm>
                <a:off x="7114800" y="2146261"/>
                <a:ext cx="4774608" cy="1778564"/>
              </a:xfrm>
              <a:prstGeom prst="rect">
                <a:avLst/>
              </a:prstGeom>
              <a:solidFill>
                <a:schemeClr val="accent6">
                  <a:lumMod val="20000"/>
                  <a:lumOff val="80000"/>
                </a:schemeClr>
              </a:solidFill>
            </p:spPr>
            <p:txBody>
              <a:bodyPr wrap="square">
                <a:spAutoFit/>
              </a:bodyPr>
              <a:lstStyle/>
              <a:p>
                <a:r>
                  <a:rPr lang="en-IN" sz="2400" b="1" dirty="0"/>
                  <a:t>Comparison with Year 2020:</a:t>
                </a:r>
              </a:p>
              <a:p>
                <a:r>
                  <a:rPr lang="en-IN" sz="2400" dirty="0"/>
                  <a:t>Year 2020 TP = 1.6</a:t>
                </a:r>
                <a:br>
                  <a:rPr lang="en-IN" sz="2400" dirty="0"/>
                </a:br>
                <a:r>
                  <a:rPr lang="en-IN" sz="2400" dirty="0"/>
                  <a:t>New Year 2022 TP = 1.74</a:t>
                </a:r>
              </a:p>
              <a:p>
                <a:pPr/>
                <a14:m>
                  <m:oMathPara xmlns:m="http://schemas.openxmlformats.org/officeDocument/2006/math">
                    <m:oMathParaPr>
                      <m:jc m:val="centerGroup"/>
                    </m:oMathParaPr>
                    <m:oMath xmlns:m="http://schemas.openxmlformats.org/officeDocument/2006/math">
                      <m:f>
                        <m:fPr>
                          <m:ctrlPr>
                            <a:rPr lang="ar-AE" sz="2000" i="1">
                              <a:latin typeface="Cambria Math" panose="02040503050406030204" pitchFamily="18" charset="0"/>
                            </a:rPr>
                          </m:ctrlPr>
                        </m:fPr>
                        <m:num>
                          <m:r>
                            <a:rPr lang="ar-AE" sz="2000">
                              <a:latin typeface="Cambria Math" panose="02040503050406030204" pitchFamily="18" charset="0"/>
                            </a:rPr>
                            <m:t>1</m:t>
                          </m:r>
                          <m:r>
                            <a:rPr lang="ar-AE" sz="2000">
                              <a:latin typeface="Cambria Math" panose="02040503050406030204" pitchFamily="18" charset="0"/>
                            </a:rPr>
                            <m:t>.</m:t>
                          </m:r>
                          <m:r>
                            <a:rPr lang="ar-AE" sz="2000">
                              <a:latin typeface="Cambria Math" panose="02040503050406030204" pitchFamily="18" charset="0"/>
                            </a:rPr>
                            <m:t>74</m:t>
                          </m:r>
                          <m:r>
                            <a:rPr lang="ar-AE" sz="2000">
                              <a:latin typeface="Cambria Math" panose="02040503050406030204" pitchFamily="18" charset="0"/>
                            </a:rPr>
                            <m:t>−</m:t>
                          </m:r>
                          <m:r>
                            <a:rPr lang="ar-AE" sz="2000">
                              <a:latin typeface="Cambria Math" panose="02040503050406030204" pitchFamily="18" charset="0"/>
                            </a:rPr>
                            <m:t>1</m:t>
                          </m:r>
                          <m:r>
                            <a:rPr lang="ar-AE" sz="2000">
                              <a:latin typeface="Cambria Math" panose="02040503050406030204" pitchFamily="18" charset="0"/>
                            </a:rPr>
                            <m:t>.</m:t>
                          </m:r>
                          <m:r>
                            <a:rPr lang="ar-AE" sz="2000">
                              <a:latin typeface="Cambria Math" panose="02040503050406030204" pitchFamily="18" charset="0"/>
                            </a:rPr>
                            <m:t>6</m:t>
                          </m:r>
                        </m:num>
                        <m:den>
                          <m:r>
                            <a:rPr lang="ar-AE" sz="2000">
                              <a:latin typeface="Cambria Math" panose="02040503050406030204" pitchFamily="18" charset="0"/>
                            </a:rPr>
                            <m:t>1</m:t>
                          </m:r>
                          <m:r>
                            <a:rPr lang="ar-AE" sz="2000">
                              <a:latin typeface="Cambria Math" panose="02040503050406030204" pitchFamily="18" charset="0"/>
                            </a:rPr>
                            <m:t>.</m:t>
                          </m:r>
                          <m:r>
                            <a:rPr lang="ar-AE" sz="2000">
                              <a:latin typeface="Cambria Math" panose="02040503050406030204" pitchFamily="18" charset="0"/>
                            </a:rPr>
                            <m:t>6</m:t>
                          </m:r>
                        </m:den>
                      </m:f>
                      <m:r>
                        <a:rPr lang="ar-AE" sz="2000">
                          <a:latin typeface="Cambria Math" panose="02040503050406030204" pitchFamily="18" charset="0"/>
                        </a:rPr>
                        <m:t>×</m:t>
                      </m:r>
                      <m:r>
                        <a:rPr lang="ar-AE" sz="2000">
                          <a:latin typeface="Cambria Math" panose="02040503050406030204" pitchFamily="18" charset="0"/>
                        </a:rPr>
                        <m:t>100</m:t>
                      </m:r>
                      <m:r>
                        <a:rPr lang="ar-AE" sz="2000">
                          <a:latin typeface="Cambria Math" panose="02040503050406030204" pitchFamily="18" charset="0"/>
                        </a:rPr>
                        <m:t>=</m:t>
                      </m:r>
                      <m:r>
                        <a:rPr lang="ar-AE" sz="2000">
                          <a:latin typeface="Cambria Math" panose="02040503050406030204" pitchFamily="18" charset="0"/>
                        </a:rPr>
                        <m:t>8</m:t>
                      </m:r>
                      <m:r>
                        <a:rPr lang="ar-AE" sz="2000">
                          <a:latin typeface="Cambria Math" panose="02040503050406030204" pitchFamily="18" charset="0"/>
                        </a:rPr>
                        <m:t>.</m:t>
                      </m:r>
                      <m:r>
                        <a:rPr lang="ar-AE" sz="2000">
                          <a:latin typeface="Cambria Math" panose="02040503050406030204" pitchFamily="18" charset="0"/>
                        </a:rPr>
                        <m:t>75</m:t>
                      </m:r>
                      <m:r>
                        <a:rPr lang="ar-AE" sz="2000">
                          <a:latin typeface="Cambria Math" panose="02040503050406030204" pitchFamily="18" charset="0"/>
                        </a:rPr>
                        <m:t>%</m:t>
                      </m:r>
                    </m:oMath>
                  </m:oMathPara>
                </a14:m>
                <a:endParaRPr lang="ar-AE" sz="2400" dirty="0"/>
              </a:p>
            </p:txBody>
          </p:sp>
        </mc:Choice>
        <mc:Fallback xmlns="">
          <p:sp>
            <p:nvSpPr>
              <p:cNvPr id="11" name="TextBox 10">
                <a:extLst>
                  <a:ext uri="{FF2B5EF4-FFF2-40B4-BE49-F238E27FC236}">
                    <a16:creationId xmlns:a16="http://schemas.microsoft.com/office/drawing/2014/main" id="{E1A133E0-BA52-3CBD-598E-DF13EF62F79C}"/>
                  </a:ext>
                </a:extLst>
              </p:cNvPr>
              <p:cNvSpPr txBox="1">
                <a:spLocks noRot="1" noChangeAspect="1" noMove="1" noResize="1" noEditPoints="1" noAdjustHandles="1" noChangeArrowheads="1" noChangeShapeType="1" noTextEdit="1"/>
              </p:cNvSpPr>
              <p:nvPr/>
            </p:nvSpPr>
            <p:spPr>
              <a:xfrm>
                <a:off x="7114800" y="2146261"/>
                <a:ext cx="4774608" cy="1778564"/>
              </a:xfrm>
              <a:prstGeom prst="rect">
                <a:avLst/>
              </a:prstGeom>
              <a:blipFill>
                <a:blip r:embed="rId4"/>
                <a:stretch>
                  <a:fillRect l="-1916" t="-2740"/>
                </a:stretch>
              </a:blipFill>
            </p:spPr>
            <p:txBody>
              <a:bodyPr/>
              <a:lstStyle/>
              <a:p>
                <a:r>
                  <a:rPr lang="en-IN">
                    <a:noFill/>
                  </a:rPr>
                  <a:t> </a:t>
                </a:r>
              </a:p>
            </p:txBody>
          </p:sp>
        </mc:Fallback>
      </mc:AlternateContent>
      <p:sp>
        <p:nvSpPr>
          <p:cNvPr id="13" name="TextBox 12">
            <a:extLst>
              <a:ext uri="{FF2B5EF4-FFF2-40B4-BE49-F238E27FC236}">
                <a16:creationId xmlns:a16="http://schemas.microsoft.com/office/drawing/2014/main" id="{409F7B56-0AD3-C313-B562-EEB563786DC0}"/>
              </a:ext>
            </a:extLst>
          </p:cNvPr>
          <p:cNvSpPr txBox="1"/>
          <p:nvPr/>
        </p:nvSpPr>
        <p:spPr>
          <a:xfrm>
            <a:off x="7114800" y="3924825"/>
            <a:ext cx="4774608" cy="2246769"/>
          </a:xfrm>
          <a:prstGeom prst="rect">
            <a:avLst/>
          </a:prstGeom>
          <a:solidFill>
            <a:schemeClr val="accent1">
              <a:lumMod val="20000"/>
              <a:lumOff val="80000"/>
            </a:schemeClr>
          </a:solidFill>
        </p:spPr>
        <p:txBody>
          <a:bodyPr wrap="square">
            <a:spAutoFit/>
          </a:bodyPr>
          <a:lstStyle/>
          <a:p>
            <a:pPr>
              <a:buNone/>
            </a:pPr>
            <a:r>
              <a:rPr lang="en-US" sz="2800" b="1" dirty="0"/>
              <a:t>Interpretation</a:t>
            </a:r>
          </a:p>
          <a:p>
            <a:pPr marL="342900" indent="-342900">
              <a:buFont typeface="Wingdings" panose="05000000000000000000" pitchFamily="2" charset="2"/>
              <a:buChar char="Ø"/>
            </a:pPr>
            <a:r>
              <a:rPr lang="en-US" sz="2800" dirty="0"/>
              <a:t>Productivity still improved despite price drop. </a:t>
            </a:r>
          </a:p>
          <a:p>
            <a:pPr marL="342900" indent="-342900">
              <a:buFont typeface="Wingdings" panose="05000000000000000000" pitchFamily="2" charset="2"/>
              <a:buChar char="Ø"/>
            </a:pPr>
            <a:r>
              <a:rPr lang="en-US" sz="2800" dirty="0"/>
              <a:t>Cost leadership strategy justified.</a:t>
            </a:r>
          </a:p>
        </p:txBody>
      </p:sp>
    </p:spTree>
    <p:extLst>
      <p:ext uri="{BB962C8B-B14F-4D97-AF65-F5344CB8AC3E}">
        <p14:creationId xmlns:p14="http://schemas.microsoft.com/office/powerpoint/2010/main" val="1927863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7C350-6DBD-6D04-118B-1E0B2A559B0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E5EDA31-E6D3-644B-06EC-27C524A23C34}"/>
              </a:ext>
            </a:extLst>
          </p:cNvPr>
          <p:cNvSpPr/>
          <p:nvPr/>
        </p:nvSpPr>
        <p:spPr>
          <a:xfrm>
            <a:off x="456714" y="0"/>
            <a:ext cx="11735286"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t>PRODUCTIVITY AS A MEASURE OF COMPETITIVENESS</a:t>
            </a:r>
            <a:endParaRPr lang="en-IN" sz="7200" b="1" dirty="0">
              <a:solidFill>
                <a:schemeClr val="accent4">
                  <a:lumMod val="20000"/>
                  <a:lumOff val="80000"/>
                </a:schemeClr>
              </a:solidFill>
            </a:endParaRPr>
          </a:p>
        </p:txBody>
      </p:sp>
      <p:sp>
        <p:nvSpPr>
          <p:cNvPr id="4" name="TextBox 3">
            <a:extLst>
              <a:ext uri="{FF2B5EF4-FFF2-40B4-BE49-F238E27FC236}">
                <a16:creationId xmlns:a16="http://schemas.microsoft.com/office/drawing/2014/main" id="{D4852B81-8023-6E54-8E8D-9014E6ACDC42}"/>
              </a:ext>
            </a:extLst>
          </p:cNvPr>
          <p:cNvSpPr txBox="1"/>
          <p:nvPr/>
        </p:nvSpPr>
        <p:spPr>
          <a:xfrm>
            <a:off x="486780" y="945932"/>
            <a:ext cx="11432694" cy="954107"/>
          </a:xfrm>
          <a:prstGeom prst="rect">
            <a:avLst/>
          </a:prstGeom>
          <a:solidFill>
            <a:schemeClr val="accent1">
              <a:lumMod val="20000"/>
              <a:lumOff val="80000"/>
            </a:schemeClr>
          </a:solidFill>
        </p:spPr>
        <p:txBody>
          <a:bodyPr wrap="square">
            <a:spAutoFit/>
          </a:bodyPr>
          <a:lstStyle/>
          <a:p>
            <a:pPr marL="355600" indent="-355600" algn="just"/>
            <a:r>
              <a:rPr lang="en-IN" sz="2800" b="1" dirty="0"/>
              <a:t>3. Find Multi-factor Productivity (MFP) with respect to labour and material with selling price reduced from Rs. 800 in 2020 to Rs.750 in 2022</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088BDF7-A1DA-F41B-8DAB-DC26E4BD6A5E}"/>
                  </a:ext>
                </a:extLst>
              </p:cNvPr>
              <p:cNvSpPr txBox="1"/>
              <p:nvPr/>
            </p:nvSpPr>
            <p:spPr>
              <a:xfrm>
                <a:off x="486780" y="1844063"/>
                <a:ext cx="6658086" cy="5013937"/>
              </a:xfrm>
              <a:prstGeom prst="rect">
                <a:avLst/>
              </a:prstGeom>
              <a:solidFill>
                <a:schemeClr val="accent6">
                  <a:lumMod val="20000"/>
                  <a:lumOff val="80000"/>
                </a:schemeClr>
              </a:solidFill>
            </p:spPr>
            <p:txBody>
              <a:bodyPr wrap="square">
                <a:spAutoFit/>
              </a:bodyPr>
              <a:lstStyle/>
              <a:p>
                <a:r>
                  <a:rPr lang="en-IN" sz="2400" b="1" dirty="0">
                    <a:latin typeface="Times New Roman" panose="02020603050405020304" pitchFamily="18" charset="0"/>
                    <a:cs typeface="Times New Roman" panose="02020603050405020304" pitchFamily="18" charset="0"/>
                  </a:rPr>
                  <a:t>Multi-factor Productivity</a:t>
                </a:r>
              </a:p>
              <a:p>
                <a:r>
                  <a:rPr lang="en-IN" sz="2400" b="1" dirty="0">
                    <a:latin typeface="Times New Roman" panose="02020603050405020304" pitchFamily="18" charset="0"/>
                    <a:cs typeface="Times New Roman" panose="02020603050405020304" pitchFamily="18" charset="0"/>
                  </a:rPr>
                  <a:t>Year 2020</a:t>
                </a:r>
              </a:p>
              <a:p>
                <a:r>
                  <a:rPr lang="en-IN" sz="2400" dirty="0">
                    <a:latin typeface="Times New Roman" panose="02020603050405020304" pitchFamily="18" charset="0"/>
                    <a:cs typeface="Times New Roman" panose="02020603050405020304" pitchFamily="18" charset="0"/>
                  </a:rPr>
                  <a:t>Output Value:</a:t>
                </a:r>
              </a:p>
              <a:p>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1,20,000×800=</m:t>
                      </m:r>
                      <m:r>
                        <m:rPr>
                          <m:nor/>
                        </m:rPr>
                        <a:rPr lang="en-IN" i="1">
                          <a:latin typeface="Times New Roman" panose="02020603050405020304" pitchFamily="18" charset="0"/>
                          <a:cs typeface="Times New Roman" panose="02020603050405020304" pitchFamily="18" charset="0"/>
                        </a:rPr>
                        <m:t>₹</m:t>
                      </m:r>
                      <m:r>
                        <a:rPr lang="en-IN">
                          <a:latin typeface="Cambria Math" panose="02040503050406030204" pitchFamily="18" charset="0"/>
                        </a:rPr>
                        <m:t>9,60,00,000</m:t>
                      </m:r>
                    </m:oMath>
                  </m:oMathPara>
                </a14:m>
                <a:endParaRPr lang="en-IN" sz="2400" b="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Total labour and material Input:</a:t>
                </a:r>
              </a:p>
              <a:p>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1,80,00,000+3,00,00,000=</m:t>
                      </m:r>
                      <m:r>
                        <m:rPr>
                          <m:nor/>
                        </m:rPr>
                        <a:rPr lang="en-IN" i="1">
                          <a:latin typeface="Times New Roman" panose="02020603050405020304" pitchFamily="18" charset="0"/>
                          <a:cs typeface="Times New Roman" panose="02020603050405020304" pitchFamily="18" charset="0"/>
                        </a:rPr>
                        <m:t>₹</m:t>
                      </m:r>
                      <m:r>
                        <a:rPr lang="en-US" b="0" i="0" smtClean="0">
                          <a:latin typeface="Cambria Math" panose="02040503050406030204" pitchFamily="18" charset="0"/>
                          <a:cs typeface="Times New Roman" panose="02020603050405020304" pitchFamily="18" charset="0"/>
                        </a:rPr>
                        <m:t>4</m:t>
                      </m:r>
                      <m:r>
                        <a:rPr lang="en-IN">
                          <a:latin typeface="Cambria Math" panose="02040503050406030204" pitchFamily="18" charset="0"/>
                        </a:rPr>
                        <m:t>,</m:t>
                      </m:r>
                      <m:r>
                        <a:rPr lang="en-US" b="0" i="0" smtClean="0">
                          <a:latin typeface="Cambria Math" panose="02040503050406030204" pitchFamily="18" charset="0"/>
                        </a:rPr>
                        <m:t>8</m:t>
                      </m:r>
                      <m:r>
                        <a:rPr lang="en-IN">
                          <a:latin typeface="Cambria Math" panose="02040503050406030204" pitchFamily="18" charset="0"/>
                        </a:rPr>
                        <m:t>0,00,000</m:t>
                      </m:r>
                    </m:oMath>
                  </m:oMathPara>
                </a14:m>
                <a:endParaRPr lang="en-IN" sz="2400" b="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m:t>
                      </m:r>
                      <m:r>
                        <m:rPr>
                          <m:sty m:val="p"/>
                        </m:rPr>
                        <a:rPr lang="en-US" b="0" i="0" smtClean="0">
                          <a:latin typeface="Cambria Math" panose="02040503050406030204" pitchFamily="18" charset="0"/>
                        </a:rPr>
                        <m:t>FP</m:t>
                      </m:r>
                      <m:r>
                        <a:rPr lang="en-US" b="0" i="0" baseline="-25000" smtClean="0">
                          <a:latin typeface="Cambria Math" panose="02040503050406030204" pitchFamily="18" charset="0"/>
                        </a:rPr>
                        <m:t>20</m:t>
                      </m:r>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9</m:t>
                          </m:r>
                          <m:r>
                            <a:rPr lang="ar-AE">
                              <a:latin typeface="Cambria Math" panose="02040503050406030204" pitchFamily="18" charset="0"/>
                            </a:rPr>
                            <m:t>,</m:t>
                          </m:r>
                          <m:r>
                            <a:rPr lang="ar-AE">
                              <a:latin typeface="Cambria Math" panose="02040503050406030204" pitchFamily="18" charset="0"/>
                            </a:rPr>
                            <m:t>60</m:t>
                          </m:r>
                          <m:r>
                            <a:rPr lang="ar-AE">
                              <a:latin typeface="Cambria Math" panose="02040503050406030204" pitchFamily="18" charset="0"/>
                            </a:rPr>
                            <m:t>,</m:t>
                          </m:r>
                          <m:r>
                            <a:rPr lang="ar-AE">
                              <a:latin typeface="Cambria Math" panose="02040503050406030204" pitchFamily="18" charset="0"/>
                            </a:rPr>
                            <m:t>00</m:t>
                          </m:r>
                          <m:r>
                            <a:rPr lang="ar-AE">
                              <a:latin typeface="Cambria Math" panose="02040503050406030204" pitchFamily="18" charset="0"/>
                            </a:rPr>
                            <m:t>,</m:t>
                          </m:r>
                          <m:r>
                            <a:rPr lang="ar-AE">
                              <a:latin typeface="Cambria Math" panose="02040503050406030204" pitchFamily="18" charset="0"/>
                            </a:rPr>
                            <m:t>000</m:t>
                          </m:r>
                        </m:num>
                        <m:den>
                          <m:r>
                            <a:rPr lang="en-US" b="0" i="0" smtClean="0">
                              <a:latin typeface="Cambria Math" panose="02040503050406030204" pitchFamily="18" charset="0"/>
                            </a:rPr>
                            <m:t>4</m:t>
                          </m:r>
                          <m:r>
                            <a:rPr lang="en-US" b="0" i="0" smtClean="0">
                              <a:latin typeface="Cambria Math" panose="02040503050406030204" pitchFamily="18" charset="0"/>
                            </a:rPr>
                            <m:t>,</m:t>
                          </m:r>
                          <m:r>
                            <a:rPr lang="en-US" b="0" i="0" smtClean="0">
                              <a:latin typeface="Cambria Math" panose="02040503050406030204" pitchFamily="18" charset="0"/>
                            </a:rPr>
                            <m:t>80</m:t>
                          </m:r>
                          <m:r>
                            <a:rPr lang="ar-AE">
                              <a:latin typeface="Cambria Math" panose="02040503050406030204" pitchFamily="18" charset="0"/>
                            </a:rPr>
                            <m:t>,</m:t>
                          </m:r>
                          <m:r>
                            <a:rPr lang="ar-AE">
                              <a:latin typeface="Cambria Math" panose="02040503050406030204" pitchFamily="18" charset="0"/>
                            </a:rPr>
                            <m:t>00</m:t>
                          </m:r>
                          <m:r>
                            <a:rPr lang="ar-AE">
                              <a:latin typeface="Cambria Math" panose="02040503050406030204" pitchFamily="18" charset="0"/>
                            </a:rPr>
                            <m:t>,</m:t>
                          </m:r>
                          <m:r>
                            <a:rPr lang="ar-AE">
                              <a:latin typeface="Cambria Math" panose="02040503050406030204" pitchFamily="18" charset="0"/>
                            </a:rPr>
                            <m:t>000</m:t>
                          </m:r>
                        </m:den>
                      </m:f>
                      <m:r>
                        <a:rPr lang="ar-AE">
                          <a:latin typeface="Cambria Math" panose="02040503050406030204" pitchFamily="18" charset="0"/>
                        </a:rPr>
                        <m:t>=</m:t>
                      </m:r>
                      <m:r>
                        <a:rPr lang="en-US" b="0" i="0" smtClean="0">
                          <a:latin typeface="Cambria Math" panose="02040503050406030204" pitchFamily="18" charset="0"/>
                        </a:rPr>
                        <m:t>2</m:t>
                      </m:r>
                      <m:r>
                        <a:rPr lang="en-US" b="0" i="0" smtClean="0">
                          <a:latin typeface="Cambria Math" panose="02040503050406030204" pitchFamily="18" charset="0"/>
                        </a:rPr>
                        <m:t>.</m:t>
                      </m:r>
                      <m:r>
                        <a:rPr lang="en-US" b="0" i="0" smtClean="0">
                          <a:latin typeface="Cambria Math" panose="02040503050406030204" pitchFamily="18" charset="0"/>
                        </a:rPr>
                        <m:t>0</m:t>
                      </m:r>
                    </m:oMath>
                  </m:oMathPara>
                </a14:m>
                <a:endParaRPr lang="en-IN" sz="2400" dirty="0">
                  <a:latin typeface="Times New Roman" panose="02020603050405020304" pitchFamily="18" charset="0"/>
                  <a:cs typeface="Times New Roman" panose="02020603050405020304" pitchFamily="18" charset="0"/>
                </a:endParaRPr>
              </a:p>
              <a:p>
                <a:r>
                  <a:rPr lang="en-IN" sz="2400" b="1" dirty="0"/>
                  <a:t>Year 2022</a:t>
                </a:r>
              </a:p>
              <a:p>
                <a:r>
                  <a:rPr lang="en-IN" sz="2400" dirty="0"/>
                  <a:t>Output Value:</a:t>
                </a:r>
              </a:p>
              <a:p>
                <a:r>
                  <a:rPr lang="en-IN" dirty="0"/>
                  <a:t>		1,40,000×750=₹10,50,00,000 </a:t>
                </a:r>
              </a:p>
              <a:p>
                <a:r>
                  <a:rPr lang="en-IN" dirty="0"/>
                  <a:t>Total labour and material Inputs remains:</a:t>
                </a:r>
              </a:p>
              <a:p>
                <a:pPr/>
                <a14:m>
                  <m:oMathPara xmlns:m="http://schemas.openxmlformats.org/officeDocument/2006/math">
                    <m:oMathParaPr>
                      <m:jc m:val="centerGroup"/>
                    </m:oMathParaPr>
                    <m:oMath xmlns:m="http://schemas.openxmlformats.org/officeDocument/2006/math">
                      <m:r>
                        <m:rPr>
                          <m:nor/>
                        </m:rPr>
                        <a:rPr lang="en-IN" b="0"/>
                        <m:t>₹</m:t>
                      </m:r>
                      <m:r>
                        <a:rPr lang="en-US" b="0" i="0" smtClean="0">
                          <a:latin typeface="Cambria Math" panose="02040503050406030204" pitchFamily="18" charset="0"/>
                        </a:rPr>
                        <m:t>4</m:t>
                      </m:r>
                      <m:r>
                        <a:rPr lang="en-US" b="0" i="0" smtClean="0">
                          <a:latin typeface="Cambria Math" panose="02040503050406030204" pitchFamily="18" charset="0"/>
                        </a:rPr>
                        <m:t>,</m:t>
                      </m:r>
                      <m:r>
                        <a:rPr lang="en-US" b="0" i="0" smtClean="0">
                          <a:latin typeface="Cambria Math" panose="02040503050406030204" pitchFamily="18" charset="0"/>
                        </a:rPr>
                        <m:t>80</m:t>
                      </m:r>
                      <m:r>
                        <a:rPr lang="en-IN" sz="2000">
                          <a:latin typeface="Cambria Math" panose="02040503050406030204" pitchFamily="18" charset="0"/>
                        </a:rPr>
                        <m:t>,</m:t>
                      </m:r>
                      <m:r>
                        <a:rPr lang="en-IN" sz="2000">
                          <a:latin typeface="Cambria Math" panose="02040503050406030204" pitchFamily="18" charset="0"/>
                        </a:rPr>
                        <m:t>00</m:t>
                      </m:r>
                      <m:r>
                        <a:rPr lang="en-IN" sz="2000">
                          <a:latin typeface="Cambria Math" panose="02040503050406030204" pitchFamily="18" charset="0"/>
                        </a:rPr>
                        <m:t>,</m:t>
                      </m:r>
                      <m:r>
                        <a:rPr lang="en-IN" sz="2000">
                          <a:latin typeface="Cambria Math" panose="02040503050406030204" pitchFamily="18" charset="0"/>
                        </a:rPr>
                        <m:t>000</m:t>
                      </m:r>
                    </m:oMath>
                  </m:oMathPara>
                </a14:m>
                <a:endParaRPr lang="en-IN" b="0"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𝑀𝐹𝑃</m:t>
                      </m:r>
                      <m:r>
                        <a:rPr lang="en-US" b="0" i="0" baseline="-25000" smtClean="0">
                          <a:latin typeface="Cambria Math" panose="02040503050406030204" pitchFamily="18" charset="0"/>
                        </a:rPr>
                        <m:t>22</m:t>
                      </m:r>
                      <m:r>
                        <a:rPr lang="en-IN">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10</m:t>
                          </m:r>
                          <m:r>
                            <a:rPr lang="ar-AE">
                              <a:latin typeface="Cambria Math" panose="02040503050406030204" pitchFamily="18" charset="0"/>
                            </a:rPr>
                            <m:t>,</m:t>
                          </m:r>
                          <m:r>
                            <a:rPr lang="ar-AE">
                              <a:latin typeface="Cambria Math" panose="02040503050406030204" pitchFamily="18" charset="0"/>
                            </a:rPr>
                            <m:t>50</m:t>
                          </m:r>
                          <m:r>
                            <a:rPr lang="ar-AE">
                              <a:latin typeface="Cambria Math" panose="02040503050406030204" pitchFamily="18" charset="0"/>
                            </a:rPr>
                            <m:t>,</m:t>
                          </m:r>
                          <m:r>
                            <a:rPr lang="ar-AE">
                              <a:latin typeface="Cambria Math" panose="02040503050406030204" pitchFamily="18" charset="0"/>
                            </a:rPr>
                            <m:t>00</m:t>
                          </m:r>
                          <m:r>
                            <a:rPr lang="ar-AE">
                              <a:latin typeface="Cambria Math" panose="02040503050406030204" pitchFamily="18" charset="0"/>
                            </a:rPr>
                            <m:t>,</m:t>
                          </m:r>
                          <m:r>
                            <a:rPr lang="ar-AE">
                              <a:latin typeface="Cambria Math" panose="02040503050406030204" pitchFamily="18" charset="0"/>
                            </a:rPr>
                            <m:t>000</m:t>
                          </m:r>
                        </m:num>
                        <m:den>
                          <m:r>
                            <a:rPr lang="en-US" b="0" i="0" smtClean="0">
                              <a:latin typeface="Cambria Math" panose="02040503050406030204" pitchFamily="18" charset="0"/>
                            </a:rPr>
                            <m:t>4</m:t>
                          </m:r>
                          <m:r>
                            <a:rPr lang="en-US" b="0" i="0" smtClean="0">
                              <a:latin typeface="Cambria Math" panose="02040503050406030204" pitchFamily="18" charset="0"/>
                            </a:rPr>
                            <m:t>,</m:t>
                          </m:r>
                          <m:r>
                            <a:rPr lang="en-US" b="0" i="0" smtClean="0">
                              <a:latin typeface="Cambria Math" panose="02040503050406030204" pitchFamily="18" charset="0"/>
                            </a:rPr>
                            <m:t>80</m:t>
                          </m:r>
                          <m:r>
                            <a:rPr lang="en-US" b="0" i="0" smtClean="0">
                              <a:latin typeface="Cambria Math" panose="02040503050406030204" pitchFamily="18" charset="0"/>
                            </a:rPr>
                            <m:t>,</m:t>
                          </m:r>
                          <m:r>
                            <a:rPr lang="ar-AE">
                              <a:latin typeface="Cambria Math" panose="02040503050406030204" pitchFamily="18" charset="0"/>
                            </a:rPr>
                            <m:t>00</m:t>
                          </m:r>
                          <m:r>
                            <a:rPr lang="ar-AE">
                              <a:latin typeface="Cambria Math" panose="02040503050406030204" pitchFamily="18" charset="0"/>
                            </a:rPr>
                            <m:t>,</m:t>
                          </m:r>
                          <m:r>
                            <a:rPr lang="ar-AE">
                              <a:latin typeface="Cambria Math" panose="02040503050406030204" pitchFamily="18" charset="0"/>
                            </a:rPr>
                            <m:t>000</m:t>
                          </m:r>
                        </m:den>
                      </m:f>
                      <m:r>
                        <a:rPr lang="ar-AE">
                          <a:latin typeface="Cambria Math" panose="02040503050406030204" pitchFamily="18" charset="0"/>
                        </a:rPr>
                        <m:t>=</m:t>
                      </m:r>
                      <m:r>
                        <a:rPr lang="en-US" b="0" i="0" smtClean="0">
                          <a:latin typeface="Cambria Math" panose="02040503050406030204" pitchFamily="18" charset="0"/>
                        </a:rPr>
                        <m:t>2</m:t>
                      </m:r>
                      <m:r>
                        <a:rPr lang="en-US" b="0" i="0" smtClean="0">
                          <a:latin typeface="Cambria Math" panose="02040503050406030204" pitchFamily="18" charset="0"/>
                        </a:rPr>
                        <m:t>.</m:t>
                      </m:r>
                      <m:r>
                        <a:rPr lang="en-US" b="0" i="0" smtClean="0">
                          <a:latin typeface="Cambria Math" panose="02040503050406030204" pitchFamily="18" charset="0"/>
                        </a:rPr>
                        <m:t>19</m:t>
                      </m:r>
                      <m:r>
                        <a:rPr lang="en-US" b="0" i="0" smtClean="0">
                          <a:latin typeface="Cambria Math" panose="02040503050406030204" pitchFamily="18" charset="0"/>
                        </a:rPr>
                        <m:t> (</m:t>
                      </m:r>
                      <m:r>
                        <m:rPr>
                          <m:sty m:val="p"/>
                        </m:rPr>
                        <a:rPr lang="en-US" b="0" i="0" smtClean="0">
                          <a:latin typeface="Cambria Math" panose="02040503050406030204" pitchFamily="18" charset="0"/>
                        </a:rPr>
                        <m:t>Approx</m:t>
                      </m:r>
                      <m:r>
                        <a:rPr lang="en-US" b="0" i="0" smtClean="0">
                          <a:latin typeface="Cambria Math" panose="02040503050406030204" pitchFamily="18" charset="0"/>
                        </a:rPr>
                        <m:t>)</m:t>
                      </m:r>
                    </m:oMath>
                  </m:oMathPara>
                </a14:m>
                <a:endParaRPr lang="ar-AE" sz="1600" dirty="0"/>
              </a:p>
            </p:txBody>
          </p:sp>
        </mc:Choice>
        <mc:Fallback xmlns="">
          <p:sp>
            <p:nvSpPr>
              <p:cNvPr id="9" name="TextBox 8">
                <a:extLst>
                  <a:ext uri="{FF2B5EF4-FFF2-40B4-BE49-F238E27FC236}">
                    <a16:creationId xmlns:a16="http://schemas.microsoft.com/office/drawing/2014/main" id="{C088BDF7-A1DA-F41B-8DAB-DC26E4BD6A5E}"/>
                  </a:ext>
                </a:extLst>
              </p:cNvPr>
              <p:cNvSpPr txBox="1">
                <a:spLocks noRot="1" noChangeAspect="1" noMove="1" noResize="1" noEditPoints="1" noAdjustHandles="1" noChangeArrowheads="1" noChangeShapeType="1" noTextEdit="1"/>
              </p:cNvSpPr>
              <p:nvPr/>
            </p:nvSpPr>
            <p:spPr>
              <a:xfrm>
                <a:off x="486780" y="1844063"/>
                <a:ext cx="6658086" cy="5013937"/>
              </a:xfrm>
              <a:prstGeom prst="rect">
                <a:avLst/>
              </a:prstGeom>
              <a:blipFill>
                <a:blip r:embed="rId3"/>
                <a:stretch>
                  <a:fillRect l="-1465" t="-97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1E3F278-9089-F866-D46F-023B62DF5EBD}"/>
                  </a:ext>
                </a:extLst>
              </p:cNvPr>
              <p:cNvSpPr txBox="1"/>
              <p:nvPr/>
            </p:nvSpPr>
            <p:spPr>
              <a:xfrm>
                <a:off x="7144866" y="1844063"/>
                <a:ext cx="4774608" cy="2078839"/>
              </a:xfrm>
              <a:prstGeom prst="rect">
                <a:avLst/>
              </a:prstGeom>
              <a:solidFill>
                <a:schemeClr val="accent6">
                  <a:lumMod val="20000"/>
                  <a:lumOff val="80000"/>
                </a:schemeClr>
              </a:solidFill>
            </p:spPr>
            <p:txBody>
              <a:bodyPr wrap="square">
                <a:spAutoFit/>
              </a:bodyPr>
              <a:lstStyle/>
              <a:p>
                <a:r>
                  <a:rPr lang="en-IN" sz="2800" b="1" dirty="0"/>
                  <a:t>Comparison with Year 2020:</a:t>
                </a:r>
              </a:p>
              <a:p>
                <a:r>
                  <a:rPr lang="en-IN" sz="2800" dirty="0"/>
                  <a:t>Year 2020 MFP = 2.0</a:t>
                </a:r>
                <a:br>
                  <a:rPr lang="en-IN" sz="2800" dirty="0"/>
                </a:br>
                <a:r>
                  <a:rPr lang="en-IN" sz="2800" dirty="0"/>
                  <a:t>New Year 2022 MFP = 2.19</a:t>
                </a:r>
              </a:p>
              <a:p>
                <a:pPr/>
                <a14:m>
                  <m:oMathPara xmlns:m="http://schemas.openxmlformats.org/officeDocument/2006/math">
                    <m:oMathParaPr>
                      <m:jc m:val="centerGroup"/>
                    </m:oMathParaPr>
                    <m:oMath xmlns:m="http://schemas.openxmlformats.org/officeDocument/2006/math">
                      <m:f>
                        <m:fPr>
                          <m:ctrlPr>
                            <a:rPr lang="ar-AE" sz="2400" i="1">
                              <a:latin typeface="Cambria Math" panose="02040503050406030204" pitchFamily="18" charset="0"/>
                            </a:rPr>
                          </m:ctrlPr>
                        </m:fPr>
                        <m:num>
                          <m:r>
                            <a:rPr lang="en-US" sz="2400" b="0" i="0" smtClean="0">
                              <a:latin typeface="Cambria Math" panose="02040503050406030204" pitchFamily="18" charset="0"/>
                            </a:rPr>
                            <m:t>2</m:t>
                          </m:r>
                          <m:r>
                            <a:rPr lang="en-US" sz="2400" b="0" i="0" smtClean="0">
                              <a:latin typeface="Cambria Math" panose="02040503050406030204" pitchFamily="18" charset="0"/>
                            </a:rPr>
                            <m:t>.</m:t>
                          </m:r>
                          <m:r>
                            <a:rPr lang="en-US" sz="2400" b="0" i="0" smtClean="0">
                              <a:latin typeface="Cambria Math" panose="02040503050406030204" pitchFamily="18" charset="0"/>
                            </a:rPr>
                            <m:t>19</m:t>
                          </m:r>
                          <m:r>
                            <a:rPr lang="ar-AE" sz="2400">
                              <a:latin typeface="Cambria Math" panose="02040503050406030204" pitchFamily="18" charset="0"/>
                            </a:rPr>
                            <m:t>−</m:t>
                          </m:r>
                          <m:r>
                            <a:rPr lang="en-US" sz="2400" b="0" i="1" smtClean="0">
                              <a:latin typeface="Cambria Math" panose="02040503050406030204" pitchFamily="18" charset="0"/>
                            </a:rPr>
                            <m:t>2</m:t>
                          </m:r>
                          <m:r>
                            <a:rPr lang="en-US" sz="2400" b="0" i="1" smtClean="0">
                              <a:latin typeface="Cambria Math" panose="02040503050406030204" pitchFamily="18" charset="0"/>
                            </a:rPr>
                            <m:t>.</m:t>
                          </m:r>
                          <m:r>
                            <a:rPr lang="en-US" sz="2400" b="0" i="1" smtClean="0">
                              <a:latin typeface="Cambria Math" panose="02040503050406030204" pitchFamily="18" charset="0"/>
                            </a:rPr>
                            <m:t>0</m:t>
                          </m:r>
                        </m:num>
                        <m:den>
                          <m:r>
                            <a:rPr lang="en-US" sz="2400" b="0" i="0" smtClean="0">
                              <a:latin typeface="Cambria Math" panose="02040503050406030204" pitchFamily="18" charset="0"/>
                            </a:rPr>
                            <m:t>2</m:t>
                          </m:r>
                          <m:r>
                            <a:rPr lang="en-US" sz="2400" b="0" i="0" smtClean="0">
                              <a:latin typeface="Cambria Math" panose="02040503050406030204" pitchFamily="18" charset="0"/>
                            </a:rPr>
                            <m:t>.</m:t>
                          </m:r>
                          <m:r>
                            <a:rPr lang="en-US" sz="2400" b="0" i="0" smtClean="0">
                              <a:latin typeface="Cambria Math" panose="02040503050406030204" pitchFamily="18" charset="0"/>
                            </a:rPr>
                            <m:t>0</m:t>
                          </m:r>
                        </m:den>
                      </m:f>
                      <m:r>
                        <a:rPr lang="ar-AE" sz="2400">
                          <a:latin typeface="Cambria Math" panose="02040503050406030204" pitchFamily="18" charset="0"/>
                        </a:rPr>
                        <m:t>×</m:t>
                      </m:r>
                      <m:r>
                        <a:rPr lang="ar-AE" sz="2400">
                          <a:latin typeface="Cambria Math" panose="02040503050406030204" pitchFamily="18" charset="0"/>
                        </a:rPr>
                        <m:t>100</m:t>
                      </m:r>
                      <m:r>
                        <a:rPr lang="ar-AE" sz="2400">
                          <a:latin typeface="Cambria Math" panose="02040503050406030204" pitchFamily="18" charset="0"/>
                        </a:rPr>
                        <m:t>=</m:t>
                      </m:r>
                      <m:r>
                        <a:rPr lang="en-US" sz="2400" b="0" i="0" smtClean="0">
                          <a:latin typeface="Cambria Math" panose="02040503050406030204" pitchFamily="18" charset="0"/>
                        </a:rPr>
                        <m:t>9</m:t>
                      </m:r>
                      <m:r>
                        <a:rPr lang="en-US" sz="2400" b="0" i="0" smtClean="0">
                          <a:latin typeface="Cambria Math" panose="02040503050406030204" pitchFamily="18" charset="0"/>
                        </a:rPr>
                        <m:t>.</m:t>
                      </m:r>
                      <m:r>
                        <a:rPr lang="ar-AE" sz="2400">
                          <a:latin typeface="Cambria Math" panose="02040503050406030204" pitchFamily="18" charset="0"/>
                        </a:rPr>
                        <m:t>5</m:t>
                      </m:r>
                      <m:r>
                        <a:rPr lang="ar-AE" sz="2400">
                          <a:latin typeface="Cambria Math" panose="02040503050406030204" pitchFamily="18" charset="0"/>
                        </a:rPr>
                        <m:t>%</m:t>
                      </m:r>
                    </m:oMath>
                  </m:oMathPara>
                </a14:m>
                <a:endParaRPr lang="ar-AE" sz="2800" dirty="0"/>
              </a:p>
            </p:txBody>
          </p:sp>
        </mc:Choice>
        <mc:Fallback xmlns="">
          <p:sp>
            <p:nvSpPr>
              <p:cNvPr id="11" name="TextBox 10">
                <a:extLst>
                  <a:ext uri="{FF2B5EF4-FFF2-40B4-BE49-F238E27FC236}">
                    <a16:creationId xmlns:a16="http://schemas.microsoft.com/office/drawing/2014/main" id="{D1E3F278-9089-F866-D46F-023B62DF5EBD}"/>
                  </a:ext>
                </a:extLst>
              </p:cNvPr>
              <p:cNvSpPr txBox="1">
                <a:spLocks noRot="1" noChangeAspect="1" noMove="1" noResize="1" noEditPoints="1" noAdjustHandles="1" noChangeArrowheads="1" noChangeShapeType="1" noTextEdit="1"/>
              </p:cNvSpPr>
              <p:nvPr/>
            </p:nvSpPr>
            <p:spPr>
              <a:xfrm>
                <a:off x="7144866" y="1844063"/>
                <a:ext cx="4774608" cy="2078839"/>
              </a:xfrm>
              <a:prstGeom prst="rect">
                <a:avLst/>
              </a:prstGeom>
              <a:blipFill>
                <a:blip r:embed="rId4"/>
                <a:stretch>
                  <a:fillRect l="-2554" t="-2933"/>
                </a:stretch>
              </a:blipFill>
            </p:spPr>
            <p:txBody>
              <a:bodyPr/>
              <a:lstStyle/>
              <a:p>
                <a:r>
                  <a:rPr lang="en-IN">
                    <a:noFill/>
                  </a:rPr>
                  <a:t> </a:t>
                </a:r>
              </a:p>
            </p:txBody>
          </p:sp>
        </mc:Fallback>
      </mc:AlternateContent>
      <p:sp>
        <p:nvSpPr>
          <p:cNvPr id="13" name="TextBox 12">
            <a:extLst>
              <a:ext uri="{FF2B5EF4-FFF2-40B4-BE49-F238E27FC236}">
                <a16:creationId xmlns:a16="http://schemas.microsoft.com/office/drawing/2014/main" id="{CF7C613F-FD76-4AE2-87EB-A32178E9C6C1}"/>
              </a:ext>
            </a:extLst>
          </p:cNvPr>
          <p:cNvSpPr txBox="1"/>
          <p:nvPr/>
        </p:nvSpPr>
        <p:spPr>
          <a:xfrm>
            <a:off x="7144866" y="3921801"/>
            <a:ext cx="4774608" cy="2246769"/>
          </a:xfrm>
          <a:prstGeom prst="rect">
            <a:avLst/>
          </a:prstGeom>
          <a:solidFill>
            <a:schemeClr val="accent1">
              <a:lumMod val="20000"/>
              <a:lumOff val="80000"/>
            </a:schemeClr>
          </a:solidFill>
        </p:spPr>
        <p:txBody>
          <a:bodyPr wrap="square">
            <a:spAutoFit/>
          </a:bodyPr>
          <a:lstStyle/>
          <a:p>
            <a:pPr>
              <a:buNone/>
            </a:pPr>
            <a:r>
              <a:rPr lang="en-US" sz="2800" b="1" dirty="0"/>
              <a:t>Interpretation</a:t>
            </a:r>
          </a:p>
          <a:p>
            <a:pPr marL="342900" indent="-342900">
              <a:buFont typeface="Wingdings" panose="05000000000000000000" pitchFamily="2" charset="2"/>
              <a:buChar char="Ø"/>
            </a:pPr>
            <a:r>
              <a:rPr lang="en-US" sz="2800" dirty="0"/>
              <a:t>Multi-factor Productivity still improved despite price drop. </a:t>
            </a:r>
          </a:p>
          <a:p>
            <a:pPr marL="342900" indent="-342900">
              <a:buFont typeface="Wingdings" panose="05000000000000000000" pitchFamily="2" charset="2"/>
              <a:buChar char="Ø"/>
            </a:pPr>
            <a:r>
              <a:rPr lang="en-US" sz="2800" dirty="0"/>
              <a:t>Cost leadership strategy justified.</a:t>
            </a:r>
          </a:p>
        </p:txBody>
      </p:sp>
    </p:spTree>
    <p:extLst>
      <p:ext uri="{BB962C8B-B14F-4D97-AF65-F5344CB8AC3E}">
        <p14:creationId xmlns:p14="http://schemas.microsoft.com/office/powerpoint/2010/main" val="30396682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41B08-F381-B902-6EDE-C07E4207EB6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6CBDF01-21F6-369A-71E4-136247251747}"/>
              </a:ext>
            </a:extLst>
          </p:cNvPr>
          <p:cNvSpPr/>
          <p:nvPr/>
        </p:nvSpPr>
        <p:spPr>
          <a:xfrm>
            <a:off x="456714" y="0"/>
            <a:ext cx="11602608"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t>ACTIVE LEARNING</a:t>
            </a:r>
            <a:endParaRPr lang="en-IN" sz="85700" b="1" dirty="0">
              <a:solidFill>
                <a:schemeClr val="accent4">
                  <a:lumMod val="20000"/>
                  <a:lumOff val="80000"/>
                </a:schemeClr>
              </a:solidFill>
            </a:endParaRPr>
          </a:p>
        </p:txBody>
      </p:sp>
      <p:sp>
        <p:nvSpPr>
          <p:cNvPr id="2" name="TextBox 1">
            <a:extLst>
              <a:ext uri="{FF2B5EF4-FFF2-40B4-BE49-F238E27FC236}">
                <a16:creationId xmlns:a16="http://schemas.microsoft.com/office/drawing/2014/main" id="{63609BFE-0E16-F166-28B8-5DE15B85390A}"/>
              </a:ext>
            </a:extLst>
          </p:cNvPr>
          <p:cNvSpPr txBox="1"/>
          <p:nvPr/>
        </p:nvSpPr>
        <p:spPr>
          <a:xfrm>
            <a:off x="572844" y="945932"/>
            <a:ext cx="10980869" cy="830997"/>
          </a:xfrm>
          <a:prstGeom prst="rect">
            <a:avLst/>
          </a:prstGeom>
          <a:solidFill>
            <a:schemeClr val="bg2"/>
          </a:solidFill>
        </p:spPr>
        <p:txBody>
          <a:bodyPr wrap="square">
            <a:spAutoFit/>
          </a:bodyPr>
          <a:lstStyle/>
          <a:p>
            <a:pPr algn="just"/>
            <a:r>
              <a:rPr lang="en-US" sz="2400" dirty="0">
                <a:latin typeface="Arial" panose="020B0604020202020204" pitchFamily="34" charset="0"/>
                <a:cs typeface="Arial" panose="020B0604020202020204" pitchFamily="34" charset="0"/>
              </a:rPr>
              <a:t>Lovely Shoes is a local shoe firm competing with fast-fashion shoe firms. The firm collected the following quarterly data for 2024. </a:t>
            </a:r>
          </a:p>
        </p:txBody>
      </p:sp>
      <p:graphicFrame>
        <p:nvGraphicFramePr>
          <p:cNvPr id="5" name="Table 4">
            <a:extLst>
              <a:ext uri="{FF2B5EF4-FFF2-40B4-BE49-F238E27FC236}">
                <a16:creationId xmlns:a16="http://schemas.microsoft.com/office/drawing/2014/main" id="{740DDC18-C76C-BC68-EC37-D1508D02532E}"/>
              </a:ext>
            </a:extLst>
          </p:cNvPr>
          <p:cNvGraphicFramePr>
            <a:graphicFrameLocks noGrp="1"/>
          </p:cNvGraphicFramePr>
          <p:nvPr>
            <p:extLst>
              <p:ext uri="{D42A27DB-BD31-4B8C-83A1-F6EECF244321}">
                <p14:modId xmlns:p14="http://schemas.microsoft.com/office/powerpoint/2010/main" val="2946827218"/>
              </p:ext>
            </p:extLst>
          </p:nvPr>
        </p:nvGraphicFramePr>
        <p:xfrm>
          <a:off x="572843" y="1776929"/>
          <a:ext cx="10980869" cy="4053840"/>
        </p:xfrm>
        <a:graphic>
          <a:graphicData uri="http://schemas.openxmlformats.org/drawingml/2006/table">
            <a:tbl>
              <a:tblPr firstRow="1" bandRow="1">
                <a:tableStyleId>{5940675A-B579-460E-94D1-54222C63F5DA}</a:tableStyleId>
              </a:tblPr>
              <a:tblGrid>
                <a:gridCol w="4730677">
                  <a:extLst>
                    <a:ext uri="{9D8B030D-6E8A-4147-A177-3AD203B41FA5}">
                      <a16:colId xmlns:a16="http://schemas.microsoft.com/office/drawing/2014/main" val="166325064"/>
                    </a:ext>
                  </a:extLst>
                </a:gridCol>
                <a:gridCol w="1473798">
                  <a:extLst>
                    <a:ext uri="{9D8B030D-6E8A-4147-A177-3AD203B41FA5}">
                      <a16:colId xmlns:a16="http://schemas.microsoft.com/office/drawing/2014/main" val="893233036"/>
                    </a:ext>
                  </a:extLst>
                </a:gridCol>
                <a:gridCol w="1549101">
                  <a:extLst>
                    <a:ext uri="{9D8B030D-6E8A-4147-A177-3AD203B41FA5}">
                      <a16:colId xmlns:a16="http://schemas.microsoft.com/office/drawing/2014/main" val="3790497685"/>
                    </a:ext>
                  </a:extLst>
                </a:gridCol>
                <a:gridCol w="1656677">
                  <a:extLst>
                    <a:ext uri="{9D8B030D-6E8A-4147-A177-3AD203B41FA5}">
                      <a16:colId xmlns:a16="http://schemas.microsoft.com/office/drawing/2014/main" val="1681005952"/>
                    </a:ext>
                  </a:extLst>
                </a:gridCol>
                <a:gridCol w="1570616">
                  <a:extLst>
                    <a:ext uri="{9D8B030D-6E8A-4147-A177-3AD203B41FA5}">
                      <a16:colId xmlns:a16="http://schemas.microsoft.com/office/drawing/2014/main" val="4110533284"/>
                    </a:ext>
                  </a:extLst>
                </a:gridCol>
              </a:tblGrid>
              <a:tr h="370840">
                <a:tc>
                  <a:txBody>
                    <a:bodyPr/>
                    <a:lstStyle/>
                    <a:p>
                      <a:endParaRPr lang="en-IN" sz="2800"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tc>
                  <a:txBody>
                    <a:bodyPr/>
                    <a:lstStyle/>
                    <a:p>
                      <a:pPr algn="ctr"/>
                      <a:r>
                        <a:rPr lang="en-IN" sz="2800" b="1" dirty="0">
                          <a:latin typeface="Times New Roman" panose="02020603050405020304" pitchFamily="18" charset="0"/>
                          <a:cs typeface="Times New Roman" panose="02020603050405020304" pitchFamily="18" charset="0"/>
                        </a:rPr>
                        <a:t>1</a:t>
                      </a:r>
                      <a:r>
                        <a:rPr lang="en-IN" sz="2800" b="1" baseline="30000" dirty="0">
                          <a:latin typeface="Times New Roman" panose="02020603050405020304" pitchFamily="18" charset="0"/>
                          <a:cs typeface="Times New Roman" panose="02020603050405020304" pitchFamily="18" charset="0"/>
                        </a:rPr>
                        <a:t>st</a:t>
                      </a:r>
                      <a:r>
                        <a:rPr lang="en-IN" sz="2800" b="1" dirty="0">
                          <a:latin typeface="Times New Roman" panose="02020603050405020304" pitchFamily="18" charset="0"/>
                          <a:cs typeface="Times New Roman" panose="02020603050405020304" pitchFamily="18" charset="0"/>
                        </a:rPr>
                        <a:t> Quarter</a:t>
                      </a:r>
                    </a:p>
                  </a:txBody>
                  <a:tcP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a:t>
                      </a:r>
                      <a:r>
                        <a:rPr kumimoji="0" lang="en-IN" sz="2800" b="1" i="0" u="none" strike="noStrike" kern="1200" cap="none" spc="0" normalizeH="0" baseline="3000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nd</a:t>
                      </a:r>
                      <a:endParaRPr kumimoji="0" lang="en-IN"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Quarter</a:t>
                      </a:r>
                    </a:p>
                  </a:txBody>
                  <a:tcP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3</a:t>
                      </a:r>
                      <a:r>
                        <a:rPr kumimoji="0" lang="en-IN" sz="2800" b="1" i="0" u="none" strike="noStrike" kern="1200" cap="none" spc="0" normalizeH="0" baseline="3000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rd</a:t>
                      </a:r>
                      <a:r>
                        <a:rPr kumimoji="0" lang="en-IN"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Quarter</a:t>
                      </a:r>
                    </a:p>
                  </a:txBody>
                  <a:tcP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4</a:t>
                      </a:r>
                      <a:r>
                        <a:rPr kumimoji="0" lang="en-IN" sz="2800" b="1" i="0" u="none" strike="noStrike" kern="1200" cap="none" spc="0" normalizeH="0" baseline="3000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a:t>
                      </a:r>
                      <a:r>
                        <a:rPr kumimoji="0" lang="en-IN" sz="2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Quarter</a:t>
                      </a:r>
                    </a:p>
                  </a:txBody>
                  <a:tcPr>
                    <a:solidFill>
                      <a:schemeClr val="accent4">
                        <a:lumMod val="20000"/>
                        <a:lumOff val="80000"/>
                      </a:schemeClr>
                    </a:solidFill>
                  </a:tcPr>
                </a:tc>
                <a:extLst>
                  <a:ext uri="{0D108BD9-81ED-4DB2-BD59-A6C34878D82A}">
                    <a16:rowId xmlns:a16="http://schemas.microsoft.com/office/drawing/2014/main" val="2148336110"/>
                  </a:ext>
                </a:extLst>
              </a:tr>
              <a:tr h="370840">
                <a:tc>
                  <a:txBody>
                    <a:bodyPr/>
                    <a:lstStyle/>
                    <a:p>
                      <a:r>
                        <a:rPr lang="en-IN" sz="2800" dirty="0">
                          <a:latin typeface="Times New Roman" panose="02020603050405020304" pitchFamily="18" charset="0"/>
                          <a:cs typeface="Times New Roman" panose="02020603050405020304" pitchFamily="18" charset="0"/>
                        </a:rPr>
                        <a:t>Shoes produced (No)</a:t>
                      </a:r>
                    </a:p>
                  </a:txBody>
                  <a:tcP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5000</a:t>
                      </a:r>
                    </a:p>
                  </a:txBody>
                  <a:tcPr marL="7620" marT="7620" marB="0" anchor="ct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5500</a:t>
                      </a:r>
                    </a:p>
                  </a:txBody>
                  <a:tcPr marL="7620" marT="7620" marB="0" anchor="ct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6000</a:t>
                      </a:r>
                    </a:p>
                  </a:txBody>
                  <a:tcPr marL="7620" marT="7620" marB="0" anchor="ct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5500</a:t>
                      </a:r>
                    </a:p>
                  </a:txBody>
                  <a:tcPr marL="7620" marT="7620" marB="0" anchor="ctr">
                    <a:solidFill>
                      <a:schemeClr val="accent4">
                        <a:lumMod val="20000"/>
                        <a:lumOff val="80000"/>
                      </a:schemeClr>
                    </a:solidFill>
                  </a:tcPr>
                </a:tc>
                <a:extLst>
                  <a:ext uri="{0D108BD9-81ED-4DB2-BD59-A6C34878D82A}">
                    <a16:rowId xmlns:a16="http://schemas.microsoft.com/office/drawing/2014/main" val="3393740365"/>
                  </a:ext>
                </a:extLst>
              </a:tr>
              <a:tr h="370840">
                <a:tc>
                  <a:txBody>
                    <a:bodyPr/>
                    <a:lstStyle/>
                    <a:p>
                      <a:r>
                        <a:rPr lang="en-IN" sz="2800" dirty="0">
                          <a:latin typeface="Times New Roman" panose="02020603050405020304" pitchFamily="18" charset="0"/>
                          <a:cs typeface="Times New Roman" panose="02020603050405020304" pitchFamily="18" charset="0"/>
                        </a:rPr>
                        <a:t>Selling price per unit (Rs.)</a:t>
                      </a:r>
                    </a:p>
                  </a:txBody>
                  <a:tcP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1000</a:t>
                      </a:r>
                    </a:p>
                  </a:txBody>
                  <a:tcPr marL="7620" marT="7620" marB="0" anchor="ct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900</a:t>
                      </a:r>
                    </a:p>
                  </a:txBody>
                  <a:tcPr marL="7620" marT="7620" marB="0" anchor="ct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950</a:t>
                      </a:r>
                    </a:p>
                  </a:txBody>
                  <a:tcPr marL="7620" marT="7620" marB="0" anchor="ct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1000</a:t>
                      </a:r>
                    </a:p>
                  </a:txBody>
                  <a:tcPr marL="7620" marT="7620" marB="0" anchor="ctr">
                    <a:solidFill>
                      <a:schemeClr val="accent4">
                        <a:lumMod val="20000"/>
                        <a:lumOff val="80000"/>
                      </a:schemeClr>
                    </a:solidFill>
                  </a:tcPr>
                </a:tc>
                <a:extLst>
                  <a:ext uri="{0D108BD9-81ED-4DB2-BD59-A6C34878D82A}">
                    <a16:rowId xmlns:a16="http://schemas.microsoft.com/office/drawing/2014/main" val="4200990385"/>
                  </a:ext>
                </a:extLst>
              </a:tr>
              <a:tr h="370840">
                <a:tc>
                  <a:txBody>
                    <a:bodyPr/>
                    <a:lstStyle/>
                    <a:p>
                      <a:r>
                        <a:rPr lang="en-IN" sz="2800" dirty="0">
                          <a:latin typeface="Times New Roman" panose="02020603050405020304" pitchFamily="18" charset="0"/>
                          <a:cs typeface="Times New Roman" panose="02020603050405020304" pitchFamily="18" charset="0"/>
                        </a:rPr>
                        <a:t>Number of labour hours used</a:t>
                      </a:r>
                    </a:p>
                  </a:txBody>
                  <a:tcP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800</a:t>
                      </a:r>
                    </a:p>
                  </a:txBody>
                  <a:tcPr marL="7620" marT="7620" marB="0" anchor="ct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850</a:t>
                      </a:r>
                    </a:p>
                  </a:txBody>
                  <a:tcPr marL="7620" marT="7620" marB="0" anchor="ct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900</a:t>
                      </a:r>
                    </a:p>
                  </a:txBody>
                  <a:tcPr marL="7620" marT="7620" marB="0" anchor="ct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900</a:t>
                      </a:r>
                    </a:p>
                  </a:txBody>
                  <a:tcPr marL="7620" marT="7620" marB="0" anchor="ctr">
                    <a:solidFill>
                      <a:schemeClr val="accent4">
                        <a:lumMod val="20000"/>
                        <a:lumOff val="80000"/>
                      </a:schemeClr>
                    </a:solidFill>
                  </a:tcPr>
                </a:tc>
                <a:extLst>
                  <a:ext uri="{0D108BD9-81ED-4DB2-BD59-A6C34878D82A}">
                    <a16:rowId xmlns:a16="http://schemas.microsoft.com/office/drawing/2014/main" val="3682918501"/>
                  </a:ext>
                </a:extLst>
              </a:tr>
              <a:tr h="370840">
                <a:tc>
                  <a:txBody>
                    <a:bodyPr/>
                    <a:lstStyle/>
                    <a:p>
                      <a:r>
                        <a:rPr lang="en-IN" sz="2800" dirty="0">
                          <a:latin typeface="Times New Roman" panose="02020603050405020304" pitchFamily="18" charset="0"/>
                          <a:cs typeface="Times New Roman" panose="02020603050405020304" pitchFamily="18" charset="0"/>
                        </a:rPr>
                        <a:t>Number of machine hour used</a:t>
                      </a:r>
                    </a:p>
                  </a:txBody>
                  <a:tcP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550</a:t>
                      </a:r>
                    </a:p>
                  </a:txBody>
                  <a:tcPr marL="7620" marT="7620" marB="0" anchor="ct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600</a:t>
                      </a:r>
                    </a:p>
                  </a:txBody>
                  <a:tcPr marL="7620" marT="7620" marB="0" anchor="ct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650</a:t>
                      </a:r>
                    </a:p>
                  </a:txBody>
                  <a:tcPr marL="7620" marT="7620" marB="0" anchor="ct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650</a:t>
                      </a:r>
                    </a:p>
                  </a:txBody>
                  <a:tcPr marL="7620" marT="7620" marB="0" anchor="ctr">
                    <a:solidFill>
                      <a:schemeClr val="accent4">
                        <a:lumMod val="20000"/>
                        <a:lumOff val="80000"/>
                      </a:schemeClr>
                    </a:solidFill>
                  </a:tcPr>
                </a:tc>
                <a:extLst>
                  <a:ext uri="{0D108BD9-81ED-4DB2-BD59-A6C34878D82A}">
                    <a16:rowId xmlns:a16="http://schemas.microsoft.com/office/drawing/2014/main" val="310693700"/>
                  </a:ext>
                </a:extLst>
              </a:tr>
              <a:tr h="370840">
                <a:tc>
                  <a:txBody>
                    <a:bodyPr/>
                    <a:lstStyle/>
                    <a:p>
                      <a:r>
                        <a:rPr lang="en-IN" sz="2800" dirty="0">
                          <a:latin typeface="Times New Roman" panose="02020603050405020304" pitchFamily="18" charset="0"/>
                          <a:cs typeface="Times New Roman" panose="02020603050405020304" pitchFamily="18" charset="0"/>
                        </a:rPr>
                        <a:t>Wage rate per labour hour (Rs.)</a:t>
                      </a:r>
                    </a:p>
                  </a:txBody>
                  <a:tcP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250</a:t>
                      </a:r>
                    </a:p>
                  </a:txBody>
                  <a:tcPr marL="7620" marT="7620" marB="0" anchor="ct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250</a:t>
                      </a:r>
                    </a:p>
                  </a:txBody>
                  <a:tcPr marL="7620" marT="7620" marB="0" anchor="ct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300</a:t>
                      </a:r>
                    </a:p>
                  </a:txBody>
                  <a:tcPr marL="7620" marT="7620" marB="0" anchor="ct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250</a:t>
                      </a:r>
                    </a:p>
                  </a:txBody>
                  <a:tcPr marL="7620" marT="7620" marB="0" anchor="ctr">
                    <a:solidFill>
                      <a:schemeClr val="accent4">
                        <a:lumMod val="20000"/>
                        <a:lumOff val="80000"/>
                      </a:schemeClr>
                    </a:solidFill>
                  </a:tcPr>
                </a:tc>
                <a:extLst>
                  <a:ext uri="{0D108BD9-81ED-4DB2-BD59-A6C34878D82A}">
                    <a16:rowId xmlns:a16="http://schemas.microsoft.com/office/drawing/2014/main" val="4133358348"/>
                  </a:ext>
                </a:extLst>
              </a:tr>
              <a:tr h="370840">
                <a:tc>
                  <a:txBody>
                    <a:bodyPr/>
                    <a:lstStyle/>
                    <a:p>
                      <a:r>
                        <a:rPr lang="en-IN" sz="2800" dirty="0">
                          <a:latin typeface="Times New Roman" panose="02020603050405020304" pitchFamily="18" charset="0"/>
                          <a:cs typeface="Times New Roman" panose="02020603050405020304" pitchFamily="18" charset="0"/>
                        </a:rPr>
                        <a:t>Cost per machine hour (Rs.) </a:t>
                      </a:r>
                    </a:p>
                  </a:txBody>
                  <a:tcP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4000</a:t>
                      </a:r>
                    </a:p>
                  </a:txBody>
                  <a:tcPr marL="7620" marT="7620" marB="0" anchor="ct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4000</a:t>
                      </a:r>
                    </a:p>
                  </a:txBody>
                  <a:tcPr marL="7620" marT="7620" marB="0" anchor="ctr">
                    <a:solidFill>
                      <a:schemeClr val="accent4">
                        <a:lumMod val="20000"/>
                        <a:lumOff val="80000"/>
                      </a:schemeClr>
                    </a:solidFill>
                  </a:tcPr>
                </a:tc>
                <a:tc>
                  <a:txBody>
                    <a:bodyPr/>
                    <a:lstStyle/>
                    <a:p>
                      <a:pPr algn="r" rtl="0" fontAlgn="ctr">
                        <a:buNone/>
                      </a:pPr>
                      <a:r>
                        <a:rPr lang="en-IN" sz="2800" b="0" i="0" u="none" strike="noStrike">
                          <a:solidFill>
                            <a:srgbClr val="000000"/>
                          </a:solidFill>
                          <a:effectLst/>
                          <a:latin typeface="Times New Roman" panose="02020603050405020304" pitchFamily="18" charset="0"/>
                        </a:rPr>
                        <a:t>4000</a:t>
                      </a:r>
                    </a:p>
                  </a:txBody>
                  <a:tcPr marL="7620" marT="7620" marB="0" anchor="ctr">
                    <a:solidFill>
                      <a:schemeClr val="accent4">
                        <a:lumMod val="20000"/>
                        <a:lumOff val="80000"/>
                      </a:schemeClr>
                    </a:solidFill>
                  </a:tcPr>
                </a:tc>
                <a:tc>
                  <a:txBody>
                    <a:bodyPr/>
                    <a:lstStyle/>
                    <a:p>
                      <a:pPr algn="r" rtl="0" fontAlgn="ctr">
                        <a:buNone/>
                      </a:pPr>
                      <a:r>
                        <a:rPr lang="en-IN" sz="2800" b="0" i="0" u="none" strike="noStrike" dirty="0">
                          <a:solidFill>
                            <a:srgbClr val="000000"/>
                          </a:solidFill>
                          <a:effectLst/>
                          <a:latin typeface="Times New Roman" panose="02020603050405020304" pitchFamily="18" charset="0"/>
                        </a:rPr>
                        <a:t>4000</a:t>
                      </a:r>
                    </a:p>
                  </a:txBody>
                  <a:tcPr marL="7620" marT="7620" marB="0" anchor="ctr">
                    <a:solidFill>
                      <a:schemeClr val="accent4">
                        <a:lumMod val="20000"/>
                        <a:lumOff val="80000"/>
                      </a:schemeClr>
                    </a:solidFill>
                  </a:tcPr>
                </a:tc>
                <a:extLst>
                  <a:ext uri="{0D108BD9-81ED-4DB2-BD59-A6C34878D82A}">
                    <a16:rowId xmlns:a16="http://schemas.microsoft.com/office/drawing/2014/main" val="900197527"/>
                  </a:ext>
                </a:extLst>
              </a:tr>
            </a:tbl>
          </a:graphicData>
        </a:graphic>
      </p:graphicFrame>
      <p:sp>
        <p:nvSpPr>
          <p:cNvPr id="6" name="TextBox 5">
            <a:extLst>
              <a:ext uri="{FF2B5EF4-FFF2-40B4-BE49-F238E27FC236}">
                <a16:creationId xmlns:a16="http://schemas.microsoft.com/office/drawing/2014/main" id="{C5CD1D96-C14F-9C55-76A4-E3128DA70469}"/>
              </a:ext>
            </a:extLst>
          </p:cNvPr>
          <p:cNvSpPr txBox="1"/>
          <p:nvPr/>
        </p:nvSpPr>
        <p:spPr>
          <a:xfrm>
            <a:off x="456714" y="5912068"/>
            <a:ext cx="11096998" cy="830997"/>
          </a:xfrm>
          <a:prstGeom prst="rect">
            <a:avLst/>
          </a:prstGeom>
          <a:solidFill>
            <a:schemeClr val="accent6">
              <a:lumMod val="20000"/>
              <a:lumOff val="80000"/>
            </a:schemeClr>
          </a:solidFill>
        </p:spPr>
        <p:txBody>
          <a:bodyPr wrap="square">
            <a:spAutoFit/>
          </a:bodyPr>
          <a:lstStyle/>
          <a:p>
            <a:pPr algn="just"/>
            <a:r>
              <a:rPr lang="en-US" sz="2400" dirty="0"/>
              <a:t>Calculate </a:t>
            </a:r>
            <a:r>
              <a:rPr lang="en-US" sz="2400" dirty="0" err="1"/>
              <a:t>Labour</a:t>
            </a:r>
            <a:r>
              <a:rPr lang="en-US" sz="2400" dirty="0"/>
              <a:t> Productivity, Machine Productivity, Total Productivity (TP), and </a:t>
            </a:r>
            <a:r>
              <a:rPr lang="en-IN" sz="2400" dirty="0"/>
              <a:t>interpret the results.</a:t>
            </a:r>
          </a:p>
        </p:txBody>
      </p:sp>
    </p:spTree>
    <p:extLst>
      <p:ext uri="{BB962C8B-B14F-4D97-AF65-F5344CB8AC3E}">
        <p14:creationId xmlns:p14="http://schemas.microsoft.com/office/powerpoint/2010/main" val="40908205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249E0-EAFB-1F2C-9720-1B4DE04369D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3F0AF34-E78B-CFD9-C2D8-7544C05D3DB0}"/>
              </a:ext>
            </a:extLst>
          </p:cNvPr>
          <p:cNvSpPr/>
          <p:nvPr/>
        </p:nvSpPr>
        <p:spPr>
          <a:xfrm>
            <a:off x="456714" y="0"/>
            <a:ext cx="11602608"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t>ACTIVE LEARNING</a:t>
            </a:r>
            <a:endParaRPr lang="en-IN" sz="85700" b="1" dirty="0">
              <a:solidFill>
                <a:schemeClr val="accent4">
                  <a:lumMod val="20000"/>
                  <a:lumOff val="80000"/>
                </a:schemeClr>
              </a:solidFill>
            </a:endParaRPr>
          </a:p>
        </p:txBody>
      </p:sp>
      <p:graphicFrame>
        <p:nvGraphicFramePr>
          <p:cNvPr id="4" name="Table 3">
            <a:extLst>
              <a:ext uri="{FF2B5EF4-FFF2-40B4-BE49-F238E27FC236}">
                <a16:creationId xmlns:a16="http://schemas.microsoft.com/office/drawing/2014/main" id="{75A10505-261E-FD6C-BD64-3031C079F5CA}"/>
              </a:ext>
            </a:extLst>
          </p:cNvPr>
          <p:cNvGraphicFramePr>
            <a:graphicFrameLocks noGrp="1"/>
          </p:cNvGraphicFramePr>
          <p:nvPr>
            <p:extLst>
              <p:ext uri="{D42A27DB-BD31-4B8C-83A1-F6EECF244321}">
                <p14:modId xmlns:p14="http://schemas.microsoft.com/office/powerpoint/2010/main" val="3050061580"/>
              </p:ext>
            </p:extLst>
          </p:nvPr>
        </p:nvGraphicFramePr>
        <p:xfrm>
          <a:off x="456714" y="945932"/>
          <a:ext cx="11010938" cy="5596148"/>
        </p:xfrm>
        <a:graphic>
          <a:graphicData uri="http://schemas.openxmlformats.org/drawingml/2006/table">
            <a:tbl>
              <a:tblPr>
                <a:tableStyleId>{616DA210-FB5B-4158-B5E0-FEB733F419BA}</a:tableStyleId>
              </a:tblPr>
              <a:tblGrid>
                <a:gridCol w="4577188">
                  <a:extLst>
                    <a:ext uri="{9D8B030D-6E8A-4147-A177-3AD203B41FA5}">
                      <a16:colId xmlns:a16="http://schemas.microsoft.com/office/drawing/2014/main" val="748573547"/>
                    </a:ext>
                  </a:extLst>
                </a:gridCol>
                <a:gridCol w="1442202">
                  <a:extLst>
                    <a:ext uri="{9D8B030D-6E8A-4147-A177-3AD203B41FA5}">
                      <a16:colId xmlns:a16="http://schemas.microsoft.com/office/drawing/2014/main" val="1859799646"/>
                    </a:ext>
                  </a:extLst>
                </a:gridCol>
                <a:gridCol w="1745482">
                  <a:extLst>
                    <a:ext uri="{9D8B030D-6E8A-4147-A177-3AD203B41FA5}">
                      <a16:colId xmlns:a16="http://schemas.microsoft.com/office/drawing/2014/main" val="3546954512"/>
                    </a:ext>
                  </a:extLst>
                </a:gridCol>
                <a:gridCol w="1611356">
                  <a:extLst>
                    <a:ext uri="{9D8B030D-6E8A-4147-A177-3AD203B41FA5}">
                      <a16:colId xmlns:a16="http://schemas.microsoft.com/office/drawing/2014/main" val="231789522"/>
                    </a:ext>
                  </a:extLst>
                </a:gridCol>
                <a:gridCol w="1634710">
                  <a:extLst>
                    <a:ext uri="{9D8B030D-6E8A-4147-A177-3AD203B41FA5}">
                      <a16:colId xmlns:a16="http://schemas.microsoft.com/office/drawing/2014/main" val="804792451"/>
                    </a:ext>
                  </a:extLst>
                </a:gridCol>
              </a:tblGrid>
              <a:tr h="641486">
                <a:tc>
                  <a:txBody>
                    <a:bodyPr/>
                    <a:lstStyle/>
                    <a:p>
                      <a:pPr algn="l" fontAlgn="t">
                        <a:buNone/>
                      </a:pPr>
                      <a:r>
                        <a:rPr lang="en-IN" sz="1600" u="none" strike="noStrike" dirty="0">
                          <a:effectLst/>
                        </a:rPr>
                        <a:t> </a:t>
                      </a:r>
                      <a:endParaRPr lang="en-IN" sz="1600" b="0" i="0" u="none" strike="noStrike" dirty="0">
                        <a:solidFill>
                          <a:srgbClr val="000000"/>
                        </a:solidFill>
                        <a:effectLst/>
                        <a:latin typeface="Arial" panose="020B0604020202020204" pitchFamily="34" charset="0"/>
                        <a:cs typeface="Arial" panose="020B0604020202020204" pitchFamily="34" charset="0"/>
                      </a:endParaRPr>
                    </a:p>
                  </a:txBody>
                  <a:tcPr marL="4486" marR="4486" marT="4486" marB="0"/>
                </a:tc>
                <a:tc>
                  <a:txBody>
                    <a:bodyPr/>
                    <a:lstStyle/>
                    <a:p>
                      <a:pPr algn="ctr" rtl="0" fontAlgn="ctr">
                        <a:buNone/>
                      </a:pPr>
                      <a:r>
                        <a:rPr lang="en-IN" sz="2400" u="none" strike="noStrike" dirty="0">
                          <a:effectLst/>
                        </a:rPr>
                        <a:t>1</a:t>
                      </a:r>
                      <a:r>
                        <a:rPr lang="en-IN" sz="2400" u="none" strike="noStrike" baseline="30000" dirty="0">
                          <a:effectLst/>
                        </a:rPr>
                        <a:t>st</a:t>
                      </a:r>
                      <a:r>
                        <a:rPr lang="en-IN" sz="2400" u="none" strike="noStrike" dirty="0">
                          <a:effectLst/>
                        </a:rPr>
                        <a:t> </a:t>
                      </a:r>
                    </a:p>
                    <a:p>
                      <a:pPr algn="ctr" rtl="0" fontAlgn="ctr">
                        <a:buNone/>
                      </a:pPr>
                      <a:r>
                        <a:rPr lang="en-IN" sz="2400" u="none" strike="noStrike" dirty="0">
                          <a:effectLst/>
                        </a:rPr>
                        <a:t>Quarter</a:t>
                      </a:r>
                      <a:endParaRPr lang="en-IN" sz="2400" b="1" i="0" u="none" strike="noStrike" dirty="0">
                        <a:solidFill>
                          <a:srgbClr val="000000"/>
                        </a:solidFill>
                        <a:effectLst/>
                        <a:latin typeface="Arial" panose="020B0604020202020204" pitchFamily="34" charset="0"/>
                        <a:cs typeface="Arial" panose="020B0604020202020204" pitchFamily="34" charset="0"/>
                      </a:endParaRPr>
                    </a:p>
                  </a:txBody>
                  <a:tcPr marL="4486" marR="4486" marT="4486" marB="0" anchor="ctr"/>
                </a:tc>
                <a:tc>
                  <a:txBody>
                    <a:bodyPr/>
                    <a:lstStyle/>
                    <a:p>
                      <a:pPr algn="ctr" rtl="0" fontAlgn="ctr">
                        <a:buNone/>
                      </a:pPr>
                      <a:r>
                        <a:rPr lang="en-IN" sz="2400" u="none" strike="noStrike" dirty="0">
                          <a:effectLst/>
                        </a:rPr>
                        <a:t>2</a:t>
                      </a:r>
                      <a:r>
                        <a:rPr lang="en-IN" sz="2400" u="none" strike="noStrike" baseline="30000" dirty="0">
                          <a:effectLst/>
                        </a:rPr>
                        <a:t>nd</a:t>
                      </a:r>
                    </a:p>
                    <a:p>
                      <a:pPr algn="ctr" rtl="0" fontAlgn="ctr">
                        <a:buNone/>
                      </a:pPr>
                      <a:r>
                        <a:rPr lang="en-IN" sz="2400" u="none" strike="noStrike" dirty="0">
                          <a:effectLst/>
                        </a:rPr>
                        <a:t>Quarter</a:t>
                      </a:r>
                      <a:endParaRPr lang="en-IN" sz="2400" b="1" i="0" u="none" strike="noStrike" dirty="0">
                        <a:solidFill>
                          <a:srgbClr val="000000"/>
                        </a:solidFill>
                        <a:effectLst/>
                        <a:latin typeface="Arial" panose="020B0604020202020204" pitchFamily="34" charset="0"/>
                        <a:cs typeface="Arial" panose="020B0604020202020204" pitchFamily="34" charset="0"/>
                      </a:endParaRPr>
                    </a:p>
                  </a:txBody>
                  <a:tcPr marL="4486" marR="4486" marT="4486" marB="0" anchor="ctr"/>
                </a:tc>
                <a:tc>
                  <a:txBody>
                    <a:bodyPr/>
                    <a:lstStyle/>
                    <a:p>
                      <a:pPr algn="ctr" rtl="0" fontAlgn="ctr">
                        <a:buNone/>
                      </a:pPr>
                      <a:r>
                        <a:rPr lang="en-IN" sz="2400" u="none" strike="noStrike" dirty="0">
                          <a:effectLst/>
                        </a:rPr>
                        <a:t>3</a:t>
                      </a:r>
                      <a:r>
                        <a:rPr lang="en-IN" sz="2400" u="none" strike="noStrike" baseline="30000" dirty="0">
                          <a:effectLst/>
                        </a:rPr>
                        <a:t>rd</a:t>
                      </a:r>
                      <a:r>
                        <a:rPr lang="en-IN" sz="2400" u="none" strike="noStrike" dirty="0">
                          <a:effectLst/>
                        </a:rPr>
                        <a:t> </a:t>
                      </a:r>
                    </a:p>
                    <a:p>
                      <a:pPr algn="ctr" rtl="0" fontAlgn="ctr">
                        <a:buNone/>
                      </a:pPr>
                      <a:r>
                        <a:rPr lang="en-IN" sz="2400" u="none" strike="noStrike" dirty="0">
                          <a:effectLst/>
                        </a:rPr>
                        <a:t>Quarter</a:t>
                      </a:r>
                      <a:endParaRPr lang="en-IN" sz="2400" b="1" i="0" u="none" strike="noStrike" dirty="0">
                        <a:solidFill>
                          <a:srgbClr val="000000"/>
                        </a:solidFill>
                        <a:effectLst/>
                        <a:latin typeface="Arial" panose="020B0604020202020204" pitchFamily="34" charset="0"/>
                        <a:cs typeface="Arial" panose="020B0604020202020204" pitchFamily="34" charset="0"/>
                      </a:endParaRPr>
                    </a:p>
                  </a:txBody>
                  <a:tcPr marL="4486" marR="4486" marT="4486" marB="0" anchor="ctr"/>
                </a:tc>
                <a:tc>
                  <a:txBody>
                    <a:bodyPr/>
                    <a:lstStyle/>
                    <a:p>
                      <a:pPr algn="ctr" rtl="0" fontAlgn="ctr">
                        <a:buNone/>
                      </a:pPr>
                      <a:r>
                        <a:rPr lang="en-IN" sz="2400" u="none" strike="noStrike" dirty="0">
                          <a:effectLst/>
                        </a:rPr>
                        <a:t>4</a:t>
                      </a:r>
                      <a:r>
                        <a:rPr lang="en-IN" sz="2400" u="none" strike="noStrike" baseline="30000" dirty="0">
                          <a:effectLst/>
                        </a:rPr>
                        <a:t>th</a:t>
                      </a:r>
                      <a:r>
                        <a:rPr lang="en-IN" sz="2400" u="none" strike="noStrike" dirty="0">
                          <a:effectLst/>
                        </a:rPr>
                        <a:t> </a:t>
                      </a:r>
                    </a:p>
                    <a:p>
                      <a:pPr algn="ctr" rtl="0" fontAlgn="ctr">
                        <a:buNone/>
                      </a:pPr>
                      <a:r>
                        <a:rPr lang="en-IN" sz="2400" u="none" strike="noStrike" dirty="0">
                          <a:effectLst/>
                        </a:rPr>
                        <a:t>Quarter</a:t>
                      </a:r>
                      <a:endParaRPr lang="en-IN" sz="2400" b="1" i="0" u="none" strike="noStrike" dirty="0">
                        <a:solidFill>
                          <a:srgbClr val="000000"/>
                        </a:solidFill>
                        <a:effectLst/>
                        <a:latin typeface="Arial" panose="020B0604020202020204" pitchFamily="34" charset="0"/>
                        <a:cs typeface="Arial" panose="020B0604020202020204" pitchFamily="34" charset="0"/>
                      </a:endParaRPr>
                    </a:p>
                  </a:txBody>
                  <a:tcPr marL="4486" marR="4486" marT="4486" marB="0" anchor="ctr"/>
                </a:tc>
                <a:extLst>
                  <a:ext uri="{0D108BD9-81ED-4DB2-BD59-A6C34878D82A}">
                    <a16:rowId xmlns:a16="http://schemas.microsoft.com/office/drawing/2014/main" val="2441221865"/>
                  </a:ext>
                </a:extLst>
              </a:tr>
              <a:tr h="287099">
                <a:tc>
                  <a:txBody>
                    <a:bodyPr/>
                    <a:lstStyle/>
                    <a:p>
                      <a:pPr marL="355600" indent="0" algn="l" rtl="0" fontAlgn="ctr">
                        <a:buNone/>
                      </a:pPr>
                      <a:r>
                        <a:rPr lang="en-IN" sz="2400" u="none" strike="noStrike" kern="1200" dirty="0">
                          <a:solidFill>
                            <a:schemeClr val="dk1"/>
                          </a:solidFill>
                          <a:effectLst/>
                        </a:rPr>
                        <a:t>Shoes</a:t>
                      </a:r>
                      <a:r>
                        <a:rPr lang="en-IN" sz="2400" u="none" strike="noStrike" dirty="0">
                          <a:effectLst/>
                        </a:rPr>
                        <a:t> produced (No)</a:t>
                      </a:r>
                      <a:endParaRPr lang="en-IN" sz="2400" b="0" i="0" u="none" strike="noStrike" dirty="0">
                        <a:solidFill>
                          <a:srgbClr val="000000"/>
                        </a:solidFill>
                        <a:effectLst/>
                        <a:latin typeface="Arial" panose="020B0604020202020204" pitchFamily="34" charset="0"/>
                        <a:cs typeface="Arial" panose="020B0604020202020204" pitchFamily="34" charset="0"/>
                      </a:endParaRPr>
                    </a:p>
                  </a:txBody>
                  <a:tcPr marL="4486" marR="4486" marT="4486" marB="0" anchor="ctr"/>
                </a:tc>
                <a:tc>
                  <a:txBody>
                    <a:bodyPr/>
                    <a:lstStyle/>
                    <a:p>
                      <a:pPr algn="r" rtl="0" fontAlgn="ctr">
                        <a:buNone/>
                      </a:pPr>
                      <a:r>
                        <a:rPr lang="en-IN" sz="2400" u="none" strike="noStrike" dirty="0">
                          <a:effectLst/>
                        </a:rPr>
                        <a:t>5000</a:t>
                      </a:r>
                      <a:endParaRPr lang="en-IN" sz="2400" b="0" i="0" u="none" strike="noStrike" dirty="0">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r>
                        <a:rPr lang="en-IN" sz="2400" u="none" strike="noStrike">
                          <a:effectLst/>
                        </a:rPr>
                        <a:t>5500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r>
                        <a:rPr lang="en-IN" sz="2400" u="none" strike="noStrike" dirty="0">
                          <a:effectLst/>
                        </a:rPr>
                        <a:t>6000</a:t>
                      </a:r>
                      <a:endParaRPr lang="en-IN" sz="2400" b="0" i="0" u="none" strike="noStrike" dirty="0">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r>
                        <a:rPr lang="en-IN" sz="2400" u="none" strike="noStrike">
                          <a:effectLst/>
                        </a:rPr>
                        <a:t>5500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extLst>
                  <a:ext uri="{0D108BD9-81ED-4DB2-BD59-A6C34878D82A}">
                    <a16:rowId xmlns:a16="http://schemas.microsoft.com/office/drawing/2014/main" val="2485581130"/>
                  </a:ext>
                </a:extLst>
              </a:tr>
              <a:tr h="255697">
                <a:tc>
                  <a:txBody>
                    <a:bodyPr/>
                    <a:lstStyle/>
                    <a:p>
                      <a:pPr marL="355600" indent="0" algn="l" rtl="0" fontAlgn="ctr">
                        <a:buNone/>
                      </a:pPr>
                      <a:r>
                        <a:rPr lang="en-US" sz="2400" u="none" strike="noStrike" kern="1200" dirty="0">
                          <a:solidFill>
                            <a:schemeClr val="dk1"/>
                          </a:solidFill>
                          <a:effectLst/>
                        </a:rPr>
                        <a:t>Selling price per unit (Rs.)</a:t>
                      </a:r>
                      <a:endParaRPr lang="en-US" sz="2400" u="none" strike="noStrike" kern="1200" dirty="0">
                        <a:solidFill>
                          <a:schemeClr val="dk1"/>
                        </a:solidFill>
                        <a:effectLst/>
                        <a:latin typeface="Arial" panose="020B0604020202020204" pitchFamily="34" charset="0"/>
                        <a:ea typeface="+mn-ea"/>
                        <a:cs typeface="Arial" panose="020B0604020202020204" pitchFamily="34" charset="0"/>
                      </a:endParaRPr>
                    </a:p>
                  </a:txBody>
                  <a:tcPr marL="4486" marR="4486" marT="4486" marB="0" anchor="ctr"/>
                </a:tc>
                <a:tc>
                  <a:txBody>
                    <a:bodyPr/>
                    <a:lstStyle/>
                    <a:p>
                      <a:pPr algn="r" rtl="0" fontAlgn="ctr">
                        <a:buNone/>
                      </a:pPr>
                      <a:r>
                        <a:rPr lang="en-IN" sz="2400" u="none" strike="noStrike">
                          <a:effectLst/>
                        </a:rPr>
                        <a:t>1000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r>
                        <a:rPr lang="en-IN" sz="2400" u="none" strike="noStrike">
                          <a:effectLst/>
                        </a:rPr>
                        <a:t>900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r>
                        <a:rPr lang="en-IN" sz="2400" u="none" strike="noStrike">
                          <a:effectLst/>
                        </a:rPr>
                        <a:t>950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r>
                        <a:rPr lang="en-IN" sz="2400" u="none" strike="noStrike">
                          <a:effectLst/>
                        </a:rPr>
                        <a:t>1000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extLst>
                  <a:ext uri="{0D108BD9-81ED-4DB2-BD59-A6C34878D82A}">
                    <a16:rowId xmlns:a16="http://schemas.microsoft.com/office/drawing/2014/main" val="1103183438"/>
                  </a:ext>
                </a:extLst>
              </a:tr>
              <a:tr h="314014">
                <a:tc>
                  <a:txBody>
                    <a:bodyPr/>
                    <a:lstStyle/>
                    <a:p>
                      <a:pPr marL="355600" indent="0" algn="l" rtl="0" fontAlgn="ctr">
                        <a:buNone/>
                      </a:pPr>
                      <a:r>
                        <a:rPr lang="en-IN" sz="2400" u="none" strike="noStrike" kern="1200" dirty="0">
                          <a:solidFill>
                            <a:schemeClr val="dk1"/>
                          </a:solidFill>
                          <a:effectLst/>
                        </a:rPr>
                        <a:t>Number of labour hours</a:t>
                      </a:r>
                      <a:endParaRPr lang="en-IN" sz="2400" u="none" strike="noStrike" kern="1200" dirty="0">
                        <a:solidFill>
                          <a:schemeClr val="dk1"/>
                        </a:solidFill>
                        <a:effectLst/>
                        <a:latin typeface="Arial" panose="020B0604020202020204" pitchFamily="34" charset="0"/>
                        <a:ea typeface="+mn-ea"/>
                        <a:cs typeface="Arial" panose="020B0604020202020204" pitchFamily="34" charset="0"/>
                      </a:endParaRPr>
                    </a:p>
                  </a:txBody>
                  <a:tcPr marL="4486" marR="4486" marT="4486" marB="0" anchor="ctr"/>
                </a:tc>
                <a:tc>
                  <a:txBody>
                    <a:bodyPr/>
                    <a:lstStyle/>
                    <a:p>
                      <a:pPr algn="r" rtl="0" fontAlgn="ctr">
                        <a:buNone/>
                      </a:pPr>
                      <a:r>
                        <a:rPr lang="en-IN" sz="2400" u="none" strike="noStrike">
                          <a:effectLst/>
                        </a:rPr>
                        <a:t>800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r>
                        <a:rPr lang="en-IN" sz="2400" u="none" strike="noStrike">
                          <a:effectLst/>
                        </a:rPr>
                        <a:t>850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r>
                        <a:rPr lang="en-IN" sz="2400" u="none" strike="noStrike">
                          <a:effectLst/>
                        </a:rPr>
                        <a:t>900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r>
                        <a:rPr lang="en-IN" sz="2400" u="none" strike="noStrike">
                          <a:effectLst/>
                        </a:rPr>
                        <a:t>900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extLst>
                  <a:ext uri="{0D108BD9-81ED-4DB2-BD59-A6C34878D82A}">
                    <a16:rowId xmlns:a16="http://schemas.microsoft.com/office/drawing/2014/main" val="921254231"/>
                  </a:ext>
                </a:extLst>
              </a:tr>
              <a:tr h="300556">
                <a:tc>
                  <a:txBody>
                    <a:bodyPr/>
                    <a:lstStyle/>
                    <a:p>
                      <a:pPr marL="0" indent="355600" algn="l" rtl="0" fontAlgn="ctr">
                        <a:buNone/>
                      </a:pPr>
                      <a:r>
                        <a:rPr lang="en-IN" sz="2400" u="none" strike="noStrike" kern="1200" dirty="0">
                          <a:solidFill>
                            <a:schemeClr val="dk1"/>
                          </a:solidFill>
                          <a:effectLst/>
                        </a:rPr>
                        <a:t>Number of machine hour</a:t>
                      </a:r>
                      <a:endParaRPr lang="en-IN" sz="2400" u="none" strike="noStrike" kern="1200" dirty="0">
                        <a:solidFill>
                          <a:schemeClr val="dk1"/>
                        </a:solidFill>
                        <a:effectLst/>
                        <a:latin typeface="Arial" panose="020B0604020202020204" pitchFamily="34" charset="0"/>
                        <a:ea typeface="+mn-ea"/>
                        <a:cs typeface="Arial" panose="020B0604020202020204" pitchFamily="34" charset="0"/>
                      </a:endParaRPr>
                    </a:p>
                  </a:txBody>
                  <a:tcPr marL="4486" marR="4486" marT="4486" marB="0" anchor="ctr"/>
                </a:tc>
                <a:tc>
                  <a:txBody>
                    <a:bodyPr/>
                    <a:lstStyle/>
                    <a:p>
                      <a:pPr algn="r" rtl="0" fontAlgn="ctr">
                        <a:buNone/>
                      </a:pPr>
                      <a:r>
                        <a:rPr lang="en-IN" sz="2400" u="none" strike="noStrike">
                          <a:effectLst/>
                        </a:rPr>
                        <a:t>550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r>
                        <a:rPr lang="en-IN" sz="2400" u="none" strike="noStrike">
                          <a:effectLst/>
                        </a:rPr>
                        <a:t>600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r>
                        <a:rPr lang="en-IN" sz="2400" u="none" strike="noStrike">
                          <a:effectLst/>
                        </a:rPr>
                        <a:t>650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r>
                        <a:rPr lang="en-IN" sz="2400" u="none" strike="noStrike">
                          <a:effectLst/>
                        </a:rPr>
                        <a:t>650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extLst>
                  <a:ext uri="{0D108BD9-81ED-4DB2-BD59-A6C34878D82A}">
                    <a16:rowId xmlns:a16="http://schemas.microsoft.com/office/drawing/2014/main" val="2849383720"/>
                  </a:ext>
                </a:extLst>
              </a:tr>
              <a:tr h="417190">
                <a:tc>
                  <a:txBody>
                    <a:bodyPr/>
                    <a:lstStyle/>
                    <a:p>
                      <a:pPr marL="0" indent="355600" algn="l" rtl="0" fontAlgn="ctr">
                        <a:buNone/>
                      </a:pPr>
                      <a:r>
                        <a:rPr lang="en-US" sz="2400" u="none" strike="noStrike" kern="1200" dirty="0">
                          <a:solidFill>
                            <a:schemeClr val="dk1"/>
                          </a:solidFill>
                          <a:effectLst/>
                        </a:rPr>
                        <a:t>Wage rate per </a:t>
                      </a:r>
                      <a:r>
                        <a:rPr lang="en-US" sz="2400" u="none" strike="noStrike" kern="1200" dirty="0" err="1">
                          <a:solidFill>
                            <a:schemeClr val="dk1"/>
                          </a:solidFill>
                          <a:effectLst/>
                        </a:rPr>
                        <a:t>labour</a:t>
                      </a:r>
                      <a:r>
                        <a:rPr lang="en-US" sz="2400" u="none" strike="noStrike" kern="1200" dirty="0">
                          <a:solidFill>
                            <a:schemeClr val="dk1"/>
                          </a:solidFill>
                          <a:effectLst/>
                        </a:rPr>
                        <a:t> hour (Rs.)</a:t>
                      </a:r>
                      <a:endParaRPr lang="en-US" sz="2400" u="none" strike="noStrike" kern="1200" dirty="0">
                        <a:solidFill>
                          <a:schemeClr val="dk1"/>
                        </a:solidFill>
                        <a:effectLst/>
                        <a:latin typeface="Arial" panose="020B0604020202020204" pitchFamily="34" charset="0"/>
                        <a:ea typeface="+mn-ea"/>
                        <a:cs typeface="Arial" panose="020B0604020202020204" pitchFamily="34" charset="0"/>
                      </a:endParaRPr>
                    </a:p>
                  </a:txBody>
                  <a:tcPr marL="4486" marR="4486" marT="4486" marB="0" anchor="ctr"/>
                </a:tc>
                <a:tc>
                  <a:txBody>
                    <a:bodyPr/>
                    <a:lstStyle/>
                    <a:p>
                      <a:pPr algn="r" rtl="0" fontAlgn="ctr">
                        <a:buNone/>
                      </a:pPr>
                      <a:r>
                        <a:rPr lang="en-IN" sz="2400" u="none" strike="noStrike">
                          <a:effectLst/>
                        </a:rPr>
                        <a:t>250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r>
                        <a:rPr lang="en-IN" sz="2400" u="none" strike="noStrike">
                          <a:effectLst/>
                        </a:rPr>
                        <a:t>250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r>
                        <a:rPr lang="en-IN" sz="2400" u="none" strike="noStrike">
                          <a:effectLst/>
                        </a:rPr>
                        <a:t>300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r>
                        <a:rPr lang="en-IN" sz="2400" u="none" strike="noStrike">
                          <a:effectLst/>
                        </a:rPr>
                        <a:t>250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extLst>
                  <a:ext uri="{0D108BD9-81ED-4DB2-BD59-A6C34878D82A}">
                    <a16:rowId xmlns:a16="http://schemas.microsoft.com/office/drawing/2014/main" val="3082122682"/>
                  </a:ext>
                </a:extLst>
              </a:tr>
              <a:tr h="255697">
                <a:tc>
                  <a:txBody>
                    <a:bodyPr/>
                    <a:lstStyle/>
                    <a:p>
                      <a:pPr marL="0" indent="355600" algn="l" rtl="0" fontAlgn="ctr">
                        <a:buNone/>
                      </a:pPr>
                      <a:r>
                        <a:rPr lang="en-US" sz="2400" u="none" strike="noStrike" kern="1200" dirty="0">
                          <a:solidFill>
                            <a:schemeClr val="dk1"/>
                          </a:solidFill>
                          <a:effectLst/>
                        </a:rPr>
                        <a:t>Cost per machine hour (Rs.) </a:t>
                      </a:r>
                      <a:endParaRPr lang="en-US" sz="2400" u="none" strike="noStrike" kern="1200" dirty="0">
                        <a:solidFill>
                          <a:schemeClr val="dk1"/>
                        </a:solidFill>
                        <a:effectLst/>
                        <a:latin typeface="Arial" panose="020B0604020202020204" pitchFamily="34" charset="0"/>
                        <a:ea typeface="+mn-ea"/>
                        <a:cs typeface="Arial" panose="020B0604020202020204" pitchFamily="34" charset="0"/>
                      </a:endParaRPr>
                    </a:p>
                  </a:txBody>
                  <a:tcPr marL="4486" marR="4486" marT="4486" marB="0" anchor="ctr"/>
                </a:tc>
                <a:tc>
                  <a:txBody>
                    <a:bodyPr/>
                    <a:lstStyle/>
                    <a:p>
                      <a:pPr algn="r" rtl="0" fontAlgn="ctr">
                        <a:buNone/>
                      </a:pPr>
                      <a:r>
                        <a:rPr lang="en-IN" sz="2400" u="none" strike="noStrike">
                          <a:effectLst/>
                        </a:rPr>
                        <a:t>4000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r>
                        <a:rPr lang="en-IN" sz="2400" u="none" strike="noStrike">
                          <a:effectLst/>
                        </a:rPr>
                        <a:t>4000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r>
                        <a:rPr lang="en-IN" sz="2400" u="none" strike="noStrike">
                          <a:effectLst/>
                        </a:rPr>
                        <a:t>4000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r>
                        <a:rPr lang="en-IN" sz="2400" u="none" strike="noStrike">
                          <a:effectLst/>
                        </a:rPr>
                        <a:t>4000</a:t>
                      </a: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extLst>
                  <a:ext uri="{0D108BD9-81ED-4DB2-BD59-A6C34878D82A}">
                    <a16:rowId xmlns:a16="http://schemas.microsoft.com/office/drawing/2014/main" val="1196769085"/>
                  </a:ext>
                </a:extLst>
              </a:tr>
              <a:tr h="269155">
                <a:tc>
                  <a:txBody>
                    <a:bodyPr/>
                    <a:lstStyle/>
                    <a:p>
                      <a:pPr marL="0" indent="355600" algn="l" rtl="0" fontAlgn="ctr">
                        <a:buNone/>
                      </a:pPr>
                      <a:r>
                        <a:rPr lang="en-IN" sz="2400" u="none" strike="noStrike" kern="1200" dirty="0">
                          <a:solidFill>
                            <a:schemeClr val="dk1"/>
                          </a:solidFill>
                          <a:effectLst/>
                        </a:rPr>
                        <a:t>Value of Labour</a:t>
                      </a:r>
                      <a:endParaRPr lang="en-IN" sz="2400" u="none" strike="noStrike" kern="1200" dirty="0">
                        <a:solidFill>
                          <a:schemeClr val="dk1"/>
                        </a:solidFill>
                        <a:effectLst/>
                        <a:latin typeface="Arial" panose="020B0604020202020204" pitchFamily="34" charset="0"/>
                        <a:ea typeface="+mn-ea"/>
                        <a:cs typeface="Arial" panose="020B0604020202020204" pitchFamily="34" charset="0"/>
                      </a:endParaRPr>
                    </a:p>
                  </a:txBody>
                  <a:tcPr marL="4486" marR="4486" marT="4486" marB="0" anchor="ctr"/>
                </a:tc>
                <a:tc>
                  <a:txBody>
                    <a:bodyPr/>
                    <a:lstStyle/>
                    <a:p>
                      <a:pPr algn="r" rtl="0" fontAlgn="ctr">
                        <a:buNone/>
                      </a:pPr>
                      <a:endParaRPr lang="en-IN" sz="2400" b="0" i="0" u="none" strike="noStrike" dirty="0">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dirty="0">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extLst>
                  <a:ext uri="{0D108BD9-81ED-4DB2-BD59-A6C34878D82A}">
                    <a16:rowId xmlns:a16="http://schemas.microsoft.com/office/drawing/2014/main" val="4128794373"/>
                  </a:ext>
                </a:extLst>
              </a:tr>
              <a:tr h="269155">
                <a:tc>
                  <a:txBody>
                    <a:bodyPr/>
                    <a:lstStyle/>
                    <a:p>
                      <a:pPr marL="0" indent="355600" algn="l" rtl="0" fontAlgn="ctr">
                        <a:buNone/>
                      </a:pPr>
                      <a:r>
                        <a:rPr lang="en-IN" sz="2400" u="none" strike="noStrike" kern="1200" dirty="0">
                          <a:solidFill>
                            <a:schemeClr val="dk1"/>
                          </a:solidFill>
                          <a:effectLst/>
                        </a:rPr>
                        <a:t>Valur of Machine </a:t>
                      </a:r>
                      <a:endParaRPr lang="en-IN" sz="2400" u="none" strike="noStrike" kern="1200" dirty="0">
                        <a:solidFill>
                          <a:schemeClr val="dk1"/>
                        </a:solidFill>
                        <a:effectLst/>
                        <a:latin typeface="Arial" panose="020B0604020202020204" pitchFamily="34" charset="0"/>
                        <a:ea typeface="+mn-ea"/>
                        <a:cs typeface="Arial" panose="020B0604020202020204" pitchFamily="34" charset="0"/>
                      </a:endParaRPr>
                    </a:p>
                  </a:txBody>
                  <a:tcPr marL="4486" marR="4486" marT="4486" marB="0" anchor="ctr"/>
                </a:tc>
                <a:tc>
                  <a:txBody>
                    <a:bodyPr/>
                    <a:lstStyle/>
                    <a:p>
                      <a:pPr algn="r" rtl="0" fontAlgn="ctr">
                        <a:buNone/>
                      </a:pP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dirty="0">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extLst>
                  <a:ext uri="{0D108BD9-81ED-4DB2-BD59-A6C34878D82A}">
                    <a16:rowId xmlns:a16="http://schemas.microsoft.com/office/drawing/2014/main" val="1298587647"/>
                  </a:ext>
                </a:extLst>
              </a:tr>
              <a:tr h="269155">
                <a:tc>
                  <a:txBody>
                    <a:bodyPr/>
                    <a:lstStyle/>
                    <a:p>
                      <a:pPr marL="0" indent="355600" algn="l" rtl="0" fontAlgn="ctr">
                        <a:buNone/>
                      </a:pPr>
                      <a:r>
                        <a:rPr lang="en-IN" sz="2400" u="none" strike="noStrike" kern="1200" dirty="0">
                          <a:solidFill>
                            <a:schemeClr val="dk1"/>
                          </a:solidFill>
                          <a:effectLst/>
                        </a:rPr>
                        <a:t>Value of Total Input</a:t>
                      </a:r>
                      <a:endParaRPr lang="en-IN" sz="2400" u="none" strike="noStrike" kern="1200" dirty="0">
                        <a:solidFill>
                          <a:schemeClr val="dk1"/>
                        </a:solidFill>
                        <a:effectLst/>
                        <a:latin typeface="Arial" panose="020B0604020202020204" pitchFamily="34" charset="0"/>
                        <a:ea typeface="+mn-ea"/>
                        <a:cs typeface="Arial" panose="020B0604020202020204" pitchFamily="34" charset="0"/>
                      </a:endParaRPr>
                    </a:p>
                  </a:txBody>
                  <a:tcPr marL="4486" marR="4486" marT="4486" marB="0" anchor="ctr"/>
                </a:tc>
                <a:tc>
                  <a:txBody>
                    <a:bodyPr/>
                    <a:lstStyle/>
                    <a:p>
                      <a:pPr algn="r" rtl="0" fontAlgn="ctr">
                        <a:buNone/>
                      </a:pP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dirty="0">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extLst>
                  <a:ext uri="{0D108BD9-81ED-4DB2-BD59-A6C34878D82A}">
                    <a16:rowId xmlns:a16="http://schemas.microsoft.com/office/drawing/2014/main" val="2172368786"/>
                  </a:ext>
                </a:extLst>
              </a:tr>
              <a:tr h="269155">
                <a:tc>
                  <a:txBody>
                    <a:bodyPr/>
                    <a:lstStyle/>
                    <a:p>
                      <a:pPr marL="0" indent="355600" algn="l" rtl="0" fontAlgn="ctr">
                        <a:buNone/>
                      </a:pPr>
                      <a:r>
                        <a:rPr lang="en-IN" sz="2400" u="none" strike="noStrike" kern="1200" dirty="0">
                          <a:solidFill>
                            <a:schemeClr val="dk1"/>
                          </a:solidFill>
                          <a:effectLst/>
                        </a:rPr>
                        <a:t>Total Output Value</a:t>
                      </a:r>
                      <a:endParaRPr lang="en-IN" sz="2400" u="none" strike="noStrike" kern="1200" dirty="0">
                        <a:solidFill>
                          <a:schemeClr val="dk1"/>
                        </a:solidFill>
                        <a:effectLst/>
                        <a:latin typeface="Arial" panose="020B0604020202020204" pitchFamily="34" charset="0"/>
                        <a:ea typeface="+mn-ea"/>
                        <a:cs typeface="Arial" panose="020B0604020202020204" pitchFamily="34" charset="0"/>
                      </a:endParaRPr>
                    </a:p>
                  </a:txBody>
                  <a:tcPr marL="4486" marR="4486" marT="4486" marB="0" anchor="ctr"/>
                </a:tc>
                <a:tc>
                  <a:txBody>
                    <a:bodyPr/>
                    <a:lstStyle/>
                    <a:p>
                      <a:pPr algn="r" rtl="0" fontAlgn="ctr">
                        <a:buNone/>
                      </a:pP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dirty="0">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extLst>
                  <a:ext uri="{0D108BD9-81ED-4DB2-BD59-A6C34878D82A}">
                    <a16:rowId xmlns:a16="http://schemas.microsoft.com/office/drawing/2014/main" val="3947201747"/>
                  </a:ext>
                </a:extLst>
              </a:tr>
              <a:tr h="269155">
                <a:tc>
                  <a:txBody>
                    <a:bodyPr/>
                    <a:lstStyle/>
                    <a:p>
                      <a:pPr marL="0" indent="355600" algn="l" rtl="0" fontAlgn="ctr">
                        <a:buNone/>
                      </a:pPr>
                      <a:r>
                        <a:rPr lang="en-IN" sz="2400" u="none" strike="noStrike" kern="1200" dirty="0">
                          <a:solidFill>
                            <a:schemeClr val="dk1"/>
                          </a:solidFill>
                          <a:effectLst/>
                        </a:rPr>
                        <a:t>Total Productivity</a:t>
                      </a:r>
                      <a:endParaRPr lang="en-IN" sz="2400" u="none" strike="noStrike" kern="1200" dirty="0">
                        <a:solidFill>
                          <a:schemeClr val="dk1"/>
                        </a:solidFill>
                        <a:effectLst/>
                        <a:latin typeface="Arial" panose="020B0604020202020204" pitchFamily="34" charset="0"/>
                        <a:ea typeface="+mn-ea"/>
                        <a:cs typeface="Arial" panose="020B0604020202020204" pitchFamily="34" charset="0"/>
                      </a:endParaRPr>
                    </a:p>
                  </a:txBody>
                  <a:tcPr marL="4486" marR="4486" marT="4486" marB="0" anchor="ctr"/>
                </a:tc>
                <a:tc>
                  <a:txBody>
                    <a:bodyPr/>
                    <a:lstStyle/>
                    <a:p>
                      <a:pPr algn="r" rtl="0" fontAlgn="ctr">
                        <a:buNone/>
                      </a:pP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dirty="0">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dirty="0">
                        <a:solidFill>
                          <a:srgbClr val="000000"/>
                        </a:solidFill>
                        <a:effectLst/>
                        <a:latin typeface="Arial" panose="020B0604020202020204" pitchFamily="34" charset="0"/>
                        <a:cs typeface="Arial" panose="020B0604020202020204" pitchFamily="34" charset="0"/>
                      </a:endParaRPr>
                    </a:p>
                  </a:txBody>
                  <a:tcPr marL="4486" marR="53831" marT="4486" marB="0" anchor="ctr"/>
                </a:tc>
                <a:extLst>
                  <a:ext uri="{0D108BD9-81ED-4DB2-BD59-A6C34878D82A}">
                    <a16:rowId xmlns:a16="http://schemas.microsoft.com/office/drawing/2014/main" val="3977202249"/>
                  </a:ext>
                </a:extLst>
              </a:tr>
              <a:tr h="269155">
                <a:tc>
                  <a:txBody>
                    <a:bodyPr/>
                    <a:lstStyle/>
                    <a:p>
                      <a:pPr marL="0" indent="355600" algn="l" rtl="0" fontAlgn="ctr">
                        <a:buNone/>
                      </a:pPr>
                      <a:r>
                        <a:rPr lang="en-IN" sz="2400" u="none" strike="noStrike" kern="1200" dirty="0">
                          <a:solidFill>
                            <a:schemeClr val="dk1"/>
                          </a:solidFill>
                          <a:effectLst/>
                        </a:rPr>
                        <a:t>Labour Productivity</a:t>
                      </a:r>
                      <a:endParaRPr lang="en-IN" sz="2400" u="none" strike="noStrike" kern="1200" dirty="0">
                        <a:solidFill>
                          <a:schemeClr val="dk1"/>
                        </a:solidFill>
                        <a:effectLst/>
                        <a:latin typeface="Arial" panose="020B0604020202020204" pitchFamily="34" charset="0"/>
                        <a:ea typeface="+mn-ea"/>
                        <a:cs typeface="Arial" panose="020B0604020202020204" pitchFamily="34" charset="0"/>
                      </a:endParaRPr>
                    </a:p>
                  </a:txBody>
                  <a:tcPr marL="4486" marR="4486" marT="4486" marB="0" anchor="ctr"/>
                </a:tc>
                <a:tc>
                  <a:txBody>
                    <a:bodyPr/>
                    <a:lstStyle/>
                    <a:p>
                      <a:pPr algn="r" rtl="0" fontAlgn="ctr">
                        <a:buNone/>
                      </a:pP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dirty="0">
                        <a:solidFill>
                          <a:srgbClr val="000000"/>
                        </a:solidFill>
                        <a:effectLst/>
                        <a:latin typeface="Arial" panose="020B0604020202020204" pitchFamily="34" charset="0"/>
                        <a:cs typeface="Arial" panose="020B0604020202020204" pitchFamily="34" charset="0"/>
                      </a:endParaRPr>
                    </a:p>
                  </a:txBody>
                  <a:tcPr marL="4486" marR="53831" marT="4486" marB="0" anchor="ctr"/>
                </a:tc>
                <a:extLst>
                  <a:ext uri="{0D108BD9-81ED-4DB2-BD59-A6C34878D82A}">
                    <a16:rowId xmlns:a16="http://schemas.microsoft.com/office/drawing/2014/main" val="3048960126"/>
                  </a:ext>
                </a:extLst>
              </a:tr>
              <a:tr h="264669">
                <a:tc>
                  <a:txBody>
                    <a:bodyPr/>
                    <a:lstStyle/>
                    <a:p>
                      <a:pPr marL="0" indent="355600" algn="l" rtl="0" fontAlgn="ctr">
                        <a:buNone/>
                      </a:pPr>
                      <a:r>
                        <a:rPr lang="en-IN" sz="2400" u="none" strike="noStrike" kern="1200" dirty="0">
                          <a:solidFill>
                            <a:schemeClr val="dk1"/>
                          </a:solidFill>
                          <a:effectLst/>
                        </a:rPr>
                        <a:t>Machine Productivity</a:t>
                      </a:r>
                      <a:endParaRPr lang="en-IN" sz="2400" u="none" strike="noStrike" kern="1200" dirty="0">
                        <a:solidFill>
                          <a:schemeClr val="dk1"/>
                        </a:solidFill>
                        <a:effectLst/>
                        <a:latin typeface="Arial" panose="020B0604020202020204" pitchFamily="34" charset="0"/>
                        <a:ea typeface="+mn-ea"/>
                        <a:cs typeface="Arial" panose="020B0604020202020204" pitchFamily="34" charset="0"/>
                      </a:endParaRPr>
                    </a:p>
                  </a:txBody>
                  <a:tcPr marL="4486" marR="4486" marT="4486" marB="0" anchor="ctr"/>
                </a:tc>
                <a:tc>
                  <a:txBody>
                    <a:bodyPr/>
                    <a:lstStyle/>
                    <a:p>
                      <a:pPr algn="r" rtl="0" fontAlgn="ctr">
                        <a:buNone/>
                      </a:pP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a:solidFill>
                          <a:srgbClr val="000000"/>
                        </a:solidFill>
                        <a:effectLst/>
                        <a:latin typeface="Arial" panose="020B0604020202020204" pitchFamily="34" charset="0"/>
                        <a:cs typeface="Arial" panose="020B0604020202020204" pitchFamily="34" charset="0"/>
                      </a:endParaRPr>
                    </a:p>
                  </a:txBody>
                  <a:tcPr marL="4486" marR="53831" marT="4486" marB="0" anchor="ctr"/>
                </a:tc>
                <a:tc>
                  <a:txBody>
                    <a:bodyPr/>
                    <a:lstStyle/>
                    <a:p>
                      <a:pPr algn="r" rtl="0" fontAlgn="ctr">
                        <a:buNone/>
                      </a:pPr>
                      <a:endParaRPr lang="en-IN" sz="2400" b="0" i="0" u="none" strike="noStrike" dirty="0">
                        <a:solidFill>
                          <a:srgbClr val="000000"/>
                        </a:solidFill>
                        <a:effectLst/>
                        <a:latin typeface="Arial" panose="020B0604020202020204" pitchFamily="34" charset="0"/>
                        <a:cs typeface="Arial" panose="020B0604020202020204" pitchFamily="34" charset="0"/>
                      </a:endParaRPr>
                    </a:p>
                  </a:txBody>
                  <a:tcPr marL="4486" marR="53831" marT="4486" marB="0" anchor="ctr"/>
                </a:tc>
                <a:extLst>
                  <a:ext uri="{0D108BD9-81ED-4DB2-BD59-A6C34878D82A}">
                    <a16:rowId xmlns:a16="http://schemas.microsoft.com/office/drawing/2014/main" val="213360284"/>
                  </a:ext>
                </a:extLst>
              </a:tr>
            </a:tbl>
          </a:graphicData>
        </a:graphic>
      </p:graphicFrame>
    </p:spTree>
    <p:extLst>
      <p:ext uri="{BB962C8B-B14F-4D97-AF65-F5344CB8AC3E}">
        <p14:creationId xmlns:p14="http://schemas.microsoft.com/office/powerpoint/2010/main" val="10090705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06D2A-B025-2396-92F4-D9F919DB6B56}"/>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5FDCF6A9-91E7-1406-FBB0-809ECC566278}"/>
              </a:ext>
            </a:extLst>
          </p:cNvPr>
          <p:cNvSpPr/>
          <p:nvPr/>
        </p:nvSpPr>
        <p:spPr>
          <a:xfrm>
            <a:off x="2821858" y="2580599"/>
            <a:ext cx="6548284" cy="169680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effectLst>
                  <a:outerShdw blurRad="38100" dist="38100" dir="2700000" algn="tl">
                    <a:srgbClr val="000000">
                      <a:alpha val="43137"/>
                    </a:srgbClr>
                  </a:outerShdw>
                </a:effectLst>
                <a:latin typeface="Arial Black" panose="020B0A04020102020204" pitchFamily="34" charset="0"/>
                <a:cs typeface="Aharoni" panose="02010803020104030203" pitchFamily="2" charset="-79"/>
              </a:rPr>
              <a:t>LECTURE 2</a:t>
            </a:r>
          </a:p>
        </p:txBody>
      </p:sp>
    </p:spTree>
    <p:extLst>
      <p:ext uri="{BB962C8B-B14F-4D97-AF65-F5344CB8AC3E}">
        <p14:creationId xmlns:p14="http://schemas.microsoft.com/office/powerpoint/2010/main" val="21921603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F750A-E9AF-E2F2-B9C7-82853D01FCB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D4C2435-966B-C09D-B746-CB23E529A397}"/>
              </a:ext>
            </a:extLst>
          </p:cNvPr>
          <p:cNvSpPr/>
          <p:nvPr/>
        </p:nvSpPr>
        <p:spPr>
          <a:xfrm>
            <a:off x="456714" y="0"/>
            <a:ext cx="11602608"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BUILDING BLOCKS OF SUPPLY CHAIN STRATEGY</a:t>
            </a:r>
            <a:endParaRPr lang="en-IN" sz="19900" b="1" dirty="0">
              <a:solidFill>
                <a:schemeClr val="accent4">
                  <a:lumMod val="20000"/>
                  <a:lumOff val="80000"/>
                </a:schemeClr>
              </a:solidFill>
            </a:endParaRPr>
          </a:p>
        </p:txBody>
      </p:sp>
      <p:sp>
        <p:nvSpPr>
          <p:cNvPr id="4" name="TextBox 3">
            <a:extLst>
              <a:ext uri="{FF2B5EF4-FFF2-40B4-BE49-F238E27FC236}">
                <a16:creationId xmlns:a16="http://schemas.microsoft.com/office/drawing/2014/main" id="{8A29C791-A3A9-5E0C-0B27-967D39914B3A}"/>
              </a:ext>
            </a:extLst>
          </p:cNvPr>
          <p:cNvSpPr txBox="1"/>
          <p:nvPr/>
        </p:nvSpPr>
        <p:spPr>
          <a:xfrm>
            <a:off x="470404" y="945932"/>
            <a:ext cx="5787614" cy="5632311"/>
          </a:xfrm>
          <a:prstGeom prst="rect">
            <a:avLst/>
          </a:prstGeom>
          <a:solidFill>
            <a:schemeClr val="accent4">
              <a:lumMod val="20000"/>
              <a:lumOff val="80000"/>
            </a:schemeClr>
          </a:solidFill>
        </p:spPr>
        <p:txBody>
          <a:bodyPr wrap="square">
            <a:spAutoFit/>
          </a:bodyPr>
          <a:lstStyle/>
          <a:p>
            <a:pPr marL="342900" indent="-342900" algn="just">
              <a:buFont typeface="Wingdings" panose="05000000000000000000" pitchFamily="2" charset="2"/>
              <a:buChar char="v"/>
            </a:pPr>
            <a:r>
              <a:rPr lang="en-US" sz="2400" dirty="0">
                <a:solidFill>
                  <a:srgbClr val="000000"/>
                </a:solidFill>
                <a:latin typeface="Arial" panose="020B0604020202020204" pitchFamily="34" charset="0"/>
                <a:cs typeface="Arial" panose="020B0604020202020204" pitchFamily="34" charset="0"/>
              </a:rPr>
              <a:t>T</a:t>
            </a:r>
            <a:r>
              <a:rPr lang="en-US" sz="2400" b="0" i="0" u="none" strike="noStrike" baseline="0" dirty="0">
                <a:solidFill>
                  <a:srgbClr val="000000"/>
                </a:solidFill>
                <a:latin typeface="Arial" panose="020B0604020202020204" pitchFamily="34" charset="0"/>
                <a:cs typeface="Arial" panose="020B0604020202020204" pitchFamily="34" charset="0"/>
              </a:rPr>
              <a:t>he development of a supply chain strategy involves consideration of the traditional business </a:t>
            </a:r>
            <a:r>
              <a:rPr lang="en-US" sz="2400" dirty="0">
                <a:latin typeface="Arial" panose="020B0604020202020204" pitchFamily="34" charset="0"/>
                <a:cs typeface="Arial" panose="020B0604020202020204" pitchFamily="34" charset="0"/>
              </a:rPr>
              <a:t>functions and their impact (called </a:t>
            </a:r>
            <a:r>
              <a:rPr lang="en-US" sz="2400" b="1" dirty="0">
                <a:latin typeface="Arial" panose="020B0604020202020204" pitchFamily="34" charset="0"/>
                <a:cs typeface="Arial" panose="020B0604020202020204" pitchFamily="34" charset="0"/>
              </a:rPr>
              <a:t>building blocks of a supply chain strategy)</a:t>
            </a:r>
            <a:r>
              <a:rPr lang="en-US" sz="2400" dirty="0">
                <a:latin typeface="Arial" panose="020B0604020202020204" pitchFamily="34" charset="0"/>
                <a:cs typeface="Arial" panose="020B0604020202020204" pitchFamily="34" charset="0"/>
              </a:rPr>
              <a:t> on the supply chain. </a:t>
            </a:r>
          </a:p>
          <a:p>
            <a:pPr marL="342900" indent="-342900" algn="just">
              <a:buFont typeface="Wingdings" panose="05000000000000000000" pitchFamily="2" charset="2"/>
              <a:buChar char="v"/>
            </a:pPr>
            <a:r>
              <a:rPr lang="en-US" sz="2400" dirty="0">
                <a:latin typeface="Arial" panose="020B0604020202020204" pitchFamily="34" charset="0"/>
                <a:cs typeface="Arial" panose="020B0604020202020204" pitchFamily="34" charset="0"/>
              </a:rPr>
              <a:t>Four building blocks of supply chain strategy, viz., </a:t>
            </a:r>
            <a:r>
              <a:rPr lang="en-IN" sz="2400" b="1" dirty="0">
                <a:latin typeface="Arial" panose="020B0604020202020204" pitchFamily="34" charset="0"/>
                <a:cs typeface="Arial" panose="020B0604020202020204" pitchFamily="34" charset="0"/>
              </a:rPr>
              <a:t>Operations, Sourcing, Distribution, and Customer service </a:t>
            </a:r>
          </a:p>
          <a:p>
            <a:pPr marL="342900" indent="-342900" algn="just">
              <a:buFont typeface="Wingdings" panose="05000000000000000000" pitchFamily="2" charset="2"/>
              <a:buChar char="v"/>
            </a:pPr>
            <a:r>
              <a:rPr lang="en-IN" sz="2400" dirty="0">
                <a:solidFill>
                  <a:srgbClr val="000000"/>
                </a:solidFill>
                <a:latin typeface="Arial" panose="020B0604020202020204" pitchFamily="34" charset="0"/>
                <a:cs typeface="Arial" panose="020B0604020202020204" pitchFamily="34" charset="0"/>
              </a:rPr>
              <a:t>Organizational functions are interdependent and hence supply chain strategy is </a:t>
            </a:r>
            <a:r>
              <a:rPr lang="en-US" sz="2400" dirty="0">
                <a:solidFill>
                  <a:srgbClr val="000000"/>
                </a:solidFill>
                <a:latin typeface="Arial" panose="020B0604020202020204" pitchFamily="34" charset="0"/>
                <a:cs typeface="Arial" panose="020B0604020202020204" pitchFamily="34" charset="0"/>
              </a:rPr>
              <a:t>directly impacted by the decisions of the four building blocks and how they are used to support the business</a:t>
            </a:r>
            <a:endParaRPr lang="en-IN" sz="2400" dirty="0">
              <a:solidFill>
                <a:srgbClr val="00000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04DF5C94-01E4-D6FA-0BD0-142ACB935AA6}"/>
              </a:ext>
            </a:extLst>
          </p:cNvPr>
          <p:cNvPicPr>
            <a:picLocks noChangeAspect="1"/>
          </p:cNvPicPr>
          <p:nvPr/>
        </p:nvPicPr>
        <p:blipFill>
          <a:blip r:embed="rId3">
            <a:duotone>
              <a:prstClr val="black"/>
              <a:schemeClr val="accent4">
                <a:lumMod val="20000"/>
                <a:lumOff val="80000"/>
                <a:tint val="45000"/>
                <a:satMod val="400000"/>
              </a:schemeClr>
            </a:duotone>
          </a:blip>
          <a:stretch>
            <a:fillRect/>
          </a:stretch>
        </p:blipFill>
        <p:spPr>
          <a:xfrm>
            <a:off x="6271708" y="945932"/>
            <a:ext cx="5812754" cy="5632311"/>
          </a:xfrm>
          <a:prstGeom prst="rect">
            <a:avLst/>
          </a:prstGeom>
          <a:solidFill>
            <a:schemeClr val="accent4">
              <a:lumMod val="20000"/>
              <a:lumOff val="80000"/>
            </a:schemeClr>
          </a:solidFill>
        </p:spPr>
      </p:pic>
    </p:spTree>
    <p:extLst>
      <p:ext uri="{BB962C8B-B14F-4D97-AF65-F5344CB8AC3E}">
        <p14:creationId xmlns:p14="http://schemas.microsoft.com/office/powerpoint/2010/main" val="41704872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E81D2-B03B-7CB3-C052-D585A1CCA03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AD08B89-0360-54DF-1A79-1225BDF56964}"/>
              </a:ext>
            </a:extLst>
          </p:cNvPr>
          <p:cNvSpPr/>
          <p:nvPr/>
        </p:nvSpPr>
        <p:spPr>
          <a:xfrm>
            <a:off x="456714" y="21516"/>
            <a:ext cx="11602608"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BUILDING BLOCKS OF SUPPLY CHAIN STRATEGY</a:t>
            </a:r>
            <a:endParaRPr lang="en-IN" sz="19900" b="1" dirty="0">
              <a:solidFill>
                <a:schemeClr val="accent4">
                  <a:lumMod val="20000"/>
                  <a:lumOff val="80000"/>
                </a:schemeClr>
              </a:solidFill>
            </a:endParaRPr>
          </a:p>
        </p:txBody>
      </p:sp>
      <p:sp>
        <p:nvSpPr>
          <p:cNvPr id="4" name="TextBox 3">
            <a:extLst>
              <a:ext uri="{FF2B5EF4-FFF2-40B4-BE49-F238E27FC236}">
                <a16:creationId xmlns:a16="http://schemas.microsoft.com/office/drawing/2014/main" id="{29E2ED5C-606E-6131-25F4-7D5B63A78E13}"/>
              </a:ext>
            </a:extLst>
          </p:cNvPr>
          <p:cNvSpPr txBox="1"/>
          <p:nvPr/>
        </p:nvSpPr>
        <p:spPr>
          <a:xfrm>
            <a:off x="456713" y="967448"/>
            <a:ext cx="11452001" cy="5324535"/>
          </a:xfrm>
          <a:prstGeom prst="rect">
            <a:avLst/>
          </a:prstGeom>
          <a:solidFill>
            <a:schemeClr val="accent6">
              <a:lumMod val="20000"/>
              <a:lumOff val="80000"/>
            </a:schemeClr>
          </a:solidFill>
        </p:spPr>
        <p:txBody>
          <a:bodyPr wrap="square">
            <a:spAutoFit/>
          </a:bodyPr>
          <a:lstStyle/>
          <a:p>
            <a:pPr algn="just"/>
            <a:r>
              <a:rPr lang="en-IN" sz="2800" b="1" dirty="0">
                <a:latin typeface="Arial" panose="020B0604020202020204" pitchFamily="34" charset="0"/>
                <a:cs typeface="Arial" panose="020B0604020202020204" pitchFamily="34" charset="0"/>
              </a:rPr>
              <a:t>Operations Strategy</a:t>
            </a:r>
          </a:p>
          <a:p>
            <a:pPr marL="342900" indent="-342900">
              <a:buFont typeface="Wingdings" panose="05000000000000000000" pitchFamily="2" charset="2"/>
              <a:buChar char="v"/>
            </a:pPr>
            <a:r>
              <a:rPr lang="en-US" sz="2600" dirty="0">
                <a:latin typeface="Arial" panose="020B0604020202020204" pitchFamily="34" charset="0"/>
                <a:cs typeface="Arial" panose="020B0604020202020204" pitchFamily="34" charset="0"/>
              </a:rPr>
              <a:t>Involves decisions about how a company produces goods and services. </a:t>
            </a:r>
          </a:p>
          <a:p>
            <a:pPr marL="342900" indent="-342900" algn="just">
              <a:buFont typeface="Wingdings" panose="05000000000000000000" pitchFamily="2" charset="2"/>
              <a:buChar char="v"/>
            </a:pPr>
            <a:r>
              <a:rPr lang="en-US" sz="2600" dirty="0">
                <a:latin typeface="Arial" panose="020B0604020202020204" pitchFamily="34" charset="0"/>
                <a:cs typeface="Arial" panose="020B0604020202020204" pitchFamily="34" charset="0"/>
              </a:rPr>
              <a:t>Determines </a:t>
            </a:r>
          </a:p>
          <a:p>
            <a:pPr marL="538163" lvl="1" indent="-355600" algn="just">
              <a:buFont typeface="Wingdings" panose="05000000000000000000" pitchFamily="2" charset="2"/>
              <a:buChar char="v"/>
            </a:pPr>
            <a:r>
              <a:rPr lang="en-US" sz="2600" dirty="0">
                <a:latin typeface="Arial" panose="020B0604020202020204" pitchFamily="34" charset="0"/>
                <a:cs typeface="Arial" panose="020B0604020202020204" pitchFamily="34" charset="0"/>
              </a:rPr>
              <a:t>design and management of a company’s manufacturing and internal processes, </a:t>
            </a:r>
          </a:p>
          <a:p>
            <a:pPr marL="538163" lvl="1" indent="-355600" algn="just">
              <a:buFont typeface="Wingdings" panose="05000000000000000000" pitchFamily="2" charset="2"/>
              <a:buChar char="v"/>
            </a:pPr>
            <a:r>
              <a:rPr lang="en-US" sz="2600" dirty="0">
                <a:latin typeface="Arial" panose="020B0604020202020204" pitchFamily="34" charset="0"/>
                <a:cs typeface="Arial" panose="020B0604020202020204" pitchFamily="34" charset="0"/>
              </a:rPr>
              <a:t>use of equipment, information technology and all types of </a:t>
            </a:r>
            <a:r>
              <a:rPr lang="en-IN" sz="2600" dirty="0">
                <a:latin typeface="Arial" panose="020B0604020202020204" pitchFamily="34" charset="0"/>
                <a:cs typeface="Arial" panose="020B0604020202020204" pitchFamily="34" charset="0"/>
              </a:rPr>
              <a:t>employee skills needed.</a:t>
            </a:r>
          </a:p>
          <a:p>
            <a:pPr algn="just"/>
            <a:r>
              <a:rPr lang="en-IN" sz="2600" b="1" dirty="0">
                <a:latin typeface="Arial" panose="020B0604020202020204" pitchFamily="34" charset="0"/>
                <a:cs typeface="Arial" panose="020B0604020202020204" pitchFamily="34" charset="0"/>
              </a:rPr>
              <a:t>Product positioning strategy – </a:t>
            </a:r>
          </a:p>
          <a:p>
            <a:pPr marL="342900" indent="-342900" algn="just">
              <a:buFont typeface="Wingdings" panose="05000000000000000000" pitchFamily="2" charset="2"/>
              <a:buChar char="v"/>
            </a:pPr>
            <a:r>
              <a:rPr lang="en-IN" sz="2600" dirty="0">
                <a:latin typeface="Arial" panose="020B0604020202020204" pitchFamily="34" charset="0"/>
                <a:cs typeface="Arial" panose="020B0604020202020204" pitchFamily="34" charset="0"/>
              </a:rPr>
              <a:t>Degree of product customization a company offers. </a:t>
            </a:r>
          </a:p>
          <a:p>
            <a:pPr marL="342900" indent="-342900" algn="just">
              <a:buFont typeface="Wingdings" panose="05000000000000000000" pitchFamily="2" charset="2"/>
              <a:buChar char="v"/>
            </a:pPr>
            <a:r>
              <a:rPr lang="en-IN" sz="2600" dirty="0">
                <a:latin typeface="Arial" panose="020B0604020202020204" pitchFamily="34" charset="0"/>
                <a:cs typeface="Arial" panose="020B0604020202020204" pitchFamily="34" charset="0"/>
              </a:rPr>
              <a:t>Directly</a:t>
            </a:r>
            <a:r>
              <a:rPr lang="en-US" sz="2600" dirty="0">
                <a:latin typeface="Arial" panose="020B0604020202020204" pitchFamily="34" charset="0"/>
                <a:cs typeface="Arial" panose="020B0604020202020204" pitchFamily="34" charset="0"/>
              </a:rPr>
              <a:t> relates to the form in which the company stores its finished products and the length of delivery lead time it can provide to its customers.</a:t>
            </a:r>
          </a:p>
          <a:p>
            <a:pPr marL="342900" indent="-342900" algn="just">
              <a:buFont typeface="Wingdings" panose="05000000000000000000" pitchFamily="2" charset="2"/>
              <a:buChar char="v"/>
            </a:pPr>
            <a:r>
              <a:rPr lang="en-US" sz="2600" dirty="0">
                <a:latin typeface="Arial" panose="020B0604020202020204" pitchFamily="34" charset="0"/>
                <a:cs typeface="Arial" panose="020B0604020202020204" pitchFamily="34" charset="0"/>
              </a:rPr>
              <a:t>3 strategies, viz., </a:t>
            </a:r>
            <a:r>
              <a:rPr lang="en-IN" sz="2600" b="1" dirty="0">
                <a:latin typeface="Arial" panose="020B0604020202020204" pitchFamily="34" charset="0"/>
                <a:cs typeface="Arial" panose="020B0604020202020204" pitchFamily="34" charset="0"/>
              </a:rPr>
              <a:t>Make-to-stock, Assemble-to-order, </a:t>
            </a:r>
            <a:r>
              <a:rPr lang="en-IN" sz="2600" dirty="0">
                <a:latin typeface="Arial" panose="020B0604020202020204" pitchFamily="34" charset="0"/>
                <a:cs typeface="Arial" panose="020B0604020202020204" pitchFamily="34" charset="0"/>
              </a:rPr>
              <a:t>and</a:t>
            </a:r>
            <a:r>
              <a:rPr lang="en-IN" sz="2600" b="1" dirty="0">
                <a:latin typeface="Arial" panose="020B0604020202020204" pitchFamily="34" charset="0"/>
                <a:cs typeface="Arial" panose="020B0604020202020204" pitchFamily="34" charset="0"/>
              </a:rPr>
              <a:t> Make-to-order</a:t>
            </a:r>
            <a:endParaRPr lang="en-IN"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09829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453A4-FA72-B953-26EE-A75F9409377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855B8EF-F42A-E4F1-C4F0-DD004BD60CBC}"/>
              </a:ext>
            </a:extLst>
          </p:cNvPr>
          <p:cNvSpPr/>
          <p:nvPr/>
        </p:nvSpPr>
        <p:spPr>
          <a:xfrm>
            <a:off x="456714" y="0"/>
            <a:ext cx="11602608"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BUILDING BLOCKS OF SUPPLY CHAIN STRATEGY</a:t>
            </a:r>
            <a:endParaRPr lang="en-IN" sz="19900" b="1" dirty="0">
              <a:solidFill>
                <a:schemeClr val="accent4">
                  <a:lumMod val="20000"/>
                  <a:lumOff val="80000"/>
                </a:schemeClr>
              </a:solidFill>
            </a:endParaRPr>
          </a:p>
        </p:txBody>
      </p:sp>
      <p:sp>
        <p:nvSpPr>
          <p:cNvPr id="4" name="TextBox 3">
            <a:extLst>
              <a:ext uri="{FF2B5EF4-FFF2-40B4-BE49-F238E27FC236}">
                <a16:creationId xmlns:a16="http://schemas.microsoft.com/office/drawing/2014/main" id="{39F1B2B4-5E9D-8DA5-64BD-DF3D356767AC}"/>
              </a:ext>
            </a:extLst>
          </p:cNvPr>
          <p:cNvSpPr txBox="1"/>
          <p:nvPr/>
        </p:nvSpPr>
        <p:spPr>
          <a:xfrm>
            <a:off x="677732" y="945932"/>
            <a:ext cx="11057554" cy="2739211"/>
          </a:xfrm>
          <a:prstGeom prst="rect">
            <a:avLst/>
          </a:prstGeom>
          <a:solidFill>
            <a:schemeClr val="accent6">
              <a:lumMod val="20000"/>
              <a:lumOff val="80000"/>
            </a:schemeClr>
          </a:solidFill>
        </p:spPr>
        <p:txBody>
          <a:bodyPr wrap="square">
            <a:spAutoFit/>
          </a:bodyPr>
          <a:lstStyle/>
          <a:p>
            <a:pPr algn="just"/>
            <a:r>
              <a:rPr lang="en-IN" sz="2800" b="1" dirty="0">
                <a:latin typeface="Arial" panose="020B0604020202020204" pitchFamily="34" charset="0"/>
                <a:cs typeface="Arial" panose="020B0604020202020204" pitchFamily="34" charset="0"/>
              </a:rPr>
              <a:t>Operations Strategy</a:t>
            </a:r>
          </a:p>
          <a:p>
            <a:r>
              <a:rPr lang="en-IN" sz="2400" b="1" dirty="0">
                <a:latin typeface="Arial" panose="020B0604020202020204" pitchFamily="34" charset="0"/>
                <a:cs typeface="Arial" panose="020B0604020202020204" pitchFamily="34" charset="0"/>
              </a:rPr>
              <a:t>(I) Make-to-stock </a:t>
            </a:r>
            <a:r>
              <a:rPr lang="en-US" sz="2400" b="1" dirty="0">
                <a:latin typeface="Arial" panose="020B0604020202020204" pitchFamily="34" charset="0"/>
                <a:cs typeface="Arial" panose="020B0604020202020204" pitchFamily="34" charset="0"/>
              </a:rPr>
              <a:t>strategy</a:t>
            </a:r>
          </a:p>
          <a:p>
            <a:pPr marL="342900" indent="-342900">
              <a:buFont typeface="Wingdings" panose="05000000000000000000" pitchFamily="2" charset="2"/>
              <a:buChar char="v"/>
            </a:pPr>
            <a:r>
              <a:rPr lang="en-US" sz="2400" b="1" dirty="0">
                <a:latin typeface="Arial" panose="020B0604020202020204" pitchFamily="34" charset="0"/>
                <a:cs typeface="Arial" panose="020B0604020202020204" pitchFamily="34" charset="0"/>
              </a:rPr>
              <a:t>P</a:t>
            </a:r>
            <a:r>
              <a:rPr lang="en-US" sz="2400" dirty="0">
                <a:latin typeface="Arial" panose="020B0604020202020204" pitchFamily="34" charset="0"/>
                <a:cs typeface="Arial" panose="020B0604020202020204" pitchFamily="34" charset="0"/>
              </a:rPr>
              <a:t>roduces finished products for immediate sale or delivery, in anticipation of demand. </a:t>
            </a:r>
          </a:p>
          <a:p>
            <a:pPr marL="342900" indent="-342900">
              <a:buFont typeface="Wingdings" panose="05000000000000000000" pitchFamily="2" charset="2"/>
              <a:buChar char="v"/>
            </a:pPr>
            <a:r>
              <a:rPr lang="en-US" sz="2400" dirty="0">
                <a:latin typeface="Arial" panose="020B0604020202020204" pitchFamily="34" charset="0"/>
                <a:cs typeface="Arial" panose="020B0604020202020204" pitchFamily="34" charset="0"/>
              </a:rPr>
              <a:t>Production </a:t>
            </a:r>
            <a:r>
              <a:rPr lang="en-IN" sz="2400" dirty="0">
                <a:latin typeface="Arial" panose="020B0604020202020204" pitchFamily="34" charset="0"/>
                <a:cs typeface="Arial" panose="020B0604020202020204" pitchFamily="34" charset="0"/>
              </a:rPr>
              <a:t>system is set </a:t>
            </a:r>
            <a:r>
              <a:rPr lang="en-US" sz="2400" dirty="0">
                <a:latin typeface="Arial" panose="020B0604020202020204" pitchFamily="34" charset="0"/>
                <a:cs typeface="Arial" panose="020B0604020202020204" pitchFamily="34" charset="0"/>
              </a:rPr>
              <a:t>up to produce large production batches that keep manufacturing costs down, and customer demand can be </a:t>
            </a:r>
            <a:r>
              <a:rPr lang="en-IN" sz="2400" dirty="0">
                <a:latin typeface="Arial" panose="020B0604020202020204" pitchFamily="34" charset="0"/>
                <a:cs typeface="Arial" panose="020B0604020202020204" pitchFamily="34" charset="0"/>
              </a:rPr>
              <a:t>met quickly</a:t>
            </a:r>
            <a:endParaRPr lang="en-US" sz="24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v"/>
            </a:pPr>
            <a:r>
              <a:rPr lang="en-US" sz="2400" dirty="0">
                <a:latin typeface="Arial" panose="020B0604020202020204" pitchFamily="34" charset="0"/>
                <a:cs typeface="Arial" panose="020B0604020202020204" pitchFamily="34" charset="0"/>
              </a:rPr>
              <a:t>B</a:t>
            </a:r>
            <a:r>
              <a:rPr lang="en-IN" sz="2400" dirty="0">
                <a:latin typeface="Arial" panose="020B0604020202020204" pitchFamily="34" charset="0"/>
                <a:cs typeface="Arial" panose="020B0604020202020204" pitchFamily="34" charset="0"/>
              </a:rPr>
              <a:t>est strategy </a:t>
            </a:r>
            <a:r>
              <a:rPr lang="en-US" sz="2400" dirty="0">
                <a:latin typeface="Arial" panose="020B0604020202020204" pitchFamily="34" charset="0"/>
                <a:cs typeface="Arial" panose="020B0604020202020204" pitchFamily="34" charset="0"/>
              </a:rPr>
              <a:t>for standardized products that sell in high volume</a:t>
            </a:r>
            <a:endParaRPr lang="en-IN" sz="24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FA443540-EEDB-131A-E0F2-9D0D83E2F1DD}"/>
              </a:ext>
            </a:extLst>
          </p:cNvPr>
          <p:cNvPicPr>
            <a:picLocks noChangeAspect="1"/>
          </p:cNvPicPr>
          <p:nvPr/>
        </p:nvPicPr>
        <p:blipFill>
          <a:blip r:embed="rId3">
            <a:duotone>
              <a:prstClr val="black"/>
              <a:schemeClr val="accent6">
                <a:lumMod val="20000"/>
                <a:lumOff val="80000"/>
                <a:tint val="45000"/>
                <a:satMod val="400000"/>
              </a:schemeClr>
            </a:duotone>
          </a:blip>
          <a:stretch>
            <a:fillRect/>
          </a:stretch>
        </p:blipFill>
        <p:spPr>
          <a:xfrm>
            <a:off x="677732" y="3703074"/>
            <a:ext cx="11057554" cy="2386112"/>
          </a:xfrm>
          <a:prstGeom prst="rect">
            <a:avLst/>
          </a:prstGeom>
        </p:spPr>
      </p:pic>
    </p:spTree>
    <p:extLst>
      <p:ext uri="{BB962C8B-B14F-4D97-AF65-F5344CB8AC3E}">
        <p14:creationId xmlns:p14="http://schemas.microsoft.com/office/powerpoint/2010/main" val="41631475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1B34F-D6A6-C9B7-FCC5-4E577DC2E94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9E3DC68-AFB2-8879-05A2-C54444911202}"/>
              </a:ext>
            </a:extLst>
          </p:cNvPr>
          <p:cNvSpPr/>
          <p:nvPr/>
        </p:nvSpPr>
        <p:spPr>
          <a:xfrm>
            <a:off x="456714" y="0"/>
            <a:ext cx="11602608"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BUILDING BLOCKS OF SUPPLY CHAIN STRATEGY</a:t>
            </a:r>
            <a:endParaRPr lang="en-IN" sz="19900" b="1" dirty="0">
              <a:solidFill>
                <a:schemeClr val="accent4">
                  <a:lumMod val="20000"/>
                  <a:lumOff val="80000"/>
                </a:schemeClr>
              </a:solidFill>
            </a:endParaRPr>
          </a:p>
        </p:txBody>
      </p:sp>
      <p:sp>
        <p:nvSpPr>
          <p:cNvPr id="4" name="TextBox 3">
            <a:extLst>
              <a:ext uri="{FF2B5EF4-FFF2-40B4-BE49-F238E27FC236}">
                <a16:creationId xmlns:a16="http://schemas.microsoft.com/office/drawing/2014/main" id="{D87ECF2F-9155-179E-3189-142BDBA50553}"/>
              </a:ext>
            </a:extLst>
          </p:cNvPr>
          <p:cNvSpPr txBox="1"/>
          <p:nvPr/>
        </p:nvSpPr>
        <p:spPr>
          <a:xfrm>
            <a:off x="567223" y="945932"/>
            <a:ext cx="11057554" cy="3477875"/>
          </a:xfrm>
          <a:prstGeom prst="rect">
            <a:avLst/>
          </a:prstGeom>
          <a:solidFill>
            <a:schemeClr val="accent6">
              <a:lumMod val="20000"/>
              <a:lumOff val="80000"/>
            </a:schemeClr>
          </a:solidFill>
        </p:spPr>
        <p:txBody>
          <a:bodyPr wrap="square">
            <a:spAutoFit/>
          </a:bodyPr>
          <a:lstStyle/>
          <a:p>
            <a:pPr algn="just"/>
            <a:r>
              <a:rPr lang="en-IN" sz="2800" b="1" dirty="0">
                <a:latin typeface="Arial" panose="020B0604020202020204" pitchFamily="34" charset="0"/>
                <a:cs typeface="Arial" panose="020B0604020202020204" pitchFamily="34" charset="0"/>
              </a:rPr>
              <a:t>Operations Strategy</a:t>
            </a:r>
          </a:p>
          <a:p>
            <a:r>
              <a:rPr lang="en-IN" sz="2400" b="1" dirty="0">
                <a:latin typeface="Arial" panose="020B0604020202020204" pitchFamily="34" charset="0"/>
                <a:cs typeface="Arial" panose="020B0604020202020204" pitchFamily="34" charset="0"/>
              </a:rPr>
              <a:t>(II) Assemble-to-order </a:t>
            </a:r>
            <a:r>
              <a:rPr lang="en-US" sz="2400" b="1" dirty="0">
                <a:latin typeface="Arial" panose="020B0604020202020204" pitchFamily="34" charset="0"/>
                <a:cs typeface="Arial" panose="020B0604020202020204" pitchFamily="34" charset="0"/>
              </a:rPr>
              <a:t>strategy</a:t>
            </a:r>
          </a:p>
          <a:p>
            <a:pPr marL="342900" indent="-342900">
              <a:buFont typeface="Wingdings" panose="05000000000000000000" pitchFamily="2" charset="2"/>
              <a:buChar char="v"/>
            </a:pPr>
            <a:r>
              <a:rPr lang="en-US" sz="2400" dirty="0">
                <a:latin typeface="Arial" panose="020B0604020202020204" pitchFamily="34" charset="0"/>
                <a:cs typeface="Arial" panose="020B0604020202020204" pitchFamily="34" charset="0"/>
              </a:rPr>
              <a:t>Product is partially completed and kept in a generic form, then finished when an </a:t>
            </a:r>
            <a:r>
              <a:rPr lang="en-IN" sz="2400" dirty="0">
                <a:latin typeface="Arial" panose="020B0604020202020204" pitchFamily="34" charset="0"/>
                <a:cs typeface="Arial" panose="020B0604020202020204" pitchFamily="34" charset="0"/>
              </a:rPr>
              <a:t>order is received</a:t>
            </a:r>
            <a:r>
              <a:rPr lang="en-US" sz="2400" dirty="0">
                <a:latin typeface="Arial" panose="020B0604020202020204" pitchFamily="34" charset="0"/>
                <a:cs typeface="Arial" panose="020B0604020202020204" pitchFamily="34" charset="0"/>
              </a:rPr>
              <a:t>.</a:t>
            </a:r>
          </a:p>
          <a:p>
            <a:pPr marL="342900" indent="-342900">
              <a:buFont typeface="Wingdings" panose="05000000000000000000" pitchFamily="2" charset="2"/>
              <a:buChar char="v"/>
            </a:pPr>
            <a:r>
              <a:rPr lang="en-US" sz="2400" dirty="0">
                <a:latin typeface="Arial" panose="020B0604020202020204" pitchFamily="34" charset="0"/>
                <a:cs typeface="Arial" panose="020B0604020202020204" pitchFamily="34" charset="0"/>
              </a:rPr>
              <a:t>Preferred strategy when there are many variations of the end product and the company wants to achieve low finished-goods inventory and shorter customer lead times than make-to-order can deliver.</a:t>
            </a:r>
          </a:p>
          <a:p>
            <a:endParaRPr lang="en-US" sz="24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v"/>
            </a:pPr>
            <a:endParaRPr lang="en-IN" sz="24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EC3116D4-4AC6-95BD-BD3D-2B6635166925}"/>
              </a:ext>
            </a:extLst>
          </p:cNvPr>
          <p:cNvPicPr>
            <a:picLocks noChangeAspect="1"/>
          </p:cNvPicPr>
          <p:nvPr/>
        </p:nvPicPr>
        <p:blipFill>
          <a:blip r:embed="rId3">
            <a:duotone>
              <a:prstClr val="black"/>
              <a:schemeClr val="accent6">
                <a:lumMod val="20000"/>
                <a:lumOff val="80000"/>
                <a:tint val="45000"/>
                <a:satMod val="400000"/>
              </a:schemeClr>
            </a:duotone>
          </a:blip>
          <a:stretch>
            <a:fillRect/>
          </a:stretch>
        </p:blipFill>
        <p:spPr>
          <a:xfrm>
            <a:off x="567223" y="3782856"/>
            <a:ext cx="11057555" cy="2312579"/>
          </a:xfrm>
          <a:prstGeom prst="rect">
            <a:avLst/>
          </a:prstGeom>
        </p:spPr>
      </p:pic>
    </p:spTree>
    <p:extLst>
      <p:ext uri="{BB962C8B-B14F-4D97-AF65-F5344CB8AC3E}">
        <p14:creationId xmlns:p14="http://schemas.microsoft.com/office/powerpoint/2010/main" val="3578904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FE4AA-BD89-93B1-1815-A9530D0F62B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1554C21-EBDD-E887-E2A1-9C91E08032D2}"/>
              </a:ext>
            </a:extLst>
          </p:cNvPr>
          <p:cNvSpPr/>
          <p:nvPr/>
        </p:nvSpPr>
        <p:spPr>
          <a:xfrm>
            <a:off x="456714" y="0"/>
            <a:ext cx="11602608"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BUILDING BLOCKS OF SUPPLY CHAIN STRATEGY</a:t>
            </a:r>
            <a:endParaRPr lang="en-IN" sz="19900" b="1" dirty="0">
              <a:solidFill>
                <a:schemeClr val="accent4">
                  <a:lumMod val="20000"/>
                  <a:lumOff val="80000"/>
                </a:schemeClr>
              </a:solidFill>
            </a:endParaRPr>
          </a:p>
        </p:txBody>
      </p:sp>
      <p:sp>
        <p:nvSpPr>
          <p:cNvPr id="4" name="TextBox 3">
            <a:extLst>
              <a:ext uri="{FF2B5EF4-FFF2-40B4-BE49-F238E27FC236}">
                <a16:creationId xmlns:a16="http://schemas.microsoft.com/office/drawing/2014/main" id="{85DE5142-A6A6-69FA-B8E9-7EB3642DAF0B}"/>
              </a:ext>
            </a:extLst>
          </p:cNvPr>
          <p:cNvSpPr txBox="1"/>
          <p:nvPr/>
        </p:nvSpPr>
        <p:spPr>
          <a:xfrm>
            <a:off x="567222" y="945932"/>
            <a:ext cx="11168063" cy="3477875"/>
          </a:xfrm>
          <a:prstGeom prst="rect">
            <a:avLst/>
          </a:prstGeom>
          <a:solidFill>
            <a:schemeClr val="accent6">
              <a:lumMod val="20000"/>
              <a:lumOff val="80000"/>
            </a:schemeClr>
          </a:solidFill>
        </p:spPr>
        <p:txBody>
          <a:bodyPr wrap="square">
            <a:spAutoFit/>
          </a:bodyPr>
          <a:lstStyle/>
          <a:p>
            <a:pPr algn="just"/>
            <a:r>
              <a:rPr lang="en-IN" sz="2800" b="1" dirty="0">
                <a:latin typeface="Arial" panose="020B0604020202020204" pitchFamily="34" charset="0"/>
                <a:cs typeface="Arial" panose="020B0604020202020204" pitchFamily="34" charset="0"/>
              </a:rPr>
              <a:t>Operations Strategy</a:t>
            </a:r>
          </a:p>
          <a:p>
            <a:r>
              <a:rPr lang="en-IN" sz="2400" b="1" dirty="0">
                <a:latin typeface="Arial" panose="020B0604020202020204" pitchFamily="34" charset="0"/>
                <a:cs typeface="Arial" panose="020B0604020202020204" pitchFamily="34" charset="0"/>
              </a:rPr>
              <a:t>(III) Make-to-order </a:t>
            </a:r>
            <a:r>
              <a:rPr lang="en-US" sz="2400" b="1" dirty="0">
                <a:latin typeface="Arial" panose="020B0604020202020204" pitchFamily="34" charset="0"/>
                <a:cs typeface="Arial" panose="020B0604020202020204" pitchFamily="34" charset="0"/>
              </a:rPr>
              <a:t>strategy</a:t>
            </a:r>
          </a:p>
          <a:p>
            <a:pPr marL="342900" indent="-342900">
              <a:buFont typeface="Wingdings" panose="05000000000000000000" pitchFamily="2" charset="2"/>
              <a:buChar char="v"/>
            </a:pPr>
            <a:r>
              <a:rPr lang="en-IN" sz="2400" dirty="0">
                <a:latin typeface="Arial" panose="020B0604020202020204" pitchFamily="34" charset="0"/>
                <a:cs typeface="Arial" panose="020B0604020202020204" pitchFamily="34" charset="0"/>
              </a:rPr>
              <a:t>Strategy for customized products </a:t>
            </a:r>
          </a:p>
          <a:p>
            <a:pPr marL="342900" indent="-342900">
              <a:buFont typeface="Wingdings" panose="05000000000000000000" pitchFamily="2" charset="2"/>
              <a:buChar char="v"/>
            </a:pPr>
            <a:r>
              <a:rPr lang="en-US" sz="2400" dirty="0">
                <a:latin typeface="Arial" panose="020B0604020202020204" pitchFamily="34" charset="0"/>
                <a:cs typeface="Arial" panose="020B0604020202020204" pitchFamily="34" charset="0"/>
              </a:rPr>
              <a:t>Produce products to customer specifications after an order has been received</a:t>
            </a:r>
          </a:p>
          <a:p>
            <a:pPr marL="342900" indent="-342900">
              <a:buFont typeface="Wingdings" panose="05000000000000000000" pitchFamily="2" charset="2"/>
              <a:buChar char="v"/>
            </a:pPr>
            <a:r>
              <a:rPr lang="en-US" sz="2400" dirty="0">
                <a:latin typeface="Arial" panose="020B0604020202020204" pitchFamily="34" charset="0"/>
                <a:cs typeface="Arial" panose="020B0604020202020204" pitchFamily="34" charset="0"/>
              </a:rPr>
              <a:t>Preferred strategy for a wide range of product options, low product volume and longest delivery system.</a:t>
            </a:r>
          </a:p>
          <a:p>
            <a:pPr marL="342900" indent="-342900">
              <a:buFont typeface="Wingdings" panose="05000000000000000000" pitchFamily="2" charset="2"/>
              <a:buChar char="v"/>
            </a:pP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v"/>
            </a:pPr>
            <a:endParaRPr lang="en-IN" sz="24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6DEA556-0A32-EB6C-553C-BE66AE132DB0}"/>
              </a:ext>
            </a:extLst>
          </p:cNvPr>
          <p:cNvPicPr>
            <a:picLocks noChangeAspect="1"/>
          </p:cNvPicPr>
          <p:nvPr/>
        </p:nvPicPr>
        <p:blipFill>
          <a:blip r:embed="rId3">
            <a:duotone>
              <a:prstClr val="black"/>
              <a:schemeClr val="accent6">
                <a:lumMod val="20000"/>
                <a:lumOff val="80000"/>
                <a:tint val="45000"/>
                <a:satMod val="400000"/>
              </a:schemeClr>
            </a:duotone>
          </a:blip>
          <a:stretch>
            <a:fillRect/>
          </a:stretch>
        </p:blipFill>
        <p:spPr>
          <a:xfrm>
            <a:off x="567222" y="3507736"/>
            <a:ext cx="11144250" cy="2468880"/>
          </a:xfrm>
          <a:prstGeom prst="rect">
            <a:avLst/>
          </a:prstGeom>
        </p:spPr>
      </p:pic>
    </p:spTree>
    <p:extLst>
      <p:ext uri="{BB962C8B-B14F-4D97-AF65-F5344CB8AC3E}">
        <p14:creationId xmlns:p14="http://schemas.microsoft.com/office/powerpoint/2010/main" val="8556719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01F66-400E-CE9B-C1F3-6345F6A2D23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3214662-FF99-EAF8-4BE9-27744A3DBB83}"/>
              </a:ext>
            </a:extLst>
          </p:cNvPr>
          <p:cNvSpPr/>
          <p:nvPr/>
        </p:nvSpPr>
        <p:spPr>
          <a:xfrm>
            <a:off x="456714" y="0"/>
            <a:ext cx="11602608"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BUILDING BLOCKS OF SUPPLY CHAIN STRATEGY</a:t>
            </a:r>
            <a:endParaRPr lang="en-IN" sz="19900" b="1" dirty="0">
              <a:solidFill>
                <a:schemeClr val="accent4">
                  <a:lumMod val="20000"/>
                  <a:lumOff val="80000"/>
                </a:schemeClr>
              </a:solidFill>
            </a:endParaRPr>
          </a:p>
        </p:txBody>
      </p:sp>
      <p:sp>
        <p:nvSpPr>
          <p:cNvPr id="4" name="TextBox 3">
            <a:extLst>
              <a:ext uri="{FF2B5EF4-FFF2-40B4-BE49-F238E27FC236}">
                <a16:creationId xmlns:a16="http://schemas.microsoft.com/office/drawing/2014/main" id="{8648E646-7544-555B-0943-DDBD7F71F976}"/>
              </a:ext>
            </a:extLst>
          </p:cNvPr>
          <p:cNvSpPr txBox="1"/>
          <p:nvPr/>
        </p:nvSpPr>
        <p:spPr>
          <a:xfrm>
            <a:off x="456714" y="945932"/>
            <a:ext cx="11492100" cy="5693866"/>
          </a:xfrm>
          <a:prstGeom prst="rect">
            <a:avLst/>
          </a:prstGeom>
          <a:solidFill>
            <a:schemeClr val="accent4">
              <a:lumMod val="20000"/>
              <a:lumOff val="80000"/>
            </a:schemeClr>
          </a:solidFill>
        </p:spPr>
        <p:txBody>
          <a:bodyPr wrap="square">
            <a:spAutoFit/>
          </a:bodyPr>
          <a:lstStyle/>
          <a:p>
            <a:pPr algn="just"/>
            <a:r>
              <a:rPr lang="en-IN" sz="2800" b="1" dirty="0">
                <a:latin typeface="Arial" panose="020B0604020202020204" pitchFamily="34" charset="0"/>
                <a:cs typeface="Arial" panose="020B0604020202020204" pitchFamily="34" charset="0"/>
              </a:rPr>
              <a:t>Sourcing Strategy</a:t>
            </a:r>
          </a:p>
          <a:p>
            <a:pPr marL="342900" indent="-342900" algn="just">
              <a:buFont typeface="Wingdings" panose="05000000000000000000" pitchFamily="2" charset="2"/>
              <a:buChar char="v"/>
            </a:pPr>
            <a:r>
              <a:rPr lang="en-IN" sz="2100" dirty="0">
                <a:latin typeface="Arial" panose="020B0604020202020204" pitchFamily="34" charset="0"/>
                <a:cs typeface="Arial" panose="020B0604020202020204" pitchFamily="34" charset="0"/>
              </a:rPr>
              <a:t>Sourcing involves deciding which activities to retain internally and which to outsource to third parties.</a:t>
            </a:r>
          </a:p>
          <a:p>
            <a:pPr marL="342900" indent="-342900" algn="just">
              <a:buFont typeface="Wingdings" panose="05000000000000000000" pitchFamily="2" charset="2"/>
              <a:buChar char="v"/>
            </a:pPr>
            <a:r>
              <a:rPr lang="en-US" sz="2100" b="1" dirty="0">
                <a:latin typeface="Arial" panose="020B0604020202020204" pitchFamily="34" charset="0"/>
                <a:cs typeface="Arial" panose="020B0604020202020204" pitchFamily="34" charset="0"/>
              </a:rPr>
              <a:t>The Strategic Role of Outsourcing</a:t>
            </a:r>
          </a:p>
          <a:p>
            <a:pPr marL="800100" lvl="1" indent="-342900" algn="just">
              <a:buFont typeface="Wingdings" panose="05000000000000000000" pitchFamily="2" charset="2"/>
              <a:buChar char="v"/>
            </a:pPr>
            <a:r>
              <a:rPr lang="en-US" sz="2100" b="1" dirty="0">
                <a:latin typeface="Arial" panose="020B0604020202020204" pitchFamily="34" charset="0"/>
                <a:cs typeface="Arial" panose="020B0604020202020204" pitchFamily="34" charset="0"/>
              </a:rPr>
              <a:t>Flexibility and Speed:</a:t>
            </a:r>
            <a:r>
              <a:rPr lang="en-US" sz="2100" dirty="0">
                <a:latin typeface="Arial" panose="020B0604020202020204" pitchFamily="34" charset="0"/>
                <a:cs typeface="Arial" panose="020B0604020202020204" pitchFamily="34" charset="0"/>
              </a:rPr>
              <a:t> Outsourcing allows companies to leverage a vendor's expertise and capacity, providing the </a:t>
            </a:r>
            <a:r>
              <a:rPr lang="en-US" sz="2100" b="1" dirty="0">
                <a:latin typeface="Arial" panose="020B0604020202020204" pitchFamily="34" charset="0"/>
                <a:cs typeface="Arial" panose="020B0604020202020204" pitchFamily="34" charset="0"/>
              </a:rPr>
              <a:t>flexibility</a:t>
            </a:r>
            <a:r>
              <a:rPr lang="en-US" sz="2100" dirty="0">
                <a:latin typeface="Arial" panose="020B0604020202020204" pitchFamily="34" charset="0"/>
                <a:cs typeface="Arial" panose="020B0604020202020204" pitchFamily="34" charset="0"/>
              </a:rPr>
              <a:t> to respond quickly to market changes or build new products without massive internal investment</a:t>
            </a:r>
          </a:p>
          <a:p>
            <a:pPr marL="800100" lvl="1" indent="-342900" algn="just">
              <a:buFont typeface="Wingdings" panose="05000000000000000000" pitchFamily="2" charset="2"/>
              <a:buChar char="v"/>
            </a:pPr>
            <a:r>
              <a:rPr lang="en-US" sz="2100" b="1" dirty="0">
                <a:latin typeface="Arial" panose="020B0604020202020204" pitchFamily="34" charset="0"/>
                <a:cs typeface="Arial" panose="020B0604020202020204" pitchFamily="34" charset="0"/>
              </a:rPr>
              <a:t>Economies of Scale:</a:t>
            </a:r>
            <a:r>
              <a:rPr lang="en-US" sz="2100" dirty="0">
                <a:latin typeface="Arial" panose="020B0604020202020204" pitchFamily="34" charset="0"/>
                <a:cs typeface="Arial" panose="020B0604020202020204" pitchFamily="34" charset="0"/>
              </a:rPr>
              <a:t> Third-party providers often reach </a:t>
            </a:r>
            <a:r>
              <a:rPr lang="en-US" sz="2100" b="1" dirty="0">
                <a:latin typeface="Arial" panose="020B0604020202020204" pitchFamily="34" charset="0"/>
                <a:cs typeface="Arial" panose="020B0604020202020204" pitchFamily="34" charset="0"/>
              </a:rPr>
              <a:t>economies of scale</a:t>
            </a:r>
            <a:r>
              <a:rPr lang="en-US" sz="2100" dirty="0">
                <a:latin typeface="Arial" panose="020B0604020202020204" pitchFamily="34" charset="0"/>
                <a:cs typeface="Arial" panose="020B0604020202020204" pitchFamily="34" charset="0"/>
              </a:rPr>
              <a:t> in their specialized fields, allowing them to offer services or products at a lower cost than the company could achieve on its own</a:t>
            </a:r>
          </a:p>
          <a:p>
            <a:pPr marL="800100" lvl="1" indent="-342900" algn="just">
              <a:buFont typeface="Wingdings" panose="05000000000000000000" pitchFamily="2" charset="2"/>
              <a:buChar char="v"/>
            </a:pPr>
            <a:r>
              <a:rPr lang="en-US" sz="2100" b="1" dirty="0">
                <a:latin typeface="Arial" panose="020B0604020202020204" pitchFamily="34" charset="0"/>
                <a:cs typeface="Arial" panose="020B0604020202020204" pitchFamily="34" charset="0"/>
              </a:rPr>
              <a:t>Technological Access:</a:t>
            </a:r>
            <a:r>
              <a:rPr lang="en-US" sz="2100" dirty="0">
                <a:latin typeface="Arial" panose="020B0604020202020204" pitchFamily="34" charset="0"/>
                <a:cs typeface="Arial" panose="020B0604020202020204" pitchFamily="34" charset="0"/>
              </a:rPr>
              <a:t> Outsourcing can provide a firm with </a:t>
            </a:r>
            <a:r>
              <a:rPr lang="en-US" sz="2100" b="1" dirty="0">
                <a:latin typeface="Arial" panose="020B0604020202020204" pitchFamily="34" charset="0"/>
                <a:cs typeface="Arial" panose="020B0604020202020204" pitchFamily="34" charset="0"/>
              </a:rPr>
              <a:t>state-of-the-art technological capability</a:t>
            </a:r>
            <a:r>
              <a:rPr lang="en-US" sz="2100" dirty="0">
                <a:latin typeface="Arial" panose="020B0604020202020204" pitchFamily="34" charset="0"/>
                <a:cs typeface="Arial" panose="020B0604020202020204" pitchFamily="34" charset="0"/>
              </a:rPr>
              <a:t> virtually overnight by tapping into the vendor's specialized resources</a:t>
            </a:r>
            <a:endParaRPr lang="en-IN" sz="2100" dirty="0">
              <a:latin typeface="Arial" panose="020B0604020202020204" pitchFamily="34" charset="0"/>
              <a:cs typeface="Arial" panose="020B0604020202020204" pitchFamily="34" charset="0"/>
            </a:endParaRPr>
          </a:p>
          <a:p>
            <a:pPr marL="452438" lvl="1" indent="-452438" algn="just">
              <a:buFont typeface="Wingdings" panose="05000000000000000000" pitchFamily="2" charset="2"/>
              <a:buChar char="v"/>
              <a:tabLst>
                <a:tab pos="452438" algn="l"/>
              </a:tabLst>
            </a:pPr>
            <a:r>
              <a:rPr lang="en-IN" sz="2100" b="1" dirty="0">
                <a:latin typeface="Arial" panose="020B0604020202020204" pitchFamily="34" charset="0"/>
                <a:cs typeface="Arial" panose="020B0604020202020204" pitchFamily="34" charset="0"/>
              </a:rPr>
              <a:t>Strategic Outsourcing:</a:t>
            </a:r>
            <a:r>
              <a:rPr lang="en-IN" sz="2100" dirty="0">
                <a:latin typeface="Arial" panose="020B0604020202020204" pitchFamily="34" charset="0"/>
                <a:cs typeface="Arial" panose="020B0604020202020204" pitchFamily="34" charset="0"/>
              </a:rPr>
              <a:t> Companies should "do what they do best and outsource the rest." Outsourcing allows firms to leverage a vendor's expertise and economies of scale.</a:t>
            </a:r>
          </a:p>
          <a:p>
            <a:pPr marL="452438" lvl="1" indent="-452438" algn="just">
              <a:buFont typeface="Wingdings" panose="05000000000000000000" pitchFamily="2" charset="2"/>
              <a:buChar char="v"/>
            </a:pPr>
            <a:r>
              <a:rPr lang="en-IN" sz="2100" b="1" dirty="0">
                <a:latin typeface="Arial" panose="020B0604020202020204" pitchFamily="34" charset="0"/>
                <a:cs typeface="Arial" panose="020B0604020202020204" pitchFamily="34" charset="0"/>
              </a:rPr>
              <a:t>Managing Risks:</a:t>
            </a:r>
            <a:r>
              <a:rPr lang="en-IN" sz="2100" dirty="0">
                <a:latin typeface="Arial" panose="020B0604020202020204" pitchFamily="34" charset="0"/>
                <a:cs typeface="Arial" panose="020B0604020202020204" pitchFamily="34" charset="0"/>
              </a:rPr>
              <a:t> </a:t>
            </a:r>
            <a:r>
              <a:rPr lang="en-IN" sz="2100" b="1" dirty="0">
                <a:latin typeface="Arial" panose="020B0604020202020204" pitchFamily="34" charset="0"/>
                <a:cs typeface="Arial" panose="020B0604020202020204" pitchFamily="34" charset="0"/>
              </a:rPr>
              <a:t>Loss of control </a:t>
            </a:r>
            <a:r>
              <a:rPr lang="en-IN" sz="2100" dirty="0">
                <a:latin typeface="Arial" panose="020B0604020202020204" pitchFamily="34" charset="0"/>
                <a:cs typeface="Arial" panose="020B0604020202020204" pitchFamily="34" charset="0"/>
              </a:rPr>
              <a:t>over outcomes and </a:t>
            </a:r>
            <a:r>
              <a:rPr lang="en-IN" sz="2100" b="1" dirty="0">
                <a:latin typeface="Arial" panose="020B0604020202020204" pitchFamily="34" charset="0"/>
                <a:cs typeface="Arial" panose="020B0604020202020204" pitchFamily="34" charset="0"/>
              </a:rPr>
              <a:t>dependency risk</a:t>
            </a:r>
            <a:r>
              <a:rPr lang="en-IN" sz="2100" dirty="0">
                <a:latin typeface="Arial" panose="020B0604020202020204" pitchFamily="34" charset="0"/>
                <a:cs typeface="Arial" panose="020B0604020202020204" pitchFamily="34" charset="0"/>
              </a:rPr>
              <a:t>, where a firm becomes so tied to a vendor that its future strategic direction is constrained.</a:t>
            </a:r>
          </a:p>
        </p:txBody>
      </p:sp>
    </p:spTree>
    <p:extLst>
      <p:ext uri="{BB962C8B-B14F-4D97-AF65-F5344CB8AC3E}">
        <p14:creationId xmlns:p14="http://schemas.microsoft.com/office/powerpoint/2010/main" val="4625961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850F3-A0A4-DB5D-062B-21AC3BFF47D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A8F448E-E126-D507-1B90-363D99152280}"/>
              </a:ext>
            </a:extLst>
          </p:cNvPr>
          <p:cNvSpPr/>
          <p:nvPr/>
        </p:nvSpPr>
        <p:spPr>
          <a:xfrm>
            <a:off x="456714" y="0"/>
            <a:ext cx="11602608"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BUILDING BLOCKS OF SUPPLY CHAIN STRATEGY</a:t>
            </a:r>
            <a:endParaRPr lang="en-IN" sz="19900" b="1" dirty="0">
              <a:solidFill>
                <a:schemeClr val="accent4">
                  <a:lumMod val="20000"/>
                  <a:lumOff val="80000"/>
                </a:schemeClr>
              </a:solidFill>
            </a:endParaRPr>
          </a:p>
        </p:txBody>
      </p:sp>
      <p:sp>
        <p:nvSpPr>
          <p:cNvPr id="5" name="TextBox 4">
            <a:extLst>
              <a:ext uri="{FF2B5EF4-FFF2-40B4-BE49-F238E27FC236}">
                <a16:creationId xmlns:a16="http://schemas.microsoft.com/office/drawing/2014/main" id="{9F138491-144F-F06F-5281-E3B1D09FB866}"/>
              </a:ext>
            </a:extLst>
          </p:cNvPr>
          <p:cNvSpPr txBox="1"/>
          <p:nvPr/>
        </p:nvSpPr>
        <p:spPr>
          <a:xfrm>
            <a:off x="456714" y="945932"/>
            <a:ext cx="11602608" cy="4585871"/>
          </a:xfrm>
          <a:prstGeom prst="rect">
            <a:avLst/>
          </a:prstGeom>
          <a:solidFill>
            <a:schemeClr val="accent6">
              <a:lumMod val="20000"/>
              <a:lumOff val="80000"/>
            </a:schemeClr>
          </a:solidFill>
        </p:spPr>
        <p:txBody>
          <a:bodyPr wrap="square">
            <a:spAutoFit/>
          </a:bodyPr>
          <a:lstStyle/>
          <a:p>
            <a:pPr algn="just"/>
            <a:r>
              <a:rPr lang="en-IN" sz="3200" b="1" kern="100" dirty="0">
                <a:effectLst/>
                <a:latin typeface="Arial" panose="020B0604020202020204" pitchFamily="34" charset="0"/>
                <a:ea typeface="Aptos" panose="020B0004020202020204" pitchFamily="34" charset="0"/>
                <a:cs typeface="Arial" panose="020B0604020202020204" pitchFamily="34" charset="0"/>
              </a:rPr>
              <a:t>Distribution Strategy</a:t>
            </a:r>
            <a:endParaRPr lang="en-IN" sz="3200" kern="100" dirty="0">
              <a:effectLst/>
              <a:latin typeface="Arial" panose="020B0604020202020204" pitchFamily="34" charset="0"/>
              <a:ea typeface="Aptos" panose="020B0004020202020204" pitchFamily="34" charset="0"/>
              <a:cs typeface="Arial" panose="020B0604020202020204" pitchFamily="34" charset="0"/>
            </a:endParaRPr>
          </a:p>
          <a:p>
            <a:pPr marL="342900" indent="-342900" algn="just">
              <a:buFont typeface="Wingdings" panose="05000000000000000000" pitchFamily="2" charset="2"/>
              <a:buChar char="v"/>
            </a:pPr>
            <a:r>
              <a:rPr lang="en-US" sz="2800" dirty="0">
                <a:latin typeface="Arial" panose="020B0604020202020204" pitchFamily="34" charset="0"/>
                <a:cs typeface="Arial" panose="020B0604020202020204" pitchFamily="34" charset="0"/>
              </a:rPr>
              <a:t>Defines the long-range plan for how a company will deliver its products and services to its customers</a:t>
            </a:r>
            <a:r>
              <a:rPr lang="en-IN" sz="2800" dirty="0">
                <a:latin typeface="Arial" panose="020B0604020202020204" pitchFamily="34" charset="0"/>
                <a:cs typeface="Arial" panose="020B0604020202020204" pitchFamily="34" charset="0"/>
              </a:rPr>
              <a:t>. </a:t>
            </a:r>
          </a:p>
          <a:p>
            <a:pPr marL="342900" indent="-342900" algn="just">
              <a:buFont typeface="Wingdings" panose="05000000000000000000" pitchFamily="2" charset="2"/>
              <a:buChar char="v"/>
            </a:pPr>
            <a:r>
              <a:rPr lang="en-US" sz="2800" b="1" dirty="0">
                <a:latin typeface="Arial" panose="020B0604020202020204" pitchFamily="34" charset="0"/>
                <a:cs typeface="Arial" panose="020B0604020202020204" pitchFamily="34" charset="0"/>
              </a:rPr>
              <a:t>Key components and strategic considerations of a distribution strategy </a:t>
            </a:r>
          </a:p>
          <a:p>
            <a:pPr marL="800100" lvl="1" indent="-342900" algn="just">
              <a:buFont typeface="Wingdings" panose="05000000000000000000" pitchFamily="2" charset="2"/>
              <a:buChar char="v"/>
            </a:pPr>
            <a:r>
              <a:rPr lang="en-IN" sz="3200" b="1" dirty="0"/>
              <a:t>Channel Selection: Direct vs. Indirect</a:t>
            </a:r>
          </a:p>
          <a:p>
            <a:pPr marL="892175" lvl="2" indent="-268288" algn="just">
              <a:buFont typeface="Wingdings" panose="05000000000000000000" pitchFamily="2" charset="2"/>
              <a:buChar char="v"/>
            </a:pPr>
            <a:r>
              <a:rPr lang="en-US" sz="2800" b="1" dirty="0"/>
              <a:t>Channel Intermediaries:</a:t>
            </a:r>
            <a:r>
              <a:rPr lang="en-US" sz="2800" dirty="0"/>
              <a:t> Selling through third parties such as </a:t>
            </a:r>
            <a:r>
              <a:rPr lang="en-US" sz="2800" b="1" dirty="0"/>
              <a:t>distributors or retailers</a:t>
            </a:r>
          </a:p>
          <a:p>
            <a:pPr marL="892175" lvl="2" indent="-268288" algn="just">
              <a:buFont typeface="Wingdings" panose="05000000000000000000" pitchFamily="2" charset="2"/>
              <a:buChar char="v"/>
            </a:pPr>
            <a:r>
              <a:rPr lang="en-US" sz="2800" b="1" dirty="0"/>
              <a:t>Direct-to-Customer:</a:t>
            </a:r>
            <a:r>
              <a:rPr lang="en-US" sz="2800" dirty="0"/>
              <a:t> Reaching consumer directly, often through a </a:t>
            </a:r>
            <a:r>
              <a:rPr lang="en-US" sz="2800" b="1" dirty="0"/>
              <a:t>direct sales force or the Internet</a:t>
            </a:r>
            <a:endParaRPr lang="en-IN" sz="3600" b="1" dirty="0"/>
          </a:p>
        </p:txBody>
      </p:sp>
    </p:spTree>
    <p:extLst>
      <p:ext uri="{BB962C8B-B14F-4D97-AF65-F5344CB8AC3E}">
        <p14:creationId xmlns:p14="http://schemas.microsoft.com/office/powerpoint/2010/main" val="3740857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84FD7-0F8B-B01A-B9AD-0FF28F5614F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0C674CA-D9FE-D14F-8A37-CA32DFEAE1AD}"/>
              </a:ext>
            </a:extLst>
          </p:cNvPr>
          <p:cNvSpPr/>
          <p:nvPr/>
        </p:nvSpPr>
        <p:spPr>
          <a:xfrm>
            <a:off x="456714" y="0"/>
            <a:ext cx="11602608"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BUILDING BLOCKS OF SUPPLY CHAIN STRATEGY</a:t>
            </a:r>
            <a:endParaRPr lang="en-IN" sz="19900" b="1" dirty="0">
              <a:solidFill>
                <a:schemeClr val="accent4">
                  <a:lumMod val="20000"/>
                  <a:lumOff val="80000"/>
                </a:schemeClr>
              </a:solidFill>
            </a:endParaRPr>
          </a:p>
        </p:txBody>
      </p:sp>
      <p:sp>
        <p:nvSpPr>
          <p:cNvPr id="5" name="TextBox 4">
            <a:extLst>
              <a:ext uri="{FF2B5EF4-FFF2-40B4-BE49-F238E27FC236}">
                <a16:creationId xmlns:a16="http://schemas.microsoft.com/office/drawing/2014/main" id="{E0E211B5-66B6-E927-C4DB-D165E80B008D}"/>
              </a:ext>
            </a:extLst>
          </p:cNvPr>
          <p:cNvSpPr txBox="1"/>
          <p:nvPr/>
        </p:nvSpPr>
        <p:spPr>
          <a:xfrm>
            <a:off x="456713" y="945932"/>
            <a:ext cx="11462759" cy="5693866"/>
          </a:xfrm>
          <a:prstGeom prst="rect">
            <a:avLst/>
          </a:prstGeom>
          <a:solidFill>
            <a:schemeClr val="accent6">
              <a:lumMod val="20000"/>
              <a:lumOff val="80000"/>
            </a:schemeClr>
          </a:solidFill>
        </p:spPr>
        <p:txBody>
          <a:bodyPr wrap="square">
            <a:spAutoFit/>
          </a:bodyPr>
          <a:lstStyle/>
          <a:p>
            <a:pPr algn="just"/>
            <a:r>
              <a:rPr lang="en-IN" sz="2800" b="1" kern="100" dirty="0">
                <a:effectLst/>
                <a:latin typeface="Arial" panose="020B0604020202020204" pitchFamily="34" charset="0"/>
                <a:ea typeface="Aptos" panose="020B0004020202020204" pitchFamily="34" charset="0"/>
                <a:cs typeface="Arial" panose="020B0604020202020204" pitchFamily="34" charset="0"/>
              </a:rPr>
              <a:t>Distribution Strategy</a:t>
            </a:r>
            <a:endParaRPr lang="en-IN" sz="2800" kern="100" dirty="0">
              <a:effectLst/>
              <a:latin typeface="Arial" panose="020B0604020202020204" pitchFamily="34" charset="0"/>
              <a:ea typeface="Aptos" panose="020B0004020202020204" pitchFamily="34" charset="0"/>
              <a:cs typeface="Arial" panose="020B0604020202020204" pitchFamily="34" charset="0"/>
            </a:endParaRPr>
          </a:p>
          <a:p>
            <a:pPr marL="452438" lvl="1" indent="-452438" algn="just">
              <a:buFont typeface="Wingdings" panose="05000000000000000000" pitchFamily="2" charset="2"/>
              <a:buChar char="v"/>
            </a:pPr>
            <a:r>
              <a:rPr lang="en-IN" sz="2800" b="1" dirty="0"/>
              <a:t>Market Segmentation</a:t>
            </a:r>
          </a:p>
          <a:p>
            <a:pPr marL="623888" lvl="2" indent="-355600" algn="just">
              <a:buFont typeface="Wingdings" panose="05000000000000000000" pitchFamily="2" charset="2"/>
              <a:buChar char="v"/>
            </a:pPr>
            <a:r>
              <a:rPr lang="en-US" sz="2100" dirty="0"/>
              <a:t>Selection of distribution strategy is not a "one-size-fits-all" decision and requires </a:t>
            </a:r>
            <a:r>
              <a:rPr lang="en-US" sz="2100" b="1" dirty="0"/>
              <a:t>market segmentation</a:t>
            </a:r>
            <a:r>
              <a:rPr lang="en-US" sz="2100" dirty="0"/>
              <a:t>, which involves</a:t>
            </a:r>
          </a:p>
          <a:p>
            <a:pPr marL="892175" lvl="3" indent="-354013" algn="just">
              <a:buFont typeface="Wingdings" panose="05000000000000000000" pitchFamily="2" charset="2"/>
              <a:buChar char="v"/>
            </a:pPr>
            <a:r>
              <a:rPr lang="en-US" sz="2100" b="1" dirty="0"/>
              <a:t>Analyzing Perceived Value:</a:t>
            </a:r>
            <a:r>
              <a:rPr lang="en-US" sz="2100" dirty="0"/>
              <a:t> Understanding what different customer groups value in the delivery process</a:t>
            </a:r>
          </a:p>
          <a:p>
            <a:pPr marL="892175" lvl="3" indent="-354013" algn="just">
              <a:buFont typeface="Wingdings" panose="05000000000000000000" pitchFamily="2" charset="2"/>
              <a:buChar char="v"/>
            </a:pPr>
            <a:r>
              <a:rPr lang="en-US" sz="2100" b="1" dirty="0"/>
              <a:t>Assessing Profitability and Competition:</a:t>
            </a:r>
            <a:r>
              <a:rPr lang="en-US" sz="2100" dirty="0"/>
              <a:t> Evaluating which segments are most lucrative and how competitors serve them</a:t>
            </a:r>
          </a:p>
          <a:p>
            <a:pPr marL="892175" lvl="3" indent="-354013" algn="just">
              <a:buFont typeface="Wingdings" panose="05000000000000000000" pitchFamily="2" charset="2"/>
              <a:buChar char="v"/>
            </a:pPr>
            <a:r>
              <a:rPr lang="en-US" sz="2100" b="1" dirty="0"/>
              <a:t>Prioritizing Resources:</a:t>
            </a:r>
            <a:r>
              <a:rPr lang="en-US" sz="2100" dirty="0"/>
              <a:t> Determining which segments should receive priority in instances of </a:t>
            </a:r>
            <a:r>
              <a:rPr lang="en-US" sz="2100" b="1" dirty="0"/>
              <a:t>product shortages</a:t>
            </a:r>
            <a:endParaRPr lang="en-IN" sz="2100" b="1" dirty="0"/>
          </a:p>
          <a:p>
            <a:pPr marL="452438" lvl="1" indent="-366713" algn="just">
              <a:buFont typeface="Wingdings" panose="05000000000000000000" pitchFamily="2" charset="2"/>
              <a:buChar char="v"/>
            </a:pPr>
            <a:r>
              <a:rPr lang="en-IN" sz="2800" b="1" dirty="0"/>
              <a:t>Hybrid Distribution Models</a:t>
            </a:r>
          </a:p>
          <a:p>
            <a:pPr marL="892175" lvl="2" indent="-268288" algn="just">
              <a:buFont typeface="Wingdings" panose="05000000000000000000" pitchFamily="2" charset="2"/>
              <a:buChar char="v"/>
            </a:pPr>
            <a:r>
              <a:rPr lang="en-US" sz="2100" dirty="0"/>
              <a:t>One channel uses </a:t>
            </a:r>
            <a:r>
              <a:rPr lang="en-US" sz="2100" b="1" dirty="0"/>
              <a:t>traditional retail distributors</a:t>
            </a:r>
            <a:r>
              <a:rPr lang="en-US" sz="2100" dirty="0"/>
              <a:t> to reach individual shoppers in stores</a:t>
            </a:r>
          </a:p>
          <a:p>
            <a:pPr marL="892175" lvl="2" indent="-268288" algn="just">
              <a:buFont typeface="Wingdings" panose="05000000000000000000" pitchFamily="2" charset="2"/>
              <a:buChar char="v"/>
            </a:pPr>
            <a:r>
              <a:rPr lang="en-US" sz="2100" dirty="0"/>
              <a:t>A second channel uses a </a:t>
            </a:r>
            <a:r>
              <a:rPr lang="en-US" sz="2100" b="1" dirty="0"/>
              <a:t>direct-to-customer</a:t>
            </a:r>
            <a:r>
              <a:rPr lang="en-US" sz="2100" dirty="0"/>
              <a:t> approach for home or office delivery and replenishment</a:t>
            </a:r>
            <a:endParaRPr lang="en-IN" sz="2100" b="1" dirty="0"/>
          </a:p>
          <a:p>
            <a:pPr marL="623888" lvl="1" indent="-441325" algn="just">
              <a:buFont typeface="Wingdings" panose="05000000000000000000" pitchFamily="2" charset="2"/>
              <a:buChar char="v"/>
            </a:pPr>
            <a:r>
              <a:rPr lang="en-IN" sz="2800" b="1" dirty="0"/>
              <a:t>Strategic Alignment and Integration- </a:t>
            </a:r>
            <a:r>
              <a:rPr lang="en-US" sz="2100" dirty="0"/>
              <a:t>Decisions regarding distribution must be synchronized with company’s competitive priorities (cost, time, innovation, quality, and service)</a:t>
            </a:r>
            <a:endParaRPr lang="en-IN" sz="2100" dirty="0"/>
          </a:p>
        </p:txBody>
      </p:sp>
    </p:spTree>
    <p:extLst>
      <p:ext uri="{BB962C8B-B14F-4D97-AF65-F5344CB8AC3E}">
        <p14:creationId xmlns:p14="http://schemas.microsoft.com/office/powerpoint/2010/main" val="37241275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F72E3-5ED9-0572-1498-CE42BFE751B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9B37C8F-5540-5866-0F08-E1715EFFD3C7}"/>
              </a:ext>
            </a:extLst>
          </p:cNvPr>
          <p:cNvSpPr/>
          <p:nvPr/>
        </p:nvSpPr>
        <p:spPr>
          <a:xfrm>
            <a:off x="456714" y="0"/>
            <a:ext cx="11602608"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BUILDING BLOCKS OF SUPPLY CHAIN STRATEGY</a:t>
            </a:r>
            <a:endParaRPr lang="en-IN" sz="19900" b="1" dirty="0">
              <a:solidFill>
                <a:schemeClr val="accent4">
                  <a:lumMod val="20000"/>
                  <a:lumOff val="80000"/>
                </a:schemeClr>
              </a:solidFill>
            </a:endParaRPr>
          </a:p>
        </p:txBody>
      </p:sp>
      <p:sp>
        <p:nvSpPr>
          <p:cNvPr id="4" name="TextBox 3">
            <a:extLst>
              <a:ext uri="{FF2B5EF4-FFF2-40B4-BE49-F238E27FC236}">
                <a16:creationId xmlns:a16="http://schemas.microsoft.com/office/drawing/2014/main" id="{612A31F0-B1C0-2296-D879-6B90823D70C4}"/>
              </a:ext>
            </a:extLst>
          </p:cNvPr>
          <p:cNvSpPr txBox="1"/>
          <p:nvPr/>
        </p:nvSpPr>
        <p:spPr>
          <a:xfrm>
            <a:off x="567223" y="870626"/>
            <a:ext cx="6162528" cy="4924425"/>
          </a:xfrm>
          <a:prstGeom prst="rect">
            <a:avLst/>
          </a:prstGeom>
          <a:solidFill>
            <a:schemeClr val="accent4">
              <a:lumMod val="20000"/>
              <a:lumOff val="80000"/>
            </a:schemeClr>
          </a:solidFill>
        </p:spPr>
        <p:txBody>
          <a:bodyPr wrap="square">
            <a:spAutoFit/>
          </a:bodyPr>
          <a:lstStyle/>
          <a:p>
            <a:pPr algn="just"/>
            <a:r>
              <a:rPr lang="en-IN" sz="2800" b="1" kern="100" dirty="0">
                <a:latin typeface="Arial" panose="020B0604020202020204" pitchFamily="34" charset="0"/>
                <a:ea typeface="Aptos" panose="020B0004020202020204" pitchFamily="34" charset="0"/>
                <a:cs typeface="Arial" panose="020B0604020202020204" pitchFamily="34" charset="0"/>
              </a:rPr>
              <a:t>Customer Service Strategy</a:t>
            </a:r>
            <a:endParaRPr lang="en-IN" sz="2800" kern="100" dirty="0">
              <a:latin typeface="Arial" panose="020B0604020202020204" pitchFamily="34" charset="0"/>
              <a:ea typeface="Aptos" panose="020B0004020202020204" pitchFamily="34" charset="0"/>
              <a:cs typeface="Arial" panose="020B0604020202020204" pitchFamily="34" charset="0"/>
            </a:endParaRPr>
          </a:p>
          <a:p>
            <a:pPr marL="342900" indent="-342900" algn="just">
              <a:buFont typeface="Wingdings" panose="05000000000000000000" pitchFamily="2" charset="2"/>
              <a:buChar char="v"/>
            </a:pPr>
            <a:r>
              <a:rPr lang="en-US" sz="2200" dirty="0">
                <a:latin typeface="Arial" panose="020B0604020202020204" pitchFamily="34" charset="0"/>
                <a:cs typeface="Arial" panose="020B0604020202020204" pitchFamily="34" charset="0"/>
              </a:rPr>
              <a:t>This focuses on </a:t>
            </a:r>
            <a:r>
              <a:rPr lang="en-US" sz="2200" b="1" dirty="0">
                <a:latin typeface="Arial" panose="020B0604020202020204" pitchFamily="34" charset="0"/>
                <a:cs typeface="Arial" panose="020B0604020202020204" pitchFamily="34" charset="0"/>
              </a:rPr>
              <a:t>bringing value to the customer</a:t>
            </a:r>
            <a:r>
              <a:rPr lang="en-IN" sz="2200" b="1" dirty="0">
                <a:latin typeface="Arial" panose="020B0604020202020204" pitchFamily="34" charset="0"/>
                <a:cs typeface="Arial" panose="020B0604020202020204" pitchFamily="34" charset="0"/>
              </a:rPr>
              <a:t>.</a:t>
            </a:r>
          </a:p>
          <a:p>
            <a:pPr marL="342900" indent="-342900" algn="just">
              <a:buFont typeface="Wingdings" panose="05000000000000000000" pitchFamily="2" charset="2"/>
              <a:buChar char="v"/>
            </a:pPr>
            <a:r>
              <a:rPr lang="en-US" sz="2200" dirty="0">
                <a:latin typeface="Arial" panose="020B0604020202020204" pitchFamily="34" charset="0"/>
                <a:cs typeface="Arial" panose="020B0604020202020204" pitchFamily="34" charset="0"/>
              </a:rPr>
              <a:t>This strategy is primarily developed based on the </a:t>
            </a:r>
            <a:r>
              <a:rPr lang="en-US" sz="2200" b="1" dirty="0">
                <a:latin typeface="Arial" panose="020B0604020202020204" pitchFamily="34" charset="0"/>
                <a:cs typeface="Arial" panose="020B0604020202020204" pitchFamily="34" charset="0"/>
              </a:rPr>
              <a:t>overall volume and profitability of different market segments</a:t>
            </a:r>
            <a:r>
              <a:rPr lang="en-IN" sz="2200" b="1" dirty="0">
                <a:latin typeface="Arial" panose="020B0604020202020204" pitchFamily="34" charset="0"/>
                <a:cs typeface="Arial" panose="020B0604020202020204" pitchFamily="34" charset="0"/>
              </a:rPr>
              <a:t> </a:t>
            </a:r>
          </a:p>
          <a:p>
            <a:pPr marL="342900" indent="-342900" algn="just">
              <a:buFont typeface="Wingdings" panose="05000000000000000000" pitchFamily="2" charset="2"/>
              <a:buChar char="v"/>
            </a:pPr>
            <a:r>
              <a:rPr lang="en-US" sz="2200" dirty="0">
                <a:latin typeface="Arial" panose="020B0604020202020204" pitchFamily="34" charset="0"/>
                <a:cs typeface="Arial" panose="020B0604020202020204" pitchFamily="34" charset="0"/>
              </a:rPr>
              <a:t>To effectively manage resources, companies often divide their market into four quadrants: </a:t>
            </a:r>
            <a:r>
              <a:rPr lang="en-US" sz="2200" b="1" dirty="0">
                <a:latin typeface="Arial" panose="020B0604020202020204" pitchFamily="34" charset="0"/>
                <a:cs typeface="Arial" panose="020B0604020202020204" pitchFamily="34" charset="0"/>
              </a:rPr>
              <a:t>high volume/high profit</a:t>
            </a:r>
            <a:r>
              <a:rPr lang="en-US" sz="2200" dirty="0">
                <a:latin typeface="Arial" panose="020B0604020202020204" pitchFamily="34" charset="0"/>
                <a:cs typeface="Arial" panose="020B0604020202020204" pitchFamily="34" charset="0"/>
              </a:rPr>
              <a:t>, </a:t>
            </a:r>
            <a:r>
              <a:rPr lang="en-US" sz="2200" b="1" dirty="0">
                <a:latin typeface="Arial" panose="020B0604020202020204" pitchFamily="34" charset="0"/>
                <a:cs typeface="Arial" panose="020B0604020202020204" pitchFamily="34" charset="0"/>
              </a:rPr>
              <a:t>low volume/high profit</a:t>
            </a:r>
            <a:r>
              <a:rPr lang="en-US" sz="2200" dirty="0">
                <a:latin typeface="Arial" panose="020B0604020202020204" pitchFamily="34" charset="0"/>
                <a:cs typeface="Arial" panose="020B0604020202020204" pitchFamily="34" charset="0"/>
              </a:rPr>
              <a:t>, </a:t>
            </a:r>
            <a:r>
              <a:rPr lang="en-US" sz="2200" b="1" dirty="0">
                <a:latin typeface="Arial" panose="020B0604020202020204" pitchFamily="34" charset="0"/>
                <a:cs typeface="Arial" panose="020B0604020202020204" pitchFamily="34" charset="0"/>
              </a:rPr>
              <a:t>high volume/low profit</a:t>
            </a:r>
            <a:r>
              <a:rPr lang="en-US" sz="2200" dirty="0">
                <a:latin typeface="Arial" panose="020B0604020202020204" pitchFamily="34" charset="0"/>
                <a:cs typeface="Arial" panose="020B0604020202020204" pitchFamily="34" charset="0"/>
              </a:rPr>
              <a:t>, and </a:t>
            </a:r>
            <a:r>
              <a:rPr lang="en-US" sz="2200" b="1" dirty="0">
                <a:latin typeface="Arial" panose="020B0604020202020204" pitchFamily="34" charset="0"/>
                <a:cs typeface="Arial" panose="020B0604020202020204" pitchFamily="34" charset="0"/>
              </a:rPr>
              <a:t>low volume/low profit</a:t>
            </a:r>
          </a:p>
          <a:p>
            <a:pPr marL="342900" indent="-342900" algn="just">
              <a:buFont typeface="Wingdings" panose="05000000000000000000" pitchFamily="2" charset="2"/>
              <a:buChar char="v"/>
            </a:pPr>
            <a:r>
              <a:rPr lang="en-US" sz="2200" dirty="0">
                <a:latin typeface="Arial" panose="020B0604020202020204" pitchFamily="34" charset="0"/>
                <a:cs typeface="Arial" panose="020B0604020202020204" pitchFamily="34" charset="0"/>
              </a:rPr>
              <a:t>Strategic priority is given to high volume and high profitability segment, as it represents the company's most valuable customers</a:t>
            </a:r>
            <a:r>
              <a:rPr lang="en-IN" sz="2200" dirty="0">
                <a:latin typeface="Arial" panose="020B0604020202020204" pitchFamily="34" charset="0"/>
                <a:cs typeface="Arial" panose="020B0604020202020204" pitchFamily="34" charset="0"/>
              </a:rPr>
              <a:t>. </a:t>
            </a:r>
          </a:p>
        </p:txBody>
      </p:sp>
      <p:pic>
        <p:nvPicPr>
          <p:cNvPr id="6" name="Picture 5">
            <a:extLst>
              <a:ext uri="{FF2B5EF4-FFF2-40B4-BE49-F238E27FC236}">
                <a16:creationId xmlns:a16="http://schemas.microsoft.com/office/drawing/2014/main" id="{7AB704D6-96C2-B305-7214-FD3AA61BD086}"/>
              </a:ext>
            </a:extLst>
          </p:cNvPr>
          <p:cNvPicPr>
            <a:picLocks noChangeAspect="1"/>
          </p:cNvPicPr>
          <p:nvPr/>
        </p:nvPicPr>
        <p:blipFill>
          <a:blip r:embed="rId3"/>
          <a:stretch>
            <a:fillRect/>
          </a:stretch>
        </p:blipFill>
        <p:spPr>
          <a:xfrm>
            <a:off x="6740509" y="1633974"/>
            <a:ext cx="5462249" cy="4278094"/>
          </a:xfrm>
          <a:prstGeom prst="rect">
            <a:avLst/>
          </a:prstGeom>
        </p:spPr>
      </p:pic>
      <p:sp>
        <p:nvSpPr>
          <p:cNvPr id="8" name="TextBox 7">
            <a:extLst>
              <a:ext uri="{FF2B5EF4-FFF2-40B4-BE49-F238E27FC236}">
                <a16:creationId xmlns:a16="http://schemas.microsoft.com/office/drawing/2014/main" id="{08A7614A-26BE-E1FC-704A-CB98F912C618}"/>
              </a:ext>
            </a:extLst>
          </p:cNvPr>
          <p:cNvSpPr txBox="1"/>
          <p:nvPr/>
        </p:nvSpPr>
        <p:spPr>
          <a:xfrm>
            <a:off x="6829502" y="981205"/>
            <a:ext cx="5229820" cy="830997"/>
          </a:xfrm>
          <a:prstGeom prst="rect">
            <a:avLst/>
          </a:prstGeom>
          <a:solidFill>
            <a:schemeClr val="accent5">
              <a:lumMod val="20000"/>
              <a:lumOff val="80000"/>
            </a:schemeClr>
          </a:solidFill>
        </p:spPr>
        <p:txBody>
          <a:bodyPr wrap="square">
            <a:spAutoFit/>
          </a:bodyPr>
          <a:lstStyle/>
          <a:p>
            <a:pPr algn="ctr"/>
            <a:r>
              <a:rPr lang="en-IN" sz="2400" b="0" i="0" u="none" strike="noStrike" baseline="0" dirty="0">
                <a:latin typeface="Arial" panose="020B0604020202020204" pitchFamily="34" charset="0"/>
                <a:cs typeface="Arial" panose="020B0604020202020204" pitchFamily="34" charset="0"/>
              </a:rPr>
              <a:t>Market segmentation based on volume and profitability.</a:t>
            </a:r>
            <a:endParaRPr lang="en-IN" sz="24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864A1558-D726-C033-635A-E68A1450D419}"/>
              </a:ext>
            </a:extLst>
          </p:cNvPr>
          <p:cNvSpPr txBox="1"/>
          <p:nvPr/>
        </p:nvSpPr>
        <p:spPr>
          <a:xfrm>
            <a:off x="562691" y="5794813"/>
            <a:ext cx="11410570" cy="830997"/>
          </a:xfrm>
          <a:prstGeom prst="rect">
            <a:avLst/>
          </a:prstGeom>
          <a:solidFill>
            <a:schemeClr val="accent4">
              <a:lumMod val="20000"/>
              <a:lumOff val="80000"/>
            </a:schemeClr>
          </a:solidFill>
        </p:spPr>
        <p:txBody>
          <a:bodyPr wrap="square">
            <a:spAutoFit/>
          </a:bodyPr>
          <a:lstStyle/>
          <a:p>
            <a:pPr marL="342900" indent="-342900" algn="just">
              <a:buFont typeface="Wingdings" panose="05000000000000000000" pitchFamily="2" charset="2"/>
              <a:buChar char="v"/>
            </a:pPr>
            <a:r>
              <a:rPr lang="en-IN" sz="2200" dirty="0">
                <a:latin typeface="Arial" panose="020B0604020202020204" pitchFamily="34" charset="0"/>
                <a:cs typeface="Arial" panose="020B0604020202020204" pitchFamily="34" charset="0"/>
              </a:rPr>
              <a:t>Not all customers require the same service; for instance, high-service levels are costly and should not be wasted on segments that do not value them</a:t>
            </a:r>
            <a:r>
              <a:rPr lang="en-IN" sz="2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55432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94325-91A7-53F2-BAE2-AF20E7E670E6}"/>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993C46C0-B43E-C913-CEB0-05DA60381A9F}"/>
              </a:ext>
            </a:extLst>
          </p:cNvPr>
          <p:cNvSpPr/>
          <p:nvPr/>
        </p:nvSpPr>
        <p:spPr>
          <a:xfrm>
            <a:off x="2821858" y="2580599"/>
            <a:ext cx="6548284" cy="169680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effectLst>
                  <a:outerShdw blurRad="38100" dist="38100" dir="2700000" algn="tl">
                    <a:srgbClr val="000000">
                      <a:alpha val="43137"/>
                    </a:srgbClr>
                  </a:outerShdw>
                </a:effectLst>
                <a:latin typeface="Arial Black" panose="020B0A04020102020204" pitchFamily="34" charset="0"/>
                <a:cs typeface="Aharoni" panose="02010803020104030203" pitchFamily="2" charset="-79"/>
              </a:rPr>
              <a:t>LECTURE 3</a:t>
            </a:r>
          </a:p>
        </p:txBody>
      </p:sp>
    </p:spTree>
    <p:extLst>
      <p:ext uri="{BB962C8B-B14F-4D97-AF65-F5344CB8AC3E}">
        <p14:creationId xmlns:p14="http://schemas.microsoft.com/office/powerpoint/2010/main" val="13251385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25666-42DA-4003-B917-9BB7EA3D7C1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4D48555-F902-6696-A823-B8FF80B96F1A}"/>
              </a:ext>
            </a:extLst>
          </p:cNvPr>
          <p:cNvSpPr/>
          <p:nvPr/>
        </p:nvSpPr>
        <p:spPr>
          <a:xfrm>
            <a:off x="456714" y="0"/>
            <a:ext cx="11602608"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t>SUPPLY CHAIN STRATEGIC DESIGN</a:t>
            </a:r>
            <a:endParaRPr lang="en-IN" sz="85700" b="1" dirty="0">
              <a:solidFill>
                <a:schemeClr val="accent4">
                  <a:lumMod val="20000"/>
                  <a:lumOff val="80000"/>
                </a:schemeClr>
              </a:solidFill>
            </a:endParaRPr>
          </a:p>
        </p:txBody>
      </p:sp>
      <p:sp>
        <p:nvSpPr>
          <p:cNvPr id="4" name="TextBox 3">
            <a:extLst>
              <a:ext uri="{FF2B5EF4-FFF2-40B4-BE49-F238E27FC236}">
                <a16:creationId xmlns:a16="http://schemas.microsoft.com/office/drawing/2014/main" id="{2285599E-85F1-357A-8CAB-9F0013B1C8D9}"/>
              </a:ext>
            </a:extLst>
          </p:cNvPr>
          <p:cNvSpPr txBox="1"/>
          <p:nvPr/>
        </p:nvSpPr>
        <p:spPr>
          <a:xfrm>
            <a:off x="504933" y="952982"/>
            <a:ext cx="11353425" cy="1138773"/>
          </a:xfrm>
          <a:prstGeom prst="rect">
            <a:avLst/>
          </a:prstGeom>
          <a:solidFill>
            <a:schemeClr val="accent4">
              <a:lumMod val="20000"/>
              <a:lumOff val="80000"/>
            </a:schemeClr>
          </a:solidFill>
        </p:spPr>
        <p:txBody>
          <a:bodyPr wrap="square">
            <a:spAutoFit/>
          </a:bodyPr>
          <a:lstStyle/>
          <a:p>
            <a:pPr marL="457200" indent="-457200" algn="just">
              <a:buFont typeface="Wingdings" panose="05000000000000000000" pitchFamily="2" charset="2"/>
              <a:buChar char="v"/>
            </a:pPr>
            <a:r>
              <a:rPr lang="en-US" sz="2200" dirty="0"/>
              <a:t>The way a company competes in the marketplace is called a </a:t>
            </a:r>
            <a:r>
              <a:rPr lang="en-US" sz="2400" b="1" dirty="0"/>
              <a:t>competitive priority</a:t>
            </a:r>
            <a:r>
              <a:rPr lang="en-US" sz="2200" dirty="0"/>
              <a:t>. </a:t>
            </a:r>
          </a:p>
          <a:p>
            <a:pPr marL="457200" indent="-457200" algn="just">
              <a:buFont typeface="Wingdings" panose="05000000000000000000" pitchFamily="2" charset="2"/>
              <a:buChar char="v"/>
            </a:pPr>
            <a:r>
              <a:rPr lang="en-US" sz="2200" dirty="0"/>
              <a:t>Supply chain strategy and supply chain design greatly depend on a </a:t>
            </a:r>
            <a:r>
              <a:rPr lang="en-IN" sz="2200" dirty="0"/>
              <a:t>company’s competitive priorities, i.e., </a:t>
            </a:r>
            <a:r>
              <a:rPr lang="en-IN" sz="2200" b="1" dirty="0"/>
              <a:t>Cost, Time, Innovation, Quality, </a:t>
            </a:r>
            <a:r>
              <a:rPr lang="en-IN" sz="2200" dirty="0"/>
              <a:t>and</a:t>
            </a:r>
            <a:r>
              <a:rPr lang="en-IN" sz="2200" b="1" dirty="0"/>
              <a:t> Service</a:t>
            </a:r>
            <a:endParaRPr lang="en-IN" sz="2200" dirty="0"/>
          </a:p>
        </p:txBody>
      </p:sp>
      <p:sp>
        <p:nvSpPr>
          <p:cNvPr id="6" name="TextBox 5">
            <a:extLst>
              <a:ext uri="{FF2B5EF4-FFF2-40B4-BE49-F238E27FC236}">
                <a16:creationId xmlns:a16="http://schemas.microsoft.com/office/drawing/2014/main" id="{8A4552D1-00FA-36FF-34D3-17DC57231433}"/>
              </a:ext>
            </a:extLst>
          </p:cNvPr>
          <p:cNvSpPr txBox="1"/>
          <p:nvPr/>
        </p:nvSpPr>
        <p:spPr>
          <a:xfrm>
            <a:off x="456714" y="2009749"/>
            <a:ext cx="11353424" cy="4832092"/>
          </a:xfrm>
          <a:prstGeom prst="rect">
            <a:avLst/>
          </a:prstGeom>
          <a:solidFill>
            <a:schemeClr val="accent6">
              <a:lumMod val="20000"/>
              <a:lumOff val="80000"/>
            </a:schemeClr>
          </a:solidFill>
        </p:spPr>
        <p:txBody>
          <a:bodyPr wrap="square">
            <a:spAutoFit/>
          </a:bodyPr>
          <a:lstStyle/>
          <a:p>
            <a:pPr algn="just"/>
            <a:r>
              <a:rPr lang="en-IN" sz="2200" b="1" i="0" u="none" strike="noStrike" baseline="0" dirty="0">
                <a:latin typeface="AdvP184C"/>
              </a:rPr>
              <a:t>(A)	</a:t>
            </a:r>
            <a:r>
              <a:rPr lang="en-IN" sz="2200" b="1" i="0" u="sng" strike="noStrike" baseline="0" dirty="0">
                <a:latin typeface="AdvP184C"/>
              </a:rPr>
              <a:t>COMPETING ON COST</a:t>
            </a:r>
          </a:p>
          <a:p>
            <a:pPr marL="457200" indent="-457200" algn="just">
              <a:buFont typeface="Wingdings" panose="05000000000000000000" pitchFamily="2" charset="2"/>
              <a:buChar char="v"/>
            </a:pPr>
            <a:r>
              <a:rPr lang="en-US" sz="2200" dirty="0"/>
              <a:t>Low-cost supply chain </a:t>
            </a:r>
            <a:r>
              <a:rPr lang="en-US" sz="2200" b="1" dirty="0"/>
              <a:t>focuses on meeting efficiency-based metrics </a:t>
            </a:r>
            <a:r>
              <a:rPr lang="en-US" sz="2200" dirty="0"/>
              <a:t>such as </a:t>
            </a:r>
            <a:r>
              <a:rPr lang="en-US" sz="2200" b="1" dirty="0"/>
              <a:t>asset utilization, inventory days of supply, product costs, and total supply chain costs. </a:t>
            </a:r>
          </a:p>
          <a:p>
            <a:pPr marL="457200" indent="-457200" algn="just">
              <a:buFont typeface="Wingdings" panose="05000000000000000000" pitchFamily="2" charset="2"/>
              <a:buChar char="v"/>
            </a:pPr>
            <a:r>
              <a:rPr lang="en-IN" sz="2200" dirty="0"/>
              <a:t>Dell Computer Corporation adopted a model of supply chain excellence and </a:t>
            </a:r>
            <a:r>
              <a:rPr lang="en-US" sz="2200" dirty="0"/>
              <a:t>supplies customized products whereas Wal-Mart that promises the lowest prices but not special </a:t>
            </a:r>
            <a:r>
              <a:rPr lang="en-IN" sz="2200" dirty="0"/>
              <a:t>customized products</a:t>
            </a:r>
          </a:p>
          <a:p>
            <a:pPr marL="457200" indent="-457200" algn="just">
              <a:buFont typeface="Wingdings" panose="05000000000000000000" pitchFamily="2" charset="2"/>
              <a:buChar char="v"/>
            </a:pPr>
            <a:r>
              <a:rPr lang="en-US" sz="2200" dirty="0"/>
              <a:t>Although efficiency and low cost are hallmarks of excellence, they cannot be achieved at the expense of service, innovation, or quality, if one of these is an element of the business strategy.</a:t>
            </a:r>
          </a:p>
          <a:p>
            <a:pPr algn="just"/>
            <a:r>
              <a:rPr lang="en-US" sz="2200" dirty="0"/>
              <a:t>Example – </a:t>
            </a:r>
          </a:p>
          <a:p>
            <a:pPr marL="457200" indent="-457200" algn="just">
              <a:buFont typeface="Wingdings" panose="05000000000000000000" pitchFamily="2" charset="2"/>
              <a:buChar char="v"/>
            </a:pPr>
            <a:r>
              <a:rPr lang="en-IN" sz="2200" dirty="0"/>
              <a:t>Apparel industry, </a:t>
            </a:r>
            <a:r>
              <a:rPr lang="en-US" sz="2200" dirty="0"/>
              <a:t>typically, outsourcing production to Southeast Asia. </a:t>
            </a:r>
          </a:p>
          <a:p>
            <a:pPr marL="457200" indent="-457200" algn="just">
              <a:buFont typeface="Wingdings" panose="05000000000000000000" pitchFamily="2" charset="2"/>
              <a:buChar char="v"/>
            </a:pPr>
            <a:r>
              <a:rPr lang="en-IN" sz="2200" dirty="0"/>
              <a:t>The manufacturers </a:t>
            </a:r>
            <a:r>
              <a:rPr lang="en-US" sz="2200" dirty="0"/>
              <a:t>insist on fixed production schedules to keep their costs low. </a:t>
            </a:r>
          </a:p>
          <a:p>
            <a:pPr marL="457200" indent="-457200" algn="just">
              <a:buFont typeface="Wingdings" panose="05000000000000000000" pitchFamily="2" charset="2"/>
              <a:buChar char="v"/>
            </a:pPr>
            <a:r>
              <a:rPr lang="en-US" sz="2200" dirty="0"/>
              <a:t>This impacts their flexibility and can hurt retailers when demands unexpectedly shift, such as when there is an unexpected surge of demand.</a:t>
            </a:r>
            <a:endParaRPr lang="en-IN" sz="2200" b="1" dirty="0"/>
          </a:p>
        </p:txBody>
      </p:sp>
    </p:spTree>
    <p:extLst>
      <p:ext uri="{BB962C8B-B14F-4D97-AF65-F5344CB8AC3E}">
        <p14:creationId xmlns:p14="http://schemas.microsoft.com/office/powerpoint/2010/main" val="33944662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2560E-A482-C482-D499-40DABC7F44E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6784D1E-9016-4A1C-92E9-909A186CB257}"/>
              </a:ext>
            </a:extLst>
          </p:cNvPr>
          <p:cNvSpPr/>
          <p:nvPr/>
        </p:nvSpPr>
        <p:spPr>
          <a:xfrm>
            <a:off x="456714" y="0"/>
            <a:ext cx="11602608"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t>SUPPLY CHAIN STRATEGIC DESIGN</a:t>
            </a:r>
            <a:endParaRPr lang="en-IN" sz="85700" b="1" dirty="0">
              <a:solidFill>
                <a:schemeClr val="accent4">
                  <a:lumMod val="20000"/>
                  <a:lumOff val="80000"/>
                </a:schemeClr>
              </a:solidFill>
            </a:endParaRPr>
          </a:p>
        </p:txBody>
      </p:sp>
      <p:sp>
        <p:nvSpPr>
          <p:cNvPr id="6" name="TextBox 5">
            <a:extLst>
              <a:ext uri="{FF2B5EF4-FFF2-40B4-BE49-F238E27FC236}">
                <a16:creationId xmlns:a16="http://schemas.microsoft.com/office/drawing/2014/main" id="{2D31A1CD-8CCF-650E-C44E-74463E7B3D8C}"/>
              </a:ext>
            </a:extLst>
          </p:cNvPr>
          <p:cNvSpPr txBox="1"/>
          <p:nvPr/>
        </p:nvSpPr>
        <p:spPr>
          <a:xfrm>
            <a:off x="419288" y="945932"/>
            <a:ext cx="11353424" cy="4216539"/>
          </a:xfrm>
          <a:prstGeom prst="rect">
            <a:avLst/>
          </a:prstGeom>
          <a:solidFill>
            <a:schemeClr val="accent6">
              <a:lumMod val="20000"/>
              <a:lumOff val="80000"/>
            </a:schemeClr>
          </a:solidFill>
        </p:spPr>
        <p:txBody>
          <a:bodyPr wrap="square">
            <a:spAutoFit/>
          </a:bodyPr>
          <a:lstStyle/>
          <a:p>
            <a:r>
              <a:rPr lang="en-IN" sz="2400" b="1" i="0" strike="noStrike" baseline="0" dirty="0">
                <a:latin typeface="AdvP184C"/>
              </a:rPr>
              <a:t>(B)</a:t>
            </a:r>
            <a:r>
              <a:rPr lang="en-IN" sz="2400" b="1" i="1" strike="noStrike" baseline="0" dirty="0">
                <a:latin typeface="AdvP184C"/>
              </a:rPr>
              <a:t>	</a:t>
            </a:r>
            <a:r>
              <a:rPr lang="en-IN" sz="2400" b="1" i="0" u="sng" strike="noStrike" baseline="0" dirty="0">
                <a:latin typeface="AdvP184C"/>
              </a:rPr>
              <a:t>COMPETING ON TIME</a:t>
            </a:r>
          </a:p>
          <a:p>
            <a:pPr marL="342900" indent="-342900">
              <a:buFont typeface="Wingdings" panose="05000000000000000000" pitchFamily="2" charset="2"/>
              <a:buChar char="v"/>
            </a:pPr>
            <a:r>
              <a:rPr lang="en-IN" sz="2400" dirty="0"/>
              <a:t>Companies </a:t>
            </a:r>
            <a:r>
              <a:rPr lang="en-US" sz="2400" dirty="0"/>
              <a:t>in all industries are competing to </a:t>
            </a:r>
            <a:r>
              <a:rPr lang="en-US" sz="2400" b="1" dirty="0"/>
              <a:t>deliver high quality products in as short a time as possible</a:t>
            </a:r>
            <a:r>
              <a:rPr lang="en-US" sz="2400" dirty="0"/>
              <a:t>. </a:t>
            </a:r>
          </a:p>
          <a:p>
            <a:pPr marL="342900" indent="-342900">
              <a:buFont typeface="Wingdings" panose="05000000000000000000" pitchFamily="2" charset="2"/>
              <a:buChar char="v"/>
            </a:pPr>
            <a:r>
              <a:rPr lang="en-US" sz="2400" dirty="0"/>
              <a:t>Example – Companies that compete on time - FedEx, </a:t>
            </a:r>
            <a:r>
              <a:rPr lang="en-US" sz="2400" dirty="0" err="1"/>
              <a:t>LensCrafters</a:t>
            </a:r>
            <a:r>
              <a:rPr lang="en-US" sz="2400" dirty="0"/>
              <a:t>, United Parcel Service (UPS), and Dell Computer Corporation, Zomato, </a:t>
            </a:r>
            <a:r>
              <a:rPr lang="en-US" sz="2400" dirty="0" err="1"/>
              <a:t>Blinkit</a:t>
            </a:r>
            <a:r>
              <a:rPr lang="en-US" sz="2400" dirty="0"/>
              <a:t>, </a:t>
            </a:r>
          </a:p>
          <a:p>
            <a:pPr marL="342900" indent="-342900">
              <a:buFont typeface="Wingdings" panose="05000000000000000000" pitchFamily="2" charset="2"/>
              <a:buChar char="v"/>
            </a:pPr>
            <a:r>
              <a:rPr lang="en-US" sz="2400" dirty="0"/>
              <a:t>Dimensions of making time a competitive priority</a:t>
            </a:r>
          </a:p>
          <a:p>
            <a:pPr marL="800100" lvl="1" indent="-342900">
              <a:buFont typeface="Wingdings" panose="05000000000000000000" pitchFamily="2" charset="2"/>
              <a:buChar char="v"/>
            </a:pPr>
            <a:r>
              <a:rPr lang="en-IN" sz="2400" b="1" dirty="0"/>
              <a:t>Rapid delivery - H</a:t>
            </a:r>
            <a:r>
              <a:rPr lang="en-US" sz="2400" dirty="0"/>
              <a:t>ow quickly an order is received</a:t>
            </a:r>
          </a:p>
          <a:p>
            <a:pPr marL="800100" lvl="1" indent="-342900">
              <a:buFont typeface="Wingdings" panose="05000000000000000000" pitchFamily="2" charset="2"/>
              <a:buChar char="v"/>
            </a:pPr>
            <a:r>
              <a:rPr lang="en-US" sz="2400" b="1" dirty="0"/>
              <a:t>On time delivery - N</a:t>
            </a:r>
            <a:r>
              <a:rPr lang="en-US" sz="2400" dirty="0"/>
              <a:t>umber of times deliveries are made on time.</a:t>
            </a:r>
          </a:p>
          <a:p>
            <a:pPr marL="342900" indent="-342900">
              <a:buFont typeface="Wingdings" panose="05000000000000000000" pitchFamily="2" charset="2"/>
              <a:buChar char="v"/>
            </a:pPr>
            <a:r>
              <a:rPr lang="en-US" sz="2400" dirty="0"/>
              <a:t>Companies can use </a:t>
            </a:r>
            <a:r>
              <a:rPr lang="en-US" sz="2400" b="1" dirty="0"/>
              <a:t>technology to speed up processes </a:t>
            </a:r>
            <a:r>
              <a:rPr lang="en-US" sz="2400" dirty="0"/>
              <a:t>or they can </a:t>
            </a:r>
            <a:r>
              <a:rPr lang="en-US" sz="2400" b="1" dirty="0"/>
              <a:t>rely on flexible workforce</a:t>
            </a:r>
            <a:r>
              <a:rPr lang="en-US" sz="2400" dirty="0"/>
              <a:t> to meet peak demand periods, and eliminate unnecessary steps in the production process.</a:t>
            </a:r>
            <a:endParaRPr lang="en-IN" sz="2200" b="1" i="0" u="none" strike="noStrike" baseline="0" dirty="0">
              <a:latin typeface="AdvP184C"/>
            </a:endParaRPr>
          </a:p>
        </p:txBody>
      </p:sp>
      <p:sp>
        <p:nvSpPr>
          <p:cNvPr id="4" name="TextBox 3">
            <a:extLst>
              <a:ext uri="{FF2B5EF4-FFF2-40B4-BE49-F238E27FC236}">
                <a16:creationId xmlns:a16="http://schemas.microsoft.com/office/drawing/2014/main" id="{07497D08-796D-A4F8-1FAA-096D9AF6067E}"/>
              </a:ext>
            </a:extLst>
          </p:cNvPr>
          <p:cNvSpPr txBox="1"/>
          <p:nvPr/>
        </p:nvSpPr>
        <p:spPr>
          <a:xfrm>
            <a:off x="419288" y="5070138"/>
            <a:ext cx="11353423" cy="1692771"/>
          </a:xfrm>
          <a:prstGeom prst="rect">
            <a:avLst/>
          </a:prstGeom>
          <a:solidFill>
            <a:schemeClr val="accent4">
              <a:lumMod val="20000"/>
              <a:lumOff val="80000"/>
            </a:schemeClr>
          </a:solidFill>
        </p:spPr>
        <p:txBody>
          <a:bodyPr wrap="square">
            <a:spAutoFit/>
          </a:bodyPr>
          <a:lstStyle/>
          <a:p>
            <a:r>
              <a:rPr lang="en-IN" sz="3200" b="1" dirty="0"/>
              <a:t>FedEx</a:t>
            </a:r>
            <a:r>
              <a:rPr lang="en-IN" sz="3200" dirty="0"/>
              <a:t> -</a:t>
            </a:r>
            <a:r>
              <a:rPr lang="en-IN" sz="2400" dirty="0"/>
              <a:t> </a:t>
            </a:r>
            <a:r>
              <a:rPr lang="en-US" sz="2400" dirty="0"/>
              <a:t>Business strategy - Compete on time  </a:t>
            </a:r>
          </a:p>
          <a:p>
            <a:pPr marL="342900" indent="-342900">
              <a:buFont typeface="Wingdings" panose="05000000000000000000" pitchFamily="2" charset="2"/>
              <a:buChar char="v"/>
            </a:pPr>
            <a:r>
              <a:rPr lang="en-US" sz="2400" dirty="0"/>
              <a:t>Company’s slogan is that it will ‘‘</a:t>
            </a:r>
            <a:r>
              <a:rPr lang="en-US" sz="2400" b="1" dirty="0"/>
              <a:t>absolutely, positively’’ deliver packages on time</a:t>
            </a:r>
          </a:p>
          <a:p>
            <a:pPr marL="342900" indent="-342900">
              <a:buFont typeface="Wingdings" panose="05000000000000000000" pitchFamily="2" charset="2"/>
              <a:buChar char="v"/>
            </a:pPr>
            <a:r>
              <a:rPr lang="en-US" sz="2400" dirty="0"/>
              <a:t>Used </a:t>
            </a:r>
            <a:r>
              <a:rPr lang="en-US" sz="2400" b="1" dirty="0"/>
              <a:t>bar code technology</a:t>
            </a:r>
            <a:r>
              <a:rPr lang="en-US" sz="2400" dirty="0"/>
              <a:t> to speed up processing and handling, and </a:t>
            </a:r>
            <a:r>
              <a:rPr lang="en-US" sz="2400" b="1" dirty="0"/>
              <a:t>own fleet of airplanes</a:t>
            </a:r>
            <a:r>
              <a:rPr lang="en-US" sz="2400" dirty="0"/>
              <a:t> to provide faster service</a:t>
            </a:r>
          </a:p>
        </p:txBody>
      </p:sp>
    </p:spTree>
    <p:extLst>
      <p:ext uri="{BB962C8B-B14F-4D97-AF65-F5344CB8AC3E}">
        <p14:creationId xmlns:p14="http://schemas.microsoft.com/office/powerpoint/2010/main" val="14925276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AA76C-199A-7461-893F-796AA99ADA4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3234B05-D660-28CF-7A96-DC809E51580D}"/>
              </a:ext>
            </a:extLst>
          </p:cNvPr>
          <p:cNvSpPr/>
          <p:nvPr/>
        </p:nvSpPr>
        <p:spPr>
          <a:xfrm>
            <a:off x="456714" y="0"/>
            <a:ext cx="11602608"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t>SUPPLY CHAIN STRATEGIC DESIGN</a:t>
            </a:r>
            <a:endParaRPr lang="en-IN" sz="85700" b="1" dirty="0">
              <a:solidFill>
                <a:schemeClr val="accent4">
                  <a:lumMod val="20000"/>
                  <a:lumOff val="80000"/>
                </a:schemeClr>
              </a:solidFill>
            </a:endParaRPr>
          </a:p>
        </p:txBody>
      </p:sp>
      <p:sp>
        <p:nvSpPr>
          <p:cNvPr id="6" name="TextBox 5">
            <a:extLst>
              <a:ext uri="{FF2B5EF4-FFF2-40B4-BE49-F238E27FC236}">
                <a16:creationId xmlns:a16="http://schemas.microsoft.com/office/drawing/2014/main" id="{A4C9C6CD-0E6D-80F1-376F-145F2A33727C}"/>
              </a:ext>
            </a:extLst>
          </p:cNvPr>
          <p:cNvSpPr txBox="1"/>
          <p:nvPr/>
        </p:nvSpPr>
        <p:spPr>
          <a:xfrm>
            <a:off x="456713" y="913658"/>
            <a:ext cx="11193819" cy="5847755"/>
          </a:xfrm>
          <a:prstGeom prst="rect">
            <a:avLst/>
          </a:prstGeom>
          <a:solidFill>
            <a:schemeClr val="accent6">
              <a:lumMod val="20000"/>
              <a:lumOff val="80000"/>
            </a:schemeClr>
          </a:solidFill>
        </p:spPr>
        <p:txBody>
          <a:bodyPr wrap="square">
            <a:spAutoFit/>
          </a:bodyPr>
          <a:lstStyle/>
          <a:p>
            <a:pPr algn="just"/>
            <a:r>
              <a:rPr lang="en-IN" sz="2200" b="1" i="0" strike="noStrike" baseline="0" dirty="0">
                <a:latin typeface="Arial" panose="020B0604020202020204" pitchFamily="34" charset="0"/>
                <a:cs typeface="Arial" panose="020B0604020202020204" pitchFamily="34" charset="0"/>
              </a:rPr>
              <a:t>(C)	</a:t>
            </a:r>
            <a:r>
              <a:rPr lang="en-IN" sz="2200" b="1" i="0" u="sng" strike="noStrike" baseline="0" dirty="0">
                <a:latin typeface="Arial" panose="020B0604020202020204" pitchFamily="34" charset="0"/>
                <a:cs typeface="Arial" panose="020B0604020202020204" pitchFamily="34" charset="0"/>
              </a:rPr>
              <a:t>COMPETING ON INNOVATION</a:t>
            </a:r>
          </a:p>
          <a:p>
            <a:pPr marL="342900" indent="-342900" algn="just">
              <a:buFont typeface="Wingdings" panose="05000000000000000000" pitchFamily="2" charset="2"/>
              <a:buChar char="v"/>
              <a:tabLst>
                <a:tab pos="2871788" algn="l"/>
              </a:tabLst>
            </a:pPr>
            <a:r>
              <a:rPr lang="en-US" sz="2200" dirty="0">
                <a:latin typeface="Arial" panose="020B0604020202020204" pitchFamily="34" charset="0"/>
                <a:cs typeface="Arial" panose="020B0604020202020204" pitchFamily="34" charset="0"/>
              </a:rPr>
              <a:t>This strategy requires a supply chain specifically designed to support the development and rapid delivery of </a:t>
            </a:r>
            <a:r>
              <a:rPr lang="en-US" sz="2200" b="1" dirty="0">
                <a:latin typeface="Arial" panose="020B0604020202020204" pitchFamily="34" charset="0"/>
                <a:cs typeface="Arial" panose="020B0604020202020204" pitchFamily="34" charset="0"/>
              </a:rPr>
              <a:t>"must-have" </a:t>
            </a:r>
            <a:r>
              <a:rPr lang="en-US" sz="2200" dirty="0">
                <a:latin typeface="Arial" panose="020B0604020202020204" pitchFamily="34" charset="0"/>
                <a:cs typeface="Arial" panose="020B0604020202020204" pitchFamily="34" charset="0"/>
              </a:rPr>
              <a:t>products</a:t>
            </a:r>
          </a:p>
          <a:p>
            <a:pPr marL="342900" indent="-342900" algn="just">
              <a:buFont typeface="Wingdings" panose="05000000000000000000" pitchFamily="2" charset="2"/>
              <a:buChar char="v"/>
            </a:pPr>
            <a:r>
              <a:rPr lang="en-US" sz="2200" dirty="0">
                <a:latin typeface="Arial" panose="020B0604020202020204" pitchFamily="34" charset="0"/>
                <a:cs typeface="Arial" panose="020B0604020202020204" pitchFamily="34" charset="0"/>
              </a:rPr>
              <a:t>Innovation-focused designs prioritize</a:t>
            </a:r>
            <a:r>
              <a:rPr lang="en-US" sz="2200" b="1" dirty="0">
                <a:latin typeface="Arial" panose="020B0604020202020204" pitchFamily="34" charset="0"/>
                <a:cs typeface="Arial" panose="020B0604020202020204" pitchFamily="34" charset="0"/>
              </a:rPr>
              <a:t> flexibility, collaboration, and speed </a:t>
            </a:r>
            <a:r>
              <a:rPr lang="en-US" sz="2200" dirty="0">
                <a:latin typeface="Arial" panose="020B0604020202020204" pitchFamily="34" charset="0"/>
                <a:cs typeface="Arial" panose="020B0604020202020204" pitchFamily="34" charset="0"/>
              </a:rPr>
              <a:t>over absolute efficiency</a:t>
            </a:r>
          </a:p>
          <a:p>
            <a:pPr marL="342900" indent="-342900" algn="just">
              <a:buFont typeface="Wingdings" panose="05000000000000000000" pitchFamily="2" charset="2"/>
              <a:buChar char="v"/>
            </a:pPr>
            <a:r>
              <a:rPr lang="en-IN" sz="2200" dirty="0">
                <a:latin typeface="Arial" panose="020B0604020202020204" pitchFamily="34" charset="0"/>
                <a:cs typeface="Arial" panose="020B0604020202020204" pitchFamily="34" charset="0"/>
              </a:rPr>
              <a:t>Key elements </a:t>
            </a:r>
          </a:p>
          <a:p>
            <a:pPr marL="800100" lvl="1" indent="-342900" algn="just">
              <a:buFont typeface="Wingdings" panose="05000000000000000000" pitchFamily="2" charset="2"/>
              <a:buChar char="v"/>
            </a:pPr>
            <a:r>
              <a:rPr lang="en-US" sz="2200" b="1" dirty="0">
                <a:latin typeface="Arial" panose="020B0604020202020204" pitchFamily="34" charset="0"/>
                <a:cs typeface="Arial" panose="020B0604020202020204" pitchFamily="34" charset="0"/>
              </a:rPr>
              <a:t>Focus on Speed and Product Design</a:t>
            </a:r>
            <a:r>
              <a:rPr lang="en-US" sz="2200" dirty="0">
                <a:latin typeface="Arial" panose="020B0604020202020204" pitchFamily="34" charset="0"/>
                <a:cs typeface="Arial" panose="020B0604020202020204" pitchFamily="34" charset="0"/>
              </a:rPr>
              <a:t>: Because innovative products often have a </a:t>
            </a:r>
            <a:r>
              <a:rPr lang="en-US" sz="2200" b="1" dirty="0">
                <a:latin typeface="Arial" panose="020B0604020202020204" pitchFamily="34" charset="0"/>
                <a:cs typeface="Arial" panose="020B0604020202020204" pitchFamily="34" charset="0"/>
              </a:rPr>
              <a:t>short window of opportunity </a:t>
            </a:r>
            <a:r>
              <a:rPr lang="en-US" sz="2200" dirty="0">
                <a:latin typeface="Arial" panose="020B0604020202020204" pitchFamily="34" charset="0"/>
                <a:cs typeface="Arial" panose="020B0604020202020204" pitchFamily="34" charset="0"/>
              </a:rPr>
              <a:t>before imitators enter the market, the supply chain must excel at moving from concept to market quickly</a:t>
            </a:r>
          </a:p>
          <a:p>
            <a:pPr marL="800100" lvl="1" indent="-342900" algn="just">
              <a:buFont typeface="Wingdings" panose="05000000000000000000" pitchFamily="2" charset="2"/>
              <a:buChar char="v"/>
            </a:pPr>
            <a:r>
              <a:rPr lang="en-US" sz="2200" b="1" dirty="0">
                <a:latin typeface="Arial" panose="020B0604020202020204" pitchFamily="34" charset="0"/>
                <a:cs typeface="Arial" panose="020B0604020202020204" pitchFamily="34" charset="0"/>
              </a:rPr>
              <a:t>Integrated Collaboration: </a:t>
            </a:r>
            <a:r>
              <a:rPr lang="en-US" sz="2200" dirty="0">
                <a:latin typeface="Arial" panose="020B0604020202020204" pitchFamily="34" charset="0"/>
                <a:cs typeface="Arial" panose="020B0604020202020204" pitchFamily="34" charset="0"/>
              </a:rPr>
              <a:t>This strategy requires a high degree of </a:t>
            </a:r>
            <a:r>
              <a:rPr lang="en-US" sz="2200" b="1" dirty="0">
                <a:latin typeface="Arial" panose="020B0604020202020204" pitchFamily="34" charset="0"/>
                <a:cs typeface="Arial" panose="020B0604020202020204" pitchFamily="34" charset="0"/>
              </a:rPr>
              <a:t>internal integration </a:t>
            </a:r>
            <a:r>
              <a:rPr lang="en-US" sz="2200" dirty="0">
                <a:latin typeface="Arial" panose="020B0604020202020204" pitchFamily="34" charset="0"/>
                <a:cs typeface="Arial" panose="020B0604020202020204" pitchFamily="34" charset="0"/>
              </a:rPr>
              <a:t>between functional areas (like marketing and R&amp;D) and </a:t>
            </a:r>
            <a:r>
              <a:rPr lang="en-US" sz="2200" b="1" dirty="0">
                <a:latin typeface="Arial" panose="020B0604020202020204" pitchFamily="34" charset="0"/>
                <a:cs typeface="Arial" panose="020B0604020202020204" pitchFamily="34" charset="0"/>
              </a:rPr>
              <a:t>external integration</a:t>
            </a:r>
            <a:r>
              <a:rPr lang="en-US" sz="2200" dirty="0">
                <a:latin typeface="Arial" panose="020B0604020202020204" pitchFamily="34" charset="0"/>
                <a:cs typeface="Arial" panose="020B0604020202020204" pitchFamily="34" charset="0"/>
              </a:rPr>
              <a:t> with suppliers</a:t>
            </a:r>
          </a:p>
          <a:p>
            <a:pPr marL="800100" lvl="1" indent="-342900" algn="just">
              <a:buFont typeface="Wingdings" panose="05000000000000000000" pitchFamily="2" charset="2"/>
              <a:buChar char="v"/>
            </a:pPr>
            <a:r>
              <a:rPr lang="en-US" altLang="en-US" sz="2200" b="1" dirty="0">
                <a:solidFill>
                  <a:srgbClr val="303030"/>
                </a:solidFill>
                <a:latin typeface="Arial" panose="020B0604020202020204" pitchFamily="34" charset="0"/>
                <a:cs typeface="Arial" panose="020B0604020202020204" pitchFamily="34" charset="0"/>
              </a:rPr>
              <a:t>Premium Pricing:</a:t>
            </a:r>
            <a:r>
              <a:rPr lang="en-US" altLang="en-US" sz="2200" dirty="0">
                <a:solidFill>
                  <a:srgbClr val="303030"/>
                </a:solidFill>
                <a:latin typeface="Arial" panose="020B0604020202020204" pitchFamily="34" charset="0"/>
                <a:cs typeface="Arial" panose="020B0604020202020204" pitchFamily="34" charset="0"/>
              </a:rPr>
              <a:t> Because of the high financial commitment required for constant innovation, these companies typically command </a:t>
            </a:r>
            <a:r>
              <a:rPr lang="en-US" altLang="en-US" sz="2200" b="1" dirty="0">
                <a:solidFill>
                  <a:srgbClr val="303030"/>
                </a:solidFill>
                <a:latin typeface="Arial" panose="020B0604020202020204" pitchFamily="34" charset="0"/>
                <a:cs typeface="Arial" panose="020B0604020202020204" pitchFamily="34" charset="0"/>
              </a:rPr>
              <a:t>premium prices</a:t>
            </a:r>
            <a:r>
              <a:rPr lang="en-US" altLang="en-US" sz="2200" dirty="0">
                <a:latin typeface="Arial" panose="020B0604020202020204" pitchFamily="34" charset="0"/>
                <a:cs typeface="Arial" panose="020B0604020202020204" pitchFamily="34" charset="0"/>
              </a:rPr>
              <a:t> .</a:t>
            </a:r>
          </a:p>
          <a:p>
            <a:pPr marL="800100" lvl="1" indent="-342900" algn="just">
              <a:buFont typeface="Wingdings" panose="05000000000000000000" pitchFamily="2" charset="2"/>
              <a:buChar char="v"/>
            </a:pPr>
            <a:r>
              <a:rPr lang="en-US" sz="2200" b="1" dirty="0">
                <a:solidFill>
                  <a:srgbClr val="303030"/>
                </a:solidFill>
                <a:latin typeface="Arial" panose="020B0604020202020204" pitchFamily="34" charset="0"/>
                <a:cs typeface="Arial" panose="020B0604020202020204" pitchFamily="34" charset="0"/>
              </a:rPr>
              <a:t>Scalability and Volume Flexibility</a:t>
            </a:r>
            <a:r>
              <a:rPr lang="en-US" sz="2200" dirty="0">
                <a:solidFill>
                  <a:srgbClr val="303030"/>
                </a:solidFill>
                <a:latin typeface="Arial" panose="020B0604020202020204" pitchFamily="34" charset="0"/>
                <a:cs typeface="Arial" panose="020B0604020202020204" pitchFamily="34" charset="0"/>
              </a:rPr>
              <a:t>: A major challenge for innovative supply chains is the ability to quickly ramp up production volumes if a new product becomes an overnight success</a:t>
            </a:r>
            <a:endParaRPr lang="en-IN" sz="2200" dirty="0">
              <a:solidFill>
                <a:srgbClr val="30303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79519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71CC2-165C-476E-B3E2-E6D4E05100C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6686068-528C-8C11-F51E-5777DFEAF023}"/>
              </a:ext>
            </a:extLst>
          </p:cNvPr>
          <p:cNvSpPr/>
          <p:nvPr/>
        </p:nvSpPr>
        <p:spPr>
          <a:xfrm>
            <a:off x="456714" y="0"/>
            <a:ext cx="11602608"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t>SUPPLY CHAIN STRATEGIC DESIGN</a:t>
            </a:r>
            <a:endParaRPr lang="en-IN" sz="85700" b="1" dirty="0">
              <a:solidFill>
                <a:schemeClr val="accent4">
                  <a:lumMod val="20000"/>
                  <a:lumOff val="80000"/>
                </a:schemeClr>
              </a:solidFill>
            </a:endParaRPr>
          </a:p>
        </p:txBody>
      </p:sp>
      <p:sp>
        <p:nvSpPr>
          <p:cNvPr id="6" name="TextBox 5">
            <a:extLst>
              <a:ext uri="{FF2B5EF4-FFF2-40B4-BE49-F238E27FC236}">
                <a16:creationId xmlns:a16="http://schemas.microsoft.com/office/drawing/2014/main" id="{7F61A025-5C2F-B619-7373-FFC8C9D8461F}"/>
              </a:ext>
            </a:extLst>
          </p:cNvPr>
          <p:cNvSpPr txBox="1"/>
          <p:nvPr/>
        </p:nvSpPr>
        <p:spPr>
          <a:xfrm>
            <a:off x="456713" y="870626"/>
            <a:ext cx="11602607" cy="5878532"/>
          </a:xfrm>
          <a:prstGeom prst="rect">
            <a:avLst/>
          </a:prstGeom>
          <a:solidFill>
            <a:schemeClr val="accent6">
              <a:lumMod val="20000"/>
              <a:lumOff val="80000"/>
            </a:schemeClr>
          </a:solidFill>
        </p:spPr>
        <p:txBody>
          <a:bodyPr wrap="square">
            <a:spAutoFit/>
          </a:bodyPr>
          <a:lstStyle/>
          <a:p>
            <a:r>
              <a:rPr lang="en-IN" sz="2200" b="1" i="0" u="none" strike="noStrike" baseline="0" dirty="0">
                <a:latin typeface="Arial" panose="020B0604020202020204" pitchFamily="34" charset="0"/>
                <a:cs typeface="Arial" panose="020B0604020202020204" pitchFamily="34" charset="0"/>
              </a:rPr>
              <a:t>(D)	</a:t>
            </a:r>
            <a:r>
              <a:rPr lang="en-IN" sz="2200" b="1" i="0" u="sng" strike="noStrike" baseline="0" dirty="0">
                <a:latin typeface="Arial" panose="020B0604020202020204" pitchFamily="34" charset="0"/>
                <a:cs typeface="Arial" panose="020B0604020202020204" pitchFamily="34" charset="0"/>
              </a:rPr>
              <a:t>COMPETING ON QUALITY</a:t>
            </a:r>
          </a:p>
          <a:p>
            <a:pPr marL="342900" indent="-342900">
              <a:buFont typeface="Wingdings" panose="05000000000000000000" pitchFamily="2" charset="2"/>
              <a:buChar char="v"/>
            </a:pPr>
            <a:r>
              <a:rPr lang="en-US" sz="2200" dirty="0">
                <a:latin typeface="Arial" panose="020B0604020202020204" pitchFamily="34" charset="0"/>
                <a:cs typeface="Arial" panose="020B0604020202020204" pitchFamily="34" charset="0"/>
              </a:rPr>
              <a:t>Company’s products and services are defined by their </a:t>
            </a:r>
            <a:r>
              <a:rPr lang="en-US" sz="2200" b="1" dirty="0">
                <a:latin typeface="Arial" panose="020B0604020202020204" pitchFamily="34" charset="0"/>
                <a:cs typeface="Arial" panose="020B0604020202020204" pitchFamily="34" charset="0"/>
              </a:rPr>
              <a:t>premium nature</a:t>
            </a:r>
            <a:r>
              <a:rPr lang="en-US" sz="2200" dirty="0">
                <a:latin typeface="Arial" panose="020B0604020202020204" pitchFamily="34" charset="0"/>
                <a:cs typeface="Arial" panose="020B0604020202020204" pitchFamily="34" charset="0"/>
              </a:rPr>
              <a:t>, specifically focusing on </a:t>
            </a:r>
            <a:r>
              <a:rPr lang="en-US" sz="2200" b="1" dirty="0">
                <a:latin typeface="Arial" panose="020B0604020202020204" pitchFamily="34" charset="0"/>
                <a:cs typeface="Arial" panose="020B0604020202020204" pitchFamily="34" charset="0"/>
              </a:rPr>
              <a:t>consistency and reliability </a:t>
            </a:r>
          </a:p>
          <a:p>
            <a:pPr marL="342900" indent="-342900">
              <a:buFont typeface="Wingdings" panose="05000000000000000000" pitchFamily="2" charset="2"/>
              <a:buChar char="v"/>
            </a:pPr>
            <a:r>
              <a:rPr lang="en-US" sz="2200" dirty="0">
                <a:latin typeface="Arial" panose="020B0604020202020204" pitchFamily="34" charset="0"/>
                <a:cs typeface="Arial" panose="020B0604020202020204" pitchFamily="34" charset="0"/>
              </a:rPr>
              <a:t>Example - </a:t>
            </a:r>
            <a:r>
              <a:rPr lang="en-US" sz="2400" dirty="0"/>
              <a:t>Mercedes, General Electric, and Motorola.</a:t>
            </a:r>
          </a:p>
          <a:p>
            <a:pPr marL="342900" indent="-342900">
              <a:buFont typeface="Wingdings" panose="05000000000000000000" pitchFamily="2" charset="2"/>
              <a:buChar char="v"/>
            </a:pPr>
            <a:r>
              <a:rPr lang="en-US" sz="2200" b="1" dirty="0">
                <a:latin typeface="Arial" panose="020B0604020202020204" pitchFamily="34" charset="0"/>
                <a:cs typeface="Arial" panose="020B0604020202020204" pitchFamily="34" charset="0"/>
              </a:rPr>
              <a:t>Critical elements </a:t>
            </a:r>
            <a:r>
              <a:rPr lang="en-US" sz="2200" dirty="0">
                <a:latin typeface="Arial" panose="020B0604020202020204" pitchFamily="34" charset="0"/>
                <a:cs typeface="Arial" panose="020B0604020202020204" pitchFamily="34" charset="0"/>
              </a:rPr>
              <a:t>of a quality-focused supply chain design</a:t>
            </a:r>
          </a:p>
          <a:p>
            <a:pPr marL="800100" lvl="1" indent="-342900">
              <a:buFont typeface="Wingdings" panose="05000000000000000000" pitchFamily="2" charset="2"/>
              <a:buChar char="v"/>
            </a:pPr>
            <a:r>
              <a:rPr lang="en-IN" sz="2200" b="1" dirty="0">
                <a:latin typeface="Arial" panose="020B0604020202020204" pitchFamily="34" charset="0"/>
                <a:cs typeface="Arial" panose="020B0604020202020204" pitchFamily="34" charset="0"/>
              </a:rPr>
              <a:t>System-Wide Quality Management- </a:t>
            </a:r>
          </a:p>
          <a:p>
            <a:pPr marL="1257300" lvl="2" indent="-342900">
              <a:buFont typeface="Wingdings" panose="05000000000000000000" pitchFamily="2" charset="2"/>
              <a:buChar char="v"/>
            </a:pPr>
            <a:r>
              <a:rPr lang="en-US" sz="2200" dirty="0">
                <a:latin typeface="Arial" panose="020B0604020202020204" pitchFamily="34" charset="0"/>
                <a:cs typeface="Arial" panose="020B0604020202020204" pitchFamily="34" charset="0"/>
              </a:rPr>
              <a:t>Embedding quality into every stage of the supply chain through application of </a:t>
            </a:r>
            <a:r>
              <a:rPr lang="en-US" sz="2200" b="1" dirty="0">
                <a:latin typeface="Arial" panose="020B0604020202020204" pitchFamily="34" charset="0"/>
                <a:cs typeface="Arial" panose="020B0604020202020204" pitchFamily="34" charset="0"/>
              </a:rPr>
              <a:t>Total Quality Management (TQM)</a:t>
            </a:r>
            <a:r>
              <a:rPr lang="en-US" sz="2200" dirty="0">
                <a:latin typeface="Arial" panose="020B0604020202020204" pitchFamily="34" charset="0"/>
                <a:cs typeface="Arial" panose="020B0604020202020204" pitchFamily="34" charset="0"/>
              </a:rPr>
              <a:t> and </a:t>
            </a:r>
            <a:r>
              <a:rPr lang="en-US" sz="2200" b="1" dirty="0">
                <a:latin typeface="Arial" panose="020B0604020202020204" pitchFamily="34" charset="0"/>
                <a:cs typeface="Arial" panose="020B0604020202020204" pitchFamily="34" charset="0"/>
              </a:rPr>
              <a:t>Six Sigma</a:t>
            </a:r>
          </a:p>
          <a:p>
            <a:pPr marL="1257300" lvl="2" indent="-342900">
              <a:buFont typeface="Wingdings" panose="05000000000000000000" pitchFamily="2" charset="2"/>
              <a:buChar char="v"/>
            </a:pPr>
            <a:r>
              <a:rPr lang="en-US" sz="2200" dirty="0">
                <a:latin typeface="Arial" panose="020B0604020202020204" pitchFamily="34" charset="0"/>
                <a:cs typeface="Arial" panose="020B0604020202020204" pitchFamily="34" charset="0"/>
              </a:rPr>
              <a:t>Particularly vital for </a:t>
            </a:r>
            <a:r>
              <a:rPr lang="en-US" sz="2200" b="1" dirty="0">
                <a:latin typeface="Arial" panose="020B0604020202020204" pitchFamily="34" charset="0"/>
                <a:cs typeface="Arial" panose="020B0604020202020204" pitchFamily="34" charset="0"/>
              </a:rPr>
              <a:t>perishable, fragile</a:t>
            </a:r>
            <a:r>
              <a:rPr lang="en-US" sz="2200" dirty="0">
                <a:latin typeface="Arial" panose="020B0604020202020204" pitchFamily="34" charset="0"/>
                <a:cs typeface="Arial" panose="020B0604020202020204" pitchFamily="34" charset="0"/>
              </a:rPr>
              <a:t>, or </a:t>
            </a:r>
            <a:r>
              <a:rPr lang="en-US" sz="2200" b="1" dirty="0">
                <a:latin typeface="Arial" panose="020B0604020202020204" pitchFamily="34" charset="0"/>
                <a:cs typeface="Arial" panose="020B0604020202020204" pitchFamily="34" charset="0"/>
              </a:rPr>
              <a:t>high-value luxury goods.</a:t>
            </a:r>
            <a:endParaRPr lang="en-IN" sz="2200" b="1"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v"/>
            </a:pPr>
            <a:r>
              <a:rPr lang="en-IN" sz="2200" b="1" dirty="0">
                <a:latin typeface="Arial" panose="020B0604020202020204" pitchFamily="34" charset="0"/>
                <a:cs typeface="Arial" panose="020B0604020202020204" pitchFamily="34" charset="0"/>
              </a:rPr>
              <a:t>Product Traceability</a:t>
            </a:r>
            <a:r>
              <a:rPr lang="en-US" sz="2200" b="1"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Ability to track an item from its point of origin, through the entire chain to the customer, and back again in the case of a return.</a:t>
            </a:r>
          </a:p>
          <a:p>
            <a:pPr marL="800100" lvl="1" indent="-342900">
              <a:buFont typeface="Wingdings" panose="05000000000000000000" pitchFamily="2" charset="2"/>
              <a:buChar char="v"/>
            </a:pPr>
            <a:r>
              <a:rPr lang="en-US" sz="2200" dirty="0">
                <a:latin typeface="Arial" panose="020B0604020202020204" pitchFamily="34" charset="0"/>
                <a:cs typeface="Arial" panose="020B0604020202020204" pitchFamily="34" charset="0"/>
              </a:rPr>
              <a:t>This is important with </a:t>
            </a:r>
            <a:r>
              <a:rPr lang="en-US" sz="2200" b="1" dirty="0">
                <a:latin typeface="Arial" panose="020B0604020202020204" pitchFamily="34" charset="0"/>
                <a:cs typeface="Arial" panose="020B0604020202020204" pitchFamily="34" charset="0"/>
              </a:rPr>
              <a:t>greater emphasis on security and sustainability</a:t>
            </a:r>
            <a:r>
              <a:rPr lang="en-US" sz="2200" dirty="0">
                <a:latin typeface="Arial" panose="020B0604020202020204" pitchFamily="34" charset="0"/>
                <a:cs typeface="Arial" panose="020B0604020202020204" pitchFamily="34" charset="0"/>
              </a:rPr>
              <a:t>. </a:t>
            </a:r>
            <a:r>
              <a:rPr lang="en-US" sz="2200" b="1" dirty="0">
                <a:latin typeface="Arial" panose="020B0604020202020204" pitchFamily="34" charset="0"/>
                <a:cs typeface="Arial" panose="020B0604020202020204" pitchFamily="34" charset="0"/>
              </a:rPr>
              <a:t>Radio frequency identification (RFID) tags </a:t>
            </a:r>
            <a:r>
              <a:rPr lang="en-US" sz="2200" dirty="0">
                <a:latin typeface="Arial" panose="020B0604020202020204" pitchFamily="34" charset="0"/>
                <a:cs typeface="Arial" panose="020B0604020202020204" pitchFamily="34" charset="0"/>
              </a:rPr>
              <a:t>have provided excellent product traceability.</a:t>
            </a:r>
          </a:p>
          <a:p>
            <a:pPr marL="342900" indent="-342900">
              <a:buFont typeface="Wingdings" panose="05000000000000000000" pitchFamily="2" charset="2"/>
              <a:buChar char="v"/>
            </a:pPr>
            <a:r>
              <a:rPr lang="en-IN" sz="2200" b="1" dirty="0">
                <a:latin typeface="Arial" panose="020B0604020202020204" pitchFamily="34" charset="0"/>
                <a:cs typeface="Arial" panose="020B0604020202020204" pitchFamily="34" charset="0"/>
              </a:rPr>
              <a:t>Specialized Sourcing and Operations - </a:t>
            </a:r>
            <a:r>
              <a:rPr lang="en-US" sz="2200" dirty="0">
                <a:latin typeface="Arial" panose="020B0604020202020204" pitchFamily="34" charset="0"/>
                <a:cs typeface="Arial" panose="020B0604020202020204" pitchFamily="34" charset="0"/>
              </a:rPr>
              <a:t>This often requires more </a:t>
            </a:r>
            <a:r>
              <a:rPr lang="en-US" sz="2200" b="1" dirty="0">
                <a:latin typeface="Arial" panose="020B0604020202020204" pitchFamily="34" charset="0"/>
                <a:cs typeface="Arial" panose="020B0604020202020204" pitchFamily="34" charset="0"/>
              </a:rPr>
              <a:t>stringent supplier selection processes to ensure that raw materials meet high standards</a:t>
            </a:r>
            <a:r>
              <a:rPr lang="en-US" sz="2200" dirty="0">
                <a:latin typeface="Arial" panose="020B0604020202020204" pitchFamily="34" charset="0"/>
                <a:cs typeface="Arial" panose="020B0604020202020204" pitchFamily="34" charset="0"/>
              </a:rPr>
              <a:t>. In terms of operations, </a:t>
            </a:r>
            <a:r>
              <a:rPr lang="en-US" sz="2200" b="1" dirty="0">
                <a:latin typeface="Arial" panose="020B0604020202020204" pitchFamily="34" charset="0"/>
                <a:cs typeface="Arial" panose="020B0604020202020204" pitchFamily="34" charset="0"/>
              </a:rPr>
              <a:t>companies may adopt "pull" systems</a:t>
            </a:r>
            <a:r>
              <a:rPr lang="en-US" sz="2200" dirty="0">
                <a:latin typeface="Arial" panose="020B0604020202020204" pitchFamily="34" charset="0"/>
                <a:cs typeface="Arial" panose="020B0604020202020204" pitchFamily="34" charset="0"/>
              </a:rPr>
              <a:t>—such as pressing oils only after an order is received—</a:t>
            </a:r>
            <a:r>
              <a:rPr lang="en-US" sz="2200" b="1" dirty="0">
                <a:latin typeface="Arial" panose="020B0604020202020204" pitchFamily="34" charset="0"/>
                <a:cs typeface="Arial" panose="020B0604020202020204" pitchFamily="34" charset="0"/>
              </a:rPr>
              <a:t>to ensure maximum freshness and potency.</a:t>
            </a:r>
            <a:endParaRPr lang="en-IN" sz="2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29333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F0F49-AB54-7157-B550-89819273CA8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D064F81-9090-92C5-F742-654D39377749}"/>
              </a:ext>
            </a:extLst>
          </p:cNvPr>
          <p:cNvSpPr/>
          <p:nvPr/>
        </p:nvSpPr>
        <p:spPr>
          <a:xfrm>
            <a:off x="456714" y="0"/>
            <a:ext cx="11602608"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t>SUPPLY CHAIN STRATEGIC DESIGN</a:t>
            </a:r>
            <a:endParaRPr lang="en-IN" sz="85700" b="1" dirty="0">
              <a:solidFill>
                <a:schemeClr val="accent4">
                  <a:lumMod val="20000"/>
                  <a:lumOff val="80000"/>
                </a:schemeClr>
              </a:solidFill>
            </a:endParaRPr>
          </a:p>
        </p:txBody>
      </p:sp>
      <p:sp>
        <p:nvSpPr>
          <p:cNvPr id="6" name="TextBox 5">
            <a:extLst>
              <a:ext uri="{FF2B5EF4-FFF2-40B4-BE49-F238E27FC236}">
                <a16:creationId xmlns:a16="http://schemas.microsoft.com/office/drawing/2014/main" id="{3EDC7115-7114-DBE4-8D5D-467EC5C30EED}"/>
              </a:ext>
            </a:extLst>
          </p:cNvPr>
          <p:cNvSpPr txBox="1"/>
          <p:nvPr/>
        </p:nvSpPr>
        <p:spPr>
          <a:xfrm>
            <a:off x="456713" y="870626"/>
            <a:ext cx="11440535" cy="5601533"/>
          </a:xfrm>
          <a:prstGeom prst="rect">
            <a:avLst/>
          </a:prstGeom>
          <a:solidFill>
            <a:schemeClr val="accent6">
              <a:lumMod val="20000"/>
              <a:lumOff val="80000"/>
            </a:schemeClr>
          </a:solidFill>
        </p:spPr>
        <p:txBody>
          <a:bodyPr wrap="square">
            <a:spAutoFit/>
          </a:bodyPr>
          <a:lstStyle/>
          <a:p>
            <a:r>
              <a:rPr lang="en-IN" sz="2200" b="1" i="0" u="none" strike="noStrike" baseline="0" dirty="0">
                <a:latin typeface="Arial" panose="020B0604020202020204" pitchFamily="34" charset="0"/>
                <a:cs typeface="Arial" panose="020B0604020202020204" pitchFamily="34" charset="0"/>
              </a:rPr>
              <a:t>(E)	</a:t>
            </a:r>
            <a:r>
              <a:rPr lang="en-IN" sz="2200" b="1" i="0" u="sng" strike="noStrike" baseline="0" dirty="0">
                <a:latin typeface="Arial" panose="020B0604020202020204" pitchFamily="34" charset="0"/>
                <a:cs typeface="Arial" panose="020B0604020202020204" pitchFamily="34" charset="0"/>
              </a:rPr>
              <a:t>COMPETING ON SERVICE</a:t>
            </a:r>
          </a:p>
          <a:p>
            <a:pPr marL="342900" indent="-342900" algn="just">
              <a:buFont typeface="Wingdings" panose="05000000000000000000" pitchFamily="2" charset="2"/>
              <a:buChar char="v"/>
            </a:pPr>
            <a:r>
              <a:rPr lang="en-US" sz="2800" dirty="0">
                <a:latin typeface="Arial" panose="020B0604020202020204" pitchFamily="34" charset="0"/>
                <a:cs typeface="Arial" panose="020B0604020202020204" pitchFamily="34" charset="0"/>
              </a:rPr>
              <a:t>Company focusing on understanding the specific dimensions its target customers defined as </a:t>
            </a:r>
            <a:r>
              <a:rPr lang="en-US" sz="2800" b="1" dirty="0">
                <a:latin typeface="Arial" panose="020B0604020202020204" pitchFamily="34" charset="0"/>
                <a:cs typeface="Arial" panose="020B0604020202020204" pitchFamily="34" charset="0"/>
              </a:rPr>
              <a:t>"high service" </a:t>
            </a:r>
            <a:r>
              <a:rPr lang="en-US" sz="2800" dirty="0">
                <a:latin typeface="Arial" panose="020B0604020202020204" pitchFamily="34" charset="0"/>
                <a:cs typeface="Arial" panose="020B0604020202020204" pitchFamily="34" charset="0"/>
              </a:rPr>
              <a:t>and tailors its products and processes to meet those needs.</a:t>
            </a:r>
          </a:p>
          <a:p>
            <a:pPr marL="342900" indent="-342900" algn="just">
              <a:buFont typeface="Wingdings" panose="05000000000000000000" pitchFamily="2" charset="2"/>
              <a:buChar char="v"/>
            </a:pPr>
            <a:r>
              <a:rPr lang="en-US" sz="2800" dirty="0">
                <a:latin typeface="Arial" panose="020B0604020202020204" pitchFamily="34" charset="0"/>
                <a:cs typeface="Arial" panose="020B0604020202020204" pitchFamily="34" charset="0"/>
              </a:rPr>
              <a:t>Increasingly vital because service-based differentiation is harder for competitors to replicate than technology or product features alone.</a:t>
            </a:r>
          </a:p>
          <a:p>
            <a:pPr marL="342900" indent="-342900" algn="just">
              <a:buFont typeface="Wingdings" panose="05000000000000000000" pitchFamily="2" charset="2"/>
              <a:buChar char="v"/>
            </a:pPr>
            <a:r>
              <a:rPr lang="en-US" sz="2800" b="1" dirty="0">
                <a:latin typeface="Arial" panose="020B0604020202020204" pitchFamily="34" charset="0"/>
                <a:cs typeface="Arial" panose="020B0604020202020204" pitchFamily="34" charset="0"/>
              </a:rPr>
              <a:t>Key elements of a service-focused supply chain design</a:t>
            </a:r>
          </a:p>
          <a:p>
            <a:pPr marL="800100" lvl="1" indent="-342900" algn="just">
              <a:buFont typeface="Wingdings" panose="05000000000000000000" pitchFamily="2" charset="2"/>
              <a:buChar char="v"/>
            </a:pPr>
            <a:r>
              <a:rPr lang="en-US" sz="2800" b="1" dirty="0">
                <a:latin typeface="Arial" panose="020B0604020202020204" pitchFamily="34" charset="0"/>
                <a:cs typeface="Arial" panose="020B0604020202020204" pitchFamily="34" charset="0"/>
              </a:rPr>
              <a:t>Building Customer Loyalty:</a:t>
            </a:r>
            <a:r>
              <a:rPr lang="en-US" sz="2800" dirty="0">
                <a:latin typeface="Arial" panose="020B0604020202020204" pitchFamily="34" charset="0"/>
                <a:cs typeface="Arial" panose="020B0604020202020204" pitchFamily="34" charset="0"/>
              </a:rPr>
              <a:t> By tailoring products to meet specific needs, companies build strong customer loyalty, which often guarantees </a:t>
            </a:r>
            <a:r>
              <a:rPr lang="en-US" sz="2800" b="1" dirty="0">
                <a:latin typeface="Arial" panose="020B0604020202020204" pitchFamily="34" charset="0"/>
                <a:cs typeface="Arial" panose="020B0604020202020204" pitchFamily="34" charset="0"/>
              </a:rPr>
              <a:t>continued sales</a:t>
            </a:r>
          </a:p>
          <a:p>
            <a:pPr marL="800100" lvl="1" indent="-342900" algn="just">
              <a:buFont typeface="Wingdings" panose="05000000000000000000" pitchFamily="2" charset="2"/>
              <a:buChar char="v"/>
            </a:pPr>
            <a:r>
              <a:rPr lang="en-US" sz="2800" b="1" dirty="0">
                <a:latin typeface="Arial" panose="020B0604020202020204" pitchFamily="34" charset="0"/>
                <a:cs typeface="Arial" panose="020B0604020202020204" pitchFamily="34" charset="0"/>
              </a:rPr>
              <a:t>Operational Excellence:</a:t>
            </a:r>
            <a:r>
              <a:rPr lang="en-US" sz="2800" dirty="0">
                <a:latin typeface="Arial" panose="020B0604020202020204" pitchFamily="34" charset="0"/>
                <a:cs typeface="Arial" panose="020B0604020202020204" pitchFamily="34" charset="0"/>
              </a:rPr>
              <a:t> These companies typically utilize </a:t>
            </a:r>
            <a:r>
              <a:rPr lang="en-US" sz="2800" b="1" dirty="0">
                <a:latin typeface="Arial" panose="020B0604020202020204" pitchFamily="34" charset="0"/>
                <a:cs typeface="Arial" panose="020B0604020202020204" pitchFamily="34" charset="0"/>
              </a:rPr>
              <a:t>exceptional order fulfillment systems</a:t>
            </a:r>
            <a:r>
              <a:rPr lang="en-US" sz="2800" dirty="0">
                <a:latin typeface="Arial" panose="020B0604020202020204" pitchFamily="34" charset="0"/>
                <a:cs typeface="Arial" panose="020B0604020202020204" pitchFamily="34" charset="0"/>
              </a:rPr>
              <a:t> and fast invoicing, which allow them to remain remarkably consistent and reliable</a:t>
            </a:r>
          </a:p>
        </p:txBody>
      </p:sp>
    </p:spTree>
    <p:extLst>
      <p:ext uri="{BB962C8B-B14F-4D97-AF65-F5344CB8AC3E}">
        <p14:creationId xmlns:p14="http://schemas.microsoft.com/office/powerpoint/2010/main" val="3584398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AE31A-54D5-24E8-EA65-25CC1FBAE0C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417D09A-C9C9-7CE7-68D9-32872F3463CA}"/>
              </a:ext>
            </a:extLst>
          </p:cNvPr>
          <p:cNvSpPr/>
          <p:nvPr/>
        </p:nvSpPr>
        <p:spPr>
          <a:xfrm>
            <a:off x="456714" y="0"/>
            <a:ext cx="11602608"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t>SUPPLY CHAIN STRATEGIC DESIGN</a:t>
            </a:r>
            <a:endParaRPr lang="en-IN" sz="85700" b="1" dirty="0">
              <a:solidFill>
                <a:schemeClr val="accent4">
                  <a:lumMod val="20000"/>
                  <a:lumOff val="80000"/>
                </a:schemeClr>
              </a:solidFill>
            </a:endParaRPr>
          </a:p>
        </p:txBody>
      </p:sp>
      <p:sp>
        <p:nvSpPr>
          <p:cNvPr id="6" name="TextBox 5">
            <a:extLst>
              <a:ext uri="{FF2B5EF4-FFF2-40B4-BE49-F238E27FC236}">
                <a16:creationId xmlns:a16="http://schemas.microsoft.com/office/drawing/2014/main" id="{6CA7FF2D-45C3-A28F-E612-5244C9213BAA}"/>
              </a:ext>
            </a:extLst>
          </p:cNvPr>
          <p:cNvSpPr txBox="1"/>
          <p:nvPr/>
        </p:nvSpPr>
        <p:spPr>
          <a:xfrm>
            <a:off x="456716" y="870626"/>
            <a:ext cx="11376056" cy="5693866"/>
          </a:xfrm>
          <a:prstGeom prst="rect">
            <a:avLst/>
          </a:prstGeom>
          <a:solidFill>
            <a:schemeClr val="accent6">
              <a:lumMod val="20000"/>
              <a:lumOff val="80000"/>
            </a:schemeClr>
          </a:solidFill>
        </p:spPr>
        <p:txBody>
          <a:bodyPr wrap="square">
            <a:spAutoFit/>
          </a:bodyPr>
          <a:lstStyle/>
          <a:p>
            <a:r>
              <a:rPr lang="en-IN" sz="2400" b="1" i="0" u="none" strike="noStrike" baseline="0" dirty="0">
                <a:latin typeface="Arial" panose="020B0604020202020204" pitchFamily="34" charset="0"/>
                <a:cs typeface="Arial" panose="020B0604020202020204" pitchFamily="34" charset="0"/>
              </a:rPr>
              <a:t>(E)	</a:t>
            </a:r>
            <a:r>
              <a:rPr lang="en-IN" sz="2400" b="1" i="0" u="sng" strike="noStrike" baseline="0" dirty="0">
                <a:latin typeface="Arial" panose="020B0604020202020204" pitchFamily="34" charset="0"/>
                <a:cs typeface="Arial" panose="020B0604020202020204" pitchFamily="34" charset="0"/>
              </a:rPr>
              <a:t>COMPETING ON SERVICE</a:t>
            </a:r>
          </a:p>
          <a:p>
            <a:pPr marL="342900" indent="-342900" algn="just">
              <a:buFont typeface="Wingdings" panose="05000000000000000000" pitchFamily="2" charset="2"/>
              <a:buChar char="v"/>
            </a:pPr>
            <a:r>
              <a:rPr lang="en-US" sz="2600" b="1" dirty="0">
                <a:latin typeface="Arial" panose="020B0604020202020204" pitchFamily="34" charset="0"/>
                <a:cs typeface="Arial" panose="020B0604020202020204" pitchFamily="34" charset="0"/>
              </a:rPr>
              <a:t>Key elements of a service-focused supply chain design</a:t>
            </a:r>
          </a:p>
          <a:p>
            <a:pPr marL="800100" lvl="1" indent="-342900" algn="just">
              <a:buFont typeface="Wingdings" panose="05000000000000000000" pitchFamily="2" charset="2"/>
              <a:buChar char="v"/>
            </a:pPr>
            <a:r>
              <a:rPr lang="en-US" sz="2600" b="1" dirty="0">
                <a:latin typeface="Arial" panose="020B0604020202020204" pitchFamily="34" charset="0"/>
                <a:cs typeface="Arial" panose="020B0604020202020204" pitchFamily="34" charset="0"/>
              </a:rPr>
              <a:t>Targeting the "Value-Segment":</a:t>
            </a:r>
            <a:r>
              <a:rPr lang="en-US" sz="2600" dirty="0">
                <a:latin typeface="Arial" panose="020B0604020202020204" pitchFamily="34" charset="0"/>
                <a:cs typeface="Arial" panose="020B0604020202020204" pitchFamily="34" charset="0"/>
              </a:rPr>
              <a:t> Companies competing on service generally target customers who </a:t>
            </a:r>
            <a:r>
              <a:rPr lang="en-US" sz="2600" b="1" dirty="0">
                <a:latin typeface="Arial" panose="020B0604020202020204" pitchFamily="34" charset="0"/>
                <a:cs typeface="Arial" panose="020B0604020202020204" pitchFamily="34" charset="0"/>
              </a:rPr>
              <a:t>prioritize high-quality service </a:t>
            </a:r>
            <a:r>
              <a:rPr lang="en-US" sz="2600" dirty="0">
                <a:latin typeface="Arial" panose="020B0604020202020204" pitchFamily="34" charset="0"/>
                <a:cs typeface="Arial" panose="020B0604020202020204" pitchFamily="34" charset="0"/>
              </a:rPr>
              <a:t>and are willing to pay a premium for it.</a:t>
            </a:r>
          </a:p>
          <a:p>
            <a:pPr marL="800100" lvl="1" indent="-342900" algn="just">
              <a:buFont typeface="Wingdings" panose="05000000000000000000" pitchFamily="2" charset="2"/>
              <a:buChar char="v"/>
            </a:pPr>
            <a:r>
              <a:rPr lang="en-US" sz="2600" b="1" dirty="0">
                <a:latin typeface="Arial" panose="020B0604020202020204" pitchFamily="34" charset="0"/>
                <a:cs typeface="Arial" panose="020B0604020202020204" pitchFamily="34" charset="0"/>
              </a:rPr>
              <a:t>Strategic Market Segmentation:</a:t>
            </a:r>
            <a:r>
              <a:rPr lang="en-US" sz="2600" dirty="0">
                <a:latin typeface="Arial" panose="020B0604020202020204" pitchFamily="34" charset="0"/>
                <a:cs typeface="Arial" panose="020B0604020202020204" pitchFamily="34" charset="0"/>
              </a:rPr>
              <a:t> A hallmark of this strategy is the ability to segment customers based on their </a:t>
            </a:r>
            <a:r>
              <a:rPr lang="en-US" sz="2600" b="1" dirty="0">
                <a:latin typeface="Arial" panose="020B0604020202020204" pitchFamily="34" charset="0"/>
                <a:cs typeface="Arial" panose="020B0604020202020204" pitchFamily="34" charset="0"/>
              </a:rPr>
              <a:t>perceived value</a:t>
            </a:r>
          </a:p>
          <a:p>
            <a:pPr marL="800100" lvl="1" indent="-342900" algn="just">
              <a:buFont typeface="Wingdings" panose="05000000000000000000" pitchFamily="2" charset="2"/>
              <a:buChar char="v"/>
            </a:pPr>
            <a:r>
              <a:rPr lang="en-US" sz="2600" b="1" dirty="0">
                <a:latin typeface="Arial" panose="020B0604020202020204" pitchFamily="34" charset="0"/>
                <a:cs typeface="Arial" panose="020B0604020202020204" pitchFamily="34" charset="0"/>
              </a:rPr>
              <a:t>Cost Avoidance through Reliability:</a:t>
            </a:r>
            <a:r>
              <a:rPr lang="en-US" sz="2600" dirty="0">
                <a:latin typeface="Arial" panose="020B0604020202020204" pitchFamily="34" charset="0"/>
                <a:cs typeface="Arial" panose="020B0604020202020204" pitchFamily="34" charset="0"/>
              </a:rPr>
              <a:t> From an operational standpoint, superior service can actually </a:t>
            </a:r>
            <a:r>
              <a:rPr lang="en-US" sz="2600" b="1" dirty="0">
                <a:latin typeface="Arial" panose="020B0604020202020204" pitchFamily="34" charset="0"/>
                <a:cs typeface="Arial" panose="020B0604020202020204" pitchFamily="34" charset="0"/>
              </a:rPr>
              <a:t>lower certain costs</a:t>
            </a:r>
            <a:r>
              <a:rPr lang="en-US" sz="2600" dirty="0">
                <a:latin typeface="Arial" panose="020B0604020202020204" pitchFamily="34" charset="0"/>
                <a:cs typeface="Arial" panose="020B0604020202020204" pitchFamily="34" charset="0"/>
              </a:rPr>
              <a:t> by avoiding the expenses associated with expediting late orders or processing frequent product returns</a:t>
            </a:r>
          </a:p>
          <a:p>
            <a:pPr marL="800100" lvl="1" indent="-342900" algn="just">
              <a:buFont typeface="Wingdings" panose="05000000000000000000" pitchFamily="2" charset="2"/>
              <a:buChar char="v"/>
            </a:pPr>
            <a:r>
              <a:rPr lang="en-US" sz="2600" b="1" dirty="0">
                <a:latin typeface="Arial" panose="020B0604020202020204" pitchFamily="34" charset="0"/>
                <a:cs typeface="Arial" panose="020B0604020202020204" pitchFamily="34" charset="0"/>
              </a:rPr>
              <a:t>Broad Service Scope:</a:t>
            </a:r>
            <a:r>
              <a:rPr lang="en-US" sz="2600" dirty="0">
                <a:latin typeface="Arial" panose="020B0604020202020204" pitchFamily="34" charset="0"/>
                <a:cs typeface="Arial" panose="020B0604020202020204" pitchFamily="34" charset="0"/>
              </a:rPr>
              <a:t> Differentiation through service extends beyond the physical product to include </a:t>
            </a:r>
            <a:r>
              <a:rPr lang="en-US" sz="2600" b="1" dirty="0">
                <a:latin typeface="Arial" panose="020B0604020202020204" pitchFamily="34" charset="0"/>
                <a:cs typeface="Arial" panose="020B0604020202020204" pitchFamily="34" charset="0"/>
              </a:rPr>
              <a:t>relationships, after-sales support, technical support, maintenance, and flexible financial packages</a:t>
            </a:r>
            <a:endParaRPr lang="en-IN" sz="2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21937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37506-D907-08BA-8F4C-3D886445BC3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DE91713-7650-833B-F12D-7F6D32B69FE4}"/>
              </a:ext>
            </a:extLst>
          </p:cNvPr>
          <p:cNvSpPr/>
          <p:nvPr/>
        </p:nvSpPr>
        <p:spPr>
          <a:xfrm>
            <a:off x="456714" y="0"/>
            <a:ext cx="11602608"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t>SUPPLY CHAIN STRATEGIC DESIGN</a:t>
            </a:r>
            <a:endParaRPr lang="en-IN" sz="85700" b="1" dirty="0">
              <a:solidFill>
                <a:schemeClr val="accent4">
                  <a:lumMod val="20000"/>
                  <a:lumOff val="80000"/>
                </a:schemeClr>
              </a:solidFill>
            </a:endParaRPr>
          </a:p>
        </p:txBody>
      </p:sp>
      <p:graphicFrame>
        <p:nvGraphicFramePr>
          <p:cNvPr id="2" name="Table 1">
            <a:extLst>
              <a:ext uri="{FF2B5EF4-FFF2-40B4-BE49-F238E27FC236}">
                <a16:creationId xmlns:a16="http://schemas.microsoft.com/office/drawing/2014/main" id="{798677CD-C5AE-F5E9-023C-678B57F8635A}"/>
              </a:ext>
            </a:extLst>
          </p:cNvPr>
          <p:cNvGraphicFramePr>
            <a:graphicFrameLocks noGrp="1"/>
          </p:cNvGraphicFramePr>
          <p:nvPr>
            <p:extLst>
              <p:ext uri="{D42A27DB-BD31-4B8C-83A1-F6EECF244321}">
                <p14:modId xmlns:p14="http://schemas.microsoft.com/office/powerpoint/2010/main" val="1206784873"/>
              </p:ext>
            </p:extLst>
          </p:nvPr>
        </p:nvGraphicFramePr>
        <p:xfrm>
          <a:off x="590774" y="1032901"/>
          <a:ext cx="11371730" cy="4946904"/>
        </p:xfrm>
        <a:graphic>
          <a:graphicData uri="http://schemas.openxmlformats.org/drawingml/2006/table">
            <a:tbl>
              <a:tblPr firstRow="1" firstCol="1" bandRow="1">
                <a:tableStyleId>{5940675A-B579-460E-94D1-54222C63F5DA}</a:tableStyleId>
              </a:tblPr>
              <a:tblGrid>
                <a:gridCol w="2060095">
                  <a:extLst>
                    <a:ext uri="{9D8B030D-6E8A-4147-A177-3AD203B41FA5}">
                      <a16:colId xmlns:a16="http://schemas.microsoft.com/office/drawing/2014/main" val="2369173177"/>
                    </a:ext>
                  </a:extLst>
                </a:gridCol>
                <a:gridCol w="6689253">
                  <a:extLst>
                    <a:ext uri="{9D8B030D-6E8A-4147-A177-3AD203B41FA5}">
                      <a16:colId xmlns:a16="http://schemas.microsoft.com/office/drawing/2014/main" val="544793825"/>
                    </a:ext>
                  </a:extLst>
                </a:gridCol>
                <a:gridCol w="2622382">
                  <a:extLst>
                    <a:ext uri="{9D8B030D-6E8A-4147-A177-3AD203B41FA5}">
                      <a16:colId xmlns:a16="http://schemas.microsoft.com/office/drawing/2014/main" val="8541901"/>
                    </a:ext>
                  </a:extLst>
                </a:gridCol>
              </a:tblGrid>
              <a:tr h="0">
                <a:tc>
                  <a:txBody>
                    <a:bodyPr/>
                    <a:lstStyle/>
                    <a:p>
                      <a:pPr marL="85725" indent="0" algn="ctr">
                        <a:lnSpc>
                          <a:spcPct val="115000"/>
                        </a:lnSpc>
                        <a:spcAft>
                          <a:spcPts val="800"/>
                        </a:spcAft>
                        <a:buNone/>
                      </a:pPr>
                      <a:r>
                        <a:rPr lang="en-IN" sz="2400" b="1" kern="100" dirty="0">
                          <a:effectLst/>
                          <a:latin typeface="Arial" panose="020B0604020202020204" pitchFamily="34" charset="0"/>
                          <a:cs typeface="Arial" panose="020B0604020202020204" pitchFamily="34" charset="0"/>
                        </a:rPr>
                        <a:t>Competitive Priority</a:t>
                      </a:r>
                      <a:endParaRPr lang="en-IN" sz="2400" b="1" kern="100" dirty="0">
                        <a:effectLst/>
                        <a:latin typeface="Arial" panose="020B0604020202020204" pitchFamily="34" charset="0"/>
                        <a:ea typeface="Aptos" panose="020B0004020202020204" pitchFamily="34" charset="0"/>
                        <a:cs typeface="Arial" panose="020B0604020202020204" pitchFamily="34" charset="0"/>
                      </a:endParaRPr>
                    </a:p>
                  </a:txBody>
                  <a:tcPr marL="9525" marR="9525" marT="9525" marB="9525" anchor="ctr">
                    <a:solidFill>
                      <a:schemeClr val="accent4">
                        <a:lumMod val="20000"/>
                        <a:lumOff val="80000"/>
                      </a:schemeClr>
                    </a:solidFill>
                  </a:tcPr>
                </a:tc>
                <a:tc>
                  <a:txBody>
                    <a:bodyPr/>
                    <a:lstStyle/>
                    <a:p>
                      <a:pPr marL="182563" indent="0" algn="ctr">
                        <a:lnSpc>
                          <a:spcPct val="115000"/>
                        </a:lnSpc>
                        <a:spcAft>
                          <a:spcPts val="800"/>
                        </a:spcAft>
                        <a:buNone/>
                      </a:pPr>
                      <a:r>
                        <a:rPr lang="en-IN" sz="2400" b="1" kern="100" dirty="0">
                          <a:effectLst/>
                          <a:latin typeface="Arial" panose="020B0604020202020204" pitchFamily="34" charset="0"/>
                          <a:cs typeface="Arial" panose="020B0604020202020204" pitchFamily="34" charset="0"/>
                        </a:rPr>
                        <a:t>Supply Chain Design Focus</a:t>
                      </a:r>
                      <a:endParaRPr lang="en-IN" sz="2400" b="1" kern="100" dirty="0">
                        <a:effectLst/>
                        <a:latin typeface="Arial" panose="020B0604020202020204" pitchFamily="34" charset="0"/>
                        <a:ea typeface="Aptos" panose="020B0004020202020204" pitchFamily="34" charset="0"/>
                        <a:cs typeface="Arial" panose="020B0604020202020204" pitchFamily="34" charset="0"/>
                      </a:endParaRPr>
                    </a:p>
                  </a:txBody>
                  <a:tcPr marL="9525" marR="9525" marT="9525" marB="9525" anchor="ctr">
                    <a:solidFill>
                      <a:schemeClr val="accent6">
                        <a:lumMod val="20000"/>
                        <a:lumOff val="80000"/>
                      </a:schemeClr>
                    </a:solidFill>
                  </a:tcPr>
                </a:tc>
                <a:tc>
                  <a:txBody>
                    <a:bodyPr/>
                    <a:lstStyle/>
                    <a:p>
                      <a:pPr algn="ctr">
                        <a:lnSpc>
                          <a:spcPct val="115000"/>
                        </a:lnSpc>
                        <a:spcAft>
                          <a:spcPts val="800"/>
                        </a:spcAft>
                        <a:buNone/>
                      </a:pPr>
                      <a:r>
                        <a:rPr lang="en-IN" sz="2400" b="1" kern="100" dirty="0">
                          <a:solidFill>
                            <a:schemeClr val="tx1"/>
                          </a:solidFill>
                          <a:effectLst/>
                          <a:latin typeface="Arial" panose="020B0604020202020204" pitchFamily="34" charset="0"/>
                          <a:ea typeface="+mn-ea"/>
                          <a:cs typeface="Arial" panose="020B0604020202020204" pitchFamily="34" charset="0"/>
                        </a:rPr>
                        <a:t>Example</a:t>
                      </a:r>
                    </a:p>
                  </a:txBody>
                  <a:tcPr marL="9525" marR="9525" marT="9525" marB="9525" anchor="ctr">
                    <a:solidFill>
                      <a:schemeClr val="accent2">
                        <a:lumMod val="20000"/>
                        <a:lumOff val="80000"/>
                      </a:schemeClr>
                    </a:solidFill>
                  </a:tcPr>
                </a:tc>
                <a:extLst>
                  <a:ext uri="{0D108BD9-81ED-4DB2-BD59-A6C34878D82A}">
                    <a16:rowId xmlns:a16="http://schemas.microsoft.com/office/drawing/2014/main" val="998423610"/>
                  </a:ext>
                </a:extLst>
              </a:tr>
              <a:tr h="0">
                <a:tc>
                  <a:txBody>
                    <a:bodyPr/>
                    <a:lstStyle/>
                    <a:p>
                      <a:pPr marL="85725" indent="0" algn="l" defTabSz="914400" rtl="0" eaLnBrk="1" latinLnBrk="0" hangingPunct="1">
                        <a:lnSpc>
                          <a:spcPct val="115000"/>
                        </a:lnSpc>
                        <a:spcAft>
                          <a:spcPts val="800"/>
                        </a:spcAft>
                        <a:buNone/>
                      </a:pPr>
                      <a:r>
                        <a:rPr lang="en-IN" sz="2400" b="1" kern="100" dirty="0">
                          <a:solidFill>
                            <a:schemeClr val="tx1"/>
                          </a:solidFill>
                          <a:effectLst/>
                          <a:latin typeface="Arial" panose="020B0604020202020204" pitchFamily="34" charset="0"/>
                          <a:ea typeface="+mn-ea"/>
                          <a:cs typeface="Arial" panose="020B0604020202020204" pitchFamily="34" charset="0"/>
                        </a:rPr>
                        <a:t>Cost</a:t>
                      </a:r>
                    </a:p>
                  </a:txBody>
                  <a:tcPr marL="9525" marR="9525" marT="9525" marB="9525" anchor="ctr">
                    <a:solidFill>
                      <a:schemeClr val="accent4">
                        <a:lumMod val="20000"/>
                        <a:lumOff val="80000"/>
                      </a:schemeClr>
                    </a:solidFill>
                  </a:tcPr>
                </a:tc>
                <a:tc>
                  <a:txBody>
                    <a:bodyPr/>
                    <a:lstStyle/>
                    <a:p>
                      <a:pPr marL="182563" indent="0" algn="l" defTabSz="914400" rtl="0" eaLnBrk="1" latinLnBrk="0" hangingPunct="1">
                        <a:lnSpc>
                          <a:spcPct val="115000"/>
                        </a:lnSpc>
                        <a:spcAft>
                          <a:spcPts val="800"/>
                        </a:spcAft>
                        <a:buNone/>
                      </a:pPr>
                      <a:r>
                        <a:rPr lang="en-IN" sz="2400" b="0" kern="100" dirty="0">
                          <a:solidFill>
                            <a:schemeClr val="tx1"/>
                          </a:solidFill>
                          <a:effectLst/>
                          <a:latin typeface="Arial" panose="020B0604020202020204" pitchFamily="34" charset="0"/>
                          <a:ea typeface="+mn-ea"/>
                          <a:cs typeface="Arial" panose="020B0604020202020204" pitchFamily="34" charset="0"/>
                        </a:rPr>
                        <a:t>High efficiency, asset utilization, and low-cost suppliers.</a:t>
                      </a:r>
                    </a:p>
                  </a:txBody>
                  <a:tcPr marL="9525" marR="9525" marT="9525" marB="9525" anchor="ctr">
                    <a:solidFill>
                      <a:schemeClr val="accent6">
                        <a:lumMod val="20000"/>
                        <a:lumOff val="80000"/>
                      </a:schemeClr>
                    </a:solidFill>
                  </a:tcPr>
                </a:tc>
                <a:tc>
                  <a:txBody>
                    <a:bodyPr/>
                    <a:lstStyle/>
                    <a:p>
                      <a:pPr marL="182563" indent="0">
                        <a:lnSpc>
                          <a:spcPct val="115000"/>
                        </a:lnSpc>
                        <a:spcAft>
                          <a:spcPts val="800"/>
                        </a:spcAft>
                        <a:buNone/>
                      </a:pPr>
                      <a:r>
                        <a:rPr lang="en-IN" sz="2400" kern="100" dirty="0">
                          <a:solidFill>
                            <a:schemeClr val="tx1"/>
                          </a:solidFill>
                          <a:effectLst/>
                          <a:latin typeface="Arial" panose="020B0604020202020204" pitchFamily="34" charset="0"/>
                          <a:ea typeface="+mn-ea"/>
                          <a:cs typeface="Arial" panose="020B0604020202020204" pitchFamily="34" charset="0"/>
                        </a:rPr>
                        <a:t>Wal-Mart</a:t>
                      </a:r>
                    </a:p>
                  </a:txBody>
                  <a:tcPr marL="9525" marR="9525" marT="9525" marB="9525" anchor="ctr">
                    <a:solidFill>
                      <a:schemeClr val="accent2">
                        <a:lumMod val="20000"/>
                        <a:lumOff val="80000"/>
                      </a:schemeClr>
                    </a:solidFill>
                  </a:tcPr>
                </a:tc>
                <a:extLst>
                  <a:ext uri="{0D108BD9-81ED-4DB2-BD59-A6C34878D82A}">
                    <a16:rowId xmlns:a16="http://schemas.microsoft.com/office/drawing/2014/main" val="3007343974"/>
                  </a:ext>
                </a:extLst>
              </a:tr>
              <a:tr h="0">
                <a:tc>
                  <a:txBody>
                    <a:bodyPr/>
                    <a:lstStyle/>
                    <a:p>
                      <a:pPr marL="85725" indent="0" algn="l" defTabSz="914400" rtl="0" eaLnBrk="1" latinLnBrk="0" hangingPunct="1">
                        <a:lnSpc>
                          <a:spcPct val="115000"/>
                        </a:lnSpc>
                        <a:spcAft>
                          <a:spcPts val="800"/>
                        </a:spcAft>
                        <a:buNone/>
                      </a:pPr>
                      <a:r>
                        <a:rPr lang="en-IN" sz="2400" b="1" kern="100" dirty="0">
                          <a:solidFill>
                            <a:schemeClr val="tx1"/>
                          </a:solidFill>
                          <a:effectLst/>
                          <a:latin typeface="Arial" panose="020B0604020202020204" pitchFamily="34" charset="0"/>
                          <a:ea typeface="+mn-ea"/>
                          <a:cs typeface="Arial" panose="020B0604020202020204" pitchFamily="34" charset="0"/>
                        </a:rPr>
                        <a:t>Time</a:t>
                      </a:r>
                    </a:p>
                  </a:txBody>
                  <a:tcPr marL="9525" marR="9525" marT="9525" marB="9525" anchor="ctr">
                    <a:solidFill>
                      <a:schemeClr val="accent4">
                        <a:lumMod val="20000"/>
                        <a:lumOff val="80000"/>
                      </a:schemeClr>
                    </a:solidFill>
                  </a:tcPr>
                </a:tc>
                <a:tc>
                  <a:txBody>
                    <a:bodyPr/>
                    <a:lstStyle/>
                    <a:p>
                      <a:pPr marL="182563" indent="0" algn="l" defTabSz="914400" rtl="0" eaLnBrk="1" latinLnBrk="0" hangingPunct="1">
                        <a:lnSpc>
                          <a:spcPct val="115000"/>
                        </a:lnSpc>
                        <a:spcAft>
                          <a:spcPts val="800"/>
                        </a:spcAft>
                        <a:buNone/>
                      </a:pPr>
                      <a:r>
                        <a:rPr lang="en-IN" sz="2400" b="0" kern="100" dirty="0">
                          <a:solidFill>
                            <a:schemeClr val="tx1"/>
                          </a:solidFill>
                          <a:effectLst/>
                          <a:latin typeface="Arial" panose="020B0604020202020204" pitchFamily="34" charset="0"/>
                          <a:ea typeface="+mn-ea"/>
                          <a:cs typeface="Arial" panose="020B0604020202020204" pitchFamily="34" charset="0"/>
                        </a:rPr>
                        <a:t>Speed of delivery and reliability; elimination of non-value-added steps.</a:t>
                      </a:r>
                    </a:p>
                  </a:txBody>
                  <a:tcPr marL="9525" marR="9525" marT="9525" marB="9525" anchor="ctr">
                    <a:solidFill>
                      <a:schemeClr val="accent6">
                        <a:lumMod val="20000"/>
                        <a:lumOff val="80000"/>
                      </a:schemeClr>
                    </a:solidFill>
                  </a:tcPr>
                </a:tc>
                <a:tc>
                  <a:txBody>
                    <a:bodyPr/>
                    <a:lstStyle/>
                    <a:p>
                      <a:pPr marL="182563" indent="0">
                        <a:lnSpc>
                          <a:spcPct val="115000"/>
                        </a:lnSpc>
                        <a:spcAft>
                          <a:spcPts val="800"/>
                        </a:spcAft>
                        <a:buNone/>
                      </a:pPr>
                      <a:r>
                        <a:rPr lang="en-IN" sz="2400" kern="100" dirty="0">
                          <a:solidFill>
                            <a:schemeClr val="tx1"/>
                          </a:solidFill>
                          <a:effectLst/>
                          <a:latin typeface="Arial" panose="020B0604020202020204" pitchFamily="34" charset="0"/>
                          <a:ea typeface="+mn-ea"/>
                          <a:cs typeface="Arial" panose="020B0604020202020204" pitchFamily="34" charset="0"/>
                        </a:rPr>
                        <a:t>FedEx</a:t>
                      </a:r>
                    </a:p>
                  </a:txBody>
                  <a:tcPr marL="9525" marR="9525" marT="9525" marB="9525" anchor="ctr">
                    <a:solidFill>
                      <a:schemeClr val="accent2">
                        <a:lumMod val="20000"/>
                        <a:lumOff val="80000"/>
                      </a:schemeClr>
                    </a:solidFill>
                  </a:tcPr>
                </a:tc>
                <a:extLst>
                  <a:ext uri="{0D108BD9-81ED-4DB2-BD59-A6C34878D82A}">
                    <a16:rowId xmlns:a16="http://schemas.microsoft.com/office/drawing/2014/main" val="169285055"/>
                  </a:ext>
                </a:extLst>
              </a:tr>
              <a:tr h="0">
                <a:tc>
                  <a:txBody>
                    <a:bodyPr/>
                    <a:lstStyle/>
                    <a:p>
                      <a:pPr marL="85725" indent="0" algn="l" defTabSz="914400" rtl="0" eaLnBrk="1" latinLnBrk="0" hangingPunct="1">
                        <a:lnSpc>
                          <a:spcPct val="115000"/>
                        </a:lnSpc>
                        <a:spcAft>
                          <a:spcPts val="800"/>
                        </a:spcAft>
                        <a:buNone/>
                      </a:pPr>
                      <a:r>
                        <a:rPr lang="en-IN" sz="2400" b="1" kern="100" dirty="0">
                          <a:solidFill>
                            <a:schemeClr val="tx1"/>
                          </a:solidFill>
                          <a:effectLst/>
                          <a:latin typeface="Arial" panose="020B0604020202020204" pitchFamily="34" charset="0"/>
                          <a:ea typeface="+mn-ea"/>
                          <a:cs typeface="Arial" panose="020B0604020202020204" pitchFamily="34" charset="0"/>
                        </a:rPr>
                        <a:t>Innovation</a:t>
                      </a:r>
                    </a:p>
                  </a:txBody>
                  <a:tcPr marL="9525" marR="9525" marT="9525" marB="9525" anchor="ctr">
                    <a:solidFill>
                      <a:schemeClr val="accent4">
                        <a:lumMod val="20000"/>
                        <a:lumOff val="80000"/>
                      </a:schemeClr>
                    </a:solidFill>
                  </a:tcPr>
                </a:tc>
                <a:tc>
                  <a:txBody>
                    <a:bodyPr/>
                    <a:lstStyle/>
                    <a:p>
                      <a:pPr marL="182563" indent="0" algn="l" defTabSz="914400" rtl="0" eaLnBrk="1" latinLnBrk="0" hangingPunct="1">
                        <a:lnSpc>
                          <a:spcPct val="115000"/>
                        </a:lnSpc>
                        <a:spcAft>
                          <a:spcPts val="800"/>
                        </a:spcAft>
                        <a:buNone/>
                      </a:pPr>
                      <a:r>
                        <a:rPr lang="en-IN" sz="2400" b="0" kern="100" dirty="0">
                          <a:solidFill>
                            <a:schemeClr val="tx1"/>
                          </a:solidFill>
                          <a:effectLst/>
                          <a:latin typeface="Arial" panose="020B0604020202020204" pitchFamily="34" charset="0"/>
                          <a:ea typeface="+mn-ea"/>
                          <a:cs typeface="Arial" panose="020B0604020202020204" pitchFamily="34" charset="0"/>
                        </a:rPr>
                        <a:t>Speed and collaboration on product design; ability to ramp up volume quickly.</a:t>
                      </a:r>
                    </a:p>
                  </a:txBody>
                  <a:tcPr marL="9525" marR="9525" marT="9525" marB="9525" anchor="ctr">
                    <a:solidFill>
                      <a:schemeClr val="accent6">
                        <a:lumMod val="20000"/>
                        <a:lumOff val="80000"/>
                      </a:schemeClr>
                    </a:solidFill>
                  </a:tcPr>
                </a:tc>
                <a:tc>
                  <a:txBody>
                    <a:bodyPr/>
                    <a:lstStyle/>
                    <a:p>
                      <a:pPr marL="182563" indent="0">
                        <a:lnSpc>
                          <a:spcPct val="115000"/>
                        </a:lnSpc>
                        <a:spcAft>
                          <a:spcPts val="800"/>
                        </a:spcAft>
                        <a:buNone/>
                      </a:pPr>
                      <a:r>
                        <a:rPr lang="en-IN" sz="2400" kern="100" dirty="0">
                          <a:solidFill>
                            <a:schemeClr val="tx1"/>
                          </a:solidFill>
                          <a:effectLst/>
                          <a:latin typeface="Arial" panose="020B0604020202020204" pitchFamily="34" charset="0"/>
                          <a:ea typeface="+mn-ea"/>
                          <a:cs typeface="Arial" panose="020B0604020202020204" pitchFamily="34" charset="0"/>
                        </a:rPr>
                        <a:t>Nike / Sony</a:t>
                      </a:r>
                    </a:p>
                  </a:txBody>
                  <a:tcPr marL="9525" marR="9525" marT="9525" marB="9525" anchor="ctr">
                    <a:solidFill>
                      <a:schemeClr val="accent2">
                        <a:lumMod val="20000"/>
                        <a:lumOff val="80000"/>
                      </a:schemeClr>
                    </a:solidFill>
                  </a:tcPr>
                </a:tc>
                <a:extLst>
                  <a:ext uri="{0D108BD9-81ED-4DB2-BD59-A6C34878D82A}">
                    <a16:rowId xmlns:a16="http://schemas.microsoft.com/office/drawing/2014/main" val="834814763"/>
                  </a:ext>
                </a:extLst>
              </a:tr>
              <a:tr h="0">
                <a:tc>
                  <a:txBody>
                    <a:bodyPr/>
                    <a:lstStyle/>
                    <a:p>
                      <a:pPr marL="85725" indent="0" algn="l" defTabSz="914400" rtl="0" eaLnBrk="1" latinLnBrk="0" hangingPunct="1">
                        <a:lnSpc>
                          <a:spcPct val="115000"/>
                        </a:lnSpc>
                        <a:spcAft>
                          <a:spcPts val="800"/>
                        </a:spcAft>
                        <a:buNone/>
                      </a:pPr>
                      <a:r>
                        <a:rPr lang="en-IN" sz="2400" b="1" kern="100" dirty="0">
                          <a:solidFill>
                            <a:schemeClr val="tx1"/>
                          </a:solidFill>
                          <a:effectLst/>
                          <a:latin typeface="Arial" panose="020B0604020202020204" pitchFamily="34" charset="0"/>
                          <a:ea typeface="+mn-ea"/>
                          <a:cs typeface="Arial" panose="020B0604020202020204" pitchFamily="34" charset="0"/>
                        </a:rPr>
                        <a:t>Quality</a:t>
                      </a:r>
                    </a:p>
                  </a:txBody>
                  <a:tcPr marL="9525" marR="9525" marT="9525" marB="9525" anchor="ctr">
                    <a:solidFill>
                      <a:schemeClr val="accent4">
                        <a:lumMod val="20000"/>
                        <a:lumOff val="80000"/>
                      </a:schemeClr>
                    </a:solidFill>
                  </a:tcPr>
                </a:tc>
                <a:tc>
                  <a:txBody>
                    <a:bodyPr/>
                    <a:lstStyle/>
                    <a:p>
                      <a:pPr marL="182563" indent="0" algn="l" defTabSz="914400" rtl="0" eaLnBrk="1" latinLnBrk="0" hangingPunct="1">
                        <a:lnSpc>
                          <a:spcPct val="115000"/>
                        </a:lnSpc>
                        <a:spcAft>
                          <a:spcPts val="800"/>
                        </a:spcAft>
                        <a:buNone/>
                      </a:pPr>
                      <a:r>
                        <a:rPr lang="en-IN" sz="2400" b="0" kern="100" dirty="0">
                          <a:solidFill>
                            <a:schemeClr val="tx1"/>
                          </a:solidFill>
                          <a:effectLst/>
                          <a:latin typeface="Arial" panose="020B0604020202020204" pitchFamily="34" charset="0"/>
                          <a:ea typeface="+mn-ea"/>
                          <a:cs typeface="Arial" panose="020B0604020202020204" pitchFamily="34" charset="0"/>
                        </a:rPr>
                        <a:t>Consistency, reliability, and product traceability (e.g., using RFID).</a:t>
                      </a:r>
                    </a:p>
                  </a:txBody>
                  <a:tcPr marL="9525" marR="9525" marT="9525" marB="9525" anchor="ctr">
                    <a:solidFill>
                      <a:schemeClr val="accent6">
                        <a:lumMod val="20000"/>
                        <a:lumOff val="80000"/>
                      </a:schemeClr>
                    </a:solidFill>
                  </a:tcPr>
                </a:tc>
                <a:tc>
                  <a:txBody>
                    <a:bodyPr/>
                    <a:lstStyle/>
                    <a:p>
                      <a:pPr marL="182563" indent="0">
                        <a:lnSpc>
                          <a:spcPct val="115000"/>
                        </a:lnSpc>
                        <a:spcAft>
                          <a:spcPts val="800"/>
                        </a:spcAft>
                        <a:buNone/>
                      </a:pPr>
                      <a:r>
                        <a:rPr lang="en-IN" sz="2400" kern="100" dirty="0">
                          <a:solidFill>
                            <a:schemeClr val="tx1"/>
                          </a:solidFill>
                          <a:effectLst/>
                          <a:latin typeface="Arial" panose="020B0604020202020204" pitchFamily="34" charset="0"/>
                          <a:ea typeface="+mn-ea"/>
                          <a:cs typeface="Arial" panose="020B0604020202020204" pitchFamily="34" charset="0"/>
                        </a:rPr>
                        <a:t>Mercedes / </a:t>
                      </a:r>
                      <a:r>
                        <a:rPr lang="en-IN" sz="2400" kern="100" dirty="0" err="1">
                          <a:solidFill>
                            <a:schemeClr val="tx1"/>
                          </a:solidFill>
                          <a:effectLst/>
                          <a:latin typeface="Arial" panose="020B0604020202020204" pitchFamily="34" charset="0"/>
                          <a:ea typeface="+mn-ea"/>
                          <a:cs typeface="Arial" panose="020B0604020202020204" pitchFamily="34" charset="0"/>
                        </a:rPr>
                        <a:t>Barlean’s</a:t>
                      </a:r>
                      <a:endParaRPr lang="en-IN" sz="2400" kern="100" dirty="0">
                        <a:solidFill>
                          <a:schemeClr val="tx1"/>
                        </a:solidFill>
                        <a:effectLst/>
                        <a:latin typeface="Arial" panose="020B0604020202020204" pitchFamily="34" charset="0"/>
                        <a:ea typeface="+mn-ea"/>
                        <a:cs typeface="Arial" panose="020B0604020202020204" pitchFamily="34" charset="0"/>
                      </a:endParaRPr>
                    </a:p>
                  </a:txBody>
                  <a:tcPr marL="9525" marR="9525" marT="9525" marB="9525" anchor="ctr">
                    <a:solidFill>
                      <a:schemeClr val="accent2">
                        <a:lumMod val="20000"/>
                        <a:lumOff val="80000"/>
                      </a:schemeClr>
                    </a:solidFill>
                  </a:tcPr>
                </a:tc>
                <a:extLst>
                  <a:ext uri="{0D108BD9-81ED-4DB2-BD59-A6C34878D82A}">
                    <a16:rowId xmlns:a16="http://schemas.microsoft.com/office/drawing/2014/main" val="2669877093"/>
                  </a:ext>
                </a:extLst>
              </a:tr>
              <a:tr h="0">
                <a:tc>
                  <a:txBody>
                    <a:bodyPr/>
                    <a:lstStyle/>
                    <a:p>
                      <a:pPr marL="85725" indent="0" algn="l" defTabSz="914400" rtl="0" eaLnBrk="1" latinLnBrk="0" hangingPunct="1">
                        <a:lnSpc>
                          <a:spcPct val="115000"/>
                        </a:lnSpc>
                        <a:spcAft>
                          <a:spcPts val="800"/>
                        </a:spcAft>
                        <a:buNone/>
                      </a:pPr>
                      <a:r>
                        <a:rPr lang="en-IN" sz="2400" b="1" kern="100" dirty="0">
                          <a:solidFill>
                            <a:schemeClr val="tx1"/>
                          </a:solidFill>
                          <a:effectLst/>
                          <a:latin typeface="Arial" panose="020B0604020202020204" pitchFamily="34" charset="0"/>
                          <a:ea typeface="+mn-ea"/>
                          <a:cs typeface="Arial" panose="020B0604020202020204" pitchFamily="34" charset="0"/>
                        </a:rPr>
                        <a:t>Service</a:t>
                      </a:r>
                    </a:p>
                  </a:txBody>
                  <a:tcPr marL="9525" marR="9525" marT="9525" marB="9525" anchor="ctr">
                    <a:solidFill>
                      <a:schemeClr val="accent4">
                        <a:lumMod val="20000"/>
                        <a:lumOff val="80000"/>
                      </a:schemeClr>
                    </a:solidFill>
                  </a:tcPr>
                </a:tc>
                <a:tc>
                  <a:txBody>
                    <a:bodyPr/>
                    <a:lstStyle/>
                    <a:p>
                      <a:pPr marL="182563" indent="0" algn="l" defTabSz="914400" rtl="0" eaLnBrk="1" latinLnBrk="0" hangingPunct="1">
                        <a:lnSpc>
                          <a:spcPct val="115000"/>
                        </a:lnSpc>
                        <a:spcAft>
                          <a:spcPts val="800"/>
                        </a:spcAft>
                        <a:buNone/>
                      </a:pPr>
                      <a:r>
                        <a:rPr lang="en-IN" sz="2400" b="0" kern="100" dirty="0">
                          <a:solidFill>
                            <a:schemeClr val="tx1"/>
                          </a:solidFill>
                          <a:effectLst/>
                          <a:latin typeface="Arial" panose="020B0604020202020204" pitchFamily="34" charset="0"/>
                          <a:ea typeface="+mn-ea"/>
                          <a:cs typeface="Arial" panose="020B0604020202020204" pitchFamily="34" charset="0"/>
                        </a:rPr>
                        <a:t>Tailoring products to specific needs; exceptional order fulfilment.</a:t>
                      </a:r>
                    </a:p>
                  </a:txBody>
                  <a:tcPr marL="9525" marR="9525" marT="9525" marB="9525" anchor="ctr">
                    <a:solidFill>
                      <a:schemeClr val="accent6">
                        <a:lumMod val="20000"/>
                        <a:lumOff val="80000"/>
                      </a:schemeClr>
                    </a:solidFill>
                  </a:tcPr>
                </a:tc>
                <a:tc>
                  <a:txBody>
                    <a:bodyPr/>
                    <a:lstStyle/>
                    <a:p>
                      <a:pPr marL="182563" indent="0">
                        <a:lnSpc>
                          <a:spcPct val="115000"/>
                        </a:lnSpc>
                        <a:spcAft>
                          <a:spcPts val="800"/>
                        </a:spcAft>
                        <a:buNone/>
                      </a:pPr>
                      <a:r>
                        <a:rPr lang="en-IN" sz="2400" kern="100" dirty="0">
                          <a:solidFill>
                            <a:schemeClr val="tx1"/>
                          </a:solidFill>
                          <a:effectLst/>
                          <a:latin typeface="Arial" panose="020B0604020202020204" pitchFamily="34" charset="0"/>
                          <a:ea typeface="+mn-ea"/>
                          <a:cs typeface="Arial" panose="020B0604020202020204" pitchFamily="34" charset="0"/>
                        </a:rPr>
                        <a:t>Delta (Platinum service)</a:t>
                      </a:r>
                    </a:p>
                  </a:txBody>
                  <a:tcPr marL="9525" marR="9525" marT="9525" marB="9525" anchor="ctr">
                    <a:solidFill>
                      <a:schemeClr val="accent2">
                        <a:lumMod val="20000"/>
                        <a:lumOff val="80000"/>
                      </a:schemeClr>
                    </a:solidFill>
                  </a:tcPr>
                </a:tc>
                <a:extLst>
                  <a:ext uri="{0D108BD9-81ED-4DB2-BD59-A6C34878D82A}">
                    <a16:rowId xmlns:a16="http://schemas.microsoft.com/office/drawing/2014/main" val="1872740891"/>
                  </a:ext>
                </a:extLst>
              </a:tr>
            </a:tbl>
          </a:graphicData>
        </a:graphic>
      </p:graphicFrame>
    </p:spTree>
    <p:extLst>
      <p:ext uri="{BB962C8B-B14F-4D97-AF65-F5344CB8AC3E}">
        <p14:creationId xmlns:p14="http://schemas.microsoft.com/office/powerpoint/2010/main" val="2802515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3130C-CF4B-C47C-DF6C-65A59B27C6D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5A6E282-98AA-F2FB-D207-05F886CE5BA8}"/>
              </a:ext>
            </a:extLst>
          </p:cNvPr>
          <p:cNvSpPr/>
          <p:nvPr/>
        </p:nvSpPr>
        <p:spPr>
          <a:xfrm>
            <a:off x="456714" y="0"/>
            <a:ext cx="11602608"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t>SUPPLY CHAIN STRATEGIC DESIGN</a:t>
            </a:r>
            <a:endParaRPr lang="en-IN" sz="85700" b="1" dirty="0">
              <a:solidFill>
                <a:schemeClr val="accent4">
                  <a:lumMod val="20000"/>
                  <a:lumOff val="80000"/>
                </a:schemeClr>
              </a:solidFill>
            </a:endParaRPr>
          </a:p>
        </p:txBody>
      </p:sp>
      <p:sp>
        <p:nvSpPr>
          <p:cNvPr id="4" name="Rectangle 2">
            <a:extLst>
              <a:ext uri="{FF2B5EF4-FFF2-40B4-BE49-F238E27FC236}">
                <a16:creationId xmlns:a16="http://schemas.microsoft.com/office/drawing/2014/main" id="{0CB13065-884A-B674-4688-DEF4EA92E68E}"/>
              </a:ext>
            </a:extLst>
          </p:cNvPr>
          <p:cNvSpPr>
            <a:spLocks noChangeArrowheads="1"/>
          </p:cNvSpPr>
          <p:nvPr/>
        </p:nvSpPr>
        <p:spPr bwMode="auto">
          <a:xfrm>
            <a:off x="456714" y="968988"/>
            <a:ext cx="11505790" cy="5324535"/>
          </a:xfrm>
          <a:prstGeom prst="rect">
            <a:avLst/>
          </a:prstGeom>
          <a:solidFill>
            <a:schemeClr val="accent6">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latin typeface="Arial" panose="020B0604020202020204" pitchFamily="34" charset="0"/>
              </a:rPr>
              <a:t>Trade-offs among supply chain design and adaptability</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800" b="0" i="0" u="none" strike="noStrike" cap="none" normalizeH="0" baseline="0" dirty="0">
                <a:ln>
                  <a:noFill/>
                </a:ln>
                <a:solidFill>
                  <a:schemeClr val="tx1"/>
                </a:solidFill>
                <a:effectLst/>
                <a:latin typeface="Arial" panose="020B0604020202020204" pitchFamily="34" charset="0"/>
              </a:rPr>
              <a:t>Successful strategic design requires understanding that a company </a:t>
            </a:r>
            <a:r>
              <a:rPr kumimoji="0" lang="en-US" altLang="en-US" sz="2800" b="1" i="0" u="none" strike="noStrike" cap="none" normalizeH="0" baseline="0" dirty="0">
                <a:ln>
                  <a:noFill/>
                </a:ln>
                <a:solidFill>
                  <a:schemeClr val="tx1"/>
                </a:solidFill>
                <a:effectLst/>
                <a:latin typeface="Arial" panose="020B0604020202020204" pitchFamily="34" charset="0"/>
              </a:rPr>
              <a:t>cannot compete on all dimensions</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en-US" sz="2800" dirty="0">
                <a:latin typeface="Arial" panose="020B0604020202020204" pitchFamily="34" charset="0"/>
              </a:rPr>
              <a:t>Companies need to monitor - </a:t>
            </a:r>
            <a:r>
              <a:rPr lang="en-US" sz="2800" b="1" dirty="0">
                <a:latin typeface="Arial" panose="020B0604020202020204" pitchFamily="34" charset="0"/>
              </a:rPr>
              <a:t>order </a:t>
            </a:r>
            <a:r>
              <a:rPr lang="en-IN" sz="2800" b="1" dirty="0">
                <a:latin typeface="Arial" panose="020B0604020202020204" pitchFamily="34" charset="0"/>
              </a:rPr>
              <a:t>winners </a:t>
            </a:r>
            <a:r>
              <a:rPr lang="en-IN" sz="2800" dirty="0">
                <a:latin typeface="Arial" panose="020B0604020202020204" pitchFamily="34" charset="0"/>
              </a:rPr>
              <a:t>and </a:t>
            </a:r>
            <a:r>
              <a:rPr lang="en-IN" sz="2800" b="1" dirty="0">
                <a:latin typeface="Arial" panose="020B0604020202020204" pitchFamily="34" charset="0"/>
              </a:rPr>
              <a:t>order qualifiers</a:t>
            </a:r>
            <a:r>
              <a:rPr lang="en-IN" sz="2800" dirty="0">
                <a:latin typeface="Arial" panose="020B0604020202020204" pitchFamily="34" charset="0"/>
              </a:rPr>
              <a:t>. </a:t>
            </a:r>
          </a:p>
          <a:p>
            <a:pPr marL="800100" lvl="1" indent="-342900" algn="just" eaLnBrk="0" fontAlgn="base" hangingPunct="0">
              <a:spcBef>
                <a:spcPct val="0"/>
              </a:spcBef>
              <a:spcAft>
                <a:spcPct val="0"/>
              </a:spcAft>
              <a:buFont typeface="Wingdings" panose="05000000000000000000" pitchFamily="2" charset="2"/>
              <a:buChar char="v"/>
            </a:pPr>
            <a:r>
              <a:rPr lang="en-US" sz="2800" b="1" dirty="0">
                <a:latin typeface="Arial" panose="020B0604020202020204" pitchFamily="34" charset="0"/>
              </a:rPr>
              <a:t>Order winners </a:t>
            </a:r>
            <a:r>
              <a:rPr lang="en-US" sz="2800" dirty="0">
                <a:latin typeface="Arial" panose="020B0604020202020204" pitchFamily="34" charset="0"/>
              </a:rPr>
              <a:t>are those characteristics that win the company orders in the marketplace. </a:t>
            </a:r>
          </a:p>
          <a:p>
            <a:pPr marL="800100" lvl="1" indent="-342900" algn="just" eaLnBrk="0" fontAlgn="base" hangingPunct="0">
              <a:spcBef>
                <a:spcPct val="0"/>
              </a:spcBef>
              <a:spcAft>
                <a:spcPct val="0"/>
              </a:spcAft>
              <a:buFont typeface="Wingdings" panose="05000000000000000000" pitchFamily="2" charset="2"/>
              <a:buChar char="v"/>
            </a:pPr>
            <a:r>
              <a:rPr lang="en-US" sz="2800" b="1" dirty="0">
                <a:latin typeface="Arial" panose="020B0604020202020204" pitchFamily="34" charset="0"/>
              </a:rPr>
              <a:t>Order qualifiers </a:t>
            </a:r>
            <a:r>
              <a:rPr lang="en-US" sz="2800" dirty="0">
                <a:latin typeface="Arial" panose="020B0604020202020204" pitchFamily="34" charset="0"/>
              </a:rPr>
              <a:t>are those characteristics that will qualify the company to be a participant in a particular market.</a:t>
            </a:r>
            <a:endParaRPr lang="en-US" altLang="en-US" sz="2800" dirty="0">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800" b="0" i="0" u="none" strike="noStrike" cap="none" normalizeH="0" baseline="0" dirty="0">
                <a:ln>
                  <a:noFill/>
                </a:ln>
                <a:solidFill>
                  <a:schemeClr val="tx1"/>
                </a:solidFill>
                <a:effectLst/>
                <a:latin typeface="Arial" panose="020B0604020202020204" pitchFamily="34" charset="0"/>
              </a:rPr>
              <a:t>Strategic design is a </a:t>
            </a:r>
            <a:r>
              <a:rPr kumimoji="0" lang="en-US" altLang="en-US" sz="2800" b="1" i="0" u="none" strike="noStrike" cap="none" normalizeH="0" baseline="0" dirty="0">
                <a:ln>
                  <a:noFill/>
                </a:ln>
                <a:solidFill>
                  <a:schemeClr val="tx1"/>
                </a:solidFill>
                <a:effectLst/>
                <a:latin typeface="Arial" panose="020B0604020202020204" pitchFamily="34" charset="0"/>
              </a:rPr>
              <a:t>dynamic process</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800" b="0" i="0" u="none" strike="noStrike" cap="none" normalizeH="0" baseline="0" dirty="0">
                <a:ln>
                  <a:noFill/>
                </a:ln>
                <a:solidFill>
                  <a:schemeClr val="tx1"/>
                </a:solidFill>
                <a:effectLst/>
                <a:latin typeface="Arial" panose="020B0604020202020204" pitchFamily="34" charset="0"/>
              </a:rPr>
              <a:t>Supply chains must be </a:t>
            </a:r>
            <a:r>
              <a:rPr kumimoji="0" lang="en-US" altLang="en-US" sz="2800" b="1" i="0" u="none" strike="noStrike" cap="none" normalizeH="0" baseline="0" dirty="0">
                <a:ln>
                  <a:noFill/>
                </a:ln>
                <a:solidFill>
                  <a:schemeClr val="tx1"/>
                </a:solidFill>
                <a:effectLst/>
                <a:latin typeface="Arial" panose="020B0604020202020204" pitchFamily="34" charset="0"/>
              </a:rPr>
              <a:t>adaptive</a:t>
            </a:r>
            <a:r>
              <a:rPr kumimoji="0" lang="en-US" altLang="en-US" sz="2800" b="0" i="0" u="none" strike="noStrike" cap="none" normalizeH="0" baseline="0" dirty="0">
                <a:ln>
                  <a:noFill/>
                </a:ln>
                <a:solidFill>
                  <a:schemeClr val="tx1"/>
                </a:solidFill>
                <a:effectLst/>
                <a:latin typeface="Arial" panose="020B0604020202020204" pitchFamily="34" charset="0"/>
              </a:rPr>
              <a:t> to respond to new technologies (like the Internet), shifts in business scope, or changes in the competitive landscape.</a:t>
            </a:r>
          </a:p>
        </p:txBody>
      </p:sp>
    </p:spTree>
    <p:extLst>
      <p:ext uri="{BB962C8B-B14F-4D97-AF65-F5344CB8AC3E}">
        <p14:creationId xmlns:p14="http://schemas.microsoft.com/office/powerpoint/2010/main" val="26948298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
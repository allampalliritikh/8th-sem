
<file path=[Content_Types].xml><?xml version="1.0" encoding="utf-8"?>
<Types xmlns="http://schemas.openxmlformats.org/package/2006/content-types">
  <Default ContentType="image/vnd.ms-photo" Extension="wdp"/>
  <Default ContentType="image/svg+xml" Extension="svg"/>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5940675A-B579-460E-94D1-54222C63F5DA}" styleName="No Style, Table Grid">
    <a:wholeTbl>
      <a:tcTxStyle>
        <a:fontRef idx="minor">
          <a:scrgbClr b="0" g="0" r="0"/>
        </a:fontRef>
        <a:schemeClr val="tx1"/>
      </a:tcTxStyle>
      <a:tcStyle>
        <a:tcBdr>
          <a:left>
            <a:ln cmpd="sng" w="12700">
              <a:solidFill>
                <a:schemeClr val="tx1"/>
              </a:solidFill>
            </a:ln>
          </a:left>
          <a:right>
            <a:ln cmpd="sng" w="12700">
              <a:solidFill>
                <a:schemeClr val="tx1"/>
              </a:solidFill>
            </a:ln>
          </a:right>
          <a:top>
            <a:ln cmpd="sng" w="12700">
              <a:solidFill>
                <a:schemeClr val="tx1"/>
              </a:solidFill>
            </a:ln>
          </a:top>
          <a:bottom>
            <a:ln cmpd="sng" w="12700">
              <a:solidFill>
                <a:schemeClr val="tx1"/>
              </a:solidFill>
            </a:ln>
          </a:bottom>
          <a:insideH>
            <a:ln cmpd="sng" w="12700">
              <a:solidFill>
                <a:schemeClr val="tx1"/>
              </a:solidFill>
            </a:ln>
          </a:insideH>
          <a:insideV>
            <a:ln cmpd="sng" w="12700">
              <a:solidFill>
                <a:schemeClr val="tx1"/>
              </a:solidFill>
            </a:ln>
          </a:insideV>
        </a:tcBdr>
        <a:fill>
          <a:noFill/>
        </a:fill>
      </a:tcStyle>
    </a:wholeTb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4FD05E-1953-4386-9505-AC975BE00FC9}" type="datetimeFigureOut">
              <a:rPr lang="en-IN" smtClean="0"/>
              <a:t>20-02-2026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F77331-91B3-43F7-A8C7-939C2F0788BC}" type="slidenum">
              <a:rPr lang="en-IN" smtClean="0"/>
              <a:t>‹#›</a:t>
            </a:fld>
            <a:endParaRPr lang="en-IN"/>
          </a:p>
        </p:txBody>
      </p:sp>
    </p:spTree>
    <p:extLst>
      <p:ext uri="{BB962C8B-B14F-4D97-AF65-F5344CB8AC3E}">
        <p14:creationId xmlns:p14="http://schemas.microsoft.com/office/powerpoint/2010/main" val="2463634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564C4-8CE5-6AC8-E276-02D00428EA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CD4783-20FC-5BB0-A3B8-833F8A6805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A6C259-A2AF-1916-B25C-F1C6E7304DBD}"/>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5" name="Footer Placeholder 4">
            <a:extLst>
              <a:ext uri="{FF2B5EF4-FFF2-40B4-BE49-F238E27FC236}">
                <a16:creationId xmlns:a16="http://schemas.microsoft.com/office/drawing/2014/main" id="{96676740-D85D-9741-04E0-29F923B432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B1475A-3008-1863-A818-86F72FB506EE}"/>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879587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1C24B-120C-8751-EDE5-7320B519D0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3E714F-C8F8-B0BE-D458-02064A1CF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1B3BB-62DD-9CF9-189B-DF4E547A4695}"/>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5" name="Footer Placeholder 4">
            <a:extLst>
              <a:ext uri="{FF2B5EF4-FFF2-40B4-BE49-F238E27FC236}">
                <a16:creationId xmlns:a16="http://schemas.microsoft.com/office/drawing/2014/main" id="{E9A4AFFC-49AB-51AA-C0E8-DC9EC5FCC8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54C26E-2C90-F454-D6BC-BD9B65B98578}"/>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79817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38EA-334E-3825-10D6-279238688D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C53938-7D98-454E-F902-7EF4B598E6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23B0FB-D80B-4ABE-BF16-8532B94A8D5E}"/>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5" name="Footer Placeholder 4">
            <a:extLst>
              <a:ext uri="{FF2B5EF4-FFF2-40B4-BE49-F238E27FC236}">
                <a16:creationId xmlns:a16="http://schemas.microsoft.com/office/drawing/2014/main" id="{E1D764DC-4E8D-0DDE-C502-C4C381860E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87BA1A-C81B-D5A9-7EAF-FF6180E144A8}"/>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404881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A912-302D-9A66-3224-3A925070B0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AAC8C1-5E73-E9EA-BA02-66B89A2486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91424D-61F2-BEE1-CB46-D35179E57E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B063BB-6D89-B9AE-E395-A88DF30AF042}"/>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6" name="Footer Placeholder 5">
            <a:extLst>
              <a:ext uri="{FF2B5EF4-FFF2-40B4-BE49-F238E27FC236}">
                <a16:creationId xmlns:a16="http://schemas.microsoft.com/office/drawing/2014/main" id="{B106091C-4CA2-F82C-94FB-948FEF0FDF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90DE0D-C3DC-C8C8-EDFD-A3BA8372961D}"/>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34594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F190-E87B-7D3A-6836-F58FC3C8D0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CB9808-44F5-A69A-6D71-FEF9A1A35F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49F537-F18D-91F4-1158-DFB5CD0000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67EAC2-38F8-E241-27BF-0C1183118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46F82D-6331-DFE6-95E9-84ECF9AB2E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488C9D-C8BE-7565-95F4-A879D17591BB}"/>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8" name="Footer Placeholder 7">
            <a:extLst>
              <a:ext uri="{FF2B5EF4-FFF2-40B4-BE49-F238E27FC236}">
                <a16:creationId xmlns:a16="http://schemas.microsoft.com/office/drawing/2014/main" id="{D762DB84-F830-225C-A2F9-531F2C9954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E7B309-C882-7577-9220-9FE02EF4F3D3}"/>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428346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E721-8A28-3328-5F32-2D7D872E7E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2DFDE5-BC2D-0386-68D5-C71181D09510}"/>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4" name="Footer Placeholder 3">
            <a:extLst>
              <a:ext uri="{FF2B5EF4-FFF2-40B4-BE49-F238E27FC236}">
                <a16:creationId xmlns:a16="http://schemas.microsoft.com/office/drawing/2014/main" id="{3A4543CE-6CD8-BBE6-234B-46C34225E4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F63376-6FC6-626D-1269-157B6C2BBB96}"/>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355249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B64D7-00C2-363A-F44F-761A7508F289}"/>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3" name="Footer Placeholder 2">
            <a:extLst>
              <a:ext uri="{FF2B5EF4-FFF2-40B4-BE49-F238E27FC236}">
                <a16:creationId xmlns:a16="http://schemas.microsoft.com/office/drawing/2014/main" id="{7A7EE53F-A619-D29B-4DB7-1842498D93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DBF7F8-0A2E-21B7-9E3C-5F83A6BB0D23}"/>
              </a:ext>
            </a:extLst>
          </p:cNvPr>
          <p:cNvSpPr>
            <a:spLocks noGrp="1"/>
          </p:cNvSpPr>
          <p:nvPr>
            <p:ph type="sldNum" sz="quarter" idx="12"/>
          </p:nvPr>
        </p:nvSpPr>
        <p:spPr/>
        <p:txBody>
          <a:bodyPr/>
          <a:lstStyle/>
          <a:p>
            <a:fld id="{7856CEF4-A663-4300-8161-6AC98A92BE99}" type="slidenum">
              <a:rPr lang="en-IN" smtClean="0"/>
              <a:t>‹#›</a:t>
            </a:fld>
            <a:endParaRPr lang="en-IN"/>
          </a:p>
        </p:txBody>
      </p:sp>
      <p:sp>
        <p:nvSpPr>
          <p:cNvPr id="5" name="Rectangle 4">
            <a:extLst>
              <a:ext uri="{FF2B5EF4-FFF2-40B4-BE49-F238E27FC236}">
                <a16:creationId xmlns:a16="http://schemas.microsoft.com/office/drawing/2014/main" id="{399D9A2A-459A-6C84-D7D3-1AA75FD8E4DC}"/>
              </a:ext>
            </a:extLst>
          </p:cNvPr>
          <p:cNvSpPr/>
          <p:nvPr userDrawn="1"/>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211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845B-9836-6C24-99CA-69C06A085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7F101B-9CF3-135C-1D58-28BC712B9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BE79A6-6DC6-DCE6-98FC-F3CCD1565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733346-1A60-2113-03FE-7FCB2953B910}"/>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6" name="Footer Placeholder 5">
            <a:extLst>
              <a:ext uri="{FF2B5EF4-FFF2-40B4-BE49-F238E27FC236}">
                <a16:creationId xmlns:a16="http://schemas.microsoft.com/office/drawing/2014/main" id="{F7FC82EC-7BC5-9885-BFAA-972E280CC2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667D6C-A7CC-033A-A6C1-FCC177507DC9}"/>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137621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2E9B-70B8-193B-F074-74E6264FD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3084E8-238A-686A-21BC-3272391DBC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137BE3-5070-6D10-2D9F-3D6B92EF51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048221-95D5-3EFE-3BF0-B7CEEC9FCD6D}"/>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6" name="Footer Placeholder 5">
            <a:extLst>
              <a:ext uri="{FF2B5EF4-FFF2-40B4-BE49-F238E27FC236}">
                <a16:creationId xmlns:a16="http://schemas.microsoft.com/office/drawing/2014/main" id="{CA74E30E-464E-D15A-36C4-1E8FCFC72E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0F4F7F-D5E0-D039-F03D-A8CA004FBC5C}"/>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747534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813B1-F75D-C591-D288-C9D5EB19A6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DB62C3-1E4E-501E-02F0-3DC5FC4EE4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730141-E426-EFD7-EDD1-79C065596EB3}"/>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5" name="Footer Placeholder 4">
            <a:extLst>
              <a:ext uri="{FF2B5EF4-FFF2-40B4-BE49-F238E27FC236}">
                <a16:creationId xmlns:a16="http://schemas.microsoft.com/office/drawing/2014/main" id="{2E30A717-EF90-546F-9B42-81109290A9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CA21A2-B59D-9569-79B9-9415FA1D69E0}"/>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302817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22AFA-7F00-E3FD-2B1A-1CE5A56AC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DD2004-66AD-7582-B382-FE8A4BB4CB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E52099-D2E8-C051-A6E0-BDEB68815242}"/>
              </a:ext>
            </a:extLst>
          </p:cNvPr>
          <p:cNvSpPr>
            <a:spLocks noGrp="1"/>
          </p:cNvSpPr>
          <p:nvPr>
            <p:ph type="dt" sz="half" idx="10"/>
          </p:nvPr>
        </p:nvSpPr>
        <p:spPr/>
        <p:txBody>
          <a:bodyPr/>
          <a:lstStyle/>
          <a:p>
            <a:fld id="{AB422B3B-D934-43CB-AFBE-702725D96A52}" type="datetimeFigureOut">
              <a:rPr lang="en-IN" smtClean="0"/>
              <a:t>20-02-2026</a:t>
            </a:fld>
            <a:endParaRPr lang="en-IN"/>
          </a:p>
        </p:txBody>
      </p:sp>
      <p:sp>
        <p:nvSpPr>
          <p:cNvPr id="5" name="Footer Placeholder 4">
            <a:extLst>
              <a:ext uri="{FF2B5EF4-FFF2-40B4-BE49-F238E27FC236}">
                <a16:creationId xmlns:a16="http://schemas.microsoft.com/office/drawing/2014/main" id="{D6B03100-0994-65C3-A670-E3CF4AE1F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0DB1C-F393-5CB9-90CD-993B95505030}"/>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180170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23B9E-77B3-8B15-DC75-2539CD522C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E3A20E-5CA8-4805-16DA-6D0141936C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F626B2-7382-97CF-D04F-A50BF7EB7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422B3B-D934-43CB-AFBE-702725D96A52}" type="datetimeFigureOut">
              <a:rPr lang="en-IN" smtClean="0"/>
              <a:t>20-02-2026</a:t>
            </a:fld>
            <a:endParaRPr lang="en-IN"/>
          </a:p>
        </p:txBody>
      </p:sp>
      <p:sp>
        <p:nvSpPr>
          <p:cNvPr id="5" name="Footer Placeholder 4">
            <a:extLst>
              <a:ext uri="{FF2B5EF4-FFF2-40B4-BE49-F238E27FC236}">
                <a16:creationId xmlns:a16="http://schemas.microsoft.com/office/drawing/2014/main" id="{49946E15-363F-79BE-0E24-7450B41200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97E08D-D3CC-3B0C-D43F-2D961E5329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56CEF4-A663-4300-8161-6AC98A92BE99}" type="slidenum">
              <a:rPr lang="en-IN" smtClean="0"/>
              <a:t>‹#›</a:t>
            </a:fld>
            <a:endParaRPr lang="en-IN"/>
          </a:p>
        </p:txBody>
      </p:sp>
    </p:spTree>
    <p:extLst>
      <p:ext uri="{BB962C8B-B14F-4D97-AF65-F5344CB8AC3E}">
        <p14:creationId xmlns:p14="http://schemas.microsoft.com/office/powerpoint/2010/main" val="3501987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hdphoto" Target="../media/hdphoto6.wdp"/><Relationship Id="rId3" Type="http://schemas.microsoft.com/office/2007/relationships/hdphoto" Target="../media/hdphoto1.wdp"/><Relationship Id="rId7" Type="http://schemas.microsoft.com/office/2007/relationships/hdphoto" Target="../media/hdphoto3.wdp"/><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microsoft.com/office/2007/relationships/hdphoto" Target="../media/hdphoto5.wdp"/><Relationship Id="rId5" Type="http://schemas.microsoft.com/office/2007/relationships/hdphoto" Target="../media/hdphoto2.wdp"/><Relationship Id="rId10" Type="http://schemas.openxmlformats.org/officeDocument/2006/relationships/image" Target="../media/image7.png"/><Relationship Id="rId4" Type="http://schemas.openxmlformats.org/officeDocument/2006/relationships/image" Target="../media/image4.png"/><Relationship Id="rId9" Type="http://schemas.microsoft.com/office/2007/relationships/hdphoto" Target="../media/hdphoto4.wdp"/></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amul.com/m/about-us" TargetMode="External"/><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34C325-28D0-F152-3D7A-469733E1A869}"/>
              </a:ext>
            </a:extLst>
          </p:cNvPr>
          <p:cNvPicPr>
            <a:picLocks noChangeAspect="1"/>
          </p:cNvPicPr>
          <p:nvPr/>
        </p:nvPicPr>
        <p:blipFill>
          <a:blip r:embed="rId2"/>
          <a:stretch>
            <a:fillRect/>
          </a:stretch>
        </p:blipFill>
        <p:spPr>
          <a:xfrm>
            <a:off x="485701" y="0"/>
            <a:ext cx="7491651" cy="6857999"/>
          </a:xfrm>
          <a:prstGeom prst="rect">
            <a:avLst/>
          </a:prstGeom>
          <a:ln>
            <a:noFill/>
          </a:ln>
        </p:spPr>
      </p:pic>
      <p:pic>
        <p:nvPicPr>
          <p:cNvPr id="1028" name="Picture 4">
            <a:extLst>
              <a:ext uri="{FF2B5EF4-FFF2-40B4-BE49-F238E27FC236}">
                <a16:creationId xmlns:a16="http://schemas.microsoft.com/office/drawing/2014/main" id="{6F4C01B2-D273-9ED2-A27B-731CDC7065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8885" y="1416269"/>
            <a:ext cx="4025461" cy="4025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661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B347B9D-DA08-B7BB-7B2E-C207B3AA4682}"/>
              </a:ext>
            </a:extLst>
          </p:cNvPr>
          <p:cNvSpPr/>
          <p:nvPr/>
        </p:nvSpPr>
        <p:spPr>
          <a:xfrm>
            <a:off x="807907" y="1384335"/>
            <a:ext cx="11142353" cy="4089329"/>
          </a:xfrm>
          <a:prstGeom prst="round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b="1" i="1" dirty="0">
                <a:solidFill>
                  <a:srgbClr val="C00000"/>
                </a:solidFill>
              </a:rPr>
              <a:t>SUBJECT: </a:t>
            </a:r>
            <a:r>
              <a:rPr lang="en-IN" sz="3200" b="1" i="1" dirty="0">
                <a:solidFill>
                  <a:schemeClr val="tx1"/>
                </a:solidFill>
              </a:rPr>
              <a:t>SUPPLY CHAIN MANAGEMENT STRATEGY</a:t>
            </a:r>
          </a:p>
          <a:p>
            <a:endParaRPr lang="en-IN" sz="3200" b="1" i="1" dirty="0">
              <a:solidFill>
                <a:schemeClr val="tx1"/>
              </a:solidFill>
            </a:endParaRPr>
          </a:p>
          <a:p>
            <a:r>
              <a:rPr lang="en-IN" sz="3200" b="1" i="1" dirty="0">
                <a:solidFill>
                  <a:srgbClr val="C00000"/>
                </a:solidFill>
              </a:rPr>
              <a:t>CHAPTER: </a:t>
            </a:r>
            <a:r>
              <a:rPr lang="en-IN" sz="3200" b="1" i="1" dirty="0">
                <a:solidFill>
                  <a:schemeClr val="tx1"/>
                </a:solidFill>
              </a:rPr>
              <a:t>01</a:t>
            </a:r>
          </a:p>
          <a:p>
            <a:r>
              <a:rPr lang="en-IN" sz="3200" b="1" i="1" dirty="0">
                <a:solidFill>
                  <a:srgbClr val="C00000"/>
                </a:solidFill>
              </a:rPr>
              <a:t>CHAPTER TITLE: </a:t>
            </a:r>
            <a:r>
              <a:rPr lang="en-IN" sz="2800" b="1" i="1" u="sng" dirty="0">
                <a:solidFill>
                  <a:srgbClr val="00B050"/>
                </a:solidFill>
                <a:effectLst>
                  <a:outerShdw blurRad="38100" dist="38100" dir="2700000" algn="tl">
                    <a:srgbClr val="000000">
                      <a:alpha val="43137"/>
                    </a:srgbClr>
                  </a:outerShdw>
                </a:effectLst>
              </a:rPr>
              <a:t>INTRODUCTION TO SUPPLY CHAIN MANAGEMENT</a:t>
            </a:r>
            <a:endParaRPr lang="en-IN" sz="3200" b="1" i="1" u="sng" dirty="0">
              <a:solidFill>
                <a:srgbClr val="00B050"/>
              </a:solidFill>
              <a:effectLst>
                <a:outerShdw blurRad="38100" dist="38100" dir="2700000" algn="tl">
                  <a:srgbClr val="000000">
                    <a:alpha val="43137"/>
                  </a:srgbClr>
                </a:outerShdw>
              </a:effectLst>
            </a:endParaRPr>
          </a:p>
          <a:p>
            <a:endParaRPr lang="en-IN" sz="3200" b="1" i="1" dirty="0">
              <a:solidFill>
                <a:srgbClr val="C00000"/>
              </a:solidFill>
            </a:endParaRPr>
          </a:p>
          <a:p>
            <a:r>
              <a:rPr lang="en-IN" sz="2800" b="1" i="1" dirty="0">
                <a:solidFill>
                  <a:srgbClr val="C00000"/>
                </a:solidFill>
                <a:highlight>
                  <a:srgbClr val="FFFF00"/>
                </a:highlight>
              </a:rPr>
              <a:t>REFERENCE BOOK: </a:t>
            </a:r>
          </a:p>
          <a:p>
            <a:r>
              <a:rPr lang="en-IN" b="1" i="1" dirty="0">
                <a:solidFill>
                  <a:srgbClr val="0000CC"/>
                </a:solidFill>
                <a:effectLst>
                  <a:outerShdw blurRad="38100" dist="38100" dir="2700000" algn="tl">
                    <a:srgbClr val="000000">
                      <a:alpha val="43137"/>
                    </a:srgbClr>
                  </a:outerShdw>
                </a:effectLst>
              </a:rPr>
              <a:t>SUPPLY CHAIN MANAGEMENT (AN INDIAN ADAPTATION), N R SANDERS &amp; S </a:t>
            </a:r>
            <a:r>
              <a:rPr lang="en-IN" b="1" i="1" dirty="0" err="1">
                <a:solidFill>
                  <a:srgbClr val="0000CC"/>
                </a:solidFill>
                <a:effectLst>
                  <a:outerShdw blurRad="38100" dist="38100" dir="2700000" algn="tl">
                    <a:srgbClr val="000000">
                      <a:alpha val="43137"/>
                    </a:srgbClr>
                  </a:outerShdw>
                </a:effectLst>
              </a:rPr>
              <a:t>S</a:t>
            </a:r>
            <a:r>
              <a:rPr lang="en-IN" b="1" i="1" dirty="0">
                <a:solidFill>
                  <a:srgbClr val="0000CC"/>
                </a:solidFill>
                <a:effectLst>
                  <a:outerShdw blurRad="38100" dist="38100" dir="2700000" algn="tl">
                    <a:srgbClr val="000000">
                      <a:alpha val="43137"/>
                    </a:srgbClr>
                  </a:outerShdw>
                </a:effectLst>
              </a:rPr>
              <a:t> PADHI, WILEY, 3</a:t>
            </a:r>
            <a:r>
              <a:rPr lang="en-IN" b="1" i="1" baseline="30000" dirty="0">
                <a:solidFill>
                  <a:srgbClr val="0000CC"/>
                </a:solidFill>
                <a:effectLst>
                  <a:outerShdw blurRad="38100" dist="38100" dir="2700000" algn="tl">
                    <a:srgbClr val="000000">
                      <a:alpha val="43137"/>
                    </a:srgbClr>
                  </a:outerShdw>
                </a:effectLst>
              </a:rPr>
              <a:t>RD</a:t>
            </a:r>
            <a:r>
              <a:rPr lang="en-IN" b="1" i="1" dirty="0">
                <a:solidFill>
                  <a:srgbClr val="0000CC"/>
                </a:solidFill>
                <a:effectLst>
                  <a:outerShdw blurRad="38100" dist="38100" dir="2700000" algn="tl">
                    <a:srgbClr val="000000">
                      <a:alpha val="43137"/>
                    </a:srgbClr>
                  </a:outerShdw>
                </a:effectLst>
              </a:rPr>
              <a:t> ED. (2023)</a:t>
            </a:r>
          </a:p>
        </p:txBody>
      </p:sp>
    </p:spTree>
    <p:extLst>
      <p:ext uri="{BB962C8B-B14F-4D97-AF65-F5344CB8AC3E}">
        <p14:creationId xmlns:p14="http://schemas.microsoft.com/office/powerpoint/2010/main" val="910635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9D68D-0A4D-71FE-AE0F-FE9D730FB19E}"/>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i="1" dirty="0">
                <a:solidFill>
                  <a:schemeClr val="bg1"/>
                </a:solidFill>
              </a:rPr>
              <a:t>KEY CONCEPTS</a:t>
            </a:r>
            <a:endParaRPr lang="en-IN" sz="4800" b="1" i="1" dirty="0">
              <a:solidFill>
                <a:schemeClr val="bg1"/>
              </a:solidFill>
            </a:endParaRPr>
          </a:p>
        </p:txBody>
      </p:sp>
      <p:graphicFrame>
        <p:nvGraphicFramePr>
          <p:cNvPr id="5" name="Table 4">
            <a:extLst>
              <a:ext uri="{FF2B5EF4-FFF2-40B4-BE49-F238E27FC236}">
                <a16:creationId xmlns:a16="http://schemas.microsoft.com/office/drawing/2014/main" id="{252B9960-8ED6-1992-2456-03EDA708802C}"/>
              </a:ext>
            </a:extLst>
          </p:cNvPr>
          <p:cNvGraphicFramePr>
            <a:graphicFrameLocks noGrp="1"/>
          </p:cNvGraphicFramePr>
          <p:nvPr>
            <p:extLst>
              <p:ext uri="{D42A27DB-BD31-4B8C-83A1-F6EECF244321}">
                <p14:modId xmlns:p14="http://schemas.microsoft.com/office/powerpoint/2010/main" val="3581308168"/>
              </p:ext>
            </p:extLst>
          </p:nvPr>
        </p:nvGraphicFramePr>
        <p:xfrm>
          <a:off x="619434" y="949278"/>
          <a:ext cx="11385753" cy="5654040"/>
        </p:xfrm>
        <a:graphic>
          <a:graphicData uri="http://schemas.openxmlformats.org/drawingml/2006/table">
            <a:tbl>
              <a:tblPr firstRow="1" bandRow="1">
                <a:tableStyleId>{5940675A-B579-460E-94D1-54222C63F5DA}</a:tableStyleId>
              </a:tblPr>
              <a:tblGrid>
                <a:gridCol w="1917601">
                  <a:extLst>
                    <a:ext uri="{9D8B030D-6E8A-4147-A177-3AD203B41FA5}">
                      <a16:colId xmlns:a16="http://schemas.microsoft.com/office/drawing/2014/main" val="1977987784"/>
                    </a:ext>
                  </a:extLst>
                </a:gridCol>
                <a:gridCol w="9468152">
                  <a:extLst>
                    <a:ext uri="{9D8B030D-6E8A-4147-A177-3AD203B41FA5}">
                      <a16:colId xmlns:a16="http://schemas.microsoft.com/office/drawing/2014/main" val="1654883193"/>
                    </a:ext>
                  </a:extLst>
                </a:gridCol>
              </a:tblGrid>
              <a:tr h="462748">
                <a:tc>
                  <a:txBody>
                    <a:bodyPr/>
                    <a:lstStyle/>
                    <a:p>
                      <a:pPr algn="l"/>
                      <a:r>
                        <a:rPr lang="en-IN" sz="2000" b="1" i="1" u="none" strike="noStrike" kern="1200" baseline="0" dirty="0">
                          <a:solidFill>
                            <a:srgbClr val="C00000"/>
                          </a:solidFill>
                          <a:latin typeface="+mn-lt"/>
                          <a:ea typeface="+mn-ea"/>
                          <a:cs typeface="+mn-cs"/>
                        </a:rPr>
                        <a:t>Supply chain</a:t>
                      </a:r>
                      <a:endParaRPr lang="en-IN" sz="2000" b="1" i="1" dirty="0">
                        <a:solidFill>
                          <a:srgbClr val="C00000"/>
                        </a:solidFill>
                      </a:endParaRPr>
                    </a:p>
                  </a:txBody>
                  <a:tcPr anchor="ctr"/>
                </a:tc>
                <a:tc>
                  <a:txBody>
                    <a:bodyPr/>
                    <a:lstStyle/>
                    <a:p>
                      <a:pPr algn="just"/>
                      <a:r>
                        <a:rPr lang="en-US" sz="2050" b="0" i="1" u="none" strike="noStrike" kern="1200" baseline="0" dirty="0">
                          <a:solidFill>
                            <a:schemeClr val="tx1"/>
                          </a:solidFill>
                          <a:latin typeface="+mn-lt"/>
                          <a:ea typeface="+mn-ea"/>
                          <a:cs typeface="+mn-cs"/>
                        </a:rPr>
                        <a:t>The </a:t>
                      </a:r>
                      <a:r>
                        <a:rPr lang="en-US" sz="205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network of all entities involved in producing and delivering a finished product to the final customer</a:t>
                      </a:r>
                      <a:r>
                        <a:rPr lang="en-US" sz="2050" b="0" i="1" u="none" strike="noStrike" kern="1200" baseline="0" dirty="0">
                          <a:solidFill>
                            <a:schemeClr val="tx1"/>
                          </a:solidFill>
                          <a:latin typeface="+mn-lt"/>
                          <a:ea typeface="+mn-ea"/>
                          <a:cs typeface="+mn-cs"/>
                        </a:rPr>
                        <a:t>, including sourcing raw materials and parts, manufacturing, producing, and assembling the products, storing goods in warehouses, order entry and tracking, distribution, and delivery </a:t>
                      </a:r>
                      <a:r>
                        <a:rPr lang="en-IN" sz="2050" b="0" i="1" u="none" strike="noStrike" kern="1200" baseline="0" dirty="0">
                          <a:solidFill>
                            <a:schemeClr val="tx1"/>
                          </a:solidFill>
                          <a:latin typeface="+mn-lt"/>
                          <a:ea typeface="+mn-ea"/>
                          <a:cs typeface="+mn-cs"/>
                        </a:rPr>
                        <a:t>to the final customer.</a:t>
                      </a:r>
                      <a:endParaRPr lang="en-IN" sz="2050" i="1" dirty="0"/>
                    </a:p>
                  </a:txBody>
                  <a:tcPr anchor="ctr"/>
                </a:tc>
                <a:extLst>
                  <a:ext uri="{0D108BD9-81ED-4DB2-BD59-A6C34878D82A}">
                    <a16:rowId xmlns:a16="http://schemas.microsoft.com/office/drawing/2014/main" val="1568289649"/>
                  </a:ext>
                </a:extLst>
              </a:tr>
              <a:tr h="462748">
                <a:tc>
                  <a:txBody>
                    <a:bodyPr/>
                    <a:lstStyle/>
                    <a:p>
                      <a:pPr algn="l"/>
                      <a:r>
                        <a:rPr lang="en-IN" sz="2000" b="1" i="1" u="none" strike="noStrike" kern="1200" baseline="0" dirty="0">
                          <a:solidFill>
                            <a:srgbClr val="C00000"/>
                          </a:solidFill>
                          <a:latin typeface="+mn-lt"/>
                          <a:ea typeface="+mn-ea"/>
                          <a:cs typeface="+mn-cs"/>
                        </a:rPr>
                        <a:t>Supply chain management (SCM)</a:t>
                      </a:r>
                      <a:endParaRPr lang="en-IN" sz="2000" b="1" i="1" dirty="0">
                        <a:solidFill>
                          <a:srgbClr val="C00000"/>
                        </a:solidFill>
                      </a:endParaRPr>
                    </a:p>
                  </a:txBody>
                  <a:tcPr anchor="ctr"/>
                </a:tc>
                <a:tc>
                  <a:txBody>
                    <a:bodyPr/>
                    <a:lstStyle/>
                    <a:p>
                      <a:pPr algn="just"/>
                      <a:r>
                        <a:rPr lang="en-US" sz="2050" b="0" i="1" u="none" strike="noStrike" kern="1200" baseline="0" dirty="0">
                          <a:solidFill>
                            <a:schemeClr val="tx1"/>
                          </a:solidFill>
                          <a:latin typeface="+mn-lt"/>
                          <a:ea typeface="+mn-ea"/>
                          <a:cs typeface="+mn-cs"/>
                        </a:rPr>
                        <a:t>The </a:t>
                      </a:r>
                      <a:r>
                        <a:rPr lang="en-US" sz="205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design and management of flows of products, information, and funds </a:t>
                      </a:r>
                      <a:r>
                        <a:rPr lang="en-US" sz="2050" b="0" i="1" u="none" strike="noStrike" kern="1200" baseline="0" dirty="0">
                          <a:solidFill>
                            <a:schemeClr val="tx1"/>
                          </a:solidFill>
                          <a:latin typeface="+mn-lt"/>
                          <a:ea typeface="+mn-ea"/>
                          <a:cs typeface="+mn-cs"/>
                        </a:rPr>
                        <a:t>throughout the supply chain.</a:t>
                      </a:r>
                      <a:endParaRPr lang="en-IN" sz="2050" i="1" dirty="0"/>
                    </a:p>
                  </a:txBody>
                  <a:tcPr anchor="ctr"/>
                </a:tc>
                <a:extLst>
                  <a:ext uri="{0D108BD9-81ED-4DB2-BD59-A6C34878D82A}">
                    <a16:rowId xmlns:a16="http://schemas.microsoft.com/office/drawing/2014/main" val="2360009864"/>
                  </a:ext>
                </a:extLst>
              </a:tr>
              <a:tr h="523735">
                <a:tc>
                  <a:txBody>
                    <a:bodyPr/>
                    <a:lstStyle/>
                    <a:p>
                      <a:pPr algn="l"/>
                      <a:r>
                        <a:rPr lang="en-IN" sz="2000" b="1" i="1" dirty="0">
                          <a:solidFill>
                            <a:srgbClr val="C00000"/>
                          </a:solidFill>
                        </a:rPr>
                        <a:t>Manufacturing Supply chain</a:t>
                      </a:r>
                    </a:p>
                  </a:txBody>
                  <a:tcPr anchor="ctr"/>
                </a:tc>
                <a:tc>
                  <a:txBody>
                    <a:bodyPr/>
                    <a:lstStyle/>
                    <a:p>
                      <a:pPr algn="just"/>
                      <a:r>
                        <a:rPr lang="en-IN" sz="2050" i="1" dirty="0"/>
                        <a:t>The supply chain (</a:t>
                      </a:r>
                      <a:r>
                        <a:rPr lang="en-US" sz="2050" b="0" i="1" u="none" strike="noStrike" kern="1200" baseline="0" dirty="0">
                          <a:solidFill>
                            <a:schemeClr val="tx1"/>
                          </a:solidFill>
                          <a:latin typeface="+mn-lt"/>
                          <a:ea typeface="+mn-ea"/>
                          <a:cs typeface="+mn-cs"/>
                        </a:rPr>
                        <a:t>network of all entities) that involved in </a:t>
                      </a:r>
                      <a:r>
                        <a:rPr lang="en-US" sz="205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producing and delivering a </a:t>
                      </a:r>
                      <a:r>
                        <a:rPr lang="en-IN" sz="205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tangible product</a:t>
                      </a:r>
                      <a:r>
                        <a:rPr lang="en-IN" sz="2050" b="0" i="1" u="none" strike="noStrike" kern="1200" baseline="0" dirty="0">
                          <a:solidFill>
                            <a:schemeClr val="tx1"/>
                          </a:solidFill>
                          <a:latin typeface="+mn-lt"/>
                          <a:ea typeface="+mn-ea"/>
                          <a:cs typeface="+mn-cs"/>
                        </a:rPr>
                        <a:t>. </a:t>
                      </a:r>
                      <a:endParaRPr lang="en-IN" sz="2050" i="1" dirty="0"/>
                    </a:p>
                  </a:txBody>
                  <a:tcPr anchor="ctr"/>
                </a:tc>
                <a:extLst>
                  <a:ext uri="{0D108BD9-81ED-4DB2-BD59-A6C34878D82A}">
                    <a16:rowId xmlns:a16="http://schemas.microsoft.com/office/drawing/2014/main" val="2614419949"/>
                  </a:ext>
                </a:extLst>
              </a:tr>
              <a:tr h="462748">
                <a:tc>
                  <a:txBody>
                    <a:bodyPr/>
                    <a:lstStyle/>
                    <a:p>
                      <a:pPr marL="0" algn="l" defTabSz="914400" rtl="0" eaLnBrk="1" latinLnBrk="0" hangingPunct="1"/>
                      <a:r>
                        <a:rPr lang="en-IN" sz="2000" b="1" i="1" u="none" strike="noStrike" kern="1200" baseline="0" dirty="0">
                          <a:solidFill>
                            <a:srgbClr val="C00000"/>
                          </a:solidFill>
                          <a:latin typeface="+mn-lt"/>
                          <a:ea typeface="+mn-ea"/>
                          <a:cs typeface="+mn-cs"/>
                        </a:rPr>
                        <a:t>Service supply chain</a:t>
                      </a:r>
                    </a:p>
                  </a:txBody>
                  <a:tcPr anchor="ctr"/>
                </a:tc>
                <a:tc>
                  <a:txBody>
                    <a:bodyPr/>
                    <a:lstStyle/>
                    <a:p>
                      <a:pPr marL="0" algn="just" defTabSz="914400" rtl="0" eaLnBrk="1" latinLnBrk="0" hangingPunct="1"/>
                      <a:r>
                        <a:rPr lang="en-IN" sz="2050" b="0" i="1" u="none" strike="noStrike" kern="1200" baseline="0" dirty="0">
                          <a:solidFill>
                            <a:schemeClr val="tx1"/>
                          </a:solidFill>
                          <a:latin typeface="+mn-lt"/>
                          <a:ea typeface="+mn-ea"/>
                          <a:cs typeface="+mn-cs"/>
                        </a:rPr>
                        <a:t>The supply chain that focuses more on the interaction between the customer and provider, in which t</a:t>
                      </a:r>
                      <a:r>
                        <a:rPr lang="en-US" sz="2050" b="0" i="1" u="none" strike="noStrike" kern="1200" baseline="0" dirty="0">
                          <a:solidFill>
                            <a:schemeClr val="tx1"/>
                          </a:solidFill>
                          <a:latin typeface="+mn-lt"/>
                          <a:ea typeface="+mn-ea"/>
                          <a:cs typeface="+mn-cs"/>
                        </a:rPr>
                        <a:t>he provider typically interacts directly with customers, without the buffer of retailers and distributors, enabling easier information sharing. </a:t>
                      </a:r>
                      <a:r>
                        <a:rPr lang="en-IN" sz="2050" b="0" i="1" u="none" strike="noStrike" kern="1200" baseline="0" dirty="0">
                          <a:solidFill>
                            <a:schemeClr val="tx1"/>
                          </a:solidFill>
                          <a:latin typeface="+mn-lt"/>
                          <a:ea typeface="+mn-ea"/>
                          <a:cs typeface="+mn-cs"/>
                        </a:rPr>
                        <a:t>In service </a:t>
                      </a:r>
                      <a:r>
                        <a:rPr lang="en-US" sz="2050" b="0" i="1" u="none" strike="noStrike" kern="1200" baseline="0" dirty="0" err="1">
                          <a:solidFill>
                            <a:schemeClr val="tx1"/>
                          </a:solidFill>
                          <a:latin typeface="+mn-lt"/>
                          <a:ea typeface="+mn-ea"/>
                          <a:cs typeface="+mn-cs"/>
                        </a:rPr>
                        <a:t>organisations</a:t>
                      </a:r>
                      <a:r>
                        <a:rPr lang="en-US" sz="2050" b="0" i="1" u="none" strike="noStrike" kern="1200" baseline="0" dirty="0">
                          <a:solidFill>
                            <a:schemeClr val="tx1"/>
                          </a:solidFill>
                          <a:latin typeface="+mn-lt"/>
                          <a:ea typeface="+mn-ea"/>
                          <a:cs typeface="+mn-cs"/>
                        </a:rPr>
                        <a:t>, the customer is the supplier of inputs and information, which can </a:t>
                      </a:r>
                      <a:r>
                        <a:rPr lang="en-IN" sz="2050" b="0" i="1" u="none" strike="noStrike" kern="1200" baseline="0" dirty="0">
                          <a:solidFill>
                            <a:schemeClr val="tx1"/>
                          </a:solidFill>
                          <a:latin typeface="+mn-lt"/>
                          <a:ea typeface="+mn-ea"/>
                          <a:cs typeface="+mn-cs"/>
                        </a:rPr>
                        <a:t>change the service delivery. </a:t>
                      </a:r>
                    </a:p>
                    <a:p>
                      <a:pPr marL="0" algn="just" defTabSz="914400" rtl="0" eaLnBrk="1" latinLnBrk="0" hangingPunct="1"/>
                      <a:r>
                        <a:rPr lang="en-IN" sz="2050" b="0" i="1" u="none" strike="noStrike" kern="1200" baseline="0" dirty="0">
                          <a:solidFill>
                            <a:schemeClr val="tx1"/>
                          </a:solidFill>
                          <a:latin typeface="+mn-lt"/>
                          <a:ea typeface="+mn-ea"/>
                          <a:cs typeface="+mn-cs"/>
                        </a:rPr>
                        <a:t>In t</a:t>
                      </a:r>
                      <a:r>
                        <a:rPr lang="en-US" sz="2050" b="0" i="1" u="none" strike="noStrike" kern="1200" baseline="0" dirty="0">
                          <a:solidFill>
                            <a:schemeClr val="tx1"/>
                          </a:solidFill>
                          <a:latin typeface="+mn-lt"/>
                          <a:ea typeface="+mn-ea"/>
                          <a:cs typeface="+mn-cs"/>
                        </a:rPr>
                        <a:t>he </a:t>
                      </a:r>
                      <a:r>
                        <a:rPr lang="en-US" sz="205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legal environment</a:t>
                      </a:r>
                      <a:r>
                        <a:rPr lang="en-US" sz="2050" b="0" i="1" u="none" strike="noStrike" kern="1200" baseline="0" dirty="0">
                          <a:solidFill>
                            <a:schemeClr val="tx1"/>
                          </a:solidFill>
                          <a:latin typeface="+mn-lt"/>
                          <a:ea typeface="+mn-ea"/>
                          <a:cs typeface="+mn-cs"/>
                        </a:rPr>
                        <a:t>, the course of legal action greatly depends on information provided by the client to their lawyer, and in </a:t>
                      </a:r>
                      <a:r>
                        <a:rPr lang="en-US" sz="205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academic/research environments</a:t>
                      </a:r>
                      <a:r>
                        <a:rPr lang="en-US" sz="2050" b="0" i="1" u="none" strike="noStrike" kern="1200" baseline="0" dirty="0">
                          <a:solidFill>
                            <a:schemeClr val="tx1"/>
                          </a:solidFill>
                          <a:latin typeface="+mn-lt"/>
                          <a:ea typeface="+mn-ea"/>
                          <a:cs typeface="+mn-cs"/>
                        </a:rPr>
                        <a:t>, it greatly depends on information provided by the student/scholar to their professors. </a:t>
                      </a:r>
                      <a:endParaRPr lang="en-IN" sz="2050" b="0" i="1"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3401363355"/>
                  </a:ext>
                </a:extLst>
              </a:tr>
            </a:tbl>
          </a:graphicData>
        </a:graphic>
      </p:graphicFrame>
    </p:spTree>
    <p:extLst>
      <p:ext uri="{BB962C8B-B14F-4D97-AF65-F5344CB8AC3E}">
        <p14:creationId xmlns:p14="http://schemas.microsoft.com/office/powerpoint/2010/main" val="2012651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7BD44-416E-A25B-963E-597D0DA87E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7D810C-7C52-23E4-5856-914443DA7C72}"/>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i="1" dirty="0">
                <a:solidFill>
                  <a:schemeClr val="bg1"/>
                </a:solidFill>
              </a:rPr>
              <a:t>KEY CONCEPTS</a:t>
            </a:r>
            <a:endParaRPr lang="en-IN" sz="4800" b="1" i="1" dirty="0">
              <a:solidFill>
                <a:schemeClr val="bg1"/>
              </a:solidFill>
            </a:endParaRPr>
          </a:p>
        </p:txBody>
      </p:sp>
      <p:graphicFrame>
        <p:nvGraphicFramePr>
          <p:cNvPr id="5" name="Table 4">
            <a:extLst>
              <a:ext uri="{FF2B5EF4-FFF2-40B4-BE49-F238E27FC236}">
                <a16:creationId xmlns:a16="http://schemas.microsoft.com/office/drawing/2014/main" id="{28024A56-6CD6-B6AD-6263-55D8782BA4AB}"/>
              </a:ext>
            </a:extLst>
          </p:cNvPr>
          <p:cNvGraphicFramePr>
            <a:graphicFrameLocks noGrp="1"/>
          </p:cNvGraphicFramePr>
          <p:nvPr>
            <p:extLst>
              <p:ext uri="{D42A27DB-BD31-4B8C-83A1-F6EECF244321}">
                <p14:modId xmlns:p14="http://schemas.microsoft.com/office/powerpoint/2010/main" val="1069244085"/>
              </p:ext>
            </p:extLst>
          </p:nvPr>
        </p:nvGraphicFramePr>
        <p:xfrm>
          <a:off x="619438" y="888883"/>
          <a:ext cx="11415246" cy="5750640"/>
        </p:xfrm>
        <a:graphic>
          <a:graphicData uri="http://schemas.openxmlformats.org/drawingml/2006/table">
            <a:tbl>
              <a:tblPr firstRow="1" bandRow="1">
                <a:tableStyleId>{5940675A-B579-460E-94D1-54222C63F5DA}</a:tableStyleId>
              </a:tblPr>
              <a:tblGrid>
                <a:gridCol w="2457167">
                  <a:extLst>
                    <a:ext uri="{9D8B030D-6E8A-4147-A177-3AD203B41FA5}">
                      <a16:colId xmlns:a16="http://schemas.microsoft.com/office/drawing/2014/main" val="1977987784"/>
                    </a:ext>
                  </a:extLst>
                </a:gridCol>
                <a:gridCol w="8958079">
                  <a:extLst>
                    <a:ext uri="{9D8B030D-6E8A-4147-A177-3AD203B41FA5}">
                      <a16:colId xmlns:a16="http://schemas.microsoft.com/office/drawing/2014/main" val="1654883193"/>
                    </a:ext>
                  </a:extLst>
                </a:gridCol>
              </a:tblGrid>
              <a:tr h="503708">
                <a:tc>
                  <a:txBody>
                    <a:bodyPr/>
                    <a:lstStyle/>
                    <a:p>
                      <a:pPr algn="l"/>
                      <a:r>
                        <a:rPr lang="en-IN" sz="2100" b="1" i="1" u="none" strike="noStrike" kern="1200" baseline="0" dirty="0">
                          <a:solidFill>
                            <a:srgbClr val="C00000"/>
                          </a:solidFill>
                          <a:latin typeface="+mn-lt"/>
                          <a:ea typeface="+mn-ea"/>
                          <a:cs typeface="+mn-cs"/>
                        </a:rPr>
                        <a:t>Focal firm</a:t>
                      </a:r>
                      <a:endParaRPr lang="en-IN" sz="2100" b="1" i="1" dirty="0">
                        <a:solidFill>
                          <a:srgbClr val="C00000"/>
                        </a:solidFill>
                      </a:endParaRPr>
                    </a:p>
                  </a:txBody>
                  <a:tcPr anchor="ctr"/>
                </a:tc>
                <a:tc>
                  <a:txBody>
                    <a:bodyPr/>
                    <a:lstStyle/>
                    <a:p>
                      <a:pPr algn="just"/>
                      <a:r>
                        <a:rPr lang="en-US" sz="2100" b="0" i="1" kern="1200" dirty="0">
                          <a:solidFill>
                            <a:schemeClr val="tx1"/>
                          </a:solidFill>
                          <a:effectLst/>
                          <a:latin typeface="+mn-lt"/>
                          <a:ea typeface="+mn-ea"/>
                          <a:cs typeface="+mn-cs"/>
                        </a:rPr>
                        <a:t>Companies/firms/manufacturers/</a:t>
                      </a:r>
                      <a:r>
                        <a:rPr lang="en-US" sz="2100" b="1" i="1" kern="1200" dirty="0">
                          <a:solidFill>
                            <a:srgbClr val="0000CC"/>
                          </a:solidFill>
                          <a:effectLst>
                            <a:outerShdw blurRad="38100" dist="38100" dir="2700000" algn="tl">
                              <a:srgbClr val="000000">
                                <a:alpha val="43137"/>
                              </a:srgbClr>
                            </a:outerShdw>
                          </a:effectLst>
                          <a:latin typeface="+mn-lt"/>
                          <a:ea typeface="+mn-ea"/>
                          <a:cs typeface="+mn-cs"/>
                        </a:rPr>
                        <a:t>producers governing over the supply chain</a:t>
                      </a:r>
                      <a:r>
                        <a:rPr lang="en-US" sz="2100" b="0" i="1" kern="1200" dirty="0">
                          <a:solidFill>
                            <a:schemeClr val="tx1"/>
                          </a:solidFill>
                          <a:effectLst/>
                          <a:latin typeface="+mn-lt"/>
                          <a:ea typeface="+mn-ea"/>
                          <a:cs typeface="+mn-cs"/>
                        </a:rPr>
                        <a:t>.</a:t>
                      </a:r>
                      <a:endParaRPr lang="en-IN" sz="2100" i="1" dirty="0"/>
                    </a:p>
                  </a:txBody>
                  <a:tcPr anchor="ctr"/>
                </a:tc>
                <a:extLst>
                  <a:ext uri="{0D108BD9-81ED-4DB2-BD59-A6C34878D82A}">
                    <a16:rowId xmlns:a16="http://schemas.microsoft.com/office/drawing/2014/main" val="1568289649"/>
                  </a:ext>
                </a:extLst>
              </a:tr>
              <a:tr h="503708">
                <a:tc>
                  <a:txBody>
                    <a:bodyPr/>
                    <a:lstStyle/>
                    <a:p>
                      <a:pPr algn="l"/>
                      <a:r>
                        <a:rPr lang="en-IN" sz="2100" b="1" i="1" dirty="0">
                          <a:solidFill>
                            <a:srgbClr val="C00000"/>
                          </a:solidFill>
                        </a:rPr>
                        <a:t>Suppliers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100" i="1" dirty="0"/>
                        <a:t>Those who are </a:t>
                      </a:r>
                      <a:r>
                        <a:rPr lang="en-IN" sz="2100" b="1" i="1" dirty="0">
                          <a:solidFill>
                            <a:srgbClr val="0000CC"/>
                          </a:solidFill>
                          <a:effectLst>
                            <a:outerShdw blurRad="38100" dist="38100" dir="2700000" algn="tl">
                              <a:srgbClr val="000000">
                                <a:alpha val="43137"/>
                              </a:srgbClr>
                            </a:outerShdw>
                          </a:effectLst>
                        </a:rPr>
                        <a:t>supplying goods and services to a firm</a:t>
                      </a:r>
                      <a:r>
                        <a:rPr lang="en-IN" sz="2100" i="1" dirty="0"/>
                        <a:t>/</a:t>
                      </a:r>
                      <a:r>
                        <a:rPr lang="en-US" sz="2100" b="0" i="1" kern="1200" dirty="0">
                          <a:solidFill>
                            <a:schemeClr val="tx1"/>
                          </a:solidFill>
                          <a:effectLst/>
                          <a:latin typeface="+mn-lt"/>
                          <a:ea typeface="+mn-ea"/>
                          <a:cs typeface="+mn-cs"/>
                        </a:rPr>
                        <a:t>manufacturers/producers.</a:t>
                      </a:r>
                      <a:endParaRPr lang="en-IN" sz="2100" i="1" dirty="0"/>
                    </a:p>
                  </a:txBody>
                  <a:tcPr anchor="ctr"/>
                </a:tc>
                <a:extLst>
                  <a:ext uri="{0D108BD9-81ED-4DB2-BD59-A6C34878D82A}">
                    <a16:rowId xmlns:a16="http://schemas.microsoft.com/office/drawing/2014/main" val="3638118707"/>
                  </a:ext>
                </a:extLst>
              </a:tr>
              <a:tr h="763093">
                <a:tc>
                  <a:txBody>
                    <a:bodyPr/>
                    <a:lstStyle/>
                    <a:p>
                      <a:pPr algn="l"/>
                      <a:r>
                        <a:rPr lang="en-IN" sz="2100" b="1" i="1" u="none" strike="noStrike" kern="1200" baseline="0" dirty="0">
                          <a:solidFill>
                            <a:srgbClr val="C00000"/>
                          </a:solidFill>
                          <a:latin typeface="+mn-lt"/>
                          <a:ea typeface="+mn-ea"/>
                          <a:cs typeface="+mn-cs"/>
                        </a:rPr>
                        <a:t>Upstream of the supply chain</a:t>
                      </a:r>
                      <a:endParaRPr lang="en-IN" sz="2100" b="1" i="1" dirty="0">
                        <a:solidFill>
                          <a:srgbClr val="C00000"/>
                        </a:solidFill>
                      </a:endParaRPr>
                    </a:p>
                  </a:txBody>
                  <a:tcPr anchor="ctr"/>
                </a:tc>
                <a:tc>
                  <a:txBody>
                    <a:bodyPr/>
                    <a:lstStyle/>
                    <a:p>
                      <a:pPr algn="just"/>
                      <a:r>
                        <a:rPr lang="en-IN" sz="2100" b="0" i="1" u="none" strike="noStrike" kern="1200" baseline="0" dirty="0">
                          <a:solidFill>
                            <a:schemeClr val="tx1"/>
                          </a:solidFill>
                          <a:latin typeface="+mn-lt"/>
                          <a:ea typeface="+mn-ea"/>
                          <a:cs typeface="+mn-cs"/>
                        </a:rPr>
                        <a:t>The </a:t>
                      </a:r>
                      <a:r>
                        <a:rPr lang="en-US" sz="2100" b="0" i="1" u="none" strike="noStrike" kern="1200" baseline="0" dirty="0">
                          <a:solidFill>
                            <a:schemeClr val="tx1"/>
                          </a:solidFill>
                          <a:latin typeface="+mn-lt"/>
                          <a:ea typeface="+mn-ea"/>
                          <a:cs typeface="+mn-cs"/>
                        </a:rPr>
                        <a:t>stages of the supply chain that comprise the </a:t>
                      </a:r>
                      <a:r>
                        <a:rPr lang="en-US" sz="21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inbound direction toward the focal firm</a:t>
                      </a:r>
                      <a:r>
                        <a:rPr lang="en-US" sz="2100" b="0" i="1" u="none" strike="noStrike" kern="1200" baseline="0" dirty="0">
                          <a:solidFill>
                            <a:schemeClr val="tx1"/>
                          </a:solidFill>
                          <a:latin typeface="+mn-lt"/>
                          <a:ea typeface="+mn-ea"/>
                          <a:cs typeface="+mn-cs"/>
                        </a:rPr>
                        <a:t>, comprising all inbound suppliers.</a:t>
                      </a:r>
                      <a:endParaRPr lang="en-IN" sz="2100" i="1" dirty="0"/>
                    </a:p>
                  </a:txBody>
                  <a:tcPr anchor="ctr"/>
                </a:tc>
                <a:extLst>
                  <a:ext uri="{0D108BD9-81ED-4DB2-BD59-A6C34878D82A}">
                    <a16:rowId xmlns:a16="http://schemas.microsoft.com/office/drawing/2014/main" val="2934995893"/>
                  </a:ext>
                </a:extLst>
              </a:tr>
              <a:tr h="763093">
                <a:tc>
                  <a:txBody>
                    <a:bodyPr/>
                    <a:lstStyle/>
                    <a:p>
                      <a:pPr algn="l"/>
                      <a:r>
                        <a:rPr lang="en-IN" sz="2100" b="1" i="1" u="none" strike="noStrike" kern="1200" baseline="0" dirty="0">
                          <a:solidFill>
                            <a:srgbClr val="C00000"/>
                          </a:solidFill>
                          <a:latin typeface="+mn-lt"/>
                          <a:ea typeface="+mn-ea"/>
                          <a:cs typeface="+mn-cs"/>
                        </a:rPr>
                        <a:t>Downstream of the supply chain</a:t>
                      </a:r>
                      <a:endParaRPr lang="en-IN" sz="2100" b="1" i="1" dirty="0">
                        <a:solidFill>
                          <a:srgbClr val="C00000"/>
                        </a:solidFill>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100" b="0" i="1" u="none" strike="noStrike" kern="1200" baseline="0" dirty="0">
                          <a:solidFill>
                            <a:schemeClr val="tx1"/>
                          </a:solidFill>
                          <a:latin typeface="+mn-lt"/>
                          <a:ea typeface="+mn-ea"/>
                          <a:cs typeface="+mn-cs"/>
                        </a:rPr>
                        <a:t>The </a:t>
                      </a:r>
                      <a:r>
                        <a:rPr lang="en-US" sz="2100" b="0" i="1" u="none" strike="noStrike" kern="1200" baseline="0" dirty="0">
                          <a:solidFill>
                            <a:schemeClr val="tx1"/>
                          </a:solidFill>
                          <a:latin typeface="+mn-lt"/>
                          <a:ea typeface="+mn-ea"/>
                          <a:cs typeface="+mn-cs"/>
                        </a:rPr>
                        <a:t>stages of the supply chain that are </a:t>
                      </a:r>
                      <a:r>
                        <a:rPr lang="en-US" sz="21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away (outbound) from the focal firm</a:t>
                      </a:r>
                      <a:r>
                        <a:rPr lang="en-US" sz="2100" b="0" i="1" u="none" strike="noStrike" kern="1200" baseline="0" dirty="0">
                          <a:solidFill>
                            <a:schemeClr val="tx1"/>
                          </a:solidFill>
                          <a:latin typeface="+mn-lt"/>
                          <a:ea typeface="+mn-ea"/>
                          <a:cs typeface="+mn-cs"/>
                        </a:rPr>
                        <a:t>, comprising distributors/wholesalers and retailers/customers.</a:t>
                      </a:r>
                      <a:endParaRPr lang="en-IN" sz="2100" i="1" dirty="0"/>
                    </a:p>
                  </a:txBody>
                  <a:tcPr anchor="ctr"/>
                </a:tc>
                <a:extLst>
                  <a:ext uri="{0D108BD9-81ED-4DB2-BD59-A6C34878D82A}">
                    <a16:rowId xmlns:a16="http://schemas.microsoft.com/office/drawing/2014/main" val="2135403389"/>
                  </a:ext>
                </a:extLst>
              </a:tr>
              <a:tr h="763093">
                <a:tc>
                  <a:txBody>
                    <a:bodyPr/>
                    <a:lstStyle/>
                    <a:p>
                      <a:pPr marL="0" algn="l" defTabSz="914400" rtl="0" eaLnBrk="1" latinLnBrk="0" hangingPunct="1"/>
                      <a:r>
                        <a:rPr lang="en-IN" sz="2100" b="1" i="1" kern="1200" dirty="0">
                          <a:solidFill>
                            <a:srgbClr val="C00000"/>
                          </a:solidFill>
                          <a:latin typeface="+mn-lt"/>
                          <a:ea typeface="+mn-ea"/>
                          <a:cs typeface="+mn-cs"/>
                        </a:rPr>
                        <a:t>First-tier suppliers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100" i="1" dirty="0"/>
                        <a:t>Those who are </a:t>
                      </a:r>
                      <a:r>
                        <a:rPr lang="en-IN" sz="2100" b="1" i="1" dirty="0">
                          <a:solidFill>
                            <a:srgbClr val="0000CC"/>
                          </a:solidFill>
                          <a:effectLst>
                            <a:outerShdw blurRad="38100" dist="38100" dir="2700000" algn="tl">
                              <a:srgbClr val="000000">
                                <a:alpha val="43137"/>
                              </a:srgbClr>
                            </a:outerShdw>
                          </a:effectLst>
                        </a:rPr>
                        <a:t>directly supplying goods and services to a firm</a:t>
                      </a:r>
                      <a:r>
                        <a:rPr lang="en-IN" sz="2100" i="1" dirty="0"/>
                        <a:t>/</a:t>
                      </a:r>
                      <a:r>
                        <a:rPr lang="en-US" sz="2100" b="0" i="1" kern="1200" dirty="0">
                          <a:solidFill>
                            <a:schemeClr val="tx1"/>
                          </a:solidFill>
                          <a:effectLst/>
                          <a:latin typeface="+mn-lt"/>
                          <a:ea typeface="+mn-ea"/>
                          <a:cs typeface="+mn-cs"/>
                        </a:rPr>
                        <a:t>manufacturers/producers.</a:t>
                      </a:r>
                      <a:endParaRPr lang="en-IN" sz="2100" i="1" dirty="0"/>
                    </a:p>
                  </a:txBody>
                  <a:tcPr anchor="ctr"/>
                </a:tc>
                <a:extLst>
                  <a:ext uri="{0D108BD9-81ED-4DB2-BD59-A6C34878D82A}">
                    <a16:rowId xmlns:a16="http://schemas.microsoft.com/office/drawing/2014/main" val="388401886"/>
                  </a:ext>
                </a:extLst>
              </a:tr>
              <a:tr h="5037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100" b="1" i="1" kern="1200" dirty="0">
                          <a:solidFill>
                            <a:srgbClr val="C00000"/>
                          </a:solidFill>
                          <a:latin typeface="+mn-lt"/>
                          <a:ea typeface="+mn-ea"/>
                          <a:cs typeface="+mn-cs"/>
                        </a:rPr>
                        <a:t>Second-tier suppliers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100" i="1" dirty="0"/>
                        <a:t>Those who are </a:t>
                      </a:r>
                      <a:r>
                        <a:rPr lang="en-IN" sz="2100" b="1" i="1" dirty="0">
                          <a:solidFill>
                            <a:srgbClr val="0000CC"/>
                          </a:solidFill>
                          <a:effectLst>
                            <a:outerShdw blurRad="38100" dist="38100" dir="2700000" algn="tl">
                              <a:srgbClr val="000000">
                                <a:alpha val="43137"/>
                              </a:srgbClr>
                            </a:outerShdw>
                          </a:effectLst>
                        </a:rPr>
                        <a:t>supplying goods and services to the first-tier suppliers </a:t>
                      </a:r>
                      <a:r>
                        <a:rPr lang="en-IN" sz="2100" i="1" dirty="0"/>
                        <a:t>of a company.</a:t>
                      </a:r>
                    </a:p>
                  </a:txBody>
                  <a:tcPr anchor="ctr"/>
                </a:tc>
                <a:extLst>
                  <a:ext uri="{0D108BD9-81ED-4DB2-BD59-A6C34878D82A}">
                    <a16:rowId xmlns:a16="http://schemas.microsoft.com/office/drawing/2014/main" val="1622106700"/>
                  </a:ext>
                </a:extLst>
              </a:tr>
              <a:tr h="763093">
                <a:tc>
                  <a:txBody>
                    <a:bodyPr/>
                    <a:lstStyle/>
                    <a:p>
                      <a:r>
                        <a:rPr lang="en-IN" sz="2100" b="1" i="1" u="none" strike="noStrike" kern="1200" baseline="0" dirty="0">
                          <a:solidFill>
                            <a:srgbClr val="C00000"/>
                          </a:solidFill>
                          <a:latin typeface="+mn-lt"/>
                          <a:ea typeface="+mn-ea"/>
                          <a:cs typeface="+mn-cs"/>
                        </a:rPr>
                        <a:t>Intra-organizational</a:t>
                      </a:r>
                    </a:p>
                    <a:p>
                      <a:r>
                        <a:rPr lang="en-IN" sz="2100" b="1" i="1" u="none" strike="noStrike" kern="1200" baseline="0" dirty="0">
                          <a:solidFill>
                            <a:srgbClr val="C00000"/>
                          </a:solidFill>
                          <a:latin typeface="+mn-lt"/>
                          <a:ea typeface="+mn-ea"/>
                          <a:cs typeface="+mn-cs"/>
                        </a:rPr>
                        <a:t>coordination</a:t>
                      </a:r>
                    </a:p>
                  </a:txBody>
                  <a:tcPr anchor="ctr"/>
                </a:tc>
                <a:tc>
                  <a:txBody>
                    <a:bodyPr/>
                    <a:lstStyle/>
                    <a:p>
                      <a:r>
                        <a:rPr lang="en-IN" sz="2100" b="0" i="1" u="none" strike="noStrike" kern="1200" baseline="0" dirty="0">
                          <a:solidFill>
                            <a:schemeClr val="tx1"/>
                          </a:solidFill>
                          <a:latin typeface="+mn-lt"/>
                          <a:ea typeface="+mn-ea"/>
                          <a:cs typeface="+mn-cs"/>
                        </a:rPr>
                        <a:t>SCM that spans and </a:t>
                      </a:r>
                      <a:r>
                        <a:rPr lang="en-US" sz="21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integrates functions and processes within the enterprise</a:t>
                      </a:r>
                      <a:endParaRPr lang="en-IN" sz="2100" b="1" i="1" dirty="0">
                        <a:solidFill>
                          <a:srgbClr val="0000CC"/>
                        </a:solidFill>
                        <a:effectLst>
                          <a:outerShdw blurRad="38100" dist="38100" dir="2700000" algn="tl">
                            <a:srgbClr val="000000">
                              <a:alpha val="43137"/>
                            </a:srgbClr>
                          </a:outerShdw>
                        </a:effectLst>
                      </a:endParaRPr>
                    </a:p>
                  </a:txBody>
                  <a:tcPr anchor="ctr"/>
                </a:tc>
                <a:extLst>
                  <a:ext uri="{0D108BD9-81ED-4DB2-BD59-A6C34878D82A}">
                    <a16:rowId xmlns:a16="http://schemas.microsoft.com/office/drawing/2014/main" val="828484572"/>
                  </a:ext>
                </a:extLst>
              </a:tr>
              <a:tr h="503708">
                <a:tc>
                  <a:txBody>
                    <a:bodyPr/>
                    <a:lstStyle/>
                    <a:p>
                      <a:pPr marL="0" algn="l" defTabSz="914400" rtl="0" eaLnBrk="1" latinLnBrk="0" hangingPunct="1"/>
                      <a:r>
                        <a:rPr lang="en-IN" sz="2100" b="1" i="1" u="none" strike="noStrike" kern="1200" baseline="0" dirty="0">
                          <a:solidFill>
                            <a:srgbClr val="C00000"/>
                          </a:solidFill>
                          <a:latin typeface="+mn-lt"/>
                          <a:ea typeface="+mn-ea"/>
                          <a:cs typeface="+mn-cs"/>
                        </a:rPr>
                        <a:t>Cross-enterprise coordination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100" b="0" i="1" u="none" strike="noStrike" kern="1200" baseline="0" dirty="0">
                          <a:solidFill>
                            <a:schemeClr val="tx1"/>
                          </a:solidFill>
                          <a:latin typeface="+mn-lt"/>
                          <a:ea typeface="+mn-ea"/>
                          <a:cs typeface="+mn-cs"/>
                        </a:rPr>
                        <a:t>SCM that spans and </a:t>
                      </a:r>
                      <a:r>
                        <a:rPr lang="en-US" sz="21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integrates functions and processes between the enterprises </a:t>
                      </a:r>
                      <a:r>
                        <a:rPr lang="en-US" sz="2100" b="0" i="1" u="none" strike="noStrike" kern="1200" baseline="0" dirty="0">
                          <a:solidFill>
                            <a:schemeClr val="tx1"/>
                          </a:solidFill>
                          <a:latin typeface="+mn-lt"/>
                          <a:ea typeface="+mn-ea"/>
                          <a:cs typeface="+mn-cs"/>
                        </a:rPr>
                        <a:t>supply chain</a:t>
                      </a:r>
                      <a:endParaRPr lang="en-IN" sz="2100" i="1" dirty="0"/>
                    </a:p>
                  </a:txBody>
                  <a:tcPr anchor="ctr"/>
                </a:tc>
                <a:extLst>
                  <a:ext uri="{0D108BD9-81ED-4DB2-BD59-A6C34878D82A}">
                    <a16:rowId xmlns:a16="http://schemas.microsoft.com/office/drawing/2014/main" val="3422732854"/>
                  </a:ext>
                </a:extLst>
              </a:tr>
            </a:tbl>
          </a:graphicData>
        </a:graphic>
      </p:graphicFrame>
    </p:spTree>
    <p:extLst>
      <p:ext uri="{BB962C8B-B14F-4D97-AF65-F5344CB8AC3E}">
        <p14:creationId xmlns:p14="http://schemas.microsoft.com/office/powerpoint/2010/main" val="3851272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17195-13C7-8F61-B5B5-7F52BC69C4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8CFD5A-55A4-074E-118A-BBFB1277088C}"/>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i="1" dirty="0">
                <a:solidFill>
                  <a:schemeClr val="bg1"/>
                </a:solidFill>
              </a:rPr>
              <a:t>KEY CONCEPTS</a:t>
            </a:r>
            <a:endParaRPr lang="en-IN" sz="4800" b="1" i="1" dirty="0">
              <a:solidFill>
                <a:schemeClr val="bg1"/>
              </a:solidFill>
            </a:endParaRPr>
          </a:p>
        </p:txBody>
      </p:sp>
      <p:graphicFrame>
        <p:nvGraphicFramePr>
          <p:cNvPr id="5" name="Table 4">
            <a:extLst>
              <a:ext uri="{FF2B5EF4-FFF2-40B4-BE49-F238E27FC236}">
                <a16:creationId xmlns:a16="http://schemas.microsoft.com/office/drawing/2014/main" id="{5EBD7824-4E03-4F75-6592-BC5EE5B83AB1}"/>
              </a:ext>
            </a:extLst>
          </p:cNvPr>
          <p:cNvGraphicFramePr>
            <a:graphicFrameLocks noGrp="1"/>
          </p:cNvGraphicFramePr>
          <p:nvPr>
            <p:extLst>
              <p:ext uri="{D42A27DB-BD31-4B8C-83A1-F6EECF244321}">
                <p14:modId xmlns:p14="http://schemas.microsoft.com/office/powerpoint/2010/main" val="576974907"/>
              </p:ext>
            </p:extLst>
          </p:nvPr>
        </p:nvGraphicFramePr>
        <p:xfrm>
          <a:off x="634184" y="947876"/>
          <a:ext cx="11326758" cy="5486400"/>
        </p:xfrm>
        <a:graphic>
          <a:graphicData uri="http://schemas.openxmlformats.org/drawingml/2006/table">
            <a:tbl>
              <a:tblPr firstRow="1" bandRow="1">
                <a:tableStyleId>{5940675A-B579-460E-94D1-54222C63F5DA}</a:tableStyleId>
              </a:tblPr>
              <a:tblGrid>
                <a:gridCol w="1592590">
                  <a:extLst>
                    <a:ext uri="{9D8B030D-6E8A-4147-A177-3AD203B41FA5}">
                      <a16:colId xmlns:a16="http://schemas.microsoft.com/office/drawing/2014/main" val="1977987784"/>
                    </a:ext>
                  </a:extLst>
                </a:gridCol>
                <a:gridCol w="9734168">
                  <a:extLst>
                    <a:ext uri="{9D8B030D-6E8A-4147-A177-3AD203B41FA5}">
                      <a16:colId xmlns:a16="http://schemas.microsoft.com/office/drawing/2014/main" val="1654883193"/>
                    </a:ext>
                  </a:extLst>
                </a:gridCol>
              </a:tblGrid>
              <a:tr h="462748">
                <a:tc>
                  <a:txBody>
                    <a:bodyPr/>
                    <a:lstStyle/>
                    <a:p>
                      <a:pPr algn="l"/>
                      <a:r>
                        <a:rPr lang="en-IN" sz="2200" b="1" i="1" u="none" strike="noStrike" kern="1200" baseline="0" dirty="0">
                          <a:solidFill>
                            <a:srgbClr val="C00000"/>
                          </a:solidFill>
                          <a:latin typeface="+mn-lt"/>
                          <a:ea typeface="+mn-ea"/>
                          <a:cs typeface="+mn-cs"/>
                        </a:rPr>
                        <a:t>Sourcing</a:t>
                      </a:r>
                      <a:endParaRPr lang="en-IN" sz="2200" b="1" i="1" dirty="0">
                        <a:solidFill>
                          <a:srgbClr val="C00000"/>
                        </a:solidFill>
                      </a:endParaRPr>
                    </a:p>
                  </a:txBody>
                  <a:tcPr anchor="ctr"/>
                </a:tc>
                <a:tc>
                  <a:txBody>
                    <a:bodyPr/>
                    <a:lstStyle/>
                    <a:p>
                      <a:pPr algn="just"/>
                      <a:r>
                        <a:rPr lang="en-US" sz="2200" b="0" i="1" u="none" strike="noStrike" kern="1200" baseline="0" dirty="0">
                          <a:solidFill>
                            <a:schemeClr val="tx1"/>
                          </a:solidFill>
                          <a:latin typeface="+mn-lt"/>
                          <a:ea typeface="+mn-ea"/>
                          <a:cs typeface="+mn-cs"/>
                        </a:rPr>
                        <a:t>The function of the enterprise responsible for </a:t>
                      </a:r>
                      <a:r>
                        <a:rPr lang="en-US"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linking the </a:t>
                      </a:r>
                      <a:r>
                        <a:rPr lang="en-US" sz="2200" b="1" i="1" u="none" strike="noStrike" kern="1200" baseline="0" dirty="0" err="1">
                          <a:solidFill>
                            <a:srgbClr val="0000CC"/>
                          </a:solidFill>
                          <a:effectLst>
                            <a:outerShdw blurRad="38100" dist="38100" dir="2700000" algn="tl">
                              <a:srgbClr val="000000">
                                <a:alpha val="43137"/>
                              </a:srgbClr>
                            </a:outerShdw>
                          </a:effectLst>
                          <a:latin typeface="+mn-lt"/>
                          <a:ea typeface="+mn-ea"/>
                          <a:cs typeface="+mn-cs"/>
                        </a:rPr>
                        <a:t>organisation</a:t>
                      </a:r>
                      <a:r>
                        <a:rPr lang="en-US"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 to its suppliers</a:t>
                      </a:r>
                      <a:r>
                        <a:rPr lang="en-US" sz="2200" b="1" i="1" u="none" strike="noStrike" kern="1200" baseline="0" dirty="0">
                          <a:solidFill>
                            <a:srgbClr val="FF0000"/>
                          </a:solidFill>
                          <a:effectLst>
                            <a:outerShdw blurRad="38100" dist="38100" dir="2700000" algn="tl">
                              <a:srgbClr val="000000">
                                <a:alpha val="43137"/>
                              </a:srgbClr>
                            </a:outerShdw>
                          </a:effectLst>
                          <a:latin typeface="+mn-lt"/>
                          <a:ea typeface="+mn-ea"/>
                          <a:cs typeface="+mn-cs"/>
                        </a:rPr>
                        <a:t> </a:t>
                      </a:r>
                      <a:r>
                        <a:rPr lang="en-US" sz="2200" b="0" i="1" u="none" strike="noStrike" kern="1200" baseline="0" dirty="0">
                          <a:solidFill>
                            <a:schemeClr val="tx1"/>
                          </a:solidFill>
                          <a:latin typeface="+mn-lt"/>
                          <a:ea typeface="+mn-ea"/>
                          <a:cs typeface="+mn-cs"/>
                        </a:rPr>
                        <a:t>and ensuring an efficient supply of materials.</a:t>
                      </a:r>
                      <a:endParaRPr lang="en-IN" sz="2200" i="1" dirty="0"/>
                    </a:p>
                  </a:txBody>
                  <a:tcPr anchor="ctr"/>
                </a:tc>
                <a:extLst>
                  <a:ext uri="{0D108BD9-81ED-4DB2-BD59-A6C34878D82A}">
                    <a16:rowId xmlns:a16="http://schemas.microsoft.com/office/drawing/2014/main" val="2830476513"/>
                  </a:ext>
                </a:extLst>
              </a:tr>
              <a:tr h="462748">
                <a:tc>
                  <a:txBody>
                    <a:bodyPr/>
                    <a:lstStyle/>
                    <a:p>
                      <a:pPr algn="l"/>
                      <a:r>
                        <a:rPr lang="en-IN" sz="2200" b="1" i="1" u="none" strike="noStrike" kern="1200" baseline="0" dirty="0">
                          <a:solidFill>
                            <a:srgbClr val="C00000"/>
                          </a:solidFill>
                          <a:latin typeface="+mn-lt"/>
                          <a:ea typeface="+mn-ea"/>
                          <a:cs typeface="+mn-cs"/>
                        </a:rPr>
                        <a:t>Operations</a:t>
                      </a:r>
                      <a:endParaRPr lang="en-IN" sz="2200" b="1" i="1" dirty="0">
                        <a:solidFill>
                          <a:srgbClr val="C00000"/>
                        </a:solidFill>
                      </a:endParaRPr>
                    </a:p>
                  </a:txBody>
                  <a:tcPr anchor="ctr"/>
                </a:tc>
                <a:tc>
                  <a:txBody>
                    <a:bodyPr/>
                    <a:lstStyle/>
                    <a:p>
                      <a:pPr algn="just"/>
                      <a:r>
                        <a:rPr lang="en-IN" sz="2200" b="0" i="1" u="none" strike="noStrike" kern="1200" baseline="0" dirty="0">
                          <a:solidFill>
                            <a:schemeClr val="tx1"/>
                          </a:solidFill>
                          <a:latin typeface="+mn-lt"/>
                          <a:ea typeface="+mn-ea"/>
                          <a:cs typeface="+mn-cs"/>
                        </a:rPr>
                        <a:t>The </a:t>
                      </a:r>
                      <a:r>
                        <a:rPr lang="en-US" sz="2200" b="0" i="1" u="none" strike="noStrike" kern="1200" baseline="0" dirty="0">
                          <a:solidFill>
                            <a:schemeClr val="tx1"/>
                          </a:solidFill>
                          <a:latin typeface="+mn-lt"/>
                          <a:ea typeface="+mn-ea"/>
                          <a:cs typeface="+mn-cs"/>
                        </a:rPr>
                        <a:t>enterprise's function is to </a:t>
                      </a:r>
                      <a:r>
                        <a:rPr lang="en-US" sz="2200" b="0" i="1" u="none" strike="noStrike" kern="1200" baseline="0" dirty="0" err="1">
                          <a:solidFill>
                            <a:schemeClr val="tx1"/>
                          </a:solidFill>
                          <a:latin typeface="+mn-lt"/>
                          <a:ea typeface="+mn-ea"/>
                          <a:cs typeface="+mn-cs"/>
                        </a:rPr>
                        <a:t>organise</a:t>
                      </a:r>
                      <a:r>
                        <a:rPr lang="en-US" sz="2200" b="0" i="1" u="none" strike="noStrike" kern="1200" baseline="0" dirty="0">
                          <a:solidFill>
                            <a:schemeClr val="tx1"/>
                          </a:solidFill>
                          <a:latin typeface="+mn-lt"/>
                          <a:ea typeface="+mn-ea"/>
                          <a:cs typeface="+mn-cs"/>
                        </a:rPr>
                        <a:t> the </a:t>
                      </a:r>
                      <a:r>
                        <a:rPr lang="en-US"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transformation of raw materials into finished products</a:t>
                      </a:r>
                      <a:r>
                        <a:rPr lang="en-US" sz="2200" b="0" i="1" u="none" strike="noStrike" kern="1200" baseline="0" dirty="0">
                          <a:solidFill>
                            <a:schemeClr val="tx1"/>
                          </a:solidFill>
                          <a:latin typeface="+mn-lt"/>
                          <a:ea typeface="+mn-ea"/>
                          <a:cs typeface="+mn-cs"/>
                        </a:rPr>
                        <a:t> and ensure that the exact products customers want are produced efficiently and cost-effectively.</a:t>
                      </a:r>
                      <a:endParaRPr lang="en-IN" sz="2200" i="1" dirty="0"/>
                    </a:p>
                  </a:txBody>
                  <a:tcPr anchor="ctr"/>
                </a:tc>
                <a:extLst>
                  <a:ext uri="{0D108BD9-81ED-4DB2-BD59-A6C34878D82A}">
                    <a16:rowId xmlns:a16="http://schemas.microsoft.com/office/drawing/2014/main" val="2187015796"/>
                  </a:ext>
                </a:extLst>
              </a:tr>
              <a:tr h="462748">
                <a:tc>
                  <a:txBody>
                    <a:bodyPr/>
                    <a:lstStyle/>
                    <a:p>
                      <a:pPr algn="l"/>
                      <a:r>
                        <a:rPr lang="en-IN" sz="2200" b="1" i="1" u="none" strike="noStrike" kern="1200" baseline="0" dirty="0">
                          <a:solidFill>
                            <a:srgbClr val="C00000"/>
                          </a:solidFill>
                          <a:latin typeface="+mn-lt"/>
                          <a:ea typeface="+mn-ea"/>
                          <a:cs typeface="+mn-cs"/>
                        </a:rPr>
                        <a:t>Marketing</a:t>
                      </a:r>
                      <a:endParaRPr lang="en-IN" sz="2200" b="1" i="1" dirty="0">
                        <a:solidFill>
                          <a:srgbClr val="C00000"/>
                        </a:solidFill>
                      </a:endParaRPr>
                    </a:p>
                  </a:txBody>
                  <a:tcPr anchor="ctr"/>
                </a:tc>
                <a:tc>
                  <a:txBody>
                    <a:bodyPr/>
                    <a:lstStyle/>
                    <a:p>
                      <a:pPr algn="just"/>
                      <a:r>
                        <a:rPr lang="en-US" sz="2200" b="0" i="1" u="none" strike="noStrike" kern="1200" baseline="0" dirty="0">
                          <a:solidFill>
                            <a:schemeClr val="tx1"/>
                          </a:solidFill>
                          <a:latin typeface="+mn-lt"/>
                          <a:ea typeface="+mn-ea"/>
                          <a:cs typeface="+mn-cs"/>
                        </a:rPr>
                        <a:t>The function of the enterprise responsible for </a:t>
                      </a:r>
                      <a:r>
                        <a:rPr lang="en-US"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linking the </a:t>
                      </a:r>
                      <a:r>
                        <a:rPr lang="en-US" sz="2200" b="1" i="1" u="none" strike="noStrike" kern="1200" baseline="0" dirty="0" err="1">
                          <a:solidFill>
                            <a:srgbClr val="0000CC"/>
                          </a:solidFill>
                          <a:effectLst>
                            <a:outerShdw blurRad="38100" dist="38100" dir="2700000" algn="tl">
                              <a:srgbClr val="000000">
                                <a:alpha val="43137"/>
                              </a:srgbClr>
                            </a:outerShdw>
                          </a:effectLst>
                          <a:latin typeface="+mn-lt"/>
                          <a:ea typeface="+mn-ea"/>
                          <a:cs typeface="+mn-cs"/>
                        </a:rPr>
                        <a:t>organisation</a:t>
                      </a:r>
                      <a:r>
                        <a:rPr lang="en-US"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 to its customers</a:t>
                      </a:r>
                      <a:r>
                        <a:rPr lang="en-US" sz="2200" b="1" i="1" u="none" strike="noStrike" kern="1200" baseline="0" dirty="0">
                          <a:solidFill>
                            <a:srgbClr val="FF0000"/>
                          </a:solidFill>
                          <a:effectLst>
                            <a:outerShdw blurRad="38100" dist="38100" dir="2700000" algn="tl">
                              <a:srgbClr val="000000">
                                <a:alpha val="43137"/>
                              </a:srgbClr>
                            </a:outerShdw>
                          </a:effectLst>
                          <a:latin typeface="+mn-lt"/>
                          <a:ea typeface="+mn-ea"/>
                          <a:cs typeface="+mn-cs"/>
                        </a:rPr>
                        <a:t> </a:t>
                      </a:r>
                      <a:r>
                        <a:rPr lang="en-US" sz="2200" b="0" i="1" u="none" strike="noStrike" kern="1200" baseline="0" dirty="0">
                          <a:solidFill>
                            <a:schemeClr val="tx1"/>
                          </a:solidFill>
                          <a:latin typeface="+mn-lt"/>
                          <a:ea typeface="+mn-ea"/>
                          <a:cs typeface="+mn-cs"/>
                        </a:rPr>
                        <a:t>and identifying what customers want in products and services.</a:t>
                      </a:r>
                      <a:endParaRPr lang="en-IN" sz="2200" i="1" dirty="0"/>
                    </a:p>
                  </a:txBody>
                  <a:tcPr anchor="ctr"/>
                </a:tc>
                <a:extLst>
                  <a:ext uri="{0D108BD9-81ED-4DB2-BD59-A6C34878D82A}">
                    <a16:rowId xmlns:a16="http://schemas.microsoft.com/office/drawing/2014/main" val="2135403389"/>
                  </a:ext>
                </a:extLst>
              </a:tr>
              <a:tr h="462748">
                <a:tc>
                  <a:txBody>
                    <a:bodyPr/>
                    <a:lstStyle/>
                    <a:p>
                      <a:pPr algn="l"/>
                      <a:r>
                        <a:rPr lang="en-IN" sz="2200" b="1" i="1" u="none" strike="noStrike" kern="1200" baseline="0" dirty="0">
                          <a:solidFill>
                            <a:srgbClr val="C00000"/>
                          </a:solidFill>
                          <a:latin typeface="+mn-lt"/>
                          <a:ea typeface="+mn-ea"/>
                          <a:cs typeface="+mn-cs"/>
                        </a:rPr>
                        <a:t>Logistics</a:t>
                      </a:r>
                      <a:endParaRPr lang="en-IN" sz="2200" b="1" i="1" dirty="0">
                        <a:solidFill>
                          <a:srgbClr val="C00000"/>
                        </a:solidFill>
                      </a:endParaRPr>
                    </a:p>
                  </a:txBody>
                  <a:tcPr anchor="ctr"/>
                </a:tc>
                <a:tc>
                  <a:txBody>
                    <a:bodyPr/>
                    <a:lstStyle/>
                    <a:p>
                      <a:pPr algn="just"/>
                      <a:r>
                        <a:rPr lang="en-IN" sz="2200" b="0" i="1" u="none" strike="noStrike" kern="1200" baseline="0" dirty="0">
                          <a:solidFill>
                            <a:schemeClr val="tx1"/>
                          </a:solidFill>
                          <a:latin typeface="+mn-lt"/>
                          <a:ea typeface="+mn-ea"/>
                          <a:cs typeface="+mn-cs"/>
                        </a:rPr>
                        <a:t>The function of the enterprise involves</a:t>
                      </a:r>
                      <a:r>
                        <a:rPr lang="en-US" sz="2200" b="0" i="1" u="none" strike="noStrike" kern="1200" baseline="0" dirty="0">
                          <a:solidFill>
                            <a:schemeClr val="tx1"/>
                          </a:solidFill>
                          <a:latin typeface="+mn-lt"/>
                          <a:ea typeface="+mn-ea"/>
                          <a:cs typeface="+mn-cs"/>
                        </a:rPr>
                        <a:t> </a:t>
                      </a:r>
                      <a:r>
                        <a:rPr lang="en-US"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moving and positioning inventory throughout the supply chain</a:t>
                      </a:r>
                      <a:r>
                        <a:rPr lang="en-US" sz="2200" b="0" i="1" u="none" strike="noStrike" kern="1200" baseline="0" dirty="0">
                          <a:solidFill>
                            <a:schemeClr val="tx1"/>
                          </a:solidFill>
                          <a:latin typeface="+mn-lt"/>
                          <a:ea typeface="+mn-ea"/>
                          <a:cs typeface="+mn-cs"/>
                        </a:rPr>
                        <a:t>, which includes order processing and tracking, inventory management, transportation, warehousing, material handling, and packaging and ensures that the right products are delivered to the right place at the right </a:t>
                      </a:r>
                      <a:r>
                        <a:rPr lang="en-IN" sz="2200" b="0" i="1" u="none" strike="noStrike" kern="1200" baseline="0" dirty="0">
                          <a:solidFill>
                            <a:schemeClr val="tx1"/>
                          </a:solidFill>
                          <a:latin typeface="+mn-lt"/>
                          <a:ea typeface="+mn-ea"/>
                          <a:cs typeface="+mn-cs"/>
                        </a:rPr>
                        <a:t>time.</a:t>
                      </a:r>
                      <a:endParaRPr lang="en-IN" sz="2200" i="1" dirty="0"/>
                    </a:p>
                  </a:txBody>
                  <a:tcPr anchor="ctr"/>
                </a:tc>
                <a:extLst>
                  <a:ext uri="{0D108BD9-81ED-4DB2-BD59-A6C34878D82A}">
                    <a16:rowId xmlns:a16="http://schemas.microsoft.com/office/drawing/2014/main" val="3889882129"/>
                  </a:ext>
                </a:extLst>
              </a:tr>
              <a:tr h="462748">
                <a:tc>
                  <a:txBody>
                    <a:bodyPr/>
                    <a:lstStyle/>
                    <a:p>
                      <a:pPr algn="l"/>
                      <a:r>
                        <a:rPr lang="en-IN" sz="2200" b="1" i="1" u="none" strike="noStrike" kern="1200" baseline="0" dirty="0">
                          <a:solidFill>
                            <a:srgbClr val="C00000"/>
                          </a:solidFill>
                          <a:latin typeface="+mn-lt"/>
                          <a:ea typeface="+mn-ea"/>
                          <a:cs typeface="+mn-cs"/>
                        </a:rPr>
                        <a:t>Reverse logistic</a:t>
                      </a:r>
                    </a:p>
                  </a:txBody>
                  <a:tcPr anchor="ctr"/>
                </a:tc>
                <a:tc>
                  <a:txBody>
                    <a:bodyPr/>
                    <a:lstStyle/>
                    <a:p>
                      <a:pPr algn="just"/>
                      <a:r>
                        <a:rPr lang="en-IN" sz="2200" b="0" i="1" u="none" strike="noStrike" kern="1200" baseline="0" dirty="0">
                          <a:solidFill>
                            <a:schemeClr val="tx1"/>
                          </a:solidFill>
                          <a:latin typeface="+mn-lt"/>
                          <a:ea typeface="+mn-ea"/>
                          <a:cs typeface="+mn-cs"/>
                        </a:rPr>
                        <a:t>When the </a:t>
                      </a:r>
                      <a:r>
                        <a:rPr lang="en-IN" sz="22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direction of product flow is reversed in the chain</a:t>
                      </a:r>
                      <a:r>
                        <a:rPr lang="en-IN" sz="2200" b="0" i="1" u="none" strike="noStrike" kern="1200" baseline="0" dirty="0">
                          <a:solidFill>
                            <a:schemeClr val="tx1"/>
                          </a:solidFill>
                          <a:latin typeface="+mn-lt"/>
                          <a:ea typeface="+mn-ea"/>
                          <a:cs typeface="+mn-cs"/>
                        </a:rPr>
                        <a:t>, i.e., from customer to retailer/wholesaler/manufacturer, due to defective/damaged or obsolete (out of date).</a:t>
                      </a:r>
                      <a:endParaRPr lang="en-IN" sz="2200" i="1" dirty="0"/>
                    </a:p>
                  </a:txBody>
                  <a:tcPr anchor="ctr"/>
                </a:tc>
                <a:extLst>
                  <a:ext uri="{0D108BD9-81ED-4DB2-BD59-A6C34878D82A}">
                    <a16:rowId xmlns:a16="http://schemas.microsoft.com/office/drawing/2014/main" val="980977448"/>
                  </a:ext>
                </a:extLst>
              </a:tr>
            </a:tbl>
          </a:graphicData>
        </a:graphic>
      </p:graphicFrame>
    </p:spTree>
    <p:extLst>
      <p:ext uri="{BB962C8B-B14F-4D97-AF65-F5344CB8AC3E}">
        <p14:creationId xmlns:p14="http://schemas.microsoft.com/office/powerpoint/2010/main" val="1564017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B468F-B4E2-2537-03A8-19E9CBD19B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6CE90D-9D23-FDBB-CD02-4BD130633CF1}"/>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i="1" dirty="0">
                <a:solidFill>
                  <a:schemeClr val="bg1"/>
                </a:solidFill>
              </a:rPr>
              <a:t>KEY CONCEPTS</a:t>
            </a:r>
            <a:endParaRPr lang="en-IN" sz="4800" b="1" i="1" dirty="0">
              <a:solidFill>
                <a:schemeClr val="bg1"/>
              </a:solidFill>
            </a:endParaRPr>
          </a:p>
        </p:txBody>
      </p:sp>
      <p:graphicFrame>
        <p:nvGraphicFramePr>
          <p:cNvPr id="5" name="Table 4">
            <a:extLst>
              <a:ext uri="{FF2B5EF4-FFF2-40B4-BE49-F238E27FC236}">
                <a16:creationId xmlns:a16="http://schemas.microsoft.com/office/drawing/2014/main" id="{7723116D-ECBA-F137-C7EF-48E7A5AD1B11}"/>
              </a:ext>
            </a:extLst>
          </p:cNvPr>
          <p:cNvGraphicFramePr>
            <a:graphicFrameLocks noGrp="1"/>
          </p:cNvGraphicFramePr>
          <p:nvPr>
            <p:extLst>
              <p:ext uri="{D42A27DB-BD31-4B8C-83A1-F6EECF244321}">
                <p14:modId xmlns:p14="http://schemas.microsoft.com/office/powerpoint/2010/main" val="1703284556"/>
              </p:ext>
            </p:extLst>
          </p:nvPr>
        </p:nvGraphicFramePr>
        <p:xfrm>
          <a:off x="781665" y="962621"/>
          <a:ext cx="11223522" cy="4486108"/>
        </p:xfrm>
        <a:graphic>
          <a:graphicData uri="http://schemas.openxmlformats.org/drawingml/2006/table">
            <a:tbl>
              <a:tblPr firstRow="1" bandRow="1">
                <a:tableStyleId>{5940675A-B579-460E-94D1-54222C63F5DA}</a:tableStyleId>
              </a:tblPr>
              <a:tblGrid>
                <a:gridCol w="2566219">
                  <a:extLst>
                    <a:ext uri="{9D8B030D-6E8A-4147-A177-3AD203B41FA5}">
                      <a16:colId xmlns:a16="http://schemas.microsoft.com/office/drawing/2014/main" val="1977987784"/>
                    </a:ext>
                  </a:extLst>
                </a:gridCol>
                <a:gridCol w="8657303">
                  <a:extLst>
                    <a:ext uri="{9D8B030D-6E8A-4147-A177-3AD203B41FA5}">
                      <a16:colId xmlns:a16="http://schemas.microsoft.com/office/drawing/2014/main" val="1654883193"/>
                    </a:ext>
                  </a:extLst>
                </a:gridCol>
              </a:tblGrid>
              <a:tr h="462748">
                <a:tc>
                  <a:txBody>
                    <a:bodyPr/>
                    <a:lstStyle/>
                    <a:p>
                      <a:pPr algn="l"/>
                      <a:r>
                        <a:rPr lang="en-IN" sz="2000" b="1" i="1" u="none" strike="noStrike" kern="1200" baseline="0" dirty="0">
                          <a:solidFill>
                            <a:srgbClr val="C00000"/>
                          </a:solidFill>
                          <a:latin typeface="+mn-lt"/>
                          <a:ea typeface="+mn-ea"/>
                          <a:cs typeface="+mn-cs"/>
                        </a:rPr>
                        <a:t>Outsourcing</a:t>
                      </a:r>
                      <a:endParaRPr lang="en-IN" sz="2000" b="1" i="1" dirty="0">
                        <a:solidFill>
                          <a:srgbClr val="C00000"/>
                        </a:solidFill>
                      </a:endParaRPr>
                    </a:p>
                  </a:txBody>
                  <a:tcPr anchor="ctr"/>
                </a:tc>
                <a:tc>
                  <a:txBody>
                    <a:bodyPr/>
                    <a:lstStyle/>
                    <a:p>
                      <a:pPr algn="just"/>
                      <a:r>
                        <a:rPr lang="en-US"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Hiring a third party to perform a set of tasks for a fee</a:t>
                      </a:r>
                      <a:endParaRPr lang="en-IN" sz="2000" b="1" i="1" dirty="0">
                        <a:solidFill>
                          <a:srgbClr val="0000CC"/>
                        </a:solidFill>
                        <a:effectLst>
                          <a:outerShdw blurRad="38100" dist="38100" dir="2700000" algn="tl">
                            <a:srgbClr val="000000">
                              <a:alpha val="43137"/>
                            </a:srgbClr>
                          </a:outerShdw>
                        </a:effectLst>
                      </a:endParaRPr>
                    </a:p>
                  </a:txBody>
                  <a:tcPr anchor="ctr"/>
                </a:tc>
                <a:extLst>
                  <a:ext uri="{0D108BD9-81ED-4DB2-BD59-A6C34878D82A}">
                    <a16:rowId xmlns:a16="http://schemas.microsoft.com/office/drawing/2014/main" val="1568289649"/>
                  </a:ext>
                </a:extLst>
              </a:tr>
              <a:tr h="462748">
                <a:tc>
                  <a:txBody>
                    <a:bodyPr/>
                    <a:lstStyle/>
                    <a:p>
                      <a:pPr algn="l"/>
                      <a:r>
                        <a:rPr lang="en-IN" sz="2000" b="1" i="1" u="none" strike="noStrike" kern="1200" baseline="0" dirty="0">
                          <a:solidFill>
                            <a:srgbClr val="C00000"/>
                          </a:solidFill>
                          <a:latin typeface="+mn-lt"/>
                          <a:ea typeface="+mn-ea"/>
                          <a:cs typeface="+mn-cs"/>
                        </a:rPr>
                        <a:t>ERP (Enterprise resource planning)</a:t>
                      </a:r>
                      <a:endParaRPr lang="en-IN" sz="2000" b="1" i="1" dirty="0">
                        <a:solidFill>
                          <a:srgbClr val="C00000"/>
                        </a:solidFill>
                      </a:endParaRPr>
                    </a:p>
                  </a:txBody>
                  <a:tcPr anchor="ctr"/>
                </a:tc>
                <a:tc>
                  <a:txBody>
                    <a:bodyPr/>
                    <a:lstStyle/>
                    <a:p>
                      <a:pPr algn="just"/>
                      <a:r>
                        <a:rPr lang="en-IN"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Large software programs used </a:t>
                      </a:r>
                      <a:r>
                        <a:rPr lang="en-US"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for planning and coordinating all resources </a:t>
                      </a:r>
                      <a:r>
                        <a:rPr lang="en-US" sz="2000" b="0" i="1" u="none" strike="noStrike" kern="1200" baseline="0" dirty="0">
                          <a:solidFill>
                            <a:schemeClr val="tx1"/>
                          </a:solidFill>
                          <a:latin typeface="+mn-lt"/>
                          <a:ea typeface="+mn-ea"/>
                          <a:cs typeface="+mn-cs"/>
                        </a:rPr>
                        <a:t>throughout the entire enterprise. They allow data sharing and communication within and outside of the firm, </a:t>
                      </a:r>
                      <a:r>
                        <a:rPr lang="en-IN" sz="2000" b="0" i="1" u="none" strike="noStrike" kern="1200" baseline="0" dirty="0">
                          <a:solidFill>
                            <a:schemeClr val="tx1"/>
                          </a:solidFill>
                          <a:latin typeface="+mn-lt"/>
                          <a:ea typeface="+mn-ea"/>
                          <a:cs typeface="+mn-cs"/>
                        </a:rPr>
                        <a:t>enabling collaborative decision making.</a:t>
                      </a:r>
                      <a:endParaRPr lang="en-IN" sz="2000" i="1" dirty="0"/>
                    </a:p>
                  </a:txBody>
                  <a:tcPr anchor="ctr"/>
                </a:tc>
                <a:extLst>
                  <a:ext uri="{0D108BD9-81ED-4DB2-BD59-A6C34878D82A}">
                    <a16:rowId xmlns:a16="http://schemas.microsoft.com/office/drawing/2014/main" val="2934995893"/>
                  </a:ext>
                </a:extLst>
              </a:tr>
              <a:tr h="462748">
                <a:tc>
                  <a:txBody>
                    <a:bodyPr/>
                    <a:lstStyle/>
                    <a:p>
                      <a:pPr algn="l"/>
                      <a:r>
                        <a:rPr lang="en-IN" sz="2000" b="1" i="1" u="none" strike="noStrike" kern="1200" baseline="0" dirty="0">
                          <a:solidFill>
                            <a:srgbClr val="C00000"/>
                          </a:solidFill>
                          <a:latin typeface="+mn-lt"/>
                          <a:ea typeface="+mn-ea"/>
                          <a:cs typeface="+mn-cs"/>
                        </a:rPr>
                        <a:t>GPS (Global positioning systems)</a:t>
                      </a:r>
                      <a:endParaRPr lang="en-IN" sz="2000" b="1" i="1" dirty="0">
                        <a:solidFill>
                          <a:srgbClr val="C00000"/>
                        </a:solidFill>
                      </a:endParaRPr>
                    </a:p>
                  </a:txBody>
                  <a:tcPr anchor="ctr"/>
                </a:tc>
                <a:tc>
                  <a:txBody>
                    <a:bodyPr/>
                    <a:lstStyle/>
                    <a:p>
                      <a:pPr algn="just"/>
                      <a:r>
                        <a:rPr lang="en-IN" sz="2000" i="1" dirty="0"/>
                        <a:t>A </a:t>
                      </a:r>
                      <a:r>
                        <a:rPr lang="en-IN" sz="2000" b="0" i="1" u="none" strike="noStrike" kern="1200" baseline="0" dirty="0">
                          <a:solidFill>
                            <a:schemeClr val="tx1"/>
                          </a:solidFill>
                          <a:latin typeface="+mn-lt"/>
                          <a:ea typeface="+mn-ea"/>
                          <a:cs typeface="+mn-cs"/>
                        </a:rPr>
                        <a:t>type of </a:t>
                      </a:r>
                      <a:r>
                        <a:rPr lang="en-IN"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wireless technology that uses satellite transmission to communicate exact locations</a:t>
                      </a:r>
                      <a:r>
                        <a:rPr lang="en-IN" sz="2000" b="0" i="1" u="none" strike="noStrike" kern="1200" baseline="0" dirty="0">
                          <a:solidFill>
                            <a:schemeClr val="tx1"/>
                          </a:solidFill>
                          <a:latin typeface="+mn-lt"/>
                          <a:ea typeface="+mn-ea"/>
                          <a:cs typeface="+mn-cs"/>
                        </a:rPr>
                        <a:t>.</a:t>
                      </a:r>
                      <a:endParaRPr lang="en-IN" sz="2000" i="1" dirty="0"/>
                    </a:p>
                  </a:txBody>
                  <a:tcPr anchor="ctr"/>
                </a:tc>
                <a:extLst>
                  <a:ext uri="{0D108BD9-81ED-4DB2-BD59-A6C34878D82A}">
                    <a16:rowId xmlns:a16="http://schemas.microsoft.com/office/drawing/2014/main" val="2135403389"/>
                  </a:ext>
                </a:extLst>
              </a:tr>
              <a:tr h="462748">
                <a:tc>
                  <a:txBody>
                    <a:bodyPr/>
                    <a:lstStyle/>
                    <a:p>
                      <a:pPr algn="l"/>
                      <a:r>
                        <a:rPr lang="en-IN" sz="2000" b="1" i="1" u="none" strike="noStrike" kern="1200" baseline="0" dirty="0">
                          <a:solidFill>
                            <a:srgbClr val="C00000"/>
                          </a:solidFill>
                          <a:latin typeface="+mn-lt"/>
                          <a:ea typeface="+mn-ea"/>
                          <a:cs typeface="+mn-cs"/>
                        </a:rPr>
                        <a:t>RFID (Radio frequency identification)</a:t>
                      </a:r>
                      <a:endParaRPr lang="en-IN" sz="2000" b="1" i="1" dirty="0">
                        <a:solidFill>
                          <a:srgbClr val="C00000"/>
                        </a:solidFill>
                      </a:endParaRPr>
                    </a:p>
                  </a:txBody>
                  <a:tcPr anchor="ctr"/>
                </a:tc>
                <a:tc>
                  <a:txBody>
                    <a:bodyPr/>
                    <a:lstStyle/>
                    <a:p>
                      <a:pPr algn="just"/>
                      <a:r>
                        <a:rPr lang="en-IN" sz="2000" i="1" dirty="0"/>
                        <a:t>A </a:t>
                      </a:r>
                      <a:r>
                        <a:rPr lang="en-IN" sz="2000" b="0" i="1" u="none" strike="noStrike" kern="1200" baseline="0" dirty="0">
                          <a:solidFill>
                            <a:schemeClr val="tx1"/>
                          </a:solidFill>
                          <a:latin typeface="+mn-lt"/>
                          <a:ea typeface="+mn-ea"/>
                          <a:cs typeface="+mn-cs"/>
                        </a:rPr>
                        <a:t>type of </a:t>
                      </a:r>
                      <a:r>
                        <a:rPr lang="en-IN"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wireless technology that uses memory chips </a:t>
                      </a:r>
                      <a:r>
                        <a:rPr lang="en-US"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equipped with tiny radio antennas </a:t>
                      </a:r>
                      <a:r>
                        <a:rPr lang="en-US" sz="2000" b="0" i="1" u="none" strike="noStrike" kern="1200" baseline="0" dirty="0">
                          <a:solidFill>
                            <a:schemeClr val="tx1"/>
                          </a:solidFill>
                          <a:latin typeface="+mn-lt"/>
                          <a:ea typeface="+mn-ea"/>
                          <a:cs typeface="+mn-cs"/>
                        </a:rPr>
                        <a:t>that can be attached to objects to transmit streams of data, such as product movement, reveal a missing product’s location, or track shipments</a:t>
                      </a:r>
                      <a:r>
                        <a:rPr lang="en-IN" sz="2000" b="0" i="1" u="none" strike="noStrike" kern="1200" baseline="0" dirty="0">
                          <a:solidFill>
                            <a:schemeClr val="tx1"/>
                          </a:solidFill>
                          <a:latin typeface="+mn-lt"/>
                          <a:ea typeface="+mn-ea"/>
                          <a:cs typeface="+mn-cs"/>
                        </a:rPr>
                        <a:t> and their arrival.</a:t>
                      </a:r>
                      <a:endParaRPr lang="en-IN" sz="2000" i="1" dirty="0"/>
                    </a:p>
                  </a:txBody>
                  <a:tcPr anchor="ctr"/>
                </a:tc>
                <a:extLst>
                  <a:ext uri="{0D108BD9-81ED-4DB2-BD59-A6C34878D82A}">
                    <a16:rowId xmlns:a16="http://schemas.microsoft.com/office/drawing/2014/main" val="1146985594"/>
                  </a:ext>
                </a:extLst>
              </a:tr>
              <a:tr h="462748">
                <a:tc>
                  <a:txBody>
                    <a:bodyPr/>
                    <a:lstStyle/>
                    <a:p>
                      <a:pPr algn="l"/>
                      <a:r>
                        <a:rPr lang="en-IN" sz="2000" b="1" i="1" u="none" strike="noStrike" kern="1200" baseline="0" dirty="0">
                          <a:solidFill>
                            <a:srgbClr val="C00000"/>
                          </a:solidFill>
                          <a:latin typeface="+mn-lt"/>
                          <a:ea typeface="+mn-ea"/>
                          <a:cs typeface="+mn-cs"/>
                        </a:rPr>
                        <a:t>Lean Supply Chain</a:t>
                      </a:r>
                      <a:endParaRPr lang="en-IN" sz="2000" b="1" i="1" dirty="0">
                        <a:solidFill>
                          <a:srgbClr val="C00000"/>
                        </a:solidFill>
                      </a:endParaRPr>
                    </a:p>
                  </a:txBody>
                  <a:tcPr anchor="ctr"/>
                </a:tc>
                <a:tc>
                  <a:txBody>
                    <a:bodyPr/>
                    <a:lstStyle/>
                    <a:p>
                      <a:r>
                        <a:rPr lang="en-US" sz="2000" b="0" i="1" u="none" strike="noStrike" kern="1200" baseline="0" dirty="0">
                          <a:solidFill>
                            <a:schemeClr val="tx1"/>
                          </a:solidFill>
                          <a:latin typeface="+mn-lt"/>
                          <a:ea typeface="+mn-ea"/>
                          <a:cs typeface="+mn-cs"/>
                        </a:rPr>
                        <a:t>The set of </a:t>
                      </a:r>
                      <a:r>
                        <a:rPr lang="en-US" sz="2000" b="1" i="1" u="none" strike="noStrike" kern="1200" baseline="0" dirty="0">
                          <a:solidFill>
                            <a:srgbClr val="0000CC"/>
                          </a:solidFill>
                          <a:latin typeface="+mn-lt"/>
                          <a:ea typeface="+mn-ea"/>
                          <a:cs typeface="+mn-cs"/>
                        </a:rPr>
                        <a:t>all organizations directly linked by upstream and downstream </a:t>
                      </a:r>
                      <a:r>
                        <a:rPr lang="en-US" sz="2000" b="0" i="1" u="none" strike="noStrike" kern="1200" baseline="0" dirty="0">
                          <a:solidFill>
                            <a:schemeClr val="tx1"/>
                          </a:solidFill>
                          <a:latin typeface="+mn-lt"/>
                          <a:ea typeface="+mn-ea"/>
                          <a:cs typeface="+mn-cs"/>
                        </a:rPr>
                        <a:t>flows of products, services, finances, and information that </a:t>
                      </a:r>
                      <a:r>
                        <a:rPr lang="en-US" sz="2000" b="1" i="1" u="none" strike="noStrike" kern="1200" baseline="0" dirty="0">
                          <a:solidFill>
                            <a:srgbClr val="0000CC"/>
                          </a:solidFill>
                          <a:effectLst>
                            <a:outerShdw blurRad="38100" dist="38100" dir="2700000" algn="tl">
                              <a:srgbClr val="000000">
                                <a:alpha val="43137"/>
                              </a:srgbClr>
                            </a:outerShdw>
                          </a:effectLst>
                          <a:latin typeface="+mn-lt"/>
                          <a:ea typeface="+mn-ea"/>
                          <a:cs typeface="+mn-cs"/>
                        </a:rPr>
                        <a:t>collaboratively work to reduce cost and waste </a:t>
                      </a:r>
                      <a:r>
                        <a:rPr lang="en-US" sz="2000" b="0" i="1" u="none" strike="noStrike" kern="1200" baseline="0" dirty="0">
                          <a:solidFill>
                            <a:schemeClr val="tx1"/>
                          </a:solidFill>
                          <a:latin typeface="+mn-lt"/>
                          <a:ea typeface="+mn-ea"/>
                          <a:cs typeface="+mn-cs"/>
                        </a:rPr>
                        <a:t>by analyzing processes and identifying areas for improvement</a:t>
                      </a:r>
                      <a:endParaRPr lang="en-IN" sz="2000" i="1" dirty="0"/>
                    </a:p>
                  </a:txBody>
                  <a:tcPr anchor="ctr"/>
                </a:tc>
                <a:extLst>
                  <a:ext uri="{0D108BD9-81ED-4DB2-BD59-A6C34878D82A}">
                    <a16:rowId xmlns:a16="http://schemas.microsoft.com/office/drawing/2014/main" val="980977448"/>
                  </a:ext>
                </a:extLst>
              </a:tr>
            </a:tbl>
          </a:graphicData>
        </a:graphic>
      </p:graphicFrame>
    </p:spTree>
    <p:extLst>
      <p:ext uri="{BB962C8B-B14F-4D97-AF65-F5344CB8AC3E}">
        <p14:creationId xmlns:p14="http://schemas.microsoft.com/office/powerpoint/2010/main" val="1755726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48FEF95-FB40-9213-DABC-ED2641E6D4BD}"/>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SECTION 1</a:t>
            </a:r>
          </a:p>
        </p:txBody>
      </p:sp>
    </p:spTree>
    <p:extLst>
      <p:ext uri="{BB962C8B-B14F-4D97-AF65-F5344CB8AC3E}">
        <p14:creationId xmlns:p14="http://schemas.microsoft.com/office/powerpoint/2010/main" val="2861182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E3A1-0BA3-D4CB-67ED-1698404BEE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F10F75-7DB7-F40D-AADA-42713EEC5596}"/>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i="1" dirty="0">
                <a:solidFill>
                  <a:schemeClr val="bg1"/>
                </a:solidFill>
              </a:rPr>
              <a:t>KEY COMPONENTS OF SUPPLY CHAIN</a:t>
            </a:r>
            <a:endParaRPr lang="en-IN" sz="4800" b="1" i="1" dirty="0">
              <a:solidFill>
                <a:schemeClr val="bg1"/>
              </a:solidFill>
            </a:endParaRPr>
          </a:p>
        </p:txBody>
      </p:sp>
      <p:graphicFrame>
        <p:nvGraphicFramePr>
          <p:cNvPr id="22" name="Content Placeholder 21"/>
          <p:cNvGraphicFramePr>
            <a:graphicFrameLocks/>
          </p:cNvGraphicFramePr>
          <p:nvPr>
            <p:extLst>
              <p:ext uri="{D42A27DB-BD31-4B8C-83A1-F6EECF244321}">
                <p14:modId xmlns:p14="http://schemas.microsoft.com/office/powerpoint/2010/main" val="1380833012"/>
              </p:ext>
            </p:extLst>
          </p:nvPr>
        </p:nvGraphicFramePr>
        <p:xfrm>
          <a:off x="1135631" y="1017590"/>
          <a:ext cx="10412360" cy="5543663"/>
        </p:xfrm>
        <a:graphic>
          <a:graphicData uri="http://schemas.openxmlformats.org/drawingml/2006/table">
            <a:tbl>
              <a:tblPr firstRow="1" bandRow="1">
                <a:tableStyleId>{5940675A-B579-460E-94D1-54222C63F5DA}</a:tableStyleId>
              </a:tblPr>
              <a:tblGrid>
                <a:gridCol w="1740308">
                  <a:extLst>
                    <a:ext uri="{9D8B030D-6E8A-4147-A177-3AD203B41FA5}">
                      <a16:colId xmlns:a16="http://schemas.microsoft.com/office/drawing/2014/main" val="20000"/>
                    </a:ext>
                  </a:extLst>
                </a:gridCol>
                <a:gridCol w="8672052">
                  <a:extLst>
                    <a:ext uri="{9D8B030D-6E8A-4147-A177-3AD203B41FA5}">
                      <a16:colId xmlns:a16="http://schemas.microsoft.com/office/drawing/2014/main" val="20001"/>
                    </a:ext>
                  </a:extLst>
                </a:gridCol>
              </a:tblGrid>
              <a:tr h="761276">
                <a:tc>
                  <a:txBody>
                    <a:bodyPr/>
                    <a:lstStyle/>
                    <a:p>
                      <a:pPr algn="just"/>
                      <a:endParaRPr lang="en-US" sz="18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just"/>
                      <a:r>
                        <a:rPr lang="en-US" sz="2000" b="1" i="1" dirty="0">
                          <a:solidFill>
                            <a:schemeClr val="tx1"/>
                          </a:solidFill>
                          <a:highlight>
                            <a:srgbClr val="FFFF00"/>
                          </a:highlight>
                          <a:latin typeface="Times New Roman" pitchFamily="18" charset="0"/>
                          <a:cs typeface="Times New Roman" pitchFamily="18" charset="0"/>
                        </a:rPr>
                        <a:t>SUPPLIERS: </a:t>
                      </a:r>
                      <a:r>
                        <a:rPr lang="en-US" sz="2000" i="1" kern="1200" dirty="0">
                          <a:solidFill>
                            <a:schemeClr val="tx1"/>
                          </a:solidFill>
                          <a:latin typeface="Times New Roman" pitchFamily="18" charset="0"/>
                          <a:ea typeface="+mn-ea"/>
                          <a:cs typeface="Times New Roman" pitchFamily="18" charset="0"/>
                        </a:rPr>
                        <a:t>Providers of raw materials, component parts, semi-manufactured products and unfinished or </a:t>
                      </a:r>
                      <a:r>
                        <a:rPr lang="en-US" sz="2000" i="1" baseline="0" dirty="0">
                          <a:latin typeface="Times New Roman" pitchFamily="18" charset="0"/>
                          <a:cs typeface="Times New Roman" pitchFamily="18" charset="0"/>
                        </a:rPr>
                        <a:t>non-consumable products.</a:t>
                      </a:r>
                      <a:endParaRPr lang="en-US" sz="20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20738">
                <a:tc>
                  <a:txBody>
                    <a:bodyPr/>
                    <a:lstStyle/>
                    <a:p>
                      <a:pPr algn="just"/>
                      <a:endParaRPr lang="en-US" sz="18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just"/>
                      <a:r>
                        <a:rPr lang="en-US" sz="2000" b="1" i="1" dirty="0">
                          <a:solidFill>
                            <a:schemeClr val="tx1"/>
                          </a:solidFill>
                          <a:highlight>
                            <a:srgbClr val="FFFF00"/>
                          </a:highlight>
                          <a:latin typeface="Times New Roman" pitchFamily="18" charset="0"/>
                          <a:cs typeface="Times New Roman" pitchFamily="18" charset="0"/>
                        </a:rPr>
                        <a:t>MANUFACTURERS:</a:t>
                      </a:r>
                      <a:r>
                        <a:rPr lang="en-US" sz="2000" b="1" i="1" dirty="0">
                          <a:solidFill>
                            <a:schemeClr val="accent6">
                              <a:lumMod val="75000"/>
                            </a:schemeClr>
                          </a:solidFill>
                          <a:latin typeface="Times New Roman" pitchFamily="18" charset="0"/>
                          <a:cs typeface="Times New Roman" pitchFamily="18" charset="0"/>
                        </a:rPr>
                        <a:t> </a:t>
                      </a:r>
                      <a:r>
                        <a:rPr lang="en-US" sz="2000" i="1" kern="1200" dirty="0">
                          <a:solidFill>
                            <a:schemeClr val="tx1"/>
                          </a:solidFill>
                          <a:latin typeface="Times New Roman" pitchFamily="18" charset="0"/>
                          <a:ea typeface="+mn-ea"/>
                          <a:cs typeface="Times New Roman" pitchFamily="18" charset="0"/>
                        </a:rPr>
                        <a:t>Makers of final products responsible for final assembly or product integration.</a:t>
                      </a: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16684">
                <a:tc>
                  <a:txBody>
                    <a:bodyPr/>
                    <a:lstStyle/>
                    <a:p>
                      <a:pPr algn="just"/>
                      <a:endParaRPr lang="en-US" sz="18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just"/>
                      <a:r>
                        <a:rPr lang="en-US" sz="2000" b="1" i="1" dirty="0">
                          <a:solidFill>
                            <a:schemeClr val="tx1"/>
                          </a:solidFill>
                          <a:highlight>
                            <a:srgbClr val="FFFF00"/>
                          </a:highlight>
                          <a:latin typeface="Times New Roman" pitchFamily="18" charset="0"/>
                          <a:cs typeface="Times New Roman" pitchFamily="18" charset="0"/>
                        </a:rPr>
                        <a:t>DISTRIBUTORS:</a:t>
                      </a:r>
                      <a:r>
                        <a:rPr lang="en-US" sz="2000" b="1" i="1" dirty="0">
                          <a:solidFill>
                            <a:schemeClr val="accent6">
                              <a:lumMod val="75000"/>
                            </a:schemeClr>
                          </a:solidFill>
                          <a:latin typeface="Times New Roman" pitchFamily="18" charset="0"/>
                          <a:cs typeface="Times New Roman" pitchFamily="18" charset="0"/>
                        </a:rPr>
                        <a:t> </a:t>
                      </a:r>
                      <a:r>
                        <a:rPr lang="en-US" sz="2000" i="1" kern="1200" dirty="0">
                          <a:solidFill>
                            <a:schemeClr val="tx1"/>
                          </a:solidFill>
                          <a:latin typeface="Times New Roman" pitchFamily="18" charset="0"/>
                          <a:ea typeface="+mn-ea"/>
                          <a:cs typeface="Times New Roman" pitchFamily="18" charset="0"/>
                        </a:rPr>
                        <a:t>Responsible for managing,</a:t>
                      </a:r>
                      <a:r>
                        <a:rPr lang="en-US" sz="2000" i="1" kern="1200" baseline="0" dirty="0">
                          <a:solidFill>
                            <a:schemeClr val="tx1"/>
                          </a:solidFill>
                          <a:latin typeface="Times New Roman" pitchFamily="18" charset="0"/>
                          <a:ea typeface="+mn-ea"/>
                          <a:cs typeface="Times New Roman" pitchFamily="18" charset="0"/>
                        </a:rPr>
                        <a:t> </a:t>
                      </a:r>
                      <a:r>
                        <a:rPr lang="en-US" sz="2000" i="1" kern="1200" dirty="0">
                          <a:solidFill>
                            <a:schemeClr val="tx1"/>
                          </a:solidFill>
                          <a:latin typeface="Times New Roman" pitchFamily="18" charset="0"/>
                          <a:ea typeface="+mn-ea"/>
                          <a:cs typeface="Times New Roman" pitchFamily="18" charset="0"/>
                        </a:rPr>
                        <a:t>storing and handling products for </a:t>
                      </a:r>
                      <a:r>
                        <a:rPr lang="en-US" sz="2000" i="1" kern="1200" dirty="0" err="1">
                          <a:solidFill>
                            <a:schemeClr val="tx1"/>
                          </a:solidFill>
                          <a:latin typeface="Times New Roman" pitchFamily="18" charset="0"/>
                          <a:ea typeface="+mn-ea"/>
                          <a:cs typeface="Times New Roman" pitchFamily="18" charset="0"/>
                        </a:rPr>
                        <a:t>organisations</a:t>
                      </a:r>
                      <a:r>
                        <a:rPr lang="en-US" sz="2000" i="1" kern="1200" dirty="0">
                          <a:solidFill>
                            <a:schemeClr val="tx1"/>
                          </a:solidFill>
                          <a:latin typeface="Times New Roman" pitchFamily="18" charset="0"/>
                          <a:ea typeface="+mn-ea"/>
                          <a:cs typeface="Times New Roman" pitchFamily="18" charset="0"/>
                        </a:rPr>
                        <a:t> that don’t want to carry the entire variety of products in their own facilities.</a:t>
                      </a: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194544">
                <a:tc>
                  <a:txBody>
                    <a:bodyPr/>
                    <a:lstStyle/>
                    <a:p>
                      <a:pPr algn="just"/>
                      <a:endParaRPr lang="en-US" sz="18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just"/>
                      <a:r>
                        <a:rPr lang="en-US" sz="2000" b="1" i="1" dirty="0">
                          <a:solidFill>
                            <a:schemeClr val="tx1"/>
                          </a:solidFill>
                          <a:highlight>
                            <a:srgbClr val="FFFF00"/>
                          </a:highlight>
                          <a:latin typeface="Times New Roman" pitchFamily="18" charset="0"/>
                          <a:cs typeface="Times New Roman" pitchFamily="18" charset="0"/>
                        </a:rPr>
                        <a:t>LOGISTICS SERVICE PROVIDERS:</a:t>
                      </a:r>
                      <a:r>
                        <a:rPr lang="en-US" sz="2000" b="1" i="1" dirty="0">
                          <a:solidFill>
                            <a:schemeClr val="accent6">
                              <a:lumMod val="75000"/>
                            </a:schemeClr>
                          </a:solidFill>
                          <a:latin typeface="Times New Roman" pitchFamily="18" charset="0"/>
                          <a:cs typeface="Times New Roman" pitchFamily="18" charset="0"/>
                        </a:rPr>
                        <a:t> </a:t>
                      </a:r>
                      <a:r>
                        <a:rPr lang="en-US" sz="2000" i="1" kern="1200" dirty="0">
                          <a:solidFill>
                            <a:schemeClr val="tx1"/>
                          </a:solidFill>
                          <a:latin typeface="Times New Roman" pitchFamily="18" charset="0"/>
                          <a:ea typeface="+mn-ea"/>
                          <a:cs typeface="Times New Roman" pitchFamily="18" charset="0"/>
                        </a:rPr>
                        <a:t>Commercial</a:t>
                      </a:r>
                      <a:r>
                        <a:rPr lang="en-US" sz="2000" i="1" kern="1200" baseline="0" dirty="0">
                          <a:solidFill>
                            <a:schemeClr val="tx1"/>
                          </a:solidFill>
                          <a:latin typeface="Times New Roman" pitchFamily="18" charset="0"/>
                          <a:ea typeface="+mn-ea"/>
                          <a:cs typeface="Times New Roman" pitchFamily="18" charset="0"/>
                        </a:rPr>
                        <a:t> provider of individual or multiple integrated service for other entities in the supply chain e.g. transportation management, value-added warehousing and distribution and information technology-based services.</a:t>
                      </a:r>
                      <a:endParaRPr lang="en-US" sz="2000" i="1" kern="1200" dirty="0">
                        <a:solidFill>
                          <a:schemeClr val="tx1"/>
                        </a:solidFill>
                        <a:latin typeface="Times New Roman" pitchFamily="18" charset="0"/>
                        <a:ea typeface="+mn-ea"/>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20738">
                <a:tc>
                  <a:txBody>
                    <a:bodyPr/>
                    <a:lstStyle/>
                    <a:p>
                      <a:pPr algn="just"/>
                      <a:endParaRPr lang="en-US" sz="18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just"/>
                      <a:r>
                        <a:rPr lang="en-US" sz="2000" b="1" i="1" dirty="0">
                          <a:solidFill>
                            <a:schemeClr val="tx1"/>
                          </a:solidFill>
                          <a:highlight>
                            <a:srgbClr val="FFFF00"/>
                          </a:highlight>
                          <a:latin typeface="Times New Roman" pitchFamily="18" charset="0"/>
                          <a:cs typeface="Times New Roman" pitchFamily="18" charset="0"/>
                        </a:rPr>
                        <a:t>RETAILERS:</a:t>
                      </a:r>
                      <a:r>
                        <a:rPr lang="en-US" sz="2000" b="1" i="1" dirty="0">
                          <a:solidFill>
                            <a:schemeClr val="accent6">
                              <a:lumMod val="75000"/>
                            </a:schemeClr>
                          </a:solidFill>
                          <a:latin typeface="Times New Roman" pitchFamily="18" charset="0"/>
                          <a:cs typeface="Times New Roman" pitchFamily="18" charset="0"/>
                        </a:rPr>
                        <a:t> </a:t>
                      </a:r>
                      <a:r>
                        <a:rPr lang="en-US" sz="2000" i="1" kern="1200" baseline="0" dirty="0">
                          <a:solidFill>
                            <a:schemeClr val="tx1"/>
                          </a:solidFill>
                          <a:latin typeface="Times New Roman" pitchFamily="18" charset="0"/>
                          <a:ea typeface="+mn-ea"/>
                          <a:cs typeface="Times New Roman" pitchFamily="18" charset="0"/>
                        </a:rPr>
                        <a:t>The entity that buys from the manufacturer/wholesaler and sells to the final customer.</a:t>
                      </a: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824983">
                <a:tc>
                  <a:txBody>
                    <a:bodyPr/>
                    <a:lstStyle/>
                    <a:p>
                      <a:pPr algn="just"/>
                      <a:endParaRPr lang="en-US" sz="18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just"/>
                      <a:r>
                        <a:rPr lang="en-US" sz="2000" b="1" i="1" kern="1200" dirty="0">
                          <a:solidFill>
                            <a:schemeClr val="tx1"/>
                          </a:solidFill>
                          <a:highlight>
                            <a:srgbClr val="FFFF00"/>
                          </a:highlight>
                          <a:latin typeface="Times New Roman" pitchFamily="18" charset="0"/>
                          <a:ea typeface="+mn-ea"/>
                          <a:cs typeface="Times New Roman" pitchFamily="18" charset="0"/>
                        </a:rPr>
                        <a:t>CONSUMERS:</a:t>
                      </a:r>
                      <a:r>
                        <a:rPr lang="en-US" sz="2000" b="1" i="1" kern="1200" dirty="0">
                          <a:solidFill>
                            <a:schemeClr val="accent6">
                              <a:lumMod val="75000"/>
                            </a:schemeClr>
                          </a:solidFill>
                          <a:latin typeface="Times New Roman" pitchFamily="18" charset="0"/>
                          <a:ea typeface="+mn-ea"/>
                          <a:cs typeface="Times New Roman" pitchFamily="18" charset="0"/>
                        </a:rPr>
                        <a:t> </a:t>
                      </a:r>
                      <a:r>
                        <a:rPr lang="en-US" sz="2000" i="1" kern="1200" baseline="0" dirty="0">
                          <a:solidFill>
                            <a:schemeClr val="tx1"/>
                          </a:solidFill>
                          <a:latin typeface="Times New Roman" pitchFamily="18" charset="0"/>
                          <a:ea typeface="+mn-ea"/>
                          <a:cs typeface="Times New Roman" pitchFamily="18" charset="0"/>
                        </a:rPr>
                        <a:t>People who go into the stores and buy and consume the product</a:t>
                      </a:r>
                      <a:endParaRPr lang="en-US" sz="2000" i="1" dirty="0">
                        <a:latin typeface="Times New Roman" pitchFamily="18" charset="0"/>
                        <a:cs typeface="Times New Roman" pitchFamily="18" charset="0"/>
                      </a:endParaRPr>
                    </a:p>
                  </a:txBody>
                  <a:tcPr marL="189096" marR="189096" marT="45582" marB="45582">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pic>
        <p:nvPicPr>
          <p:cNvPr id="4100" name="Picture 4"/>
          <p:cNvPicPr>
            <a:picLocks noChangeAspect="1" noChangeArrowheads="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r="10146" b="19595"/>
          <a:stretch/>
        </p:blipFill>
        <p:spPr bwMode="auto">
          <a:xfrm>
            <a:off x="1487679" y="1077509"/>
            <a:ext cx="1031699" cy="610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rotWithShape="1">
          <a:blip r:embed="rId4" cstate="print">
            <a:duotone>
              <a:schemeClr val="accent2">
                <a:shade val="45000"/>
                <a:satMod val="135000"/>
              </a:schemeClr>
              <a:prstClr val="white"/>
            </a:duotone>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b="10630"/>
          <a:stretch/>
        </p:blipFill>
        <p:spPr bwMode="auto">
          <a:xfrm>
            <a:off x="1769134" y="1888501"/>
            <a:ext cx="602108" cy="6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6" cstate="print">
            <a:duotone>
              <a:schemeClr val="accent2">
                <a:shade val="45000"/>
                <a:satMod val="135000"/>
              </a:schemeClr>
              <a:prstClr val="white"/>
            </a:duotone>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r="14425" b="17601"/>
          <a:stretch/>
        </p:blipFill>
        <p:spPr bwMode="auto">
          <a:xfrm>
            <a:off x="1560050" y="2704800"/>
            <a:ext cx="886955" cy="697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8" cstate="print">
            <a:duotone>
              <a:schemeClr val="accent2">
                <a:shade val="45000"/>
                <a:satMod val="135000"/>
              </a:schemeClr>
              <a:prstClr val="white"/>
            </a:duotone>
            <a:extLst>
              <a:ext uri="{BEBA8EAE-BF5A-486C-A8C5-ECC9F3942E4B}">
                <a14:imgProps xmlns:a14="http://schemas.microsoft.com/office/drawing/2010/main">
                  <a14:imgLayer r:embed="rId9">
                    <a14:imgEffect>
                      <a14:artisticGlowEdges/>
                    </a14:imgEffect>
                    <a14:imgEffect>
                      <a14:colorTemperature colorTemp="5300"/>
                    </a14:imgEffect>
                    <a14:imgEffect>
                      <a14:saturation sat="400000"/>
                    </a14:imgEffect>
                  </a14:imgLayer>
                </a14:imgProps>
              </a:ext>
              <a:ext uri="{28A0092B-C50C-407E-A947-70E740481C1C}">
                <a14:useLocalDpi xmlns:a14="http://schemas.microsoft.com/office/drawing/2010/main" val="0"/>
              </a:ext>
            </a:extLst>
          </a:blip>
          <a:srcRect t="22408"/>
          <a:stretch/>
        </p:blipFill>
        <p:spPr bwMode="auto">
          <a:xfrm>
            <a:off x="1437925" y="3789421"/>
            <a:ext cx="1131203" cy="71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rotWithShape="1">
          <a:blip r:embed="rId10" cstate="print">
            <a:duotone>
              <a:schemeClr val="accent2">
                <a:shade val="45000"/>
                <a:satMod val="135000"/>
              </a:schemeClr>
              <a:prstClr val="white"/>
            </a:duotone>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rcRect r="11119" b="12588"/>
          <a:stretch/>
        </p:blipFill>
        <p:spPr bwMode="auto">
          <a:xfrm>
            <a:off x="1620672" y="4939357"/>
            <a:ext cx="750570" cy="71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rotWithShape="1">
          <a:blip r:embed="rId12" cstate="print">
            <a:duotone>
              <a:schemeClr val="accent2">
                <a:shade val="45000"/>
                <a:satMod val="135000"/>
              </a:schemeClr>
              <a:prstClr val="white"/>
            </a:duotone>
            <a:extLst>
              <a:ext uri="{BEBA8EAE-BF5A-486C-A8C5-ECC9F3942E4B}">
                <a14:imgProps xmlns:a14="http://schemas.microsoft.com/office/drawing/2010/main">
                  <a14:imgLayer r:embed="rId13">
                    <a14:imgEffect>
                      <a14:saturation sat="0"/>
                    </a14:imgEffect>
                  </a14:imgLayer>
                </a14:imgProps>
              </a:ext>
              <a:ext uri="{28A0092B-C50C-407E-A947-70E740481C1C}">
                <a14:useLocalDpi xmlns:a14="http://schemas.microsoft.com/office/drawing/2010/main" val="0"/>
              </a:ext>
            </a:extLst>
          </a:blip>
          <a:srcRect b="14524"/>
          <a:stretch/>
        </p:blipFill>
        <p:spPr bwMode="auto">
          <a:xfrm>
            <a:off x="1767017" y="5795643"/>
            <a:ext cx="457880" cy="678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048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3A0A-D389-557B-352A-FD14986145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0B9A63-2EFA-5894-D766-E2E9FC0DD3BF}"/>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1. A simple supply chain (</a:t>
            </a:r>
            <a:r>
              <a:rPr lang="en-IN" sz="4400" b="1" i="1" dirty="0">
                <a:solidFill>
                  <a:srgbClr val="FFFF00"/>
                </a:solidFill>
              </a:rPr>
              <a:t>Roasted coffee beans</a:t>
            </a:r>
            <a:r>
              <a:rPr lang="en-IN" sz="4400" b="1" i="1" dirty="0"/>
              <a:t>)</a:t>
            </a:r>
          </a:p>
        </p:txBody>
      </p:sp>
      <p:sp>
        <p:nvSpPr>
          <p:cNvPr id="3" name="Rectangle 2">
            <a:extLst>
              <a:ext uri="{FF2B5EF4-FFF2-40B4-BE49-F238E27FC236}">
                <a16:creationId xmlns:a16="http://schemas.microsoft.com/office/drawing/2014/main" id="{413C0B9F-9752-63CA-909A-9538B6A99C63}"/>
              </a:ext>
            </a:extLst>
          </p:cNvPr>
          <p:cNvSpPr/>
          <p:nvPr/>
        </p:nvSpPr>
        <p:spPr>
          <a:xfrm>
            <a:off x="1578081" y="3133012"/>
            <a:ext cx="1533833" cy="94593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(S1)</a:t>
            </a:r>
          </a:p>
          <a:p>
            <a:pPr algn="ctr"/>
            <a:r>
              <a:rPr lang="en-IN" b="1" i="1" dirty="0">
                <a:solidFill>
                  <a:schemeClr val="tx1"/>
                </a:solidFill>
              </a:rPr>
              <a:t>of</a:t>
            </a:r>
          </a:p>
          <a:p>
            <a:pPr algn="ctr"/>
            <a:r>
              <a:rPr lang="en-IN" b="1" i="1" dirty="0">
                <a:solidFill>
                  <a:schemeClr val="tx1"/>
                </a:solidFill>
                <a:highlight>
                  <a:srgbClr val="FFFF00"/>
                </a:highlight>
              </a:rPr>
              <a:t>Coffee beans</a:t>
            </a:r>
          </a:p>
        </p:txBody>
      </p:sp>
      <p:sp>
        <p:nvSpPr>
          <p:cNvPr id="4" name="Rectangle 3">
            <a:extLst>
              <a:ext uri="{FF2B5EF4-FFF2-40B4-BE49-F238E27FC236}">
                <a16:creationId xmlns:a16="http://schemas.microsoft.com/office/drawing/2014/main" id="{63694A4E-5A73-436D-6553-4F58390E3915}"/>
              </a:ext>
            </a:extLst>
          </p:cNvPr>
          <p:cNvSpPr/>
          <p:nvPr/>
        </p:nvSpPr>
        <p:spPr>
          <a:xfrm>
            <a:off x="3642855" y="2877389"/>
            <a:ext cx="1533833" cy="154793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Producer / </a:t>
            </a:r>
          </a:p>
          <a:p>
            <a:pPr algn="ctr"/>
            <a:r>
              <a:rPr lang="en-IN" b="1" i="1" dirty="0">
                <a:solidFill>
                  <a:schemeClr val="tx1"/>
                </a:solidFill>
              </a:rPr>
              <a:t>Manufacturer</a:t>
            </a:r>
          </a:p>
          <a:p>
            <a:pPr algn="ctr"/>
            <a:r>
              <a:rPr lang="en-IN" b="1" i="1" dirty="0">
                <a:solidFill>
                  <a:schemeClr val="tx1"/>
                </a:solidFill>
              </a:rPr>
              <a:t>of</a:t>
            </a:r>
          </a:p>
          <a:p>
            <a:pPr algn="ctr"/>
            <a:r>
              <a:rPr lang="en-IN" b="1" i="1" dirty="0">
                <a:solidFill>
                  <a:schemeClr val="tx1"/>
                </a:solidFill>
                <a:highlight>
                  <a:srgbClr val="00FFFF"/>
                </a:highlight>
              </a:rPr>
              <a:t>Roast coffee beans </a:t>
            </a:r>
          </a:p>
        </p:txBody>
      </p:sp>
      <p:sp>
        <p:nvSpPr>
          <p:cNvPr id="5" name="Rectangle 4">
            <a:extLst>
              <a:ext uri="{FF2B5EF4-FFF2-40B4-BE49-F238E27FC236}">
                <a16:creationId xmlns:a16="http://schemas.microsoft.com/office/drawing/2014/main" id="{C2F3432F-BF97-D0CC-65C7-814C71C7C98D}"/>
              </a:ext>
            </a:extLst>
          </p:cNvPr>
          <p:cNvSpPr/>
          <p:nvPr/>
        </p:nvSpPr>
        <p:spPr>
          <a:xfrm>
            <a:off x="5707629" y="2965066"/>
            <a:ext cx="1533833" cy="1460256"/>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Wholesaler /</a:t>
            </a:r>
          </a:p>
          <a:p>
            <a:pPr algn="ctr"/>
            <a:r>
              <a:rPr lang="en-IN" b="1" i="1" dirty="0">
                <a:solidFill>
                  <a:schemeClr val="tx1"/>
                </a:solidFill>
              </a:rPr>
              <a:t>Distributer</a:t>
            </a:r>
          </a:p>
          <a:p>
            <a:pPr algn="ctr"/>
            <a:r>
              <a:rPr lang="en-IN" b="1" i="1" dirty="0">
                <a:solidFill>
                  <a:schemeClr val="tx1"/>
                </a:solidFill>
              </a:rPr>
              <a:t>of</a:t>
            </a:r>
          </a:p>
          <a:p>
            <a:pPr algn="ctr"/>
            <a:r>
              <a:rPr lang="en-IN" b="1" i="1" dirty="0">
                <a:solidFill>
                  <a:schemeClr val="tx1"/>
                </a:solidFill>
                <a:highlight>
                  <a:srgbClr val="00FFFF"/>
                </a:highlight>
              </a:rPr>
              <a:t>Roasted coffee beans </a:t>
            </a:r>
          </a:p>
        </p:txBody>
      </p:sp>
      <p:sp>
        <p:nvSpPr>
          <p:cNvPr id="6" name="Rectangle 5">
            <a:extLst>
              <a:ext uri="{FF2B5EF4-FFF2-40B4-BE49-F238E27FC236}">
                <a16:creationId xmlns:a16="http://schemas.microsoft.com/office/drawing/2014/main" id="{31E53C9F-F0F9-C0B2-027C-BCF15850A3AA}"/>
              </a:ext>
            </a:extLst>
          </p:cNvPr>
          <p:cNvSpPr/>
          <p:nvPr/>
        </p:nvSpPr>
        <p:spPr>
          <a:xfrm>
            <a:off x="7772403" y="3022768"/>
            <a:ext cx="1533833" cy="123214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Retailer </a:t>
            </a:r>
          </a:p>
          <a:p>
            <a:pPr algn="ctr"/>
            <a:r>
              <a:rPr lang="en-IN" b="1" i="1" dirty="0">
                <a:solidFill>
                  <a:schemeClr val="tx1"/>
                </a:solidFill>
              </a:rPr>
              <a:t>of</a:t>
            </a:r>
          </a:p>
          <a:p>
            <a:pPr algn="ctr"/>
            <a:r>
              <a:rPr lang="en-IN" b="1" i="1" dirty="0">
                <a:solidFill>
                  <a:schemeClr val="tx1"/>
                </a:solidFill>
                <a:highlight>
                  <a:srgbClr val="00FFFF"/>
                </a:highlight>
              </a:rPr>
              <a:t>Roasted coffee beans</a:t>
            </a:r>
          </a:p>
        </p:txBody>
      </p:sp>
      <p:sp>
        <p:nvSpPr>
          <p:cNvPr id="7" name="Rectangle 6">
            <a:extLst>
              <a:ext uri="{FF2B5EF4-FFF2-40B4-BE49-F238E27FC236}">
                <a16:creationId xmlns:a16="http://schemas.microsoft.com/office/drawing/2014/main" id="{BECFDA1E-14E4-F567-2B6A-8F64EC8095A9}"/>
              </a:ext>
            </a:extLst>
          </p:cNvPr>
          <p:cNvSpPr/>
          <p:nvPr/>
        </p:nvSpPr>
        <p:spPr>
          <a:xfrm>
            <a:off x="9837177" y="3022768"/>
            <a:ext cx="1533833" cy="123214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Customer</a:t>
            </a:r>
          </a:p>
          <a:p>
            <a:pPr algn="ctr"/>
            <a:r>
              <a:rPr lang="en-IN" b="1" i="1" dirty="0">
                <a:solidFill>
                  <a:schemeClr val="tx1"/>
                </a:solidFill>
              </a:rPr>
              <a:t>of</a:t>
            </a:r>
          </a:p>
          <a:p>
            <a:pPr algn="ctr"/>
            <a:r>
              <a:rPr lang="en-IN" b="1" i="1" dirty="0">
                <a:solidFill>
                  <a:schemeClr val="tx1"/>
                </a:solidFill>
                <a:highlight>
                  <a:srgbClr val="00FFFF"/>
                </a:highlight>
              </a:rPr>
              <a:t>Roasted coffee beans </a:t>
            </a:r>
          </a:p>
        </p:txBody>
      </p:sp>
      <p:sp>
        <p:nvSpPr>
          <p:cNvPr id="8" name="Arrow: Right 7">
            <a:extLst>
              <a:ext uri="{FF2B5EF4-FFF2-40B4-BE49-F238E27FC236}">
                <a16:creationId xmlns:a16="http://schemas.microsoft.com/office/drawing/2014/main" id="{0C30EDE0-75A2-6DEE-F25A-E765412A9DD7}"/>
              </a:ext>
            </a:extLst>
          </p:cNvPr>
          <p:cNvSpPr/>
          <p:nvPr/>
        </p:nvSpPr>
        <p:spPr>
          <a:xfrm>
            <a:off x="3190571" y="3502739"/>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9" name="Arrow: Right 8">
            <a:extLst>
              <a:ext uri="{FF2B5EF4-FFF2-40B4-BE49-F238E27FC236}">
                <a16:creationId xmlns:a16="http://schemas.microsoft.com/office/drawing/2014/main" id="{A1E14DA5-CEBE-2AF5-5E54-F4D0403E6EC0}"/>
              </a:ext>
            </a:extLst>
          </p:cNvPr>
          <p:cNvSpPr/>
          <p:nvPr/>
        </p:nvSpPr>
        <p:spPr>
          <a:xfrm>
            <a:off x="5260261" y="3510113"/>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0" name="Arrow: Right 9">
            <a:extLst>
              <a:ext uri="{FF2B5EF4-FFF2-40B4-BE49-F238E27FC236}">
                <a16:creationId xmlns:a16="http://schemas.microsoft.com/office/drawing/2014/main" id="{E5FBA2C3-5813-E2A6-F371-694A7CE4B130}"/>
              </a:ext>
            </a:extLst>
          </p:cNvPr>
          <p:cNvSpPr/>
          <p:nvPr/>
        </p:nvSpPr>
        <p:spPr>
          <a:xfrm>
            <a:off x="7315204" y="3510113"/>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1" name="Arrow: Right 10">
            <a:extLst>
              <a:ext uri="{FF2B5EF4-FFF2-40B4-BE49-F238E27FC236}">
                <a16:creationId xmlns:a16="http://schemas.microsoft.com/office/drawing/2014/main" id="{36F57522-F8D9-3142-65FF-405C4FA31DCA}"/>
              </a:ext>
            </a:extLst>
          </p:cNvPr>
          <p:cNvSpPr/>
          <p:nvPr/>
        </p:nvSpPr>
        <p:spPr>
          <a:xfrm>
            <a:off x="9360312" y="3510113"/>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2" name="Left Brace 11">
            <a:extLst>
              <a:ext uri="{FF2B5EF4-FFF2-40B4-BE49-F238E27FC236}">
                <a16:creationId xmlns:a16="http://schemas.microsoft.com/office/drawing/2014/main" id="{833973AB-3690-CCE9-5BED-81C06CDAD21E}"/>
              </a:ext>
            </a:extLst>
          </p:cNvPr>
          <p:cNvSpPr/>
          <p:nvPr/>
        </p:nvSpPr>
        <p:spPr>
          <a:xfrm rot="5400000">
            <a:off x="8209832" y="-447476"/>
            <a:ext cx="658976" cy="5663383"/>
          </a:xfrm>
          <a:prstGeom prst="leftBrace">
            <a:avLst/>
          </a:prstGeom>
          <a:ln w="3810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14" name="Left Brace 13">
            <a:extLst>
              <a:ext uri="{FF2B5EF4-FFF2-40B4-BE49-F238E27FC236}">
                <a16:creationId xmlns:a16="http://schemas.microsoft.com/office/drawing/2014/main" id="{B0076D4D-C97F-8EC9-6477-E809AC79BB3A}"/>
              </a:ext>
            </a:extLst>
          </p:cNvPr>
          <p:cNvSpPr/>
          <p:nvPr/>
        </p:nvSpPr>
        <p:spPr>
          <a:xfrm rot="5400000">
            <a:off x="4070450" y="1548476"/>
            <a:ext cx="658975" cy="1671482"/>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15" name="Left Brace 14">
            <a:extLst>
              <a:ext uri="{FF2B5EF4-FFF2-40B4-BE49-F238E27FC236}">
                <a16:creationId xmlns:a16="http://schemas.microsoft.com/office/drawing/2014/main" id="{B76E8A0B-F7AA-CFE8-6F37-B73DFB81AB07}"/>
              </a:ext>
            </a:extLst>
          </p:cNvPr>
          <p:cNvSpPr/>
          <p:nvPr/>
        </p:nvSpPr>
        <p:spPr>
          <a:xfrm rot="5400000">
            <a:off x="1976178" y="1548474"/>
            <a:ext cx="658975" cy="1671482"/>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17" name="TextBox 16">
            <a:extLst>
              <a:ext uri="{FF2B5EF4-FFF2-40B4-BE49-F238E27FC236}">
                <a16:creationId xmlns:a16="http://schemas.microsoft.com/office/drawing/2014/main" id="{592D36B5-8C31-0CB6-C346-1690E4DF0FD7}"/>
              </a:ext>
            </a:extLst>
          </p:cNvPr>
          <p:cNvSpPr txBox="1"/>
          <p:nvPr/>
        </p:nvSpPr>
        <p:spPr>
          <a:xfrm>
            <a:off x="3564195" y="1429380"/>
            <a:ext cx="1671483" cy="461665"/>
          </a:xfrm>
          <a:prstGeom prst="rect">
            <a:avLst/>
          </a:prstGeom>
          <a:noFill/>
        </p:spPr>
        <p:txBody>
          <a:bodyPr wrap="square">
            <a:spAutoFit/>
          </a:bodyPr>
          <a:lstStyle/>
          <a:p>
            <a:pPr algn="ctr"/>
            <a:r>
              <a:rPr lang="en-IN" sz="2400" b="1" i="1" u="none" strike="noStrike" kern="1200" baseline="0" dirty="0">
                <a:solidFill>
                  <a:srgbClr val="FF0000"/>
                </a:solidFill>
                <a:latin typeface="+mn-lt"/>
                <a:ea typeface="+mn-ea"/>
                <a:cs typeface="+mn-cs"/>
              </a:rPr>
              <a:t>Focal firm</a:t>
            </a:r>
            <a:endParaRPr lang="en-IN" sz="2400" b="1" i="1" dirty="0">
              <a:solidFill>
                <a:srgbClr val="FF0000"/>
              </a:solidFill>
            </a:endParaRPr>
          </a:p>
        </p:txBody>
      </p:sp>
      <p:sp>
        <p:nvSpPr>
          <p:cNvPr id="18" name="TextBox 17">
            <a:extLst>
              <a:ext uri="{FF2B5EF4-FFF2-40B4-BE49-F238E27FC236}">
                <a16:creationId xmlns:a16="http://schemas.microsoft.com/office/drawing/2014/main" id="{10747D09-3D1D-24BF-D6F8-715717C37446}"/>
              </a:ext>
            </a:extLst>
          </p:cNvPr>
          <p:cNvSpPr txBox="1"/>
          <p:nvPr/>
        </p:nvSpPr>
        <p:spPr>
          <a:xfrm>
            <a:off x="7590506" y="1425690"/>
            <a:ext cx="1927127" cy="461665"/>
          </a:xfrm>
          <a:prstGeom prst="rect">
            <a:avLst/>
          </a:prstGeom>
          <a:noFill/>
        </p:spPr>
        <p:txBody>
          <a:bodyPr wrap="square">
            <a:spAutoFit/>
          </a:bodyPr>
          <a:lstStyle/>
          <a:p>
            <a:pPr algn="ctr"/>
            <a:r>
              <a:rPr lang="en-IN" sz="2400" b="1" i="1" dirty="0">
                <a:solidFill>
                  <a:srgbClr val="0000CC"/>
                </a:solidFill>
              </a:rPr>
              <a:t>Downstream</a:t>
            </a:r>
          </a:p>
        </p:txBody>
      </p:sp>
      <p:sp>
        <p:nvSpPr>
          <p:cNvPr id="19" name="TextBox 18">
            <a:extLst>
              <a:ext uri="{FF2B5EF4-FFF2-40B4-BE49-F238E27FC236}">
                <a16:creationId xmlns:a16="http://schemas.microsoft.com/office/drawing/2014/main" id="{ACE6C5EB-2C0F-5C88-8EB0-4D5A3311A819}"/>
              </a:ext>
            </a:extLst>
          </p:cNvPr>
          <p:cNvSpPr txBox="1"/>
          <p:nvPr/>
        </p:nvSpPr>
        <p:spPr>
          <a:xfrm>
            <a:off x="1337184" y="1425689"/>
            <a:ext cx="1927127" cy="461665"/>
          </a:xfrm>
          <a:prstGeom prst="rect">
            <a:avLst/>
          </a:prstGeom>
          <a:noFill/>
        </p:spPr>
        <p:txBody>
          <a:bodyPr wrap="square">
            <a:spAutoFit/>
          </a:bodyPr>
          <a:lstStyle/>
          <a:p>
            <a:pPr algn="ctr"/>
            <a:r>
              <a:rPr lang="en-IN" sz="2400" b="1" i="1" dirty="0"/>
              <a:t>Upstream</a:t>
            </a:r>
          </a:p>
        </p:txBody>
      </p:sp>
      <p:pic>
        <p:nvPicPr>
          <p:cNvPr id="13" name="Picture 12">
            <a:extLst>
              <a:ext uri="{FF2B5EF4-FFF2-40B4-BE49-F238E27FC236}">
                <a16:creationId xmlns:a16="http://schemas.microsoft.com/office/drawing/2014/main" id="{625DC8B9-02F6-DFCD-8884-0DC5A9A3D9DC}"/>
              </a:ext>
            </a:extLst>
          </p:cNvPr>
          <p:cNvPicPr>
            <a:picLocks noChangeAspect="1"/>
          </p:cNvPicPr>
          <p:nvPr/>
        </p:nvPicPr>
        <p:blipFill>
          <a:blip r:embed="rId2"/>
          <a:stretch>
            <a:fillRect/>
          </a:stretch>
        </p:blipFill>
        <p:spPr>
          <a:xfrm>
            <a:off x="1524002" y="5320911"/>
            <a:ext cx="9901086" cy="749873"/>
          </a:xfrm>
          <a:prstGeom prst="rect">
            <a:avLst/>
          </a:prstGeom>
        </p:spPr>
      </p:pic>
    </p:spTree>
    <p:extLst>
      <p:ext uri="{BB962C8B-B14F-4D97-AF65-F5344CB8AC3E}">
        <p14:creationId xmlns:p14="http://schemas.microsoft.com/office/powerpoint/2010/main" val="3945972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28D0-F2B1-83AF-B455-92DF4391C2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48EA1E2-8E15-C0F4-67E9-1E47E416EBA2}"/>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The Amul Model</a:t>
            </a:r>
          </a:p>
        </p:txBody>
      </p:sp>
      <p:sp>
        <p:nvSpPr>
          <p:cNvPr id="3" name="Rectangle 2">
            <a:extLst>
              <a:ext uri="{FF2B5EF4-FFF2-40B4-BE49-F238E27FC236}">
                <a16:creationId xmlns:a16="http://schemas.microsoft.com/office/drawing/2014/main" id="{E5328459-25A3-64AE-BA5C-65E6241B4102}"/>
              </a:ext>
            </a:extLst>
          </p:cNvPr>
          <p:cNvSpPr/>
          <p:nvPr/>
        </p:nvSpPr>
        <p:spPr>
          <a:xfrm>
            <a:off x="959324" y="3399812"/>
            <a:ext cx="1533833" cy="94593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rgbClr val="FF0000"/>
                </a:solidFill>
              </a:rPr>
              <a:t>Milk producer</a:t>
            </a:r>
          </a:p>
          <a:p>
            <a:pPr algn="ctr"/>
            <a:r>
              <a:rPr lang="en-IN" b="1" i="1" dirty="0">
                <a:solidFill>
                  <a:srgbClr val="FF0000"/>
                </a:solidFill>
              </a:rPr>
              <a:t>(16 million+)</a:t>
            </a:r>
          </a:p>
        </p:txBody>
      </p:sp>
      <p:sp>
        <p:nvSpPr>
          <p:cNvPr id="4" name="Rectangle 3">
            <a:extLst>
              <a:ext uri="{FF2B5EF4-FFF2-40B4-BE49-F238E27FC236}">
                <a16:creationId xmlns:a16="http://schemas.microsoft.com/office/drawing/2014/main" id="{F14787C2-282B-3C22-CAF5-16CA35E19F01}"/>
              </a:ext>
            </a:extLst>
          </p:cNvPr>
          <p:cNvSpPr/>
          <p:nvPr/>
        </p:nvSpPr>
        <p:spPr>
          <a:xfrm>
            <a:off x="3115258" y="3173010"/>
            <a:ext cx="1533833" cy="154793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rgbClr val="FF0000"/>
                </a:solidFill>
              </a:rPr>
              <a:t>Village Dairy </a:t>
            </a:r>
          </a:p>
          <a:p>
            <a:pPr algn="ctr"/>
            <a:r>
              <a:rPr lang="en-IN" b="1" i="1" dirty="0">
                <a:solidFill>
                  <a:srgbClr val="FF0000"/>
                </a:solidFill>
              </a:rPr>
              <a:t>Co-op.</a:t>
            </a:r>
          </a:p>
          <a:p>
            <a:pPr algn="ctr"/>
            <a:r>
              <a:rPr lang="en-IN" b="1" i="1" dirty="0">
                <a:solidFill>
                  <a:srgbClr val="FF0000"/>
                </a:solidFill>
              </a:rPr>
              <a:t>(1,85,903)</a:t>
            </a:r>
          </a:p>
        </p:txBody>
      </p:sp>
      <p:sp>
        <p:nvSpPr>
          <p:cNvPr id="5" name="Rectangle 4">
            <a:extLst>
              <a:ext uri="{FF2B5EF4-FFF2-40B4-BE49-F238E27FC236}">
                <a16:creationId xmlns:a16="http://schemas.microsoft.com/office/drawing/2014/main" id="{C99473F7-6604-5161-7E0F-86ABABDCB730}"/>
              </a:ext>
            </a:extLst>
          </p:cNvPr>
          <p:cNvSpPr/>
          <p:nvPr/>
        </p:nvSpPr>
        <p:spPr>
          <a:xfrm>
            <a:off x="5313084" y="3245889"/>
            <a:ext cx="1719229" cy="154793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rgbClr val="FF0000"/>
                </a:solidFill>
              </a:rPr>
              <a:t>Dist. Milk </a:t>
            </a:r>
          </a:p>
          <a:p>
            <a:pPr algn="ctr"/>
            <a:r>
              <a:rPr lang="en-IN" b="1" i="1" dirty="0">
                <a:solidFill>
                  <a:srgbClr val="FF0000"/>
                </a:solidFill>
              </a:rPr>
              <a:t>Co-op. Union</a:t>
            </a:r>
          </a:p>
          <a:p>
            <a:pPr algn="ctr"/>
            <a:r>
              <a:rPr lang="en-IN" b="1" i="1" dirty="0">
                <a:solidFill>
                  <a:srgbClr val="FF0000"/>
                </a:solidFill>
              </a:rPr>
              <a:t>(222) </a:t>
            </a:r>
          </a:p>
        </p:txBody>
      </p:sp>
      <p:sp>
        <p:nvSpPr>
          <p:cNvPr id="6" name="Rectangle 5">
            <a:extLst>
              <a:ext uri="{FF2B5EF4-FFF2-40B4-BE49-F238E27FC236}">
                <a16:creationId xmlns:a16="http://schemas.microsoft.com/office/drawing/2014/main" id="{4D88F0F5-5EF6-F8B3-2E08-D69D60DBA69E}"/>
              </a:ext>
            </a:extLst>
          </p:cNvPr>
          <p:cNvSpPr/>
          <p:nvPr/>
        </p:nvSpPr>
        <p:spPr>
          <a:xfrm>
            <a:off x="7559334" y="3266603"/>
            <a:ext cx="1779481" cy="1460256"/>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rgbClr val="FF0000"/>
                </a:solidFill>
              </a:rPr>
              <a:t>State Co-op. Milk Mktg. Fed.</a:t>
            </a:r>
          </a:p>
          <a:p>
            <a:pPr algn="ctr"/>
            <a:r>
              <a:rPr lang="en-IN" b="1" i="1" dirty="0">
                <a:solidFill>
                  <a:srgbClr val="FF0000"/>
                </a:solidFill>
              </a:rPr>
              <a:t>(28)</a:t>
            </a:r>
          </a:p>
        </p:txBody>
      </p:sp>
      <p:sp>
        <p:nvSpPr>
          <p:cNvPr id="7" name="Rectangle 6">
            <a:extLst>
              <a:ext uri="{FF2B5EF4-FFF2-40B4-BE49-F238E27FC236}">
                <a16:creationId xmlns:a16="http://schemas.microsoft.com/office/drawing/2014/main" id="{53CD35C3-4A35-0A41-76A4-832CEF9FB004}"/>
              </a:ext>
            </a:extLst>
          </p:cNvPr>
          <p:cNvSpPr/>
          <p:nvPr/>
        </p:nvSpPr>
        <p:spPr>
          <a:xfrm>
            <a:off x="9901557" y="3423257"/>
            <a:ext cx="1804899" cy="106144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rgbClr val="FF0000"/>
                </a:solidFill>
              </a:rPr>
              <a:t>Consumer</a:t>
            </a:r>
          </a:p>
        </p:txBody>
      </p:sp>
      <p:sp>
        <p:nvSpPr>
          <p:cNvPr id="8" name="Arrow: Right 7">
            <a:extLst>
              <a:ext uri="{FF2B5EF4-FFF2-40B4-BE49-F238E27FC236}">
                <a16:creationId xmlns:a16="http://schemas.microsoft.com/office/drawing/2014/main" id="{741D5876-81B6-FD2D-6ED3-23A3E2E701C6}"/>
              </a:ext>
            </a:extLst>
          </p:cNvPr>
          <p:cNvSpPr/>
          <p:nvPr/>
        </p:nvSpPr>
        <p:spPr>
          <a:xfrm>
            <a:off x="2571814" y="3791791"/>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rgbClr val="FF0000"/>
              </a:solidFill>
            </a:endParaRPr>
          </a:p>
        </p:txBody>
      </p:sp>
      <p:sp>
        <p:nvSpPr>
          <p:cNvPr id="9" name="Arrow: Right 8">
            <a:extLst>
              <a:ext uri="{FF2B5EF4-FFF2-40B4-BE49-F238E27FC236}">
                <a16:creationId xmlns:a16="http://schemas.microsoft.com/office/drawing/2014/main" id="{47961664-CD3D-24BB-70E0-60499E9A26D3}"/>
              </a:ext>
            </a:extLst>
          </p:cNvPr>
          <p:cNvSpPr/>
          <p:nvPr/>
        </p:nvSpPr>
        <p:spPr>
          <a:xfrm>
            <a:off x="4786063" y="3769539"/>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rgbClr val="FF0000"/>
              </a:solidFill>
            </a:endParaRPr>
          </a:p>
        </p:txBody>
      </p:sp>
      <p:sp>
        <p:nvSpPr>
          <p:cNvPr id="10" name="Arrow: Right 9">
            <a:extLst>
              <a:ext uri="{FF2B5EF4-FFF2-40B4-BE49-F238E27FC236}">
                <a16:creationId xmlns:a16="http://schemas.microsoft.com/office/drawing/2014/main" id="{15F501AF-88B0-7D05-CCB3-39AFFA4CDD1C}"/>
              </a:ext>
            </a:extLst>
          </p:cNvPr>
          <p:cNvSpPr/>
          <p:nvPr/>
        </p:nvSpPr>
        <p:spPr>
          <a:xfrm>
            <a:off x="7091150" y="3808190"/>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rgbClr val="FF0000"/>
              </a:solidFill>
            </a:endParaRPr>
          </a:p>
        </p:txBody>
      </p:sp>
      <p:sp>
        <p:nvSpPr>
          <p:cNvPr id="11" name="Arrow: Right 10">
            <a:extLst>
              <a:ext uri="{FF2B5EF4-FFF2-40B4-BE49-F238E27FC236}">
                <a16:creationId xmlns:a16="http://schemas.microsoft.com/office/drawing/2014/main" id="{2919A278-12AC-8D6C-CC11-7882407AB677}"/>
              </a:ext>
            </a:extLst>
          </p:cNvPr>
          <p:cNvSpPr/>
          <p:nvPr/>
        </p:nvSpPr>
        <p:spPr>
          <a:xfrm>
            <a:off x="9433373" y="3740499"/>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rgbClr val="FF0000"/>
              </a:solidFill>
            </a:endParaRPr>
          </a:p>
        </p:txBody>
      </p:sp>
      <p:pic>
        <p:nvPicPr>
          <p:cNvPr id="16" name="Picture 15">
            <a:extLst>
              <a:ext uri="{FF2B5EF4-FFF2-40B4-BE49-F238E27FC236}">
                <a16:creationId xmlns:a16="http://schemas.microsoft.com/office/drawing/2014/main" id="{03F565D5-6B7B-BDE6-EF80-A85AC0152CB7}"/>
              </a:ext>
            </a:extLst>
          </p:cNvPr>
          <p:cNvPicPr>
            <a:picLocks noChangeAspect="1"/>
          </p:cNvPicPr>
          <p:nvPr/>
        </p:nvPicPr>
        <p:blipFill>
          <a:blip r:embed="rId2"/>
          <a:stretch>
            <a:fillRect/>
          </a:stretch>
        </p:blipFill>
        <p:spPr>
          <a:xfrm>
            <a:off x="9733938" y="1117056"/>
            <a:ext cx="2140138" cy="1614951"/>
          </a:xfrm>
          <a:prstGeom prst="rect">
            <a:avLst/>
          </a:prstGeom>
        </p:spPr>
      </p:pic>
      <p:pic>
        <p:nvPicPr>
          <p:cNvPr id="21" name="Picture 20">
            <a:extLst>
              <a:ext uri="{FF2B5EF4-FFF2-40B4-BE49-F238E27FC236}">
                <a16:creationId xmlns:a16="http://schemas.microsoft.com/office/drawing/2014/main" id="{0D974E04-ED1A-3582-A007-6867E037CB7A}"/>
              </a:ext>
            </a:extLst>
          </p:cNvPr>
          <p:cNvPicPr>
            <a:picLocks noChangeAspect="1"/>
          </p:cNvPicPr>
          <p:nvPr/>
        </p:nvPicPr>
        <p:blipFill>
          <a:blip r:embed="rId3"/>
          <a:stretch>
            <a:fillRect/>
          </a:stretch>
        </p:blipFill>
        <p:spPr>
          <a:xfrm>
            <a:off x="7392122" y="1144184"/>
            <a:ext cx="2057827" cy="1604615"/>
          </a:xfrm>
          <a:prstGeom prst="rect">
            <a:avLst/>
          </a:prstGeom>
        </p:spPr>
      </p:pic>
      <p:pic>
        <p:nvPicPr>
          <p:cNvPr id="23" name="Picture 22">
            <a:extLst>
              <a:ext uri="{FF2B5EF4-FFF2-40B4-BE49-F238E27FC236}">
                <a16:creationId xmlns:a16="http://schemas.microsoft.com/office/drawing/2014/main" id="{0C1B87F2-5FAC-406B-91BA-E5A87422AACD}"/>
              </a:ext>
            </a:extLst>
          </p:cNvPr>
          <p:cNvPicPr>
            <a:picLocks noChangeAspect="1"/>
          </p:cNvPicPr>
          <p:nvPr/>
        </p:nvPicPr>
        <p:blipFill>
          <a:blip r:embed="rId4"/>
          <a:stretch>
            <a:fillRect/>
          </a:stretch>
        </p:blipFill>
        <p:spPr>
          <a:xfrm>
            <a:off x="5183623" y="1129768"/>
            <a:ext cx="2021007" cy="1604557"/>
          </a:xfrm>
          <a:prstGeom prst="rect">
            <a:avLst/>
          </a:prstGeom>
        </p:spPr>
      </p:pic>
      <p:pic>
        <p:nvPicPr>
          <p:cNvPr id="26" name="Picture 25">
            <a:extLst>
              <a:ext uri="{FF2B5EF4-FFF2-40B4-BE49-F238E27FC236}">
                <a16:creationId xmlns:a16="http://schemas.microsoft.com/office/drawing/2014/main" id="{0E754DFB-84D7-1909-04EE-5A0D3951AB28}"/>
              </a:ext>
            </a:extLst>
          </p:cNvPr>
          <p:cNvPicPr>
            <a:picLocks noChangeAspect="1"/>
          </p:cNvPicPr>
          <p:nvPr/>
        </p:nvPicPr>
        <p:blipFill>
          <a:blip r:embed="rId5"/>
          <a:stretch>
            <a:fillRect/>
          </a:stretch>
        </p:blipFill>
        <p:spPr>
          <a:xfrm>
            <a:off x="2961846" y="1159264"/>
            <a:ext cx="2034285" cy="1546533"/>
          </a:xfrm>
          <a:prstGeom prst="rect">
            <a:avLst/>
          </a:prstGeom>
        </p:spPr>
      </p:pic>
      <p:pic>
        <p:nvPicPr>
          <p:cNvPr id="28" name="Picture 27">
            <a:extLst>
              <a:ext uri="{FF2B5EF4-FFF2-40B4-BE49-F238E27FC236}">
                <a16:creationId xmlns:a16="http://schemas.microsoft.com/office/drawing/2014/main" id="{BF3B38D5-6999-460A-B2CD-59B03B613A28}"/>
              </a:ext>
            </a:extLst>
          </p:cNvPr>
          <p:cNvPicPr>
            <a:picLocks noChangeAspect="1"/>
          </p:cNvPicPr>
          <p:nvPr/>
        </p:nvPicPr>
        <p:blipFill>
          <a:blip r:embed="rId6"/>
          <a:stretch>
            <a:fillRect/>
          </a:stretch>
        </p:blipFill>
        <p:spPr>
          <a:xfrm>
            <a:off x="798167" y="1127450"/>
            <a:ext cx="2021007" cy="1592309"/>
          </a:xfrm>
          <a:prstGeom prst="rect">
            <a:avLst/>
          </a:prstGeom>
        </p:spPr>
      </p:pic>
      <p:sp>
        <p:nvSpPr>
          <p:cNvPr id="29" name="Arrow: Down 28">
            <a:extLst>
              <a:ext uri="{FF2B5EF4-FFF2-40B4-BE49-F238E27FC236}">
                <a16:creationId xmlns:a16="http://schemas.microsoft.com/office/drawing/2014/main" id="{0E98E510-8875-CAA5-5A1D-43EB99C4F107}"/>
              </a:ext>
            </a:extLst>
          </p:cNvPr>
          <p:cNvSpPr/>
          <p:nvPr/>
        </p:nvSpPr>
        <p:spPr>
          <a:xfrm>
            <a:off x="1453396" y="2717255"/>
            <a:ext cx="545690" cy="414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30" name="Arrow: Down 29">
            <a:extLst>
              <a:ext uri="{FF2B5EF4-FFF2-40B4-BE49-F238E27FC236}">
                <a16:creationId xmlns:a16="http://schemas.microsoft.com/office/drawing/2014/main" id="{D7B124A3-709B-ECCA-DB99-85209D97724C}"/>
              </a:ext>
            </a:extLst>
          </p:cNvPr>
          <p:cNvSpPr/>
          <p:nvPr/>
        </p:nvSpPr>
        <p:spPr>
          <a:xfrm>
            <a:off x="3592907" y="2705797"/>
            <a:ext cx="545690" cy="414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31" name="Arrow: Down 30">
            <a:extLst>
              <a:ext uri="{FF2B5EF4-FFF2-40B4-BE49-F238E27FC236}">
                <a16:creationId xmlns:a16="http://schemas.microsoft.com/office/drawing/2014/main" id="{011D99FD-5317-B8C2-7004-2C018AC84EE6}"/>
              </a:ext>
            </a:extLst>
          </p:cNvPr>
          <p:cNvSpPr/>
          <p:nvPr/>
        </p:nvSpPr>
        <p:spPr>
          <a:xfrm>
            <a:off x="5921281" y="2763821"/>
            <a:ext cx="545690" cy="414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32" name="Arrow: Down 31">
            <a:extLst>
              <a:ext uri="{FF2B5EF4-FFF2-40B4-BE49-F238E27FC236}">
                <a16:creationId xmlns:a16="http://schemas.microsoft.com/office/drawing/2014/main" id="{C6B663C8-C1C3-CC2F-0C1A-F9D8354A4D1C}"/>
              </a:ext>
            </a:extLst>
          </p:cNvPr>
          <p:cNvSpPr/>
          <p:nvPr/>
        </p:nvSpPr>
        <p:spPr>
          <a:xfrm>
            <a:off x="8075425" y="2732007"/>
            <a:ext cx="545690" cy="414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33" name="Arrow: Down 32">
            <a:extLst>
              <a:ext uri="{FF2B5EF4-FFF2-40B4-BE49-F238E27FC236}">
                <a16:creationId xmlns:a16="http://schemas.microsoft.com/office/drawing/2014/main" id="{855E552C-DB7A-7BC2-0DB6-BF1D6BA15B73}"/>
              </a:ext>
            </a:extLst>
          </p:cNvPr>
          <p:cNvSpPr/>
          <p:nvPr/>
        </p:nvSpPr>
        <p:spPr>
          <a:xfrm>
            <a:off x="10531162" y="2732007"/>
            <a:ext cx="545690" cy="414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pic>
        <p:nvPicPr>
          <p:cNvPr id="37" name="Picture 36">
            <a:extLst>
              <a:ext uri="{FF2B5EF4-FFF2-40B4-BE49-F238E27FC236}">
                <a16:creationId xmlns:a16="http://schemas.microsoft.com/office/drawing/2014/main" id="{9E8DB338-43D3-3A97-59C8-614C722DBCEA}"/>
              </a:ext>
            </a:extLst>
          </p:cNvPr>
          <p:cNvPicPr>
            <a:picLocks noChangeAspect="1"/>
          </p:cNvPicPr>
          <p:nvPr/>
        </p:nvPicPr>
        <p:blipFill>
          <a:blip r:embed="rId7"/>
          <a:stretch>
            <a:fillRect/>
          </a:stretch>
        </p:blipFill>
        <p:spPr>
          <a:xfrm>
            <a:off x="2454113" y="4938677"/>
            <a:ext cx="8025715" cy="1287946"/>
          </a:xfrm>
          <a:prstGeom prst="rect">
            <a:avLst/>
          </a:prstGeom>
          <a:ln>
            <a:solidFill>
              <a:srgbClr val="0000CC"/>
            </a:solidFill>
          </a:ln>
        </p:spPr>
      </p:pic>
      <p:sp>
        <p:nvSpPr>
          <p:cNvPr id="39" name="TextBox 38">
            <a:extLst>
              <a:ext uri="{FF2B5EF4-FFF2-40B4-BE49-F238E27FC236}">
                <a16:creationId xmlns:a16="http://schemas.microsoft.com/office/drawing/2014/main" id="{B9D04C17-4E71-5940-1EA6-B0C859B9C077}"/>
              </a:ext>
            </a:extLst>
          </p:cNvPr>
          <p:cNvSpPr txBox="1"/>
          <p:nvPr/>
        </p:nvSpPr>
        <p:spPr>
          <a:xfrm>
            <a:off x="3414054" y="6233586"/>
            <a:ext cx="6105832" cy="369332"/>
          </a:xfrm>
          <a:prstGeom prst="rect">
            <a:avLst/>
          </a:prstGeom>
          <a:noFill/>
        </p:spPr>
        <p:txBody>
          <a:bodyPr wrap="square">
            <a:spAutoFit/>
          </a:bodyPr>
          <a:lstStyle/>
          <a:p>
            <a:pPr algn="ctr"/>
            <a:r>
              <a:rPr lang="en-IN" i="1" dirty="0"/>
              <a:t>Source: </a:t>
            </a:r>
            <a:r>
              <a:rPr lang="en-IN" i="1" dirty="0">
                <a:hlinkClick r:id="rId8"/>
              </a:rPr>
              <a:t>https://amul.com/m/about-us</a:t>
            </a:r>
            <a:r>
              <a:rPr lang="en-IN" i="1" dirty="0"/>
              <a:t> retrieved on 22/02/2026</a:t>
            </a:r>
          </a:p>
        </p:txBody>
      </p:sp>
      <p:pic>
        <p:nvPicPr>
          <p:cNvPr id="2050" name="Picture 2" descr="How Amul Became The Taste Of India - World Brand Affairs">
            <a:extLst>
              <a:ext uri="{FF2B5EF4-FFF2-40B4-BE49-F238E27FC236}">
                <a16:creationId xmlns:a16="http://schemas.microsoft.com/office/drawing/2014/main" id="{09AF223F-18AA-DEB5-5F3C-208965552A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502" y="20471"/>
            <a:ext cx="1821426" cy="910713"/>
          </a:xfrm>
          <a:prstGeom prst="rect">
            <a:avLst/>
          </a:prstGeom>
          <a:noFill/>
          <a:ln w="38100">
            <a:solidFill>
              <a:schemeClr val="accent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732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F265C-CA87-3E1D-9E50-F3B3842D9FA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95DE37-D2B3-8474-B831-28459C4A7EBD}"/>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2. A simple supply chain (</a:t>
            </a:r>
            <a:r>
              <a:rPr lang="en-IN" sz="4400" b="1" i="1" dirty="0">
                <a:solidFill>
                  <a:srgbClr val="FFFF00"/>
                </a:solidFill>
              </a:rPr>
              <a:t>Wooden Study Table</a:t>
            </a:r>
            <a:r>
              <a:rPr lang="en-IN" sz="4400" b="1" i="1" dirty="0"/>
              <a:t>)</a:t>
            </a:r>
          </a:p>
        </p:txBody>
      </p:sp>
      <p:sp>
        <p:nvSpPr>
          <p:cNvPr id="3" name="Rectangle 2">
            <a:extLst>
              <a:ext uri="{FF2B5EF4-FFF2-40B4-BE49-F238E27FC236}">
                <a16:creationId xmlns:a16="http://schemas.microsoft.com/office/drawing/2014/main" id="{F1E659A4-119B-AB4A-E5EA-08EDAA1186CA}"/>
              </a:ext>
            </a:extLst>
          </p:cNvPr>
          <p:cNvSpPr/>
          <p:nvPr/>
        </p:nvSpPr>
        <p:spPr>
          <a:xfrm>
            <a:off x="1430595" y="3340713"/>
            <a:ext cx="1533833" cy="67279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(S2)</a:t>
            </a:r>
          </a:p>
          <a:p>
            <a:pPr algn="ctr"/>
            <a:r>
              <a:rPr lang="en-IN" b="1" i="1" dirty="0">
                <a:solidFill>
                  <a:schemeClr val="tx1"/>
                </a:solidFill>
                <a:highlight>
                  <a:srgbClr val="FFFF00"/>
                </a:highlight>
              </a:rPr>
              <a:t>Steel</a:t>
            </a:r>
          </a:p>
        </p:txBody>
      </p:sp>
      <p:sp>
        <p:nvSpPr>
          <p:cNvPr id="4" name="Rectangle 3">
            <a:extLst>
              <a:ext uri="{FF2B5EF4-FFF2-40B4-BE49-F238E27FC236}">
                <a16:creationId xmlns:a16="http://schemas.microsoft.com/office/drawing/2014/main" id="{B6C53D55-5601-F9F7-15EC-FBB55B68FAB1}"/>
              </a:ext>
            </a:extLst>
          </p:cNvPr>
          <p:cNvSpPr/>
          <p:nvPr/>
        </p:nvSpPr>
        <p:spPr>
          <a:xfrm>
            <a:off x="3495369" y="2262429"/>
            <a:ext cx="1533833" cy="371066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Producer / </a:t>
            </a:r>
          </a:p>
          <a:p>
            <a:pPr algn="ctr"/>
            <a:r>
              <a:rPr lang="en-IN" b="1" i="1" dirty="0">
                <a:solidFill>
                  <a:schemeClr val="tx1"/>
                </a:solidFill>
              </a:rPr>
              <a:t>Manufacturer</a:t>
            </a:r>
          </a:p>
          <a:p>
            <a:pPr algn="ctr"/>
            <a:endParaRPr lang="en-IN" b="1" i="1" dirty="0">
              <a:solidFill>
                <a:schemeClr val="tx1"/>
              </a:solidFill>
            </a:endParaRPr>
          </a:p>
          <a:p>
            <a:pPr algn="ctr"/>
            <a:r>
              <a:rPr lang="en-IN" b="1" i="1" dirty="0">
                <a:solidFill>
                  <a:schemeClr val="tx1"/>
                </a:solidFill>
                <a:highlight>
                  <a:srgbClr val="00FFFF"/>
                </a:highlight>
              </a:rPr>
              <a:t>Wooden Study Table </a:t>
            </a:r>
          </a:p>
        </p:txBody>
      </p:sp>
      <p:sp>
        <p:nvSpPr>
          <p:cNvPr id="5" name="Rectangle 4">
            <a:extLst>
              <a:ext uri="{FF2B5EF4-FFF2-40B4-BE49-F238E27FC236}">
                <a16:creationId xmlns:a16="http://schemas.microsoft.com/office/drawing/2014/main" id="{2A2E710F-5D01-3653-57B1-7D2CEA3E4E5D}"/>
              </a:ext>
            </a:extLst>
          </p:cNvPr>
          <p:cNvSpPr/>
          <p:nvPr/>
        </p:nvSpPr>
        <p:spPr>
          <a:xfrm>
            <a:off x="5560143" y="3730309"/>
            <a:ext cx="1533833" cy="94593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Wholesaler</a:t>
            </a:r>
          </a:p>
          <a:p>
            <a:pPr algn="ctr"/>
            <a:r>
              <a:rPr lang="en-IN" b="1" i="1" dirty="0">
                <a:solidFill>
                  <a:schemeClr val="tx1"/>
                </a:solidFill>
                <a:highlight>
                  <a:srgbClr val="00FFFF"/>
                </a:highlight>
              </a:rPr>
              <a:t>Wooden study tables</a:t>
            </a:r>
          </a:p>
        </p:txBody>
      </p:sp>
      <p:sp>
        <p:nvSpPr>
          <p:cNvPr id="6" name="Rectangle 5">
            <a:extLst>
              <a:ext uri="{FF2B5EF4-FFF2-40B4-BE49-F238E27FC236}">
                <a16:creationId xmlns:a16="http://schemas.microsoft.com/office/drawing/2014/main" id="{D4AF1A94-4592-92D7-E321-F87D3A032D86}"/>
              </a:ext>
            </a:extLst>
          </p:cNvPr>
          <p:cNvSpPr/>
          <p:nvPr/>
        </p:nvSpPr>
        <p:spPr>
          <a:xfrm>
            <a:off x="7624917" y="3730309"/>
            <a:ext cx="1533833" cy="94593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Retailer</a:t>
            </a:r>
          </a:p>
          <a:p>
            <a:pPr algn="ctr"/>
            <a:r>
              <a:rPr lang="en-IN" b="1" i="1" dirty="0">
                <a:solidFill>
                  <a:schemeClr val="tx1"/>
                </a:solidFill>
                <a:highlight>
                  <a:srgbClr val="00FFFF"/>
                </a:highlight>
              </a:rPr>
              <a:t>Wooden study tables </a:t>
            </a:r>
          </a:p>
        </p:txBody>
      </p:sp>
      <p:sp>
        <p:nvSpPr>
          <p:cNvPr id="7" name="Rectangle 6">
            <a:extLst>
              <a:ext uri="{FF2B5EF4-FFF2-40B4-BE49-F238E27FC236}">
                <a16:creationId xmlns:a16="http://schemas.microsoft.com/office/drawing/2014/main" id="{978E6237-574A-F037-E9D7-D11DF304A736}"/>
              </a:ext>
            </a:extLst>
          </p:cNvPr>
          <p:cNvSpPr/>
          <p:nvPr/>
        </p:nvSpPr>
        <p:spPr>
          <a:xfrm>
            <a:off x="9689691" y="3722935"/>
            <a:ext cx="1533833" cy="94593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Customer</a:t>
            </a:r>
          </a:p>
          <a:p>
            <a:pPr algn="ctr"/>
            <a:r>
              <a:rPr lang="en-IN" b="1" i="1" dirty="0">
                <a:solidFill>
                  <a:schemeClr val="tx1"/>
                </a:solidFill>
                <a:highlight>
                  <a:srgbClr val="00FFFF"/>
                </a:highlight>
              </a:rPr>
              <a:t>Wooden study tables </a:t>
            </a:r>
          </a:p>
        </p:txBody>
      </p:sp>
      <p:sp>
        <p:nvSpPr>
          <p:cNvPr id="8" name="Arrow: Right 7">
            <a:extLst>
              <a:ext uri="{FF2B5EF4-FFF2-40B4-BE49-F238E27FC236}">
                <a16:creationId xmlns:a16="http://schemas.microsoft.com/office/drawing/2014/main" id="{2B5DECFA-B459-0F9E-30C8-9215FE1B34BF}"/>
              </a:ext>
            </a:extLst>
          </p:cNvPr>
          <p:cNvSpPr/>
          <p:nvPr/>
        </p:nvSpPr>
        <p:spPr>
          <a:xfrm>
            <a:off x="3043086" y="3573873"/>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9" name="Arrow: Right 8">
            <a:extLst>
              <a:ext uri="{FF2B5EF4-FFF2-40B4-BE49-F238E27FC236}">
                <a16:creationId xmlns:a16="http://schemas.microsoft.com/office/drawing/2014/main" id="{C49FB03A-77B2-EF50-91CC-AC2C6FE609ED}"/>
              </a:ext>
            </a:extLst>
          </p:cNvPr>
          <p:cNvSpPr/>
          <p:nvPr/>
        </p:nvSpPr>
        <p:spPr>
          <a:xfrm>
            <a:off x="5112775" y="410003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0" name="Arrow: Right 9">
            <a:extLst>
              <a:ext uri="{FF2B5EF4-FFF2-40B4-BE49-F238E27FC236}">
                <a16:creationId xmlns:a16="http://schemas.microsoft.com/office/drawing/2014/main" id="{328C0BDA-8B71-B445-91C2-7DB5217689EE}"/>
              </a:ext>
            </a:extLst>
          </p:cNvPr>
          <p:cNvSpPr/>
          <p:nvPr/>
        </p:nvSpPr>
        <p:spPr>
          <a:xfrm>
            <a:off x="7167718" y="410003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1" name="Arrow: Right 10">
            <a:extLst>
              <a:ext uri="{FF2B5EF4-FFF2-40B4-BE49-F238E27FC236}">
                <a16:creationId xmlns:a16="http://schemas.microsoft.com/office/drawing/2014/main" id="{65174F3C-F696-4B2C-2A46-36C4D0D295BD}"/>
              </a:ext>
            </a:extLst>
          </p:cNvPr>
          <p:cNvSpPr/>
          <p:nvPr/>
        </p:nvSpPr>
        <p:spPr>
          <a:xfrm>
            <a:off x="9212826" y="410003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2" name="Rectangle 11">
            <a:extLst>
              <a:ext uri="{FF2B5EF4-FFF2-40B4-BE49-F238E27FC236}">
                <a16:creationId xmlns:a16="http://schemas.microsoft.com/office/drawing/2014/main" id="{05659368-2D30-BD44-621C-87E52A2B4915}"/>
              </a:ext>
            </a:extLst>
          </p:cNvPr>
          <p:cNvSpPr/>
          <p:nvPr/>
        </p:nvSpPr>
        <p:spPr>
          <a:xfrm>
            <a:off x="1430595" y="2244918"/>
            <a:ext cx="1533833" cy="71357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(S1)</a:t>
            </a:r>
          </a:p>
          <a:p>
            <a:pPr algn="ctr"/>
            <a:r>
              <a:rPr lang="en-IN" b="1" i="1" dirty="0">
                <a:solidFill>
                  <a:schemeClr val="tx1"/>
                </a:solidFill>
                <a:highlight>
                  <a:srgbClr val="FFFF00"/>
                </a:highlight>
              </a:rPr>
              <a:t>Wood/ply</a:t>
            </a:r>
          </a:p>
        </p:txBody>
      </p:sp>
      <p:sp>
        <p:nvSpPr>
          <p:cNvPr id="13" name="Rectangle 12">
            <a:extLst>
              <a:ext uri="{FF2B5EF4-FFF2-40B4-BE49-F238E27FC236}">
                <a16:creationId xmlns:a16="http://schemas.microsoft.com/office/drawing/2014/main" id="{8E1EE78F-A62F-C86A-2519-42CD049C49D0}"/>
              </a:ext>
            </a:extLst>
          </p:cNvPr>
          <p:cNvSpPr/>
          <p:nvPr/>
        </p:nvSpPr>
        <p:spPr>
          <a:xfrm>
            <a:off x="1430595" y="4254639"/>
            <a:ext cx="1533833" cy="97119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(S3)</a:t>
            </a:r>
          </a:p>
          <a:p>
            <a:pPr algn="ctr"/>
            <a:r>
              <a:rPr lang="en-IN" b="1" i="1" dirty="0">
                <a:solidFill>
                  <a:schemeClr val="tx1"/>
                </a:solidFill>
                <a:highlight>
                  <a:srgbClr val="FFFF00"/>
                </a:highlight>
              </a:rPr>
              <a:t>wood adhesive </a:t>
            </a:r>
          </a:p>
        </p:txBody>
      </p:sp>
      <p:sp>
        <p:nvSpPr>
          <p:cNvPr id="14" name="Arrow: Right 13">
            <a:extLst>
              <a:ext uri="{FF2B5EF4-FFF2-40B4-BE49-F238E27FC236}">
                <a16:creationId xmlns:a16="http://schemas.microsoft.com/office/drawing/2014/main" id="{A39536CD-A6E6-610D-1F5A-B0F1CECC96AA}"/>
              </a:ext>
            </a:extLst>
          </p:cNvPr>
          <p:cNvSpPr/>
          <p:nvPr/>
        </p:nvSpPr>
        <p:spPr>
          <a:xfrm>
            <a:off x="3038170" y="2517215"/>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5" name="Arrow: Right 14">
            <a:extLst>
              <a:ext uri="{FF2B5EF4-FFF2-40B4-BE49-F238E27FC236}">
                <a16:creationId xmlns:a16="http://schemas.microsoft.com/office/drawing/2014/main" id="{84595A32-2F56-C7D1-EEF8-DAA4D9A3E0C9}"/>
              </a:ext>
            </a:extLst>
          </p:cNvPr>
          <p:cNvSpPr/>
          <p:nvPr/>
        </p:nvSpPr>
        <p:spPr>
          <a:xfrm>
            <a:off x="3028335" y="4587695"/>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22" name="Left Brace 21">
            <a:extLst>
              <a:ext uri="{FF2B5EF4-FFF2-40B4-BE49-F238E27FC236}">
                <a16:creationId xmlns:a16="http://schemas.microsoft.com/office/drawing/2014/main" id="{1A144E4C-F968-423C-D2D6-555877F2B1F0}"/>
              </a:ext>
            </a:extLst>
          </p:cNvPr>
          <p:cNvSpPr/>
          <p:nvPr/>
        </p:nvSpPr>
        <p:spPr>
          <a:xfrm rot="5400000">
            <a:off x="8062346" y="-1007910"/>
            <a:ext cx="658976" cy="5663383"/>
          </a:xfrm>
          <a:prstGeom prst="leftBrace">
            <a:avLst/>
          </a:prstGeom>
          <a:ln w="3810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3" name="Left Brace 22">
            <a:extLst>
              <a:ext uri="{FF2B5EF4-FFF2-40B4-BE49-F238E27FC236}">
                <a16:creationId xmlns:a16="http://schemas.microsoft.com/office/drawing/2014/main" id="{AF70EE6A-DBAB-C882-1040-6C68EC0BADF1}"/>
              </a:ext>
            </a:extLst>
          </p:cNvPr>
          <p:cNvSpPr/>
          <p:nvPr/>
        </p:nvSpPr>
        <p:spPr>
          <a:xfrm rot="5400000">
            <a:off x="3922964" y="988042"/>
            <a:ext cx="658975" cy="1671482"/>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4" name="Left Brace 23">
            <a:extLst>
              <a:ext uri="{FF2B5EF4-FFF2-40B4-BE49-F238E27FC236}">
                <a16:creationId xmlns:a16="http://schemas.microsoft.com/office/drawing/2014/main" id="{84BE7F87-234E-6041-9866-DC35ACDC07C3}"/>
              </a:ext>
            </a:extLst>
          </p:cNvPr>
          <p:cNvSpPr/>
          <p:nvPr/>
        </p:nvSpPr>
        <p:spPr>
          <a:xfrm rot="5400000">
            <a:off x="1858189" y="1066701"/>
            <a:ext cx="658977" cy="151416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5" name="TextBox 24">
            <a:extLst>
              <a:ext uri="{FF2B5EF4-FFF2-40B4-BE49-F238E27FC236}">
                <a16:creationId xmlns:a16="http://schemas.microsoft.com/office/drawing/2014/main" id="{6AC6E3CA-8236-4CF7-5644-16136B9D221E}"/>
              </a:ext>
            </a:extLst>
          </p:cNvPr>
          <p:cNvSpPr txBox="1"/>
          <p:nvPr/>
        </p:nvSpPr>
        <p:spPr>
          <a:xfrm>
            <a:off x="3416709" y="1001680"/>
            <a:ext cx="1671483" cy="461665"/>
          </a:xfrm>
          <a:prstGeom prst="rect">
            <a:avLst/>
          </a:prstGeom>
          <a:noFill/>
        </p:spPr>
        <p:txBody>
          <a:bodyPr wrap="square">
            <a:spAutoFit/>
          </a:bodyPr>
          <a:lstStyle/>
          <a:p>
            <a:pPr algn="ctr"/>
            <a:r>
              <a:rPr lang="en-IN" sz="2400" b="1" i="1" u="none" strike="noStrike" kern="1200" baseline="0" dirty="0">
                <a:solidFill>
                  <a:srgbClr val="FF0000"/>
                </a:solidFill>
                <a:latin typeface="+mn-lt"/>
                <a:ea typeface="+mn-ea"/>
                <a:cs typeface="+mn-cs"/>
              </a:rPr>
              <a:t>Focal firm</a:t>
            </a:r>
            <a:endParaRPr lang="en-IN" sz="2400" b="1" i="1" dirty="0">
              <a:solidFill>
                <a:srgbClr val="FF0000"/>
              </a:solidFill>
            </a:endParaRPr>
          </a:p>
        </p:txBody>
      </p:sp>
      <p:sp>
        <p:nvSpPr>
          <p:cNvPr id="26" name="TextBox 25">
            <a:extLst>
              <a:ext uri="{FF2B5EF4-FFF2-40B4-BE49-F238E27FC236}">
                <a16:creationId xmlns:a16="http://schemas.microsoft.com/office/drawing/2014/main" id="{DC9B429A-4F3A-882D-1305-B70F78B87751}"/>
              </a:ext>
            </a:extLst>
          </p:cNvPr>
          <p:cNvSpPr txBox="1"/>
          <p:nvPr/>
        </p:nvSpPr>
        <p:spPr>
          <a:xfrm>
            <a:off x="7443020" y="997990"/>
            <a:ext cx="1927127" cy="461665"/>
          </a:xfrm>
          <a:prstGeom prst="rect">
            <a:avLst/>
          </a:prstGeom>
          <a:noFill/>
        </p:spPr>
        <p:txBody>
          <a:bodyPr wrap="square">
            <a:spAutoFit/>
          </a:bodyPr>
          <a:lstStyle/>
          <a:p>
            <a:pPr algn="ctr"/>
            <a:r>
              <a:rPr lang="en-IN" sz="2400" b="1" i="1" dirty="0">
                <a:solidFill>
                  <a:srgbClr val="0000CC"/>
                </a:solidFill>
              </a:rPr>
              <a:t>Downstream</a:t>
            </a:r>
          </a:p>
        </p:txBody>
      </p:sp>
      <p:sp>
        <p:nvSpPr>
          <p:cNvPr id="27" name="TextBox 26">
            <a:extLst>
              <a:ext uri="{FF2B5EF4-FFF2-40B4-BE49-F238E27FC236}">
                <a16:creationId xmlns:a16="http://schemas.microsoft.com/office/drawing/2014/main" id="{785B8C47-5D92-B926-1E86-9B3FFC7A9622}"/>
              </a:ext>
            </a:extLst>
          </p:cNvPr>
          <p:cNvSpPr txBox="1"/>
          <p:nvPr/>
        </p:nvSpPr>
        <p:spPr>
          <a:xfrm>
            <a:off x="1189698" y="997989"/>
            <a:ext cx="1927127" cy="461665"/>
          </a:xfrm>
          <a:prstGeom prst="rect">
            <a:avLst/>
          </a:prstGeom>
          <a:noFill/>
        </p:spPr>
        <p:txBody>
          <a:bodyPr wrap="square">
            <a:spAutoFit/>
          </a:bodyPr>
          <a:lstStyle/>
          <a:p>
            <a:pPr algn="ctr"/>
            <a:r>
              <a:rPr lang="en-IN" sz="2400" b="1" i="1" dirty="0"/>
              <a:t>Upstream</a:t>
            </a:r>
          </a:p>
        </p:txBody>
      </p:sp>
      <p:sp>
        <p:nvSpPr>
          <p:cNvPr id="29" name="Rectangle 28">
            <a:extLst>
              <a:ext uri="{FF2B5EF4-FFF2-40B4-BE49-F238E27FC236}">
                <a16:creationId xmlns:a16="http://schemas.microsoft.com/office/drawing/2014/main" id="{581CD01A-9286-319E-4187-5BB8DCA3CC6F}"/>
              </a:ext>
            </a:extLst>
          </p:cNvPr>
          <p:cNvSpPr/>
          <p:nvPr/>
        </p:nvSpPr>
        <p:spPr>
          <a:xfrm>
            <a:off x="1430595" y="5466960"/>
            <a:ext cx="1533833" cy="97119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(S4)</a:t>
            </a:r>
          </a:p>
          <a:p>
            <a:pPr algn="ctr"/>
            <a:r>
              <a:rPr lang="en-IN" b="1" i="1" dirty="0">
                <a:solidFill>
                  <a:schemeClr val="tx1"/>
                </a:solidFill>
                <a:highlight>
                  <a:srgbClr val="FFFF00"/>
                </a:highlight>
              </a:rPr>
              <a:t>Screw/ nut &amp; bolts</a:t>
            </a:r>
          </a:p>
        </p:txBody>
      </p:sp>
      <p:sp>
        <p:nvSpPr>
          <p:cNvPr id="30" name="Arrow: Right 29">
            <a:extLst>
              <a:ext uri="{FF2B5EF4-FFF2-40B4-BE49-F238E27FC236}">
                <a16:creationId xmlns:a16="http://schemas.microsoft.com/office/drawing/2014/main" id="{6D146771-5D7D-1B43-2B95-1705FE13AA98}"/>
              </a:ext>
            </a:extLst>
          </p:cNvPr>
          <p:cNvSpPr/>
          <p:nvPr/>
        </p:nvSpPr>
        <p:spPr>
          <a:xfrm>
            <a:off x="3033251" y="5596881"/>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pic>
        <p:nvPicPr>
          <p:cNvPr id="31" name="Picture 30">
            <a:extLst>
              <a:ext uri="{FF2B5EF4-FFF2-40B4-BE49-F238E27FC236}">
                <a16:creationId xmlns:a16="http://schemas.microsoft.com/office/drawing/2014/main" id="{1711C27D-8F1A-BF33-4BED-9587562BD740}"/>
              </a:ext>
            </a:extLst>
          </p:cNvPr>
          <p:cNvPicPr>
            <a:picLocks noChangeAspect="1"/>
          </p:cNvPicPr>
          <p:nvPr/>
        </p:nvPicPr>
        <p:blipFill>
          <a:blip r:embed="rId2"/>
          <a:stretch>
            <a:fillRect/>
          </a:stretch>
        </p:blipFill>
        <p:spPr>
          <a:xfrm>
            <a:off x="3067669" y="6040027"/>
            <a:ext cx="7973961" cy="599075"/>
          </a:xfrm>
          <a:prstGeom prst="rect">
            <a:avLst/>
          </a:prstGeom>
        </p:spPr>
      </p:pic>
    </p:spTree>
    <p:extLst>
      <p:ext uri="{BB962C8B-B14F-4D97-AF65-F5344CB8AC3E}">
        <p14:creationId xmlns:p14="http://schemas.microsoft.com/office/powerpoint/2010/main" val="1111488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7140A-86AA-B989-0BB9-5DB7226188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DC7211-288F-C713-E1B0-3459B44E2647}"/>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2. A simple supply chain (</a:t>
            </a:r>
            <a:r>
              <a:rPr lang="en-IN" sz="4400" b="1" i="1" dirty="0">
                <a:solidFill>
                  <a:srgbClr val="FFFF00"/>
                </a:solidFill>
              </a:rPr>
              <a:t>Wooden Study Table</a:t>
            </a:r>
            <a:r>
              <a:rPr lang="en-IN" sz="4400" b="1" i="1" dirty="0"/>
              <a:t>)</a:t>
            </a:r>
          </a:p>
        </p:txBody>
      </p:sp>
      <p:sp>
        <p:nvSpPr>
          <p:cNvPr id="3" name="Rectangle 2">
            <a:extLst>
              <a:ext uri="{FF2B5EF4-FFF2-40B4-BE49-F238E27FC236}">
                <a16:creationId xmlns:a16="http://schemas.microsoft.com/office/drawing/2014/main" id="{71268837-77E1-47BF-78CC-4F90A3069867}"/>
              </a:ext>
            </a:extLst>
          </p:cNvPr>
          <p:cNvSpPr/>
          <p:nvPr/>
        </p:nvSpPr>
        <p:spPr>
          <a:xfrm>
            <a:off x="1430595" y="3340713"/>
            <a:ext cx="1533833" cy="67279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(S2)</a:t>
            </a:r>
          </a:p>
          <a:p>
            <a:pPr algn="ctr"/>
            <a:r>
              <a:rPr lang="en-IN" b="1" i="1" dirty="0">
                <a:solidFill>
                  <a:schemeClr val="tx1"/>
                </a:solidFill>
                <a:highlight>
                  <a:srgbClr val="FFFF00"/>
                </a:highlight>
              </a:rPr>
              <a:t>Steel</a:t>
            </a:r>
          </a:p>
        </p:txBody>
      </p:sp>
      <p:sp>
        <p:nvSpPr>
          <p:cNvPr id="4" name="Rectangle 3">
            <a:extLst>
              <a:ext uri="{FF2B5EF4-FFF2-40B4-BE49-F238E27FC236}">
                <a16:creationId xmlns:a16="http://schemas.microsoft.com/office/drawing/2014/main" id="{89992D5A-E221-E3B8-3A3A-7DC9B7F5F7AE}"/>
              </a:ext>
            </a:extLst>
          </p:cNvPr>
          <p:cNvSpPr/>
          <p:nvPr/>
        </p:nvSpPr>
        <p:spPr>
          <a:xfrm>
            <a:off x="3495369" y="2262429"/>
            <a:ext cx="1533833" cy="371066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Producer / </a:t>
            </a:r>
          </a:p>
          <a:p>
            <a:pPr algn="ctr"/>
            <a:r>
              <a:rPr lang="en-IN" b="1" i="1" dirty="0">
                <a:solidFill>
                  <a:schemeClr val="tx1"/>
                </a:solidFill>
              </a:rPr>
              <a:t>Manufacturer</a:t>
            </a:r>
          </a:p>
          <a:p>
            <a:pPr algn="ctr"/>
            <a:endParaRPr lang="en-IN" b="1" i="1" dirty="0">
              <a:solidFill>
                <a:schemeClr val="tx1"/>
              </a:solidFill>
            </a:endParaRPr>
          </a:p>
          <a:p>
            <a:pPr algn="ctr"/>
            <a:r>
              <a:rPr lang="en-IN" b="1" i="1" dirty="0">
                <a:solidFill>
                  <a:schemeClr val="tx1"/>
                </a:solidFill>
                <a:highlight>
                  <a:srgbClr val="00FFFF"/>
                </a:highlight>
              </a:rPr>
              <a:t>Wooden Study Table </a:t>
            </a:r>
          </a:p>
        </p:txBody>
      </p:sp>
      <p:sp>
        <p:nvSpPr>
          <p:cNvPr id="5" name="Rectangle 4">
            <a:extLst>
              <a:ext uri="{FF2B5EF4-FFF2-40B4-BE49-F238E27FC236}">
                <a16:creationId xmlns:a16="http://schemas.microsoft.com/office/drawing/2014/main" id="{D9C8C005-C517-459A-11D3-2F76F2429C49}"/>
              </a:ext>
            </a:extLst>
          </p:cNvPr>
          <p:cNvSpPr/>
          <p:nvPr/>
        </p:nvSpPr>
        <p:spPr>
          <a:xfrm>
            <a:off x="5560143" y="3730309"/>
            <a:ext cx="1533833" cy="94593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Wholesaler</a:t>
            </a:r>
          </a:p>
          <a:p>
            <a:pPr algn="ctr"/>
            <a:r>
              <a:rPr lang="en-IN" b="1" i="1" dirty="0">
                <a:solidFill>
                  <a:schemeClr val="tx1"/>
                </a:solidFill>
                <a:highlight>
                  <a:srgbClr val="00FFFF"/>
                </a:highlight>
              </a:rPr>
              <a:t>Wooden study tables</a:t>
            </a:r>
          </a:p>
        </p:txBody>
      </p:sp>
      <p:sp>
        <p:nvSpPr>
          <p:cNvPr id="6" name="Rectangle 5">
            <a:extLst>
              <a:ext uri="{FF2B5EF4-FFF2-40B4-BE49-F238E27FC236}">
                <a16:creationId xmlns:a16="http://schemas.microsoft.com/office/drawing/2014/main" id="{198B2DA7-8641-3EF1-CFD2-5F6A5B49DADC}"/>
              </a:ext>
            </a:extLst>
          </p:cNvPr>
          <p:cNvSpPr/>
          <p:nvPr/>
        </p:nvSpPr>
        <p:spPr>
          <a:xfrm>
            <a:off x="7624917" y="3730309"/>
            <a:ext cx="1533833" cy="94593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Retailer</a:t>
            </a:r>
          </a:p>
          <a:p>
            <a:pPr algn="ctr"/>
            <a:r>
              <a:rPr lang="en-IN" b="1" i="1" dirty="0">
                <a:solidFill>
                  <a:schemeClr val="tx1"/>
                </a:solidFill>
                <a:highlight>
                  <a:srgbClr val="00FFFF"/>
                </a:highlight>
              </a:rPr>
              <a:t>Wooden study tables </a:t>
            </a:r>
          </a:p>
        </p:txBody>
      </p:sp>
      <p:sp>
        <p:nvSpPr>
          <p:cNvPr id="7" name="Rectangle 6">
            <a:extLst>
              <a:ext uri="{FF2B5EF4-FFF2-40B4-BE49-F238E27FC236}">
                <a16:creationId xmlns:a16="http://schemas.microsoft.com/office/drawing/2014/main" id="{03B1F007-81D8-A22D-7D6D-FF52D0C0EA88}"/>
              </a:ext>
            </a:extLst>
          </p:cNvPr>
          <p:cNvSpPr/>
          <p:nvPr/>
        </p:nvSpPr>
        <p:spPr>
          <a:xfrm>
            <a:off x="9689691" y="3722935"/>
            <a:ext cx="1533833" cy="945932"/>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Customer</a:t>
            </a:r>
          </a:p>
          <a:p>
            <a:pPr algn="ctr"/>
            <a:r>
              <a:rPr lang="en-IN" b="1" i="1" dirty="0">
                <a:solidFill>
                  <a:schemeClr val="tx1"/>
                </a:solidFill>
                <a:highlight>
                  <a:srgbClr val="00FFFF"/>
                </a:highlight>
              </a:rPr>
              <a:t>Wooden study tables </a:t>
            </a:r>
          </a:p>
        </p:txBody>
      </p:sp>
      <p:sp>
        <p:nvSpPr>
          <p:cNvPr id="8" name="Arrow: Right 7">
            <a:extLst>
              <a:ext uri="{FF2B5EF4-FFF2-40B4-BE49-F238E27FC236}">
                <a16:creationId xmlns:a16="http://schemas.microsoft.com/office/drawing/2014/main" id="{7335E13D-8D6C-AF67-E0CC-85667B22393A}"/>
              </a:ext>
            </a:extLst>
          </p:cNvPr>
          <p:cNvSpPr/>
          <p:nvPr/>
        </p:nvSpPr>
        <p:spPr>
          <a:xfrm>
            <a:off x="3043086" y="3573873"/>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9" name="Arrow: Right 8">
            <a:extLst>
              <a:ext uri="{FF2B5EF4-FFF2-40B4-BE49-F238E27FC236}">
                <a16:creationId xmlns:a16="http://schemas.microsoft.com/office/drawing/2014/main" id="{580B0FD4-0EA5-B12E-0D3B-3668D84745C0}"/>
              </a:ext>
            </a:extLst>
          </p:cNvPr>
          <p:cNvSpPr/>
          <p:nvPr/>
        </p:nvSpPr>
        <p:spPr>
          <a:xfrm>
            <a:off x="5112775" y="410003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0" name="Arrow: Right 9">
            <a:extLst>
              <a:ext uri="{FF2B5EF4-FFF2-40B4-BE49-F238E27FC236}">
                <a16:creationId xmlns:a16="http://schemas.microsoft.com/office/drawing/2014/main" id="{8A751FD4-858A-935B-67D0-1F7F50B2A77C}"/>
              </a:ext>
            </a:extLst>
          </p:cNvPr>
          <p:cNvSpPr/>
          <p:nvPr/>
        </p:nvSpPr>
        <p:spPr>
          <a:xfrm>
            <a:off x="7167718" y="410003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1" name="Arrow: Right 10">
            <a:extLst>
              <a:ext uri="{FF2B5EF4-FFF2-40B4-BE49-F238E27FC236}">
                <a16:creationId xmlns:a16="http://schemas.microsoft.com/office/drawing/2014/main" id="{D79E07AD-2E63-8EE6-09A5-C4F9CE55CDC2}"/>
              </a:ext>
            </a:extLst>
          </p:cNvPr>
          <p:cNvSpPr/>
          <p:nvPr/>
        </p:nvSpPr>
        <p:spPr>
          <a:xfrm>
            <a:off x="9212826" y="410003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2" name="Rectangle 11">
            <a:extLst>
              <a:ext uri="{FF2B5EF4-FFF2-40B4-BE49-F238E27FC236}">
                <a16:creationId xmlns:a16="http://schemas.microsoft.com/office/drawing/2014/main" id="{BC0C8BED-D96B-5A68-F3ED-D5575D2B4A11}"/>
              </a:ext>
            </a:extLst>
          </p:cNvPr>
          <p:cNvSpPr/>
          <p:nvPr/>
        </p:nvSpPr>
        <p:spPr>
          <a:xfrm>
            <a:off x="1430595" y="2244918"/>
            <a:ext cx="1533833" cy="71357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(S1)</a:t>
            </a:r>
          </a:p>
          <a:p>
            <a:pPr algn="ctr"/>
            <a:r>
              <a:rPr lang="en-IN" b="1" i="1" dirty="0">
                <a:solidFill>
                  <a:schemeClr val="tx1"/>
                </a:solidFill>
                <a:highlight>
                  <a:srgbClr val="FFFF00"/>
                </a:highlight>
              </a:rPr>
              <a:t>Wood/ply</a:t>
            </a:r>
          </a:p>
        </p:txBody>
      </p:sp>
      <p:sp>
        <p:nvSpPr>
          <p:cNvPr id="13" name="Rectangle 12">
            <a:extLst>
              <a:ext uri="{FF2B5EF4-FFF2-40B4-BE49-F238E27FC236}">
                <a16:creationId xmlns:a16="http://schemas.microsoft.com/office/drawing/2014/main" id="{31F86EE3-EA81-C9D2-A308-0004AFCD990D}"/>
              </a:ext>
            </a:extLst>
          </p:cNvPr>
          <p:cNvSpPr/>
          <p:nvPr/>
        </p:nvSpPr>
        <p:spPr>
          <a:xfrm>
            <a:off x="1430595" y="4254639"/>
            <a:ext cx="1533833" cy="97119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(S3)</a:t>
            </a:r>
          </a:p>
          <a:p>
            <a:pPr algn="ctr"/>
            <a:r>
              <a:rPr lang="en-IN" b="1" i="1" dirty="0">
                <a:solidFill>
                  <a:schemeClr val="tx1"/>
                </a:solidFill>
                <a:highlight>
                  <a:srgbClr val="FFFF00"/>
                </a:highlight>
              </a:rPr>
              <a:t>wood adhesive </a:t>
            </a:r>
          </a:p>
        </p:txBody>
      </p:sp>
      <p:sp>
        <p:nvSpPr>
          <p:cNvPr id="14" name="Arrow: Right 13">
            <a:extLst>
              <a:ext uri="{FF2B5EF4-FFF2-40B4-BE49-F238E27FC236}">
                <a16:creationId xmlns:a16="http://schemas.microsoft.com/office/drawing/2014/main" id="{671E33C8-1BEA-7D27-23F7-E6414CF0CB3E}"/>
              </a:ext>
            </a:extLst>
          </p:cNvPr>
          <p:cNvSpPr/>
          <p:nvPr/>
        </p:nvSpPr>
        <p:spPr>
          <a:xfrm>
            <a:off x="3038170" y="2517215"/>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5" name="Arrow: Right 14">
            <a:extLst>
              <a:ext uri="{FF2B5EF4-FFF2-40B4-BE49-F238E27FC236}">
                <a16:creationId xmlns:a16="http://schemas.microsoft.com/office/drawing/2014/main" id="{AA866106-4C2E-5ABC-CD55-11064A34C03D}"/>
              </a:ext>
            </a:extLst>
          </p:cNvPr>
          <p:cNvSpPr/>
          <p:nvPr/>
        </p:nvSpPr>
        <p:spPr>
          <a:xfrm>
            <a:off x="3028335" y="4587695"/>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22" name="Left Brace 21">
            <a:extLst>
              <a:ext uri="{FF2B5EF4-FFF2-40B4-BE49-F238E27FC236}">
                <a16:creationId xmlns:a16="http://schemas.microsoft.com/office/drawing/2014/main" id="{33746BD1-3233-D95B-E568-789D01F46202}"/>
              </a:ext>
            </a:extLst>
          </p:cNvPr>
          <p:cNvSpPr/>
          <p:nvPr/>
        </p:nvSpPr>
        <p:spPr>
          <a:xfrm rot="5400000">
            <a:off x="8062346" y="-1007910"/>
            <a:ext cx="658976" cy="5663383"/>
          </a:xfrm>
          <a:prstGeom prst="leftBrace">
            <a:avLst/>
          </a:prstGeom>
          <a:ln w="3810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3" name="Left Brace 22">
            <a:extLst>
              <a:ext uri="{FF2B5EF4-FFF2-40B4-BE49-F238E27FC236}">
                <a16:creationId xmlns:a16="http://schemas.microsoft.com/office/drawing/2014/main" id="{7A3CDB08-E5E7-FF0E-F929-BA5C98CFBD25}"/>
              </a:ext>
            </a:extLst>
          </p:cNvPr>
          <p:cNvSpPr/>
          <p:nvPr/>
        </p:nvSpPr>
        <p:spPr>
          <a:xfrm rot="5400000">
            <a:off x="3922964" y="988042"/>
            <a:ext cx="658975" cy="1671482"/>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4" name="Left Brace 23">
            <a:extLst>
              <a:ext uri="{FF2B5EF4-FFF2-40B4-BE49-F238E27FC236}">
                <a16:creationId xmlns:a16="http://schemas.microsoft.com/office/drawing/2014/main" id="{22407739-219A-A8BC-7F92-C6708AA19D19}"/>
              </a:ext>
            </a:extLst>
          </p:cNvPr>
          <p:cNvSpPr/>
          <p:nvPr/>
        </p:nvSpPr>
        <p:spPr>
          <a:xfrm rot="5400000">
            <a:off x="1858189" y="1066701"/>
            <a:ext cx="658977" cy="151416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5" name="TextBox 24">
            <a:extLst>
              <a:ext uri="{FF2B5EF4-FFF2-40B4-BE49-F238E27FC236}">
                <a16:creationId xmlns:a16="http://schemas.microsoft.com/office/drawing/2014/main" id="{70D8BF51-38EE-0AB9-3AD2-4774F6036564}"/>
              </a:ext>
            </a:extLst>
          </p:cNvPr>
          <p:cNvSpPr txBox="1"/>
          <p:nvPr/>
        </p:nvSpPr>
        <p:spPr>
          <a:xfrm>
            <a:off x="3416709" y="1001680"/>
            <a:ext cx="1671483" cy="461665"/>
          </a:xfrm>
          <a:prstGeom prst="rect">
            <a:avLst/>
          </a:prstGeom>
          <a:noFill/>
        </p:spPr>
        <p:txBody>
          <a:bodyPr wrap="square">
            <a:spAutoFit/>
          </a:bodyPr>
          <a:lstStyle/>
          <a:p>
            <a:pPr algn="ctr"/>
            <a:r>
              <a:rPr lang="en-IN" sz="2400" b="1" i="1" u="none" strike="noStrike" kern="1200" baseline="0" dirty="0">
                <a:solidFill>
                  <a:srgbClr val="FF0000"/>
                </a:solidFill>
                <a:latin typeface="+mn-lt"/>
                <a:ea typeface="+mn-ea"/>
                <a:cs typeface="+mn-cs"/>
              </a:rPr>
              <a:t>Focal firm</a:t>
            </a:r>
            <a:endParaRPr lang="en-IN" sz="2400" b="1" i="1" dirty="0">
              <a:solidFill>
                <a:srgbClr val="FF0000"/>
              </a:solidFill>
            </a:endParaRPr>
          </a:p>
        </p:txBody>
      </p:sp>
      <p:sp>
        <p:nvSpPr>
          <p:cNvPr id="26" name="TextBox 25">
            <a:extLst>
              <a:ext uri="{FF2B5EF4-FFF2-40B4-BE49-F238E27FC236}">
                <a16:creationId xmlns:a16="http://schemas.microsoft.com/office/drawing/2014/main" id="{72582090-3FDA-7118-6CED-20ECFCA9F7E2}"/>
              </a:ext>
            </a:extLst>
          </p:cNvPr>
          <p:cNvSpPr txBox="1"/>
          <p:nvPr/>
        </p:nvSpPr>
        <p:spPr>
          <a:xfrm>
            <a:off x="7443020" y="997990"/>
            <a:ext cx="1927127" cy="461665"/>
          </a:xfrm>
          <a:prstGeom prst="rect">
            <a:avLst/>
          </a:prstGeom>
          <a:noFill/>
        </p:spPr>
        <p:txBody>
          <a:bodyPr wrap="square">
            <a:spAutoFit/>
          </a:bodyPr>
          <a:lstStyle/>
          <a:p>
            <a:pPr algn="ctr"/>
            <a:r>
              <a:rPr lang="en-IN" sz="2400" b="1" i="1" dirty="0">
                <a:solidFill>
                  <a:srgbClr val="0000CC"/>
                </a:solidFill>
              </a:rPr>
              <a:t>Downstream</a:t>
            </a:r>
          </a:p>
        </p:txBody>
      </p:sp>
      <p:sp>
        <p:nvSpPr>
          <p:cNvPr id="27" name="TextBox 26">
            <a:extLst>
              <a:ext uri="{FF2B5EF4-FFF2-40B4-BE49-F238E27FC236}">
                <a16:creationId xmlns:a16="http://schemas.microsoft.com/office/drawing/2014/main" id="{D24C1CA9-B3AE-7A27-C457-F43EDE136620}"/>
              </a:ext>
            </a:extLst>
          </p:cNvPr>
          <p:cNvSpPr txBox="1"/>
          <p:nvPr/>
        </p:nvSpPr>
        <p:spPr>
          <a:xfrm>
            <a:off x="1189698" y="997989"/>
            <a:ext cx="1927127" cy="461665"/>
          </a:xfrm>
          <a:prstGeom prst="rect">
            <a:avLst/>
          </a:prstGeom>
          <a:noFill/>
        </p:spPr>
        <p:txBody>
          <a:bodyPr wrap="square">
            <a:spAutoFit/>
          </a:bodyPr>
          <a:lstStyle/>
          <a:p>
            <a:pPr algn="ctr"/>
            <a:r>
              <a:rPr lang="en-IN" sz="2400" b="1" i="1" dirty="0"/>
              <a:t>Upstream</a:t>
            </a:r>
          </a:p>
        </p:txBody>
      </p:sp>
      <p:sp>
        <p:nvSpPr>
          <p:cNvPr id="29" name="Rectangle 28">
            <a:extLst>
              <a:ext uri="{FF2B5EF4-FFF2-40B4-BE49-F238E27FC236}">
                <a16:creationId xmlns:a16="http://schemas.microsoft.com/office/drawing/2014/main" id="{ECDD4757-7E37-394C-9519-64463BD2A3B0}"/>
              </a:ext>
            </a:extLst>
          </p:cNvPr>
          <p:cNvSpPr/>
          <p:nvPr/>
        </p:nvSpPr>
        <p:spPr>
          <a:xfrm>
            <a:off x="1430595" y="5466960"/>
            <a:ext cx="1533833" cy="97119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(S4)</a:t>
            </a:r>
          </a:p>
          <a:p>
            <a:pPr algn="ctr"/>
            <a:r>
              <a:rPr lang="en-IN" b="1" i="1" dirty="0">
                <a:solidFill>
                  <a:schemeClr val="tx1"/>
                </a:solidFill>
                <a:highlight>
                  <a:srgbClr val="FFFF00"/>
                </a:highlight>
              </a:rPr>
              <a:t>Screw/ nut &amp; bolts</a:t>
            </a:r>
          </a:p>
        </p:txBody>
      </p:sp>
      <p:sp>
        <p:nvSpPr>
          <p:cNvPr id="30" name="Arrow: Right 29">
            <a:extLst>
              <a:ext uri="{FF2B5EF4-FFF2-40B4-BE49-F238E27FC236}">
                <a16:creationId xmlns:a16="http://schemas.microsoft.com/office/drawing/2014/main" id="{631C1F91-0FD0-A763-4BD2-64FF36AD570D}"/>
              </a:ext>
            </a:extLst>
          </p:cNvPr>
          <p:cNvSpPr/>
          <p:nvPr/>
        </p:nvSpPr>
        <p:spPr>
          <a:xfrm>
            <a:off x="3033251" y="5596881"/>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pic>
        <p:nvPicPr>
          <p:cNvPr id="31" name="Picture 30">
            <a:extLst>
              <a:ext uri="{FF2B5EF4-FFF2-40B4-BE49-F238E27FC236}">
                <a16:creationId xmlns:a16="http://schemas.microsoft.com/office/drawing/2014/main" id="{C5AD7C8B-E6DC-46D4-DB90-0D4E74D271FE}"/>
              </a:ext>
            </a:extLst>
          </p:cNvPr>
          <p:cNvPicPr>
            <a:picLocks noChangeAspect="1"/>
          </p:cNvPicPr>
          <p:nvPr/>
        </p:nvPicPr>
        <p:blipFill>
          <a:blip r:embed="rId2"/>
          <a:stretch>
            <a:fillRect/>
          </a:stretch>
        </p:blipFill>
        <p:spPr>
          <a:xfrm>
            <a:off x="3067669" y="6040027"/>
            <a:ext cx="8421325" cy="599075"/>
          </a:xfrm>
          <a:prstGeom prst="rect">
            <a:avLst/>
          </a:prstGeom>
        </p:spPr>
      </p:pic>
      <p:sp>
        <p:nvSpPr>
          <p:cNvPr id="16" name="TextBox 15">
            <a:extLst>
              <a:ext uri="{FF2B5EF4-FFF2-40B4-BE49-F238E27FC236}">
                <a16:creationId xmlns:a16="http://schemas.microsoft.com/office/drawing/2014/main" id="{A2CDCD9D-6B7B-BC8A-8B2A-15AC1F76C9BE}"/>
              </a:ext>
            </a:extLst>
          </p:cNvPr>
          <p:cNvSpPr txBox="1"/>
          <p:nvPr/>
        </p:nvSpPr>
        <p:spPr>
          <a:xfrm>
            <a:off x="8362336" y="4673551"/>
            <a:ext cx="2197510" cy="923330"/>
          </a:xfrm>
          <a:prstGeom prst="rect">
            <a:avLst/>
          </a:prstGeom>
          <a:noFill/>
        </p:spPr>
        <p:txBody>
          <a:bodyPr wrap="square">
            <a:spAutoFit/>
          </a:bodyPr>
          <a:lstStyle/>
          <a:p>
            <a:pPr algn="ctr"/>
            <a:r>
              <a:rPr lang="en-US" b="1" i="1" dirty="0">
                <a:solidFill>
                  <a:srgbClr val="0000CC"/>
                </a:solidFill>
              </a:rPr>
              <a:t>Reverse Logistics</a:t>
            </a:r>
          </a:p>
          <a:p>
            <a:pPr algn="ctr"/>
            <a:r>
              <a:rPr lang="en-US" b="1" i="1" dirty="0">
                <a:solidFill>
                  <a:srgbClr val="0000CC"/>
                </a:solidFill>
              </a:rPr>
              <a:t>(return of defective / damaged product)</a:t>
            </a:r>
            <a:endParaRPr lang="en-IN" b="1" i="1" dirty="0">
              <a:solidFill>
                <a:srgbClr val="0000CC"/>
              </a:solidFill>
            </a:endParaRPr>
          </a:p>
        </p:txBody>
      </p:sp>
      <p:sp>
        <p:nvSpPr>
          <p:cNvPr id="17" name="Arrow: Curved Left 16">
            <a:extLst>
              <a:ext uri="{FF2B5EF4-FFF2-40B4-BE49-F238E27FC236}">
                <a16:creationId xmlns:a16="http://schemas.microsoft.com/office/drawing/2014/main" id="{2DC0BEB7-B85F-8DFD-170A-250F65799978}"/>
              </a:ext>
            </a:extLst>
          </p:cNvPr>
          <p:cNvSpPr/>
          <p:nvPr/>
        </p:nvSpPr>
        <p:spPr>
          <a:xfrm rot="5400000">
            <a:off x="8932285" y="3925182"/>
            <a:ext cx="846211" cy="2900516"/>
          </a:xfrm>
          <a:prstGeom prst="curved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solidFill>
                <a:schemeClr val="tx1"/>
              </a:solidFill>
            </a:endParaRPr>
          </a:p>
        </p:txBody>
      </p:sp>
      <p:sp>
        <p:nvSpPr>
          <p:cNvPr id="18" name="Arrow: Curved Left 17">
            <a:extLst>
              <a:ext uri="{FF2B5EF4-FFF2-40B4-BE49-F238E27FC236}">
                <a16:creationId xmlns:a16="http://schemas.microsoft.com/office/drawing/2014/main" id="{5340D313-3A6C-B8D1-6C3C-E534C04C9649}"/>
              </a:ext>
            </a:extLst>
          </p:cNvPr>
          <p:cNvSpPr/>
          <p:nvPr/>
        </p:nvSpPr>
        <p:spPr>
          <a:xfrm rot="5400000">
            <a:off x="6656120" y="4554346"/>
            <a:ext cx="846208" cy="1651817"/>
          </a:xfrm>
          <a:prstGeom prst="curved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solidFill>
                <a:schemeClr val="tx1"/>
              </a:solidFill>
            </a:endParaRPr>
          </a:p>
        </p:txBody>
      </p:sp>
      <p:sp>
        <p:nvSpPr>
          <p:cNvPr id="20" name="Arrow: Curved Left 19">
            <a:extLst>
              <a:ext uri="{FF2B5EF4-FFF2-40B4-BE49-F238E27FC236}">
                <a16:creationId xmlns:a16="http://schemas.microsoft.com/office/drawing/2014/main" id="{C62CC9FB-E176-BD31-13DD-39C97BCB249D}"/>
              </a:ext>
            </a:extLst>
          </p:cNvPr>
          <p:cNvSpPr/>
          <p:nvPr/>
        </p:nvSpPr>
        <p:spPr>
          <a:xfrm rot="5400000">
            <a:off x="5006769" y="4571565"/>
            <a:ext cx="811775" cy="1651817"/>
          </a:xfrm>
          <a:prstGeom prst="curved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solidFill>
                <a:schemeClr val="tx1"/>
              </a:solidFill>
            </a:endParaRPr>
          </a:p>
        </p:txBody>
      </p:sp>
    </p:spTree>
    <p:extLst>
      <p:ext uri="{BB962C8B-B14F-4D97-AF65-F5344CB8AC3E}">
        <p14:creationId xmlns:p14="http://schemas.microsoft.com/office/powerpoint/2010/main" val="3080993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9C292-5A3A-A690-FA56-C5AFA0CDB98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9CD3C6F-BC3F-62D7-8D59-5E4F9820AF90}"/>
              </a:ext>
            </a:extLst>
          </p:cNvPr>
          <p:cNvSpPr/>
          <p:nvPr/>
        </p:nvSpPr>
        <p:spPr>
          <a:xfrm>
            <a:off x="2123767" y="3604971"/>
            <a:ext cx="1533833" cy="5973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S2</a:t>
            </a:r>
          </a:p>
          <a:p>
            <a:pPr algn="ctr"/>
            <a:r>
              <a:rPr lang="en-IN" b="1" i="1" dirty="0">
                <a:solidFill>
                  <a:schemeClr val="tx1"/>
                </a:solidFill>
                <a:highlight>
                  <a:srgbClr val="FFFF00"/>
                </a:highlight>
              </a:rPr>
              <a:t>Rubber soles </a:t>
            </a:r>
          </a:p>
        </p:txBody>
      </p:sp>
      <p:sp>
        <p:nvSpPr>
          <p:cNvPr id="4" name="Rectangle 3">
            <a:extLst>
              <a:ext uri="{FF2B5EF4-FFF2-40B4-BE49-F238E27FC236}">
                <a16:creationId xmlns:a16="http://schemas.microsoft.com/office/drawing/2014/main" id="{8C07A32C-E454-A082-427A-C2973DDBE7B9}"/>
              </a:ext>
            </a:extLst>
          </p:cNvPr>
          <p:cNvSpPr/>
          <p:nvPr/>
        </p:nvSpPr>
        <p:spPr>
          <a:xfrm>
            <a:off x="4188541" y="2580561"/>
            <a:ext cx="1533833" cy="359973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Producer / </a:t>
            </a:r>
          </a:p>
          <a:p>
            <a:pPr algn="ctr"/>
            <a:r>
              <a:rPr lang="en-IN" b="1" i="1" dirty="0">
                <a:solidFill>
                  <a:schemeClr val="tx1"/>
                </a:solidFill>
              </a:rPr>
              <a:t>Manufacturer</a:t>
            </a:r>
          </a:p>
          <a:p>
            <a:pPr algn="ctr"/>
            <a:endParaRPr lang="en-IN" b="1" i="1" dirty="0">
              <a:solidFill>
                <a:schemeClr val="tx1"/>
              </a:solidFill>
            </a:endParaRPr>
          </a:p>
          <a:p>
            <a:pPr algn="ctr"/>
            <a:r>
              <a:rPr lang="en-IN" b="1" i="1" dirty="0">
                <a:solidFill>
                  <a:schemeClr val="tx1"/>
                </a:solidFill>
                <a:highlight>
                  <a:srgbClr val="00FFFF"/>
                </a:highlight>
              </a:rPr>
              <a:t>Leather shoes </a:t>
            </a:r>
          </a:p>
        </p:txBody>
      </p:sp>
      <p:sp>
        <p:nvSpPr>
          <p:cNvPr id="5" name="Rectangle 4">
            <a:extLst>
              <a:ext uri="{FF2B5EF4-FFF2-40B4-BE49-F238E27FC236}">
                <a16:creationId xmlns:a16="http://schemas.microsoft.com/office/drawing/2014/main" id="{BAD990E8-A790-2655-3ABB-0ACED2B4035D}"/>
              </a:ext>
            </a:extLst>
          </p:cNvPr>
          <p:cNvSpPr/>
          <p:nvPr/>
        </p:nvSpPr>
        <p:spPr>
          <a:xfrm>
            <a:off x="6253315" y="4003169"/>
            <a:ext cx="1553499" cy="1316286"/>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Wholesaler /</a:t>
            </a:r>
          </a:p>
          <a:p>
            <a:pPr algn="ctr"/>
            <a:r>
              <a:rPr lang="en-IN" b="1" i="1" dirty="0">
                <a:solidFill>
                  <a:schemeClr val="tx1"/>
                </a:solidFill>
              </a:rPr>
              <a:t>Distributer</a:t>
            </a:r>
          </a:p>
          <a:p>
            <a:pPr algn="ctr"/>
            <a:r>
              <a:rPr lang="en-IN" b="1" i="1" dirty="0">
                <a:solidFill>
                  <a:schemeClr val="tx1"/>
                </a:solidFill>
                <a:highlight>
                  <a:srgbClr val="00FFFF"/>
                </a:highlight>
              </a:rPr>
              <a:t>Leather shoes </a:t>
            </a:r>
            <a:r>
              <a:rPr lang="en-IN" b="1" i="1" dirty="0">
                <a:solidFill>
                  <a:schemeClr val="tx1"/>
                </a:solidFill>
              </a:rPr>
              <a:t> </a:t>
            </a:r>
          </a:p>
        </p:txBody>
      </p:sp>
      <p:sp>
        <p:nvSpPr>
          <p:cNvPr id="6" name="Rectangle 5">
            <a:extLst>
              <a:ext uri="{FF2B5EF4-FFF2-40B4-BE49-F238E27FC236}">
                <a16:creationId xmlns:a16="http://schemas.microsoft.com/office/drawing/2014/main" id="{8E3F48BF-04C1-33D8-B6CF-4F6A915A690F}"/>
              </a:ext>
            </a:extLst>
          </p:cNvPr>
          <p:cNvSpPr/>
          <p:nvPr/>
        </p:nvSpPr>
        <p:spPr>
          <a:xfrm>
            <a:off x="8318089" y="4003169"/>
            <a:ext cx="1533833" cy="1375794"/>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Retailer</a:t>
            </a:r>
          </a:p>
          <a:p>
            <a:pPr algn="ctr"/>
            <a:r>
              <a:rPr lang="en-IN" b="1" i="1" dirty="0">
                <a:solidFill>
                  <a:schemeClr val="tx1"/>
                </a:solidFill>
                <a:highlight>
                  <a:srgbClr val="00FFFF"/>
                </a:highlight>
              </a:rPr>
              <a:t>Leather shoes </a:t>
            </a:r>
            <a:r>
              <a:rPr lang="en-IN" b="1" i="1" dirty="0">
                <a:solidFill>
                  <a:schemeClr val="tx1"/>
                </a:solidFill>
              </a:rPr>
              <a:t> </a:t>
            </a:r>
          </a:p>
        </p:txBody>
      </p:sp>
      <p:sp>
        <p:nvSpPr>
          <p:cNvPr id="7" name="Rectangle 6">
            <a:extLst>
              <a:ext uri="{FF2B5EF4-FFF2-40B4-BE49-F238E27FC236}">
                <a16:creationId xmlns:a16="http://schemas.microsoft.com/office/drawing/2014/main" id="{A9CBA8FF-5200-6918-61F1-1E8AE15F7D69}"/>
              </a:ext>
            </a:extLst>
          </p:cNvPr>
          <p:cNvSpPr/>
          <p:nvPr/>
        </p:nvSpPr>
        <p:spPr>
          <a:xfrm>
            <a:off x="10382863" y="4003169"/>
            <a:ext cx="1533833" cy="1396894"/>
          </a:xfrm>
          <a:prstGeom prst="rect">
            <a:avLst/>
          </a:prstGeom>
          <a:noFill/>
          <a:ln w="57150">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Customer</a:t>
            </a:r>
          </a:p>
          <a:p>
            <a:pPr algn="ctr"/>
            <a:r>
              <a:rPr lang="en-IN" b="1" i="1" dirty="0">
                <a:solidFill>
                  <a:schemeClr val="tx1"/>
                </a:solidFill>
                <a:highlight>
                  <a:srgbClr val="00FFFF"/>
                </a:highlight>
              </a:rPr>
              <a:t>Leather shoes </a:t>
            </a:r>
            <a:r>
              <a:rPr lang="en-IN" b="1" i="1" dirty="0">
                <a:solidFill>
                  <a:schemeClr val="tx1"/>
                </a:solidFill>
              </a:rPr>
              <a:t> </a:t>
            </a:r>
          </a:p>
        </p:txBody>
      </p:sp>
      <p:sp>
        <p:nvSpPr>
          <p:cNvPr id="8" name="Arrow: Right 7">
            <a:extLst>
              <a:ext uri="{FF2B5EF4-FFF2-40B4-BE49-F238E27FC236}">
                <a16:creationId xmlns:a16="http://schemas.microsoft.com/office/drawing/2014/main" id="{E37BB6A1-56C4-374A-4A37-AF1D317C3C90}"/>
              </a:ext>
            </a:extLst>
          </p:cNvPr>
          <p:cNvSpPr/>
          <p:nvPr/>
        </p:nvSpPr>
        <p:spPr>
          <a:xfrm>
            <a:off x="3728883" y="3887076"/>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9" name="Arrow: Right 8">
            <a:extLst>
              <a:ext uri="{FF2B5EF4-FFF2-40B4-BE49-F238E27FC236}">
                <a16:creationId xmlns:a16="http://schemas.microsoft.com/office/drawing/2014/main" id="{81172A24-AF18-5B87-CDF2-609297DAC217}"/>
              </a:ext>
            </a:extLst>
          </p:cNvPr>
          <p:cNvSpPr/>
          <p:nvPr/>
        </p:nvSpPr>
        <p:spPr>
          <a:xfrm>
            <a:off x="5805947" y="4601488"/>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0" name="Arrow: Right 9">
            <a:extLst>
              <a:ext uri="{FF2B5EF4-FFF2-40B4-BE49-F238E27FC236}">
                <a16:creationId xmlns:a16="http://schemas.microsoft.com/office/drawing/2014/main" id="{91836E1E-AEA9-5B24-0CA6-C4D3232A723D}"/>
              </a:ext>
            </a:extLst>
          </p:cNvPr>
          <p:cNvSpPr/>
          <p:nvPr/>
        </p:nvSpPr>
        <p:spPr>
          <a:xfrm>
            <a:off x="7860890" y="4601488"/>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1" name="Arrow: Right 10">
            <a:extLst>
              <a:ext uri="{FF2B5EF4-FFF2-40B4-BE49-F238E27FC236}">
                <a16:creationId xmlns:a16="http://schemas.microsoft.com/office/drawing/2014/main" id="{12A01BE2-3CA1-46B2-B4AA-2F904B88FEAD}"/>
              </a:ext>
            </a:extLst>
          </p:cNvPr>
          <p:cNvSpPr/>
          <p:nvPr/>
        </p:nvSpPr>
        <p:spPr>
          <a:xfrm>
            <a:off x="9905998" y="4601488"/>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2" name="Rectangle 11">
            <a:extLst>
              <a:ext uri="{FF2B5EF4-FFF2-40B4-BE49-F238E27FC236}">
                <a16:creationId xmlns:a16="http://schemas.microsoft.com/office/drawing/2014/main" id="{0E6AF2AA-13EB-E449-E49E-E32B31252F27}"/>
              </a:ext>
            </a:extLst>
          </p:cNvPr>
          <p:cNvSpPr/>
          <p:nvPr/>
        </p:nvSpPr>
        <p:spPr>
          <a:xfrm>
            <a:off x="2123767" y="2864375"/>
            <a:ext cx="1533833" cy="5973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Supplier (S1)</a:t>
            </a:r>
          </a:p>
          <a:p>
            <a:pPr algn="ctr"/>
            <a:r>
              <a:rPr lang="en-IN" b="1" i="1" dirty="0">
                <a:solidFill>
                  <a:schemeClr val="tx1"/>
                </a:solidFill>
                <a:highlight>
                  <a:srgbClr val="FFFF00"/>
                </a:highlight>
              </a:rPr>
              <a:t>Leather hide </a:t>
            </a:r>
          </a:p>
        </p:txBody>
      </p:sp>
      <p:sp>
        <p:nvSpPr>
          <p:cNvPr id="13" name="Rectangle 12">
            <a:extLst>
              <a:ext uri="{FF2B5EF4-FFF2-40B4-BE49-F238E27FC236}">
                <a16:creationId xmlns:a16="http://schemas.microsoft.com/office/drawing/2014/main" id="{527234CC-AEEC-F454-600D-E910F7757C00}"/>
              </a:ext>
            </a:extLst>
          </p:cNvPr>
          <p:cNvSpPr/>
          <p:nvPr/>
        </p:nvSpPr>
        <p:spPr>
          <a:xfrm>
            <a:off x="2123767" y="4375064"/>
            <a:ext cx="1533833" cy="5973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S3</a:t>
            </a:r>
          </a:p>
          <a:p>
            <a:pPr algn="ctr"/>
            <a:r>
              <a:rPr lang="en-IN" b="1" i="1" dirty="0">
                <a:solidFill>
                  <a:schemeClr val="tx1"/>
                </a:solidFill>
                <a:highlight>
                  <a:srgbClr val="FFFF00"/>
                </a:highlight>
              </a:rPr>
              <a:t>Laces</a:t>
            </a:r>
          </a:p>
        </p:txBody>
      </p:sp>
      <p:sp>
        <p:nvSpPr>
          <p:cNvPr id="14" name="Arrow: Right 13">
            <a:extLst>
              <a:ext uri="{FF2B5EF4-FFF2-40B4-BE49-F238E27FC236}">
                <a16:creationId xmlns:a16="http://schemas.microsoft.com/office/drawing/2014/main" id="{72416D21-29D8-EF8E-406C-B573DF42E20C}"/>
              </a:ext>
            </a:extLst>
          </p:cNvPr>
          <p:cNvSpPr/>
          <p:nvPr/>
        </p:nvSpPr>
        <p:spPr>
          <a:xfrm>
            <a:off x="3728883" y="3127682"/>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5" name="Arrow: Right 14">
            <a:extLst>
              <a:ext uri="{FF2B5EF4-FFF2-40B4-BE49-F238E27FC236}">
                <a16:creationId xmlns:a16="http://schemas.microsoft.com/office/drawing/2014/main" id="{20231F7B-27D0-5A88-BB1E-32794830A7A2}"/>
              </a:ext>
            </a:extLst>
          </p:cNvPr>
          <p:cNvSpPr/>
          <p:nvPr/>
        </p:nvSpPr>
        <p:spPr>
          <a:xfrm>
            <a:off x="3728883" y="4647908"/>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6" name="Rectangle 15">
            <a:extLst>
              <a:ext uri="{FF2B5EF4-FFF2-40B4-BE49-F238E27FC236}">
                <a16:creationId xmlns:a16="http://schemas.microsoft.com/office/drawing/2014/main" id="{C3C5B0EA-A38E-6B57-3D11-9BE41A5F60BC}"/>
              </a:ext>
            </a:extLst>
          </p:cNvPr>
          <p:cNvSpPr/>
          <p:nvPr/>
        </p:nvSpPr>
        <p:spPr>
          <a:xfrm>
            <a:off x="2123767" y="5102661"/>
            <a:ext cx="1533833" cy="5973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S4</a:t>
            </a:r>
          </a:p>
          <a:p>
            <a:pPr algn="ctr"/>
            <a:r>
              <a:rPr lang="en-IN" b="1" i="1" dirty="0">
                <a:solidFill>
                  <a:schemeClr val="tx1"/>
                </a:solidFill>
                <a:highlight>
                  <a:srgbClr val="FFFF00"/>
                </a:highlight>
              </a:rPr>
              <a:t>Adhesives</a:t>
            </a:r>
            <a:r>
              <a:rPr lang="en-IN" i="1" dirty="0">
                <a:solidFill>
                  <a:schemeClr val="tx1"/>
                </a:solidFill>
              </a:rPr>
              <a:t> </a:t>
            </a:r>
            <a:endParaRPr lang="en-IN" b="1" i="1" dirty="0">
              <a:solidFill>
                <a:schemeClr val="tx1"/>
              </a:solidFill>
            </a:endParaRPr>
          </a:p>
        </p:txBody>
      </p:sp>
      <p:sp>
        <p:nvSpPr>
          <p:cNvPr id="17" name="Arrow: Right 16">
            <a:extLst>
              <a:ext uri="{FF2B5EF4-FFF2-40B4-BE49-F238E27FC236}">
                <a16:creationId xmlns:a16="http://schemas.microsoft.com/office/drawing/2014/main" id="{B4BB5CBD-DCFB-6D32-9695-41208A2C76FD}"/>
              </a:ext>
            </a:extLst>
          </p:cNvPr>
          <p:cNvSpPr/>
          <p:nvPr/>
        </p:nvSpPr>
        <p:spPr>
          <a:xfrm>
            <a:off x="3728883" y="5317018"/>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18" name="Rectangle 17">
            <a:extLst>
              <a:ext uri="{FF2B5EF4-FFF2-40B4-BE49-F238E27FC236}">
                <a16:creationId xmlns:a16="http://schemas.microsoft.com/office/drawing/2014/main" id="{B5596514-716C-BB91-96B0-F6D6947DD62A}"/>
              </a:ext>
            </a:extLst>
          </p:cNvPr>
          <p:cNvSpPr/>
          <p:nvPr/>
        </p:nvSpPr>
        <p:spPr>
          <a:xfrm>
            <a:off x="612057" y="2864375"/>
            <a:ext cx="1066801" cy="5762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S6</a:t>
            </a:r>
          </a:p>
          <a:p>
            <a:pPr algn="ctr"/>
            <a:r>
              <a:rPr lang="en-IN" sz="1200" b="1" i="1" dirty="0">
                <a:solidFill>
                  <a:schemeClr val="tx1"/>
                </a:solidFill>
                <a:highlight>
                  <a:srgbClr val="FFFF00"/>
                </a:highlight>
              </a:rPr>
              <a:t>Raw leather</a:t>
            </a:r>
          </a:p>
        </p:txBody>
      </p:sp>
      <p:sp>
        <p:nvSpPr>
          <p:cNvPr id="19" name="Rectangle 18">
            <a:extLst>
              <a:ext uri="{FF2B5EF4-FFF2-40B4-BE49-F238E27FC236}">
                <a16:creationId xmlns:a16="http://schemas.microsoft.com/office/drawing/2014/main" id="{74DBB26A-8D23-9448-B22F-A53AF4D8944C}"/>
              </a:ext>
            </a:extLst>
          </p:cNvPr>
          <p:cNvSpPr/>
          <p:nvPr/>
        </p:nvSpPr>
        <p:spPr>
          <a:xfrm>
            <a:off x="612057" y="3604971"/>
            <a:ext cx="1066801" cy="5762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S7</a:t>
            </a:r>
          </a:p>
          <a:p>
            <a:pPr algn="ctr"/>
            <a:r>
              <a:rPr lang="en-IN" sz="1600" b="1" i="1" dirty="0">
                <a:solidFill>
                  <a:schemeClr val="tx1"/>
                </a:solidFill>
                <a:highlight>
                  <a:srgbClr val="FFFF00"/>
                </a:highlight>
              </a:rPr>
              <a:t>Rubber</a:t>
            </a:r>
          </a:p>
        </p:txBody>
      </p:sp>
      <p:sp>
        <p:nvSpPr>
          <p:cNvPr id="20" name="Rectangle 19">
            <a:extLst>
              <a:ext uri="{FF2B5EF4-FFF2-40B4-BE49-F238E27FC236}">
                <a16:creationId xmlns:a16="http://schemas.microsoft.com/office/drawing/2014/main" id="{EBAA00FF-BF4F-FD16-D8F0-083B04F1A807}"/>
              </a:ext>
            </a:extLst>
          </p:cNvPr>
          <p:cNvSpPr/>
          <p:nvPr/>
        </p:nvSpPr>
        <p:spPr>
          <a:xfrm>
            <a:off x="612057" y="4345568"/>
            <a:ext cx="1066801" cy="5762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S8</a:t>
            </a:r>
          </a:p>
          <a:p>
            <a:pPr algn="ctr"/>
            <a:r>
              <a:rPr lang="en-IN" sz="1200" b="1" i="1" dirty="0" err="1">
                <a:solidFill>
                  <a:schemeClr val="tx1"/>
                </a:solidFill>
                <a:highlight>
                  <a:srgbClr val="FFFF00"/>
                </a:highlight>
              </a:rPr>
              <a:t>Synthe</a:t>
            </a:r>
            <a:r>
              <a:rPr lang="en-IN" sz="1200" b="1" i="1" dirty="0">
                <a:solidFill>
                  <a:schemeClr val="tx1"/>
                </a:solidFill>
                <a:highlight>
                  <a:srgbClr val="FFFF00"/>
                </a:highlight>
              </a:rPr>
              <a:t>. </a:t>
            </a:r>
            <a:r>
              <a:rPr lang="en-IN" sz="1200" b="1" i="1" dirty="0" err="1">
                <a:solidFill>
                  <a:schemeClr val="tx1"/>
                </a:solidFill>
                <a:highlight>
                  <a:srgbClr val="FFFF00"/>
                </a:highlight>
              </a:rPr>
              <a:t>fibers</a:t>
            </a:r>
            <a:endParaRPr lang="en-IN" sz="1200" b="1" i="1" dirty="0">
              <a:solidFill>
                <a:schemeClr val="tx1"/>
              </a:solidFill>
              <a:highlight>
                <a:srgbClr val="FFFF00"/>
              </a:highlight>
            </a:endParaRPr>
          </a:p>
        </p:txBody>
      </p:sp>
      <p:sp>
        <p:nvSpPr>
          <p:cNvPr id="21" name="Rectangle 20">
            <a:extLst>
              <a:ext uri="{FF2B5EF4-FFF2-40B4-BE49-F238E27FC236}">
                <a16:creationId xmlns:a16="http://schemas.microsoft.com/office/drawing/2014/main" id="{B7D5AE04-6E39-C76D-99ED-5D56D5123060}"/>
              </a:ext>
            </a:extLst>
          </p:cNvPr>
          <p:cNvSpPr/>
          <p:nvPr/>
        </p:nvSpPr>
        <p:spPr>
          <a:xfrm>
            <a:off x="612057" y="5073165"/>
            <a:ext cx="1066801" cy="5762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S9</a:t>
            </a:r>
          </a:p>
          <a:p>
            <a:pPr algn="ctr"/>
            <a:r>
              <a:rPr lang="en-IN" sz="1600" b="1" i="1" dirty="0">
                <a:solidFill>
                  <a:schemeClr val="tx1"/>
                </a:solidFill>
                <a:highlight>
                  <a:srgbClr val="FFFF00"/>
                </a:highlight>
              </a:rPr>
              <a:t>Chemical</a:t>
            </a:r>
            <a:r>
              <a:rPr lang="en-IN" b="1" i="1" dirty="0">
                <a:solidFill>
                  <a:schemeClr val="tx1"/>
                </a:solidFill>
              </a:rPr>
              <a:t> </a:t>
            </a:r>
          </a:p>
        </p:txBody>
      </p:sp>
      <p:sp>
        <p:nvSpPr>
          <p:cNvPr id="22" name="Arrow: Right 21">
            <a:extLst>
              <a:ext uri="{FF2B5EF4-FFF2-40B4-BE49-F238E27FC236}">
                <a16:creationId xmlns:a16="http://schemas.microsoft.com/office/drawing/2014/main" id="{F6A9F481-1C63-C3B2-A38E-191DC678CB9A}"/>
              </a:ext>
            </a:extLst>
          </p:cNvPr>
          <p:cNvSpPr/>
          <p:nvPr/>
        </p:nvSpPr>
        <p:spPr>
          <a:xfrm>
            <a:off x="1735393" y="3127682"/>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23" name="Arrow: Right 22">
            <a:extLst>
              <a:ext uri="{FF2B5EF4-FFF2-40B4-BE49-F238E27FC236}">
                <a16:creationId xmlns:a16="http://schemas.microsoft.com/office/drawing/2014/main" id="{15000D75-6CD4-EBE9-C467-907E839F3D8E}"/>
              </a:ext>
            </a:extLst>
          </p:cNvPr>
          <p:cNvSpPr/>
          <p:nvPr/>
        </p:nvSpPr>
        <p:spPr>
          <a:xfrm>
            <a:off x="1726787" y="3783837"/>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24" name="Arrow: Right 23">
            <a:extLst>
              <a:ext uri="{FF2B5EF4-FFF2-40B4-BE49-F238E27FC236}">
                <a16:creationId xmlns:a16="http://schemas.microsoft.com/office/drawing/2014/main" id="{692B2E50-2AC5-82AF-9E61-CAE459C8AE06}"/>
              </a:ext>
            </a:extLst>
          </p:cNvPr>
          <p:cNvSpPr/>
          <p:nvPr/>
        </p:nvSpPr>
        <p:spPr>
          <a:xfrm>
            <a:off x="1698522" y="4559279"/>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25" name="Arrow: Right 24">
            <a:extLst>
              <a:ext uri="{FF2B5EF4-FFF2-40B4-BE49-F238E27FC236}">
                <a16:creationId xmlns:a16="http://schemas.microsoft.com/office/drawing/2014/main" id="{336711CA-C3EE-EE1B-CED7-05E304DACFA0}"/>
              </a:ext>
            </a:extLst>
          </p:cNvPr>
          <p:cNvSpPr/>
          <p:nvPr/>
        </p:nvSpPr>
        <p:spPr>
          <a:xfrm>
            <a:off x="1714500" y="5287521"/>
            <a:ext cx="373626" cy="20647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i="1">
              <a:solidFill>
                <a:schemeClr val="tx1"/>
              </a:solidFill>
            </a:endParaRPr>
          </a:p>
        </p:txBody>
      </p:sp>
      <p:sp>
        <p:nvSpPr>
          <p:cNvPr id="26" name="Left Brace 25">
            <a:extLst>
              <a:ext uri="{FF2B5EF4-FFF2-40B4-BE49-F238E27FC236}">
                <a16:creationId xmlns:a16="http://schemas.microsoft.com/office/drawing/2014/main" id="{175706BD-FB92-AC2F-B46D-3342B0A111E4}"/>
              </a:ext>
            </a:extLst>
          </p:cNvPr>
          <p:cNvSpPr/>
          <p:nvPr/>
        </p:nvSpPr>
        <p:spPr>
          <a:xfrm rot="5400000">
            <a:off x="8755518" y="-963658"/>
            <a:ext cx="658976" cy="5663383"/>
          </a:xfrm>
          <a:prstGeom prst="leftBrace">
            <a:avLst/>
          </a:prstGeom>
          <a:ln w="3810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7" name="Left Brace 26">
            <a:extLst>
              <a:ext uri="{FF2B5EF4-FFF2-40B4-BE49-F238E27FC236}">
                <a16:creationId xmlns:a16="http://schemas.microsoft.com/office/drawing/2014/main" id="{DABC65A1-95BD-5324-CE89-7B0ADA1F3A9A}"/>
              </a:ext>
            </a:extLst>
          </p:cNvPr>
          <p:cNvSpPr/>
          <p:nvPr/>
        </p:nvSpPr>
        <p:spPr>
          <a:xfrm rot="5400000">
            <a:off x="4616136" y="1032294"/>
            <a:ext cx="658975" cy="1671482"/>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8" name="Left Brace 27">
            <a:extLst>
              <a:ext uri="{FF2B5EF4-FFF2-40B4-BE49-F238E27FC236}">
                <a16:creationId xmlns:a16="http://schemas.microsoft.com/office/drawing/2014/main" id="{6DEAF24A-0C92-13DE-0D48-02B1F09BA652}"/>
              </a:ext>
            </a:extLst>
          </p:cNvPr>
          <p:cNvSpPr/>
          <p:nvPr/>
        </p:nvSpPr>
        <p:spPr>
          <a:xfrm rot="5400000">
            <a:off x="1820087" y="330516"/>
            <a:ext cx="658975" cy="3075036"/>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29" name="TextBox 28">
            <a:extLst>
              <a:ext uri="{FF2B5EF4-FFF2-40B4-BE49-F238E27FC236}">
                <a16:creationId xmlns:a16="http://schemas.microsoft.com/office/drawing/2014/main" id="{DFC147D4-2D63-07C0-64D0-D76C4993CC3B}"/>
              </a:ext>
            </a:extLst>
          </p:cNvPr>
          <p:cNvSpPr txBox="1"/>
          <p:nvPr/>
        </p:nvSpPr>
        <p:spPr>
          <a:xfrm>
            <a:off x="4109881" y="1031182"/>
            <a:ext cx="1671483" cy="461665"/>
          </a:xfrm>
          <a:prstGeom prst="rect">
            <a:avLst/>
          </a:prstGeom>
          <a:noFill/>
        </p:spPr>
        <p:txBody>
          <a:bodyPr wrap="square">
            <a:spAutoFit/>
          </a:bodyPr>
          <a:lstStyle/>
          <a:p>
            <a:pPr algn="ctr"/>
            <a:r>
              <a:rPr lang="en-IN" sz="2400" b="1" i="1" u="none" strike="noStrike" kern="1200" baseline="0" dirty="0">
                <a:solidFill>
                  <a:srgbClr val="FF0000"/>
                </a:solidFill>
                <a:latin typeface="+mn-lt"/>
                <a:ea typeface="+mn-ea"/>
                <a:cs typeface="+mn-cs"/>
              </a:rPr>
              <a:t>Focal firm</a:t>
            </a:r>
            <a:endParaRPr lang="en-IN" sz="2400" b="1" i="1" dirty="0">
              <a:solidFill>
                <a:srgbClr val="FF0000"/>
              </a:solidFill>
            </a:endParaRPr>
          </a:p>
        </p:txBody>
      </p:sp>
      <p:sp>
        <p:nvSpPr>
          <p:cNvPr id="30" name="TextBox 29">
            <a:extLst>
              <a:ext uri="{FF2B5EF4-FFF2-40B4-BE49-F238E27FC236}">
                <a16:creationId xmlns:a16="http://schemas.microsoft.com/office/drawing/2014/main" id="{95801450-1768-1788-BB5B-D3E72F74B473}"/>
              </a:ext>
            </a:extLst>
          </p:cNvPr>
          <p:cNvSpPr txBox="1"/>
          <p:nvPr/>
        </p:nvSpPr>
        <p:spPr>
          <a:xfrm>
            <a:off x="8136192" y="1027492"/>
            <a:ext cx="1927127" cy="461665"/>
          </a:xfrm>
          <a:prstGeom prst="rect">
            <a:avLst/>
          </a:prstGeom>
          <a:noFill/>
        </p:spPr>
        <p:txBody>
          <a:bodyPr wrap="square">
            <a:spAutoFit/>
          </a:bodyPr>
          <a:lstStyle/>
          <a:p>
            <a:pPr algn="ctr"/>
            <a:r>
              <a:rPr lang="en-IN" sz="2400" b="1" i="1" dirty="0">
                <a:solidFill>
                  <a:srgbClr val="0000CC"/>
                </a:solidFill>
              </a:rPr>
              <a:t>Downstream</a:t>
            </a:r>
          </a:p>
        </p:txBody>
      </p:sp>
      <p:sp>
        <p:nvSpPr>
          <p:cNvPr id="31" name="TextBox 30">
            <a:extLst>
              <a:ext uri="{FF2B5EF4-FFF2-40B4-BE49-F238E27FC236}">
                <a16:creationId xmlns:a16="http://schemas.microsoft.com/office/drawing/2014/main" id="{236EFE19-524E-0B9E-C380-FCD06637E0D0}"/>
              </a:ext>
            </a:extLst>
          </p:cNvPr>
          <p:cNvSpPr txBox="1"/>
          <p:nvPr/>
        </p:nvSpPr>
        <p:spPr>
          <a:xfrm>
            <a:off x="1186010" y="1059741"/>
            <a:ext cx="1927127" cy="461665"/>
          </a:xfrm>
          <a:prstGeom prst="rect">
            <a:avLst/>
          </a:prstGeom>
          <a:noFill/>
        </p:spPr>
        <p:txBody>
          <a:bodyPr wrap="square">
            <a:spAutoFit/>
          </a:bodyPr>
          <a:lstStyle/>
          <a:p>
            <a:pPr algn="ctr"/>
            <a:r>
              <a:rPr lang="en-IN" sz="2400" b="1" i="1" dirty="0"/>
              <a:t>Upstream</a:t>
            </a:r>
          </a:p>
        </p:txBody>
      </p:sp>
      <p:sp>
        <p:nvSpPr>
          <p:cNvPr id="33" name="TextBox 32">
            <a:extLst>
              <a:ext uri="{FF2B5EF4-FFF2-40B4-BE49-F238E27FC236}">
                <a16:creationId xmlns:a16="http://schemas.microsoft.com/office/drawing/2014/main" id="{3FBD2255-264D-5EB0-7DEA-77E51B2B4FEF}"/>
              </a:ext>
            </a:extLst>
          </p:cNvPr>
          <p:cNvSpPr txBox="1"/>
          <p:nvPr/>
        </p:nvSpPr>
        <p:spPr>
          <a:xfrm>
            <a:off x="2357281" y="1989432"/>
            <a:ext cx="1066801" cy="584775"/>
          </a:xfrm>
          <a:prstGeom prst="rect">
            <a:avLst/>
          </a:prstGeom>
          <a:noFill/>
        </p:spPr>
        <p:txBody>
          <a:bodyPr wrap="square">
            <a:spAutoFit/>
          </a:bodyPr>
          <a:lstStyle/>
          <a:p>
            <a:pPr marL="0" algn="ctr" defTabSz="914400" rtl="0" eaLnBrk="1" latinLnBrk="0" hangingPunct="1"/>
            <a:r>
              <a:rPr lang="en-IN" sz="1600" b="1" i="1" kern="1200" dirty="0">
                <a:highlight>
                  <a:srgbClr val="00FF00"/>
                </a:highlight>
                <a:latin typeface="+mn-lt"/>
                <a:ea typeface="+mn-ea"/>
                <a:cs typeface="+mn-cs"/>
              </a:rPr>
              <a:t>First-tier suppliers</a:t>
            </a:r>
          </a:p>
        </p:txBody>
      </p:sp>
      <p:sp>
        <p:nvSpPr>
          <p:cNvPr id="34" name="Left Brace 33">
            <a:extLst>
              <a:ext uri="{FF2B5EF4-FFF2-40B4-BE49-F238E27FC236}">
                <a16:creationId xmlns:a16="http://schemas.microsoft.com/office/drawing/2014/main" id="{F466EDE5-15EC-DD8A-6DBF-DA328FCF6285}"/>
              </a:ext>
            </a:extLst>
          </p:cNvPr>
          <p:cNvSpPr/>
          <p:nvPr/>
        </p:nvSpPr>
        <p:spPr>
          <a:xfrm rot="5400000">
            <a:off x="2746820" y="1992812"/>
            <a:ext cx="287723" cy="1272047"/>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35" name="Left Brace 34">
            <a:extLst>
              <a:ext uri="{FF2B5EF4-FFF2-40B4-BE49-F238E27FC236}">
                <a16:creationId xmlns:a16="http://schemas.microsoft.com/office/drawing/2014/main" id="{E9A463A5-1A63-5768-8245-C384ECBEA608}"/>
              </a:ext>
            </a:extLst>
          </p:cNvPr>
          <p:cNvSpPr/>
          <p:nvPr/>
        </p:nvSpPr>
        <p:spPr>
          <a:xfrm rot="5400000">
            <a:off x="986357" y="2050701"/>
            <a:ext cx="285623" cy="1158369"/>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i="1"/>
          </a:p>
        </p:txBody>
      </p:sp>
      <p:sp>
        <p:nvSpPr>
          <p:cNvPr id="36" name="TextBox 35">
            <a:extLst>
              <a:ext uri="{FF2B5EF4-FFF2-40B4-BE49-F238E27FC236}">
                <a16:creationId xmlns:a16="http://schemas.microsoft.com/office/drawing/2014/main" id="{4AFD3B24-B6F8-2987-9F9B-FE8684D40F7E}"/>
              </a:ext>
            </a:extLst>
          </p:cNvPr>
          <p:cNvSpPr txBox="1"/>
          <p:nvPr/>
        </p:nvSpPr>
        <p:spPr>
          <a:xfrm>
            <a:off x="641553" y="1995786"/>
            <a:ext cx="1272047" cy="584775"/>
          </a:xfrm>
          <a:prstGeom prst="rect">
            <a:avLst/>
          </a:prstGeom>
          <a:noFill/>
        </p:spPr>
        <p:txBody>
          <a:bodyPr wrap="square">
            <a:spAutoFit/>
          </a:bodyPr>
          <a:lstStyle/>
          <a:p>
            <a:pPr marL="0" algn="ctr" defTabSz="914400" rtl="0" eaLnBrk="1" latinLnBrk="0" hangingPunct="1"/>
            <a:r>
              <a:rPr lang="en-IN" sz="1600" b="1" i="1" kern="1200" dirty="0">
                <a:highlight>
                  <a:srgbClr val="00FF00"/>
                </a:highlight>
                <a:latin typeface="+mn-lt"/>
                <a:ea typeface="+mn-ea"/>
                <a:cs typeface="+mn-cs"/>
              </a:rPr>
              <a:t>Second-tier suppliers</a:t>
            </a:r>
          </a:p>
        </p:txBody>
      </p:sp>
      <p:pic>
        <p:nvPicPr>
          <p:cNvPr id="39" name="Picture 38">
            <a:extLst>
              <a:ext uri="{FF2B5EF4-FFF2-40B4-BE49-F238E27FC236}">
                <a16:creationId xmlns:a16="http://schemas.microsoft.com/office/drawing/2014/main" id="{3D760F6E-565D-15B8-DB1F-AF43B2A39737}"/>
              </a:ext>
            </a:extLst>
          </p:cNvPr>
          <p:cNvPicPr>
            <a:picLocks noChangeAspect="1"/>
          </p:cNvPicPr>
          <p:nvPr/>
        </p:nvPicPr>
        <p:blipFill>
          <a:blip r:embed="rId2"/>
          <a:stretch>
            <a:fillRect/>
          </a:stretch>
        </p:blipFill>
        <p:spPr>
          <a:xfrm>
            <a:off x="3728883" y="6197982"/>
            <a:ext cx="7757655" cy="599075"/>
          </a:xfrm>
          <a:prstGeom prst="rect">
            <a:avLst/>
          </a:prstGeom>
        </p:spPr>
      </p:pic>
      <p:sp>
        <p:nvSpPr>
          <p:cNvPr id="40" name="Rectangle 39">
            <a:extLst>
              <a:ext uri="{FF2B5EF4-FFF2-40B4-BE49-F238E27FC236}">
                <a16:creationId xmlns:a16="http://schemas.microsoft.com/office/drawing/2014/main" id="{55A167F6-B869-A6BD-B66B-CE025F48329F}"/>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3. A simple supply chain (</a:t>
            </a:r>
            <a:r>
              <a:rPr lang="en-IN" sz="4400" b="1" i="1" dirty="0">
                <a:solidFill>
                  <a:srgbClr val="FFFF00"/>
                </a:solidFill>
              </a:rPr>
              <a:t>Leather shoes</a:t>
            </a:r>
            <a:r>
              <a:rPr lang="en-IN" sz="4400" b="1" i="1" dirty="0"/>
              <a:t>)</a:t>
            </a:r>
          </a:p>
        </p:txBody>
      </p:sp>
      <p:sp>
        <p:nvSpPr>
          <p:cNvPr id="41" name="Rectangle 40">
            <a:extLst>
              <a:ext uri="{FF2B5EF4-FFF2-40B4-BE49-F238E27FC236}">
                <a16:creationId xmlns:a16="http://schemas.microsoft.com/office/drawing/2014/main" id="{5A164992-97BE-52D0-E089-AF3D6D7E2ABD}"/>
              </a:ext>
            </a:extLst>
          </p:cNvPr>
          <p:cNvSpPr/>
          <p:nvPr/>
        </p:nvSpPr>
        <p:spPr>
          <a:xfrm>
            <a:off x="2149573" y="5822598"/>
            <a:ext cx="1533833" cy="5973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S5</a:t>
            </a:r>
          </a:p>
          <a:p>
            <a:pPr algn="ctr"/>
            <a:r>
              <a:rPr lang="en-IN" b="1" i="1" dirty="0">
                <a:solidFill>
                  <a:schemeClr val="tx1"/>
                </a:solidFill>
                <a:highlight>
                  <a:srgbClr val="FFFF00"/>
                </a:highlight>
              </a:rPr>
              <a:t>Cartons </a:t>
            </a:r>
          </a:p>
        </p:txBody>
      </p:sp>
      <p:sp>
        <p:nvSpPr>
          <p:cNvPr id="42" name="Rectangle 41">
            <a:extLst>
              <a:ext uri="{FF2B5EF4-FFF2-40B4-BE49-F238E27FC236}">
                <a16:creationId xmlns:a16="http://schemas.microsoft.com/office/drawing/2014/main" id="{DE330F99-4014-F788-42C3-654EEB5B3DD9}"/>
              </a:ext>
            </a:extLst>
          </p:cNvPr>
          <p:cNvSpPr/>
          <p:nvPr/>
        </p:nvSpPr>
        <p:spPr>
          <a:xfrm>
            <a:off x="595767" y="5833147"/>
            <a:ext cx="1066801" cy="57620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chemeClr val="tx1"/>
                </a:solidFill>
              </a:rPr>
              <a:t>S10</a:t>
            </a:r>
          </a:p>
          <a:p>
            <a:pPr algn="ctr"/>
            <a:r>
              <a:rPr lang="en-IN" sz="1400" b="1" i="1" dirty="0">
                <a:solidFill>
                  <a:schemeClr val="tx1"/>
                </a:solidFill>
                <a:highlight>
                  <a:srgbClr val="FFFF00"/>
                </a:highlight>
              </a:rPr>
              <a:t>Cardboards </a:t>
            </a:r>
          </a:p>
        </p:txBody>
      </p:sp>
    </p:spTree>
    <p:extLst>
      <p:ext uri="{BB962C8B-B14F-4D97-AF65-F5344CB8AC3E}">
        <p14:creationId xmlns:p14="http://schemas.microsoft.com/office/powerpoint/2010/main" val="3961979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88F9A54-3C2A-8E85-F576-A6A2F35AC6F8}"/>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SECTION 2</a:t>
            </a:r>
          </a:p>
        </p:txBody>
      </p:sp>
    </p:spTree>
    <p:extLst>
      <p:ext uri="{BB962C8B-B14F-4D97-AF65-F5344CB8AC3E}">
        <p14:creationId xmlns:p14="http://schemas.microsoft.com/office/powerpoint/2010/main" val="987537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8740B-63B2-2B99-E1B0-B28C1F6F7B5C}"/>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23D229D1-D7C8-5E82-4707-631F2128C641}"/>
              </a:ext>
            </a:extLst>
          </p:cNvPr>
          <p:cNvSpPr txBox="1"/>
          <p:nvPr/>
        </p:nvSpPr>
        <p:spPr>
          <a:xfrm>
            <a:off x="496531" y="931184"/>
            <a:ext cx="6113564" cy="5893921"/>
          </a:xfrm>
          <a:prstGeom prst="rect">
            <a:avLst/>
          </a:prstGeom>
          <a:solidFill>
            <a:schemeClr val="accent4">
              <a:lumMod val="20000"/>
              <a:lumOff val="80000"/>
            </a:schemeClr>
          </a:solidFill>
        </p:spPr>
        <p:txBody>
          <a:bodyPr wrap="square">
            <a:spAutoFit/>
          </a:bodyPr>
          <a:lstStyle/>
          <a:p>
            <a:pPr marL="342900" indent="-342900" algn="just">
              <a:spcAft>
                <a:spcPts val="1200"/>
              </a:spcAft>
              <a:buFont typeface="Courier New" panose="02070309020205020404" pitchFamily="49" charset="0"/>
              <a:buChar char="o"/>
            </a:pPr>
            <a:r>
              <a:rPr lang="en-IN" sz="2100" b="1" i="1" u="sng" dirty="0">
                <a:highlight>
                  <a:srgbClr val="00FFFF"/>
                </a:highlight>
                <a:latin typeface="AdvP5D8B"/>
              </a:rPr>
              <a:t>Flow of products: </a:t>
            </a:r>
            <a:r>
              <a:rPr lang="en-IN" sz="2100" i="1" dirty="0">
                <a:latin typeface="AdvP5D8B"/>
              </a:rPr>
              <a:t>Products/goods flow </a:t>
            </a:r>
            <a:r>
              <a:rPr lang="en-US" sz="2100" i="1" dirty="0"/>
              <a:t>from the beginning of the chain (supplier) through various stages of production to the final customer, and the flow back of goods/products (</a:t>
            </a:r>
            <a:r>
              <a:rPr lang="en-US" sz="2100" b="1" i="1" u="sng" dirty="0">
                <a:solidFill>
                  <a:srgbClr val="0000CC"/>
                </a:solidFill>
              </a:rPr>
              <a:t>reverse logistics</a:t>
            </a:r>
            <a:r>
              <a:rPr lang="en-US" sz="2100" i="1" dirty="0"/>
              <a:t>) that are unacceptable to customers due to defects, damage, or obsolete (out of date). </a:t>
            </a:r>
            <a:r>
              <a:rPr lang="en-IN" sz="2100" i="1" dirty="0">
                <a:latin typeface="AdvP5D8B"/>
              </a:rPr>
              <a:t> </a:t>
            </a:r>
          </a:p>
          <a:p>
            <a:pPr marL="342900" indent="-342900" algn="just">
              <a:spcAft>
                <a:spcPts val="1200"/>
              </a:spcAft>
              <a:buFont typeface="Courier New" panose="02070309020205020404" pitchFamily="49" charset="0"/>
              <a:buChar char="o"/>
            </a:pPr>
            <a:r>
              <a:rPr lang="en-IN" sz="2100" b="1" i="1" u="sng" dirty="0">
                <a:highlight>
                  <a:srgbClr val="00FFFF"/>
                </a:highlight>
                <a:latin typeface="AdvP5D8B"/>
              </a:rPr>
              <a:t>Flow of information:</a:t>
            </a:r>
            <a:r>
              <a:rPr lang="en-IN" sz="2100" i="1" u="sng" dirty="0">
                <a:latin typeface="AdvP5D8B"/>
              </a:rPr>
              <a:t> </a:t>
            </a:r>
            <a:r>
              <a:rPr lang="en-IN" sz="2100" i="1" dirty="0">
                <a:latin typeface="AdvP5D8B"/>
              </a:rPr>
              <a:t>Real-time sales information </a:t>
            </a:r>
            <a:r>
              <a:rPr lang="en-US" sz="2100" i="1" dirty="0">
                <a:latin typeface="AdvP5D8B"/>
              </a:rPr>
              <a:t>transmitted from retailer to wholesaler, producer and supplier reduces uncertainty,</a:t>
            </a:r>
            <a:r>
              <a:rPr lang="en-IN" sz="2100" i="1" dirty="0">
                <a:latin typeface="AdvP5D8B"/>
              </a:rPr>
              <a:t> and the amount of inventory (stock) carried throughout the supply chain, at each stage.</a:t>
            </a:r>
          </a:p>
          <a:p>
            <a:pPr marL="342900" indent="-342900" algn="just">
              <a:spcAft>
                <a:spcPts val="1200"/>
              </a:spcAft>
              <a:buFont typeface="Courier New" panose="02070309020205020404" pitchFamily="49" charset="0"/>
              <a:buChar char="o"/>
            </a:pPr>
            <a:r>
              <a:rPr lang="en-IN" sz="2100" b="1" i="1" u="sng" dirty="0">
                <a:highlight>
                  <a:srgbClr val="00FFFF"/>
                </a:highlight>
                <a:latin typeface="AdvP5D8B"/>
              </a:rPr>
              <a:t>Flow of funds: </a:t>
            </a:r>
            <a:r>
              <a:rPr lang="en-US" sz="2100" i="1" dirty="0"/>
              <a:t>Financial flow (money flow from buyer to seller) is often viewed as one-directional, flowing backwards in the supply chain as payment for products and services received. However, as products flow in both directions, so does the transfer of funds.</a:t>
            </a:r>
            <a:endParaRPr lang="en-IN" sz="2100" i="1" dirty="0">
              <a:latin typeface="AdvP5D8B"/>
            </a:endParaRPr>
          </a:p>
        </p:txBody>
      </p:sp>
      <p:sp>
        <p:nvSpPr>
          <p:cNvPr id="6" name="Rectangle 5">
            <a:extLst>
              <a:ext uri="{FF2B5EF4-FFF2-40B4-BE49-F238E27FC236}">
                <a16:creationId xmlns:a16="http://schemas.microsoft.com/office/drawing/2014/main" id="{0752B6DA-F5CF-6DEE-810E-11B8BD9D01F2}"/>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i="1" dirty="0">
                <a:effectLst>
                  <a:outerShdw blurRad="38100" dist="38100" dir="2700000" algn="tl">
                    <a:srgbClr val="000000">
                      <a:alpha val="43137"/>
                    </a:srgbClr>
                  </a:outerShdw>
                </a:effectLst>
              </a:rPr>
              <a:t>Flow of product, information, &amp; funds through the Supply Chain</a:t>
            </a:r>
            <a:endParaRPr lang="en-IN" sz="6600" b="1" i="1" dirty="0">
              <a:effectLst>
                <a:outerShdw blurRad="38100" dist="38100" dir="2700000" algn="tl">
                  <a:srgbClr val="000000">
                    <a:alpha val="43137"/>
                  </a:srgbClr>
                </a:outerShdw>
              </a:effectLst>
            </a:endParaRPr>
          </a:p>
        </p:txBody>
      </p:sp>
      <p:pic>
        <p:nvPicPr>
          <p:cNvPr id="21" name="Picture 20">
            <a:extLst>
              <a:ext uri="{FF2B5EF4-FFF2-40B4-BE49-F238E27FC236}">
                <a16:creationId xmlns:a16="http://schemas.microsoft.com/office/drawing/2014/main" id="{283CCCDC-46EB-C4BF-9EAB-22714EE7C5F6}"/>
              </a:ext>
            </a:extLst>
          </p:cNvPr>
          <p:cNvPicPr>
            <a:picLocks noChangeAspect="1"/>
          </p:cNvPicPr>
          <p:nvPr/>
        </p:nvPicPr>
        <p:blipFill>
          <a:blip r:embed="rId2"/>
          <a:stretch>
            <a:fillRect/>
          </a:stretch>
        </p:blipFill>
        <p:spPr>
          <a:xfrm>
            <a:off x="6754761" y="2227006"/>
            <a:ext cx="5206181" cy="2964426"/>
          </a:xfrm>
          <a:prstGeom prst="rect">
            <a:avLst/>
          </a:prstGeom>
        </p:spPr>
      </p:pic>
    </p:spTree>
    <p:extLst>
      <p:ext uri="{BB962C8B-B14F-4D97-AF65-F5344CB8AC3E}">
        <p14:creationId xmlns:p14="http://schemas.microsoft.com/office/powerpoint/2010/main" val="4259765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C187E-17F7-3CCE-F594-4685992FEF27}"/>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765450CF-6052-2850-9F67-B62406615A72}"/>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i="1" dirty="0"/>
              <a:t>SCM Activities</a:t>
            </a:r>
            <a:endParaRPr lang="en-IN" sz="8000" b="1" i="1" dirty="0"/>
          </a:p>
        </p:txBody>
      </p:sp>
      <p:sp>
        <p:nvSpPr>
          <p:cNvPr id="38" name="TextBox 37">
            <a:extLst>
              <a:ext uri="{FF2B5EF4-FFF2-40B4-BE49-F238E27FC236}">
                <a16:creationId xmlns:a16="http://schemas.microsoft.com/office/drawing/2014/main" id="{09552793-F590-1DC6-1A95-2AF71D1257D2}"/>
              </a:ext>
            </a:extLst>
          </p:cNvPr>
          <p:cNvSpPr txBox="1"/>
          <p:nvPr/>
        </p:nvSpPr>
        <p:spPr>
          <a:xfrm>
            <a:off x="619432" y="1026420"/>
            <a:ext cx="11371007" cy="5516895"/>
          </a:xfrm>
          <a:prstGeom prst="rect">
            <a:avLst/>
          </a:prstGeom>
          <a:solidFill>
            <a:schemeClr val="accent4">
              <a:lumMod val="20000"/>
              <a:lumOff val="80000"/>
            </a:schemeClr>
          </a:solidFill>
        </p:spPr>
        <p:txBody>
          <a:bodyPr wrap="square">
            <a:spAutoFit/>
          </a:bodyPr>
          <a:lstStyle/>
          <a:p>
            <a:pPr algn="just">
              <a:spcAft>
                <a:spcPts val="600"/>
              </a:spcAft>
            </a:pPr>
            <a:r>
              <a:rPr lang="en-IN" sz="2250" i="1" dirty="0">
                <a:latin typeface="AdvP5D8B"/>
              </a:rPr>
              <a:t>SCM involves the </a:t>
            </a:r>
            <a:r>
              <a:rPr lang="en-US" sz="2250" i="1" dirty="0">
                <a:latin typeface="AdvP5D8B"/>
              </a:rPr>
              <a:t>coordination and management of all the activities of a supply chain and is responsible for managing the system of flows between the different entities of a supply chain in order to satisfy the final customer and maximize total supply </a:t>
            </a:r>
            <a:r>
              <a:rPr lang="en-IN" sz="2250" i="1" dirty="0">
                <a:latin typeface="AdvP5D8B"/>
              </a:rPr>
              <a:t>chain profitability. SCM activities include (</a:t>
            </a:r>
            <a:r>
              <a:rPr lang="en-IN" sz="2250" i="1" dirty="0" err="1">
                <a:latin typeface="AdvP5D8B"/>
              </a:rPr>
              <a:t>i</a:t>
            </a:r>
            <a:r>
              <a:rPr lang="en-IN" sz="2250" i="1" dirty="0">
                <a:latin typeface="AdvP5D8B"/>
              </a:rPr>
              <a:t>) </a:t>
            </a:r>
            <a:r>
              <a:rPr lang="en-IN" sz="2250" b="1" i="1" u="sng" dirty="0">
                <a:highlight>
                  <a:srgbClr val="00FFFF"/>
                </a:highlight>
                <a:latin typeface="AdvP5D8B"/>
              </a:rPr>
              <a:t>coordination</a:t>
            </a:r>
            <a:r>
              <a:rPr lang="en-IN" sz="2250" i="1" dirty="0">
                <a:latin typeface="AdvP5D8B"/>
              </a:rPr>
              <a:t>, (ii) </a:t>
            </a:r>
            <a:r>
              <a:rPr lang="en-IN" sz="2250" b="1" i="1" u="sng" dirty="0">
                <a:highlight>
                  <a:srgbClr val="00FFFF"/>
                </a:highlight>
                <a:latin typeface="AdvP5D8B"/>
              </a:rPr>
              <a:t>information sharing</a:t>
            </a:r>
            <a:r>
              <a:rPr lang="en-IN" sz="2250" i="1" dirty="0">
                <a:latin typeface="AdvP5D8B"/>
              </a:rPr>
              <a:t>, and (iii) </a:t>
            </a:r>
            <a:r>
              <a:rPr lang="en-IN" sz="2250" b="1" i="1" u="sng" dirty="0">
                <a:highlight>
                  <a:srgbClr val="00FFFF"/>
                </a:highlight>
                <a:latin typeface="AdvP5D8B"/>
              </a:rPr>
              <a:t>collaboration</a:t>
            </a:r>
            <a:r>
              <a:rPr lang="en-IN" sz="2250" i="1" dirty="0">
                <a:latin typeface="AdvP5D8B"/>
              </a:rPr>
              <a:t>.</a:t>
            </a:r>
          </a:p>
          <a:p>
            <a:pPr marL="800100" lvl="1" indent="-342900" algn="just">
              <a:spcAft>
                <a:spcPts val="600"/>
              </a:spcAft>
              <a:buFont typeface="Wingdings" panose="05000000000000000000" pitchFamily="2" charset="2"/>
              <a:buChar char="§"/>
            </a:pPr>
            <a:r>
              <a:rPr lang="en-IN" sz="2250" i="1" dirty="0">
                <a:latin typeface="AdvP5D8B"/>
              </a:rPr>
              <a:t>SCM </a:t>
            </a:r>
            <a:r>
              <a:rPr lang="en-IN" sz="2250" b="1" i="1" dirty="0">
                <a:solidFill>
                  <a:srgbClr val="0000CC"/>
                </a:solidFill>
                <a:effectLst>
                  <a:outerShdw blurRad="38100" dist="38100" dir="2700000" algn="tl">
                    <a:srgbClr val="000000">
                      <a:alpha val="43137"/>
                    </a:srgbClr>
                  </a:outerShdw>
                </a:effectLst>
                <a:latin typeface="AdvP5D8B"/>
              </a:rPr>
              <a:t>coordinates the movement of goods and services </a:t>
            </a:r>
            <a:r>
              <a:rPr lang="en-US" sz="2250" b="1" i="1" dirty="0">
                <a:solidFill>
                  <a:srgbClr val="0000CC"/>
                </a:solidFill>
                <a:effectLst>
                  <a:outerShdw blurRad="38100" dist="38100" dir="2700000" algn="tl">
                    <a:srgbClr val="000000">
                      <a:alpha val="43137"/>
                    </a:srgbClr>
                  </a:outerShdw>
                </a:effectLst>
                <a:latin typeface="AdvP5D8B"/>
              </a:rPr>
              <a:t>through the supply chain</a:t>
            </a:r>
            <a:r>
              <a:rPr lang="en-US" sz="2250" i="1" dirty="0">
                <a:latin typeface="AdvP5D8B"/>
              </a:rPr>
              <a:t>, from suppliers to manufacturers to distributors to final customers, including the movement of goods back up the supply chain as products may be returned due to defect or damage. It also coordinates </a:t>
            </a:r>
            <a:r>
              <a:rPr lang="en-IN" sz="2250" i="1" dirty="0">
                <a:latin typeface="AdvP5D8B"/>
              </a:rPr>
              <a:t>the movement of </a:t>
            </a:r>
            <a:r>
              <a:rPr lang="en-US" sz="2250" i="1" dirty="0">
                <a:latin typeface="AdvP5D8B"/>
              </a:rPr>
              <a:t>funds through the supply chain as products are purchased and sold.</a:t>
            </a:r>
          </a:p>
          <a:p>
            <a:pPr marL="800100" lvl="1" indent="-342900" algn="just">
              <a:spcAft>
                <a:spcPts val="600"/>
              </a:spcAft>
              <a:buFont typeface="Wingdings" panose="05000000000000000000" pitchFamily="2" charset="2"/>
              <a:buChar char="§"/>
            </a:pPr>
            <a:r>
              <a:rPr lang="en-US" sz="2250" i="1" dirty="0">
                <a:latin typeface="AdvP5D8B"/>
              </a:rPr>
              <a:t>SCM involves </a:t>
            </a:r>
            <a:r>
              <a:rPr lang="en-US" sz="2250" b="1" i="1" dirty="0">
                <a:solidFill>
                  <a:srgbClr val="0000CC"/>
                </a:solidFill>
                <a:effectLst>
                  <a:outerShdw blurRad="38100" dist="38100" dir="2700000" algn="tl">
                    <a:srgbClr val="000000">
                      <a:alpha val="43137"/>
                    </a:srgbClr>
                  </a:outerShdw>
                </a:effectLst>
                <a:latin typeface="AdvP5D8B"/>
              </a:rPr>
              <a:t>information sharing among members of the supply chain</a:t>
            </a:r>
            <a:r>
              <a:rPr lang="en-US" sz="2250" i="1" dirty="0">
                <a:latin typeface="AdvP5D8B"/>
              </a:rPr>
              <a:t>, including demand and sales forecasts, point-of-sale data, promotional campaigns planned, and inventory levels.</a:t>
            </a:r>
          </a:p>
          <a:p>
            <a:pPr marL="800100" lvl="1" indent="-342900" algn="just">
              <a:spcAft>
                <a:spcPts val="600"/>
              </a:spcAft>
              <a:buFont typeface="Wingdings" panose="05000000000000000000" pitchFamily="2" charset="2"/>
              <a:buChar char="§"/>
            </a:pPr>
            <a:r>
              <a:rPr lang="en-US" sz="2250" i="1" dirty="0">
                <a:latin typeface="AdvP5D8B"/>
              </a:rPr>
              <a:t>SCM involves </a:t>
            </a:r>
            <a:r>
              <a:rPr lang="en-US" sz="2250" b="1" i="1" dirty="0">
                <a:solidFill>
                  <a:srgbClr val="0000CC"/>
                </a:solidFill>
                <a:effectLst>
                  <a:outerShdw blurRad="38100" dist="38100" dir="2700000" algn="tl">
                    <a:srgbClr val="000000">
                      <a:alpha val="43137"/>
                    </a:srgbClr>
                  </a:outerShdw>
                </a:effectLst>
                <a:latin typeface="AdvP5D8B"/>
              </a:rPr>
              <a:t>collaboration between supply chain members </a:t>
            </a:r>
            <a:r>
              <a:rPr lang="en-US" sz="2250" i="1" dirty="0">
                <a:latin typeface="AdvP5D8B"/>
              </a:rPr>
              <a:t>so that they jointly plan, operate, and execute business decisions such as product design and process improvement to implement business initiatives or follow a particular </a:t>
            </a:r>
            <a:r>
              <a:rPr lang="en-IN" sz="2250" i="1" dirty="0">
                <a:latin typeface="AdvP5D8B"/>
              </a:rPr>
              <a:t>business strategy</a:t>
            </a:r>
            <a:r>
              <a:rPr lang="en-US" sz="2250" i="1" dirty="0">
                <a:latin typeface="AdvP5D8B"/>
              </a:rPr>
              <a:t>  as one entity.</a:t>
            </a:r>
            <a:endParaRPr lang="en-IN" sz="2250" i="1" dirty="0">
              <a:latin typeface="AdvP5D8B"/>
            </a:endParaRPr>
          </a:p>
        </p:txBody>
      </p:sp>
    </p:spTree>
    <p:extLst>
      <p:ext uri="{BB962C8B-B14F-4D97-AF65-F5344CB8AC3E}">
        <p14:creationId xmlns:p14="http://schemas.microsoft.com/office/powerpoint/2010/main" val="3452693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DD9B25B3-DE8F-0E12-3DD0-2139A432F905}"/>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SECTION 3</a:t>
            </a:r>
          </a:p>
        </p:txBody>
      </p:sp>
    </p:spTree>
    <p:extLst>
      <p:ext uri="{BB962C8B-B14F-4D97-AF65-F5344CB8AC3E}">
        <p14:creationId xmlns:p14="http://schemas.microsoft.com/office/powerpoint/2010/main" val="4125346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120D9-7AE6-649B-6AD9-6A2681E9F5FC}"/>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AEB74CDF-6B8D-9C8B-0B24-11952C8343A0}"/>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i="1" dirty="0"/>
              <a:t>Challenges of SCM</a:t>
            </a:r>
            <a:endParaRPr lang="en-IN" sz="8000" b="1" i="1" dirty="0"/>
          </a:p>
        </p:txBody>
      </p:sp>
      <p:sp>
        <p:nvSpPr>
          <p:cNvPr id="38" name="TextBox 37">
            <a:extLst>
              <a:ext uri="{FF2B5EF4-FFF2-40B4-BE49-F238E27FC236}">
                <a16:creationId xmlns:a16="http://schemas.microsoft.com/office/drawing/2014/main" id="{CC41CD20-A2D7-9587-CB3C-E6BBF920D391}"/>
              </a:ext>
            </a:extLst>
          </p:cNvPr>
          <p:cNvSpPr txBox="1"/>
          <p:nvPr/>
        </p:nvSpPr>
        <p:spPr>
          <a:xfrm>
            <a:off x="516196" y="1055916"/>
            <a:ext cx="11503739" cy="5416868"/>
          </a:xfrm>
          <a:prstGeom prst="rect">
            <a:avLst/>
          </a:prstGeom>
          <a:solidFill>
            <a:schemeClr val="accent4">
              <a:lumMod val="20000"/>
              <a:lumOff val="80000"/>
            </a:schemeClr>
          </a:solidFill>
        </p:spPr>
        <p:txBody>
          <a:bodyPr wrap="square">
            <a:spAutoFit/>
          </a:bodyPr>
          <a:lstStyle/>
          <a:p>
            <a:pPr marL="342900" indent="-342900" algn="just">
              <a:spcAft>
                <a:spcPts val="600"/>
              </a:spcAft>
              <a:buFont typeface="Courier New" panose="02070309020205020404" pitchFamily="49" charset="0"/>
              <a:buChar char="o"/>
            </a:pPr>
            <a:r>
              <a:rPr lang="en-IN" sz="2100" b="1" i="1" dirty="0">
                <a:highlight>
                  <a:srgbClr val="00FFFF"/>
                </a:highlight>
              </a:rPr>
              <a:t>Bullwhip effect</a:t>
            </a:r>
            <a:r>
              <a:rPr lang="en-IN" sz="2100" b="1" i="1" dirty="0">
                <a:highlight>
                  <a:srgbClr val="00FFFF"/>
                </a:highlight>
                <a:latin typeface="AdvP5D8B"/>
              </a:rPr>
              <a:t>:</a:t>
            </a:r>
            <a:r>
              <a:rPr lang="en-IN" sz="2100" b="1" i="1" dirty="0">
                <a:solidFill>
                  <a:srgbClr val="C00000"/>
                </a:solidFill>
                <a:highlight>
                  <a:srgbClr val="00FFFF"/>
                </a:highlight>
                <a:latin typeface="AdvP5D8B"/>
              </a:rPr>
              <a:t> </a:t>
            </a:r>
            <a:r>
              <a:rPr lang="en-IN" sz="2100" i="1" dirty="0"/>
              <a:t>If information sharing between different stages of the Supply Chain is delayed </a:t>
            </a:r>
            <a:r>
              <a:rPr lang="en-US" sz="2100" i="1" dirty="0"/>
              <a:t>or distorted, each stage may have a distorted (inaccurate) view of final customer demand, which results in them likely not producing the right quantities of items needed, leading to either shortages or excess inventory. Fluctuations in information increase as it moves up the supply chain, from retailers and manufacturers to suppliers (</a:t>
            </a:r>
            <a:r>
              <a:rPr lang="en-US" sz="2100" b="1" i="1" dirty="0">
                <a:solidFill>
                  <a:srgbClr val="FF0000"/>
                </a:solidFill>
                <a:effectLst>
                  <a:outerShdw blurRad="38100" dist="38100" dir="2700000" algn="tl">
                    <a:srgbClr val="000000">
                      <a:alpha val="43137"/>
                    </a:srgbClr>
                  </a:outerShdw>
                </a:effectLst>
                <a:highlight>
                  <a:srgbClr val="00FFFF"/>
                </a:highlight>
              </a:rPr>
              <a:t>from downstream to upstream</a:t>
            </a:r>
            <a:r>
              <a:rPr lang="en-US" sz="2100" i="1" dirty="0"/>
              <a:t>). As inaccurate and distorted information travels up the chain like a bullwhip uncoiling, this is called the bullwhip effect. Each stage of the chain carries progressively more inventory to compensate for the lack of information.</a:t>
            </a:r>
            <a:endParaRPr lang="en-IN" sz="2100" i="1" dirty="0"/>
          </a:p>
          <a:p>
            <a:pPr marL="342900" indent="-342900" algn="just">
              <a:spcAft>
                <a:spcPts val="600"/>
              </a:spcAft>
              <a:buFont typeface="Courier New" panose="02070309020205020404" pitchFamily="49" charset="0"/>
              <a:buChar char="o"/>
            </a:pPr>
            <a:r>
              <a:rPr lang="en-IN" sz="2100" b="1" i="1" dirty="0">
                <a:solidFill>
                  <a:srgbClr val="C00000"/>
                </a:solidFill>
                <a:latin typeface="AdvP5D8B"/>
              </a:rPr>
              <a:t> </a:t>
            </a:r>
            <a:r>
              <a:rPr lang="en-IN" sz="2100" b="1" i="1" dirty="0">
                <a:highlight>
                  <a:srgbClr val="00FFFF"/>
                </a:highlight>
              </a:rPr>
              <a:t>Ratchet effect:</a:t>
            </a:r>
            <a:r>
              <a:rPr lang="en-IN" sz="2100" b="1" i="1" dirty="0">
                <a:solidFill>
                  <a:srgbClr val="C00000"/>
                </a:solidFill>
              </a:rPr>
              <a:t> </a:t>
            </a:r>
            <a:r>
              <a:rPr lang="en-US" sz="2100" i="1" dirty="0"/>
              <a:t>The ratchet effect is an irreversible price change in which the supplier's quoted prices increase and never revert to previous levels</a:t>
            </a:r>
            <a:r>
              <a:rPr lang="en-IN" sz="2100" i="1" dirty="0"/>
              <a:t>. </a:t>
            </a:r>
            <a:r>
              <a:rPr lang="en-US" sz="2100" i="1" dirty="0"/>
              <a:t>Suppliers' opportunistic </a:t>
            </a:r>
            <a:r>
              <a:rPr lang="en-US" sz="2100" i="1" dirty="0" err="1"/>
              <a:t>behaviour</a:t>
            </a:r>
            <a:r>
              <a:rPr lang="en-US" sz="2100" i="1" dirty="0"/>
              <a:t>, i.e., the use of past information such as inventory levels, lead times, and the buyer's future demand, helps them ratchet up product prices and </a:t>
            </a:r>
            <a:r>
              <a:rPr lang="en-IN" sz="2100" i="1" dirty="0"/>
              <a:t>reap supply chain profits.</a:t>
            </a:r>
          </a:p>
          <a:p>
            <a:pPr marL="342900" indent="-342900" algn="just">
              <a:spcAft>
                <a:spcPts val="600"/>
              </a:spcAft>
              <a:buFont typeface="Courier New" panose="02070309020205020404" pitchFamily="49" charset="0"/>
              <a:buChar char="o"/>
            </a:pPr>
            <a:r>
              <a:rPr lang="en-IN" sz="2100" b="1" i="1" dirty="0">
                <a:highlight>
                  <a:srgbClr val="00FFFF"/>
                </a:highlight>
              </a:rPr>
              <a:t>Ripple effect:</a:t>
            </a:r>
            <a:r>
              <a:rPr lang="en-IN" sz="2100" b="1" i="1" dirty="0">
                <a:solidFill>
                  <a:srgbClr val="C00000"/>
                </a:solidFill>
              </a:rPr>
              <a:t> </a:t>
            </a:r>
            <a:r>
              <a:rPr lang="en-IN" sz="2100" i="1" dirty="0"/>
              <a:t>Any disruption in the initial part of the supply chain (</a:t>
            </a:r>
            <a:r>
              <a:rPr lang="en-US" sz="2100" b="1" i="1" dirty="0">
                <a:solidFill>
                  <a:srgbClr val="FF0000"/>
                </a:solidFill>
              </a:rPr>
              <a:t>the supply of raw materials from one supplier to another supplier or to the manufacturer</a:t>
            </a:r>
            <a:r>
              <a:rPr lang="en-US" sz="2100" i="1" dirty="0"/>
              <a:t>) disrupts the growing part of the whole system (the </a:t>
            </a:r>
            <a:r>
              <a:rPr lang="en-IN" sz="2100" i="1" dirty="0"/>
              <a:t>supply chain).  </a:t>
            </a:r>
            <a:r>
              <a:rPr lang="en-IN" sz="2100" b="1" i="1" dirty="0">
                <a:solidFill>
                  <a:srgbClr val="0000CC"/>
                </a:solidFill>
              </a:rPr>
              <a:t>Supply chain disruption (problems in the movement of raw materials from supplier to manufacturer) due to </a:t>
            </a:r>
            <a:r>
              <a:rPr lang="en-US" sz="2100" b="1" i="1" dirty="0">
                <a:solidFill>
                  <a:srgbClr val="0000CC"/>
                </a:solidFill>
              </a:rPr>
              <a:t>the COVID-19 pandemic is the classic example of the </a:t>
            </a:r>
            <a:r>
              <a:rPr lang="en-IN" sz="2100" b="1" i="1" dirty="0">
                <a:solidFill>
                  <a:srgbClr val="0000CC"/>
                </a:solidFill>
              </a:rPr>
              <a:t>ripple effect.</a:t>
            </a:r>
          </a:p>
        </p:txBody>
      </p:sp>
    </p:spTree>
    <p:extLst>
      <p:ext uri="{BB962C8B-B14F-4D97-AF65-F5344CB8AC3E}">
        <p14:creationId xmlns:p14="http://schemas.microsoft.com/office/powerpoint/2010/main" val="7667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39D9A-AC29-0E07-D0B7-3155CFD091B4}"/>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074C0995-96FE-4338-7F19-5B9B9474C49E}"/>
              </a:ext>
            </a:extLst>
          </p:cNvPr>
          <p:cNvSpPr txBox="1"/>
          <p:nvPr/>
        </p:nvSpPr>
        <p:spPr>
          <a:xfrm>
            <a:off x="1961535" y="1659285"/>
            <a:ext cx="9409472" cy="3108543"/>
          </a:xfrm>
          <a:prstGeom prst="rect">
            <a:avLst/>
          </a:prstGeom>
          <a:solidFill>
            <a:schemeClr val="accent4">
              <a:lumMod val="20000"/>
              <a:lumOff val="80000"/>
            </a:schemeClr>
          </a:solidFill>
        </p:spPr>
        <p:txBody>
          <a:bodyPr wrap="square">
            <a:spAutoFit/>
          </a:bodyPr>
          <a:lstStyle/>
          <a:p>
            <a:pPr algn="just"/>
            <a:r>
              <a:rPr lang="en-US" sz="2800" i="1" dirty="0"/>
              <a:t>Proctor &amp; Gamble (P&amp;G), in the supply chain of its Pampers diapers, discovered that even when demand for diapers was stable at the retail store level, orders for diapers from P&amp;G fluctuated significantly. Even greater fluctuation was observed in orders for raw materials from suppliers over time. Although consumption of the final product was stable, orders for raw materials were highly variable.</a:t>
            </a:r>
            <a:endParaRPr lang="en-IN" sz="2800" b="1" i="1" dirty="0">
              <a:solidFill>
                <a:srgbClr val="C00000"/>
              </a:solidFill>
            </a:endParaRPr>
          </a:p>
        </p:txBody>
      </p:sp>
      <p:sp>
        <p:nvSpPr>
          <p:cNvPr id="2" name="Rectangle 1">
            <a:extLst>
              <a:ext uri="{FF2B5EF4-FFF2-40B4-BE49-F238E27FC236}">
                <a16:creationId xmlns:a16="http://schemas.microsoft.com/office/drawing/2014/main" id="{99307CE1-4B78-9EDF-A685-AEE792C5890B}"/>
              </a:ext>
            </a:extLst>
          </p:cNvPr>
          <p:cNvSpPr/>
          <p:nvPr/>
        </p:nvSpPr>
        <p:spPr>
          <a:xfrm>
            <a:off x="3082414" y="0"/>
            <a:ext cx="6946489"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i="1" dirty="0">
                <a:solidFill>
                  <a:schemeClr val="tx1"/>
                </a:solidFill>
                <a:highlight>
                  <a:srgbClr val="FFFF00"/>
                </a:highlight>
                <a:latin typeface="Algerian" panose="04020705040A02060702" pitchFamily="82" charset="0"/>
              </a:rPr>
              <a:t>“Bullwhip effect”</a:t>
            </a:r>
          </a:p>
        </p:txBody>
      </p:sp>
      <p:pic>
        <p:nvPicPr>
          <p:cNvPr id="3" name="Picture 2" descr="Pampers Logo :: Behance">
            <a:extLst>
              <a:ext uri="{FF2B5EF4-FFF2-40B4-BE49-F238E27FC236}">
                <a16:creationId xmlns:a16="http://schemas.microsoft.com/office/drawing/2014/main" id="{248CBAF5-622B-9579-0E96-D8F4153D0627}"/>
              </a:ext>
            </a:extLst>
          </p:cNvPr>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028903" y="-4822"/>
            <a:ext cx="2163097" cy="960680"/>
          </a:xfrm>
          <a:prstGeom prst="rect">
            <a:avLst/>
          </a:prstGeom>
          <a:noFill/>
          <a:ln w="28575">
            <a:solidFill>
              <a:srgbClr val="FFFF00"/>
            </a:solidFill>
          </a:ln>
          <a:extLst>
            <a:ext uri="{909E8E84-426E-40DD-AFC4-6F175D3DCCD1}">
              <a14:hiddenFill xmlns:a14="http://schemas.microsoft.com/office/drawing/2010/main">
                <a:solidFill>
                  <a:srgbClr val="FFFFFF"/>
                </a:solidFill>
              </a14:hiddenFill>
            </a:ext>
          </a:extLst>
        </p:spPr>
      </p:pic>
      <p:pic>
        <p:nvPicPr>
          <p:cNvPr id="1038" name="Picture 14" descr="Procter &amp; Gamble Business Model |">
            <a:extLst>
              <a:ext uri="{FF2B5EF4-FFF2-40B4-BE49-F238E27FC236}">
                <a16:creationId xmlns:a16="http://schemas.microsoft.com/office/drawing/2014/main" id="{81B0531F-650A-5D86-6D6B-362A6A05C867}"/>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1444" y="-4822"/>
            <a:ext cx="2580970" cy="960680"/>
          </a:xfrm>
          <a:prstGeom prst="rect">
            <a:avLst/>
          </a:prstGeom>
          <a:noFill/>
          <a:ln w="28575">
            <a:solidFill>
              <a:srgbClr val="FFFF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916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916D3EC-7440-C3AF-C12D-4CFB9E96A129}"/>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SECTION 4</a:t>
            </a:r>
          </a:p>
        </p:txBody>
      </p:sp>
    </p:spTree>
    <p:extLst>
      <p:ext uri="{BB962C8B-B14F-4D97-AF65-F5344CB8AC3E}">
        <p14:creationId xmlns:p14="http://schemas.microsoft.com/office/powerpoint/2010/main" val="2890815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F0594-3A2C-A9A5-328D-67F66FE0DAD4}"/>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D03B671F-DD07-A74F-A8AF-A3BDD66669C4}"/>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i="1" dirty="0"/>
              <a:t>Boundary-Spanning Nature of SCM</a:t>
            </a:r>
            <a:endParaRPr lang="en-IN" sz="8000" b="1" i="1" dirty="0"/>
          </a:p>
        </p:txBody>
      </p:sp>
      <p:sp>
        <p:nvSpPr>
          <p:cNvPr id="38" name="TextBox 37">
            <a:extLst>
              <a:ext uri="{FF2B5EF4-FFF2-40B4-BE49-F238E27FC236}">
                <a16:creationId xmlns:a16="http://schemas.microsoft.com/office/drawing/2014/main" id="{23B7E111-A896-EACD-E176-B9D870339478}"/>
              </a:ext>
            </a:extLst>
          </p:cNvPr>
          <p:cNvSpPr txBox="1"/>
          <p:nvPr/>
        </p:nvSpPr>
        <p:spPr>
          <a:xfrm>
            <a:off x="766916" y="1270397"/>
            <a:ext cx="11208775" cy="3108543"/>
          </a:xfrm>
          <a:prstGeom prst="rect">
            <a:avLst/>
          </a:prstGeom>
          <a:solidFill>
            <a:schemeClr val="accent4">
              <a:lumMod val="20000"/>
              <a:lumOff val="80000"/>
            </a:schemeClr>
          </a:solidFill>
        </p:spPr>
        <p:txBody>
          <a:bodyPr wrap="square">
            <a:spAutoFit/>
          </a:bodyPr>
          <a:lstStyle/>
          <a:p>
            <a:pPr algn="just"/>
            <a:r>
              <a:rPr lang="en-IN" sz="2800" i="1" dirty="0">
                <a:latin typeface="AdvP5D8B"/>
              </a:rPr>
              <a:t>B</a:t>
            </a:r>
            <a:r>
              <a:rPr lang="en-IN" sz="2800" b="0" i="1" u="none" strike="noStrike" baseline="0" dirty="0">
                <a:latin typeface="AdvP5D8B"/>
              </a:rPr>
              <a:t>oundary-spanning nature of SCM involves </a:t>
            </a:r>
            <a:r>
              <a:rPr lang="en-US" sz="2800" b="1" i="1" dirty="0">
                <a:solidFill>
                  <a:srgbClr val="0000CC"/>
                </a:solidFill>
                <a:effectLst>
                  <a:outerShdw blurRad="38100" dist="38100" dir="2700000" algn="tl">
                    <a:srgbClr val="000000">
                      <a:alpha val="43137"/>
                    </a:srgbClr>
                  </a:outerShdw>
                </a:effectLst>
              </a:rPr>
              <a:t>integrating both functions and processes within the enterprise </a:t>
            </a:r>
            <a:r>
              <a:rPr lang="en-US" sz="2800" i="1" dirty="0"/>
              <a:t>(</a:t>
            </a:r>
            <a:r>
              <a:rPr lang="en-US" sz="2800" b="1" i="1" u="sng" dirty="0">
                <a:highlight>
                  <a:srgbClr val="FFFF00"/>
                </a:highlight>
              </a:rPr>
              <a:t>intra-</a:t>
            </a:r>
            <a:r>
              <a:rPr lang="en-US" sz="2800" b="1" i="1" u="sng" dirty="0" err="1">
                <a:highlight>
                  <a:srgbClr val="FFFF00"/>
                </a:highlight>
              </a:rPr>
              <a:t>organisational</a:t>
            </a:r>
            <a:r>
              <a:rPr lang="en-US" sz="2800" b="1" i="1" u="sng" dirty="0">
                <a:highlight>
                  <a:srgbClr val="FFFF00"/>
                </a:highlight>
              </a:rPr>
              <a:t> coordination</a:t>
            </a:r>
            <a:r>
              <a:rPr lang="en-US" sz="2800" i="1" dirty="0"/>
              <a:t>) and </a:t>
            </a:r>
            <a:r>
              <a:rPr lang="en-US" sz="2800" b="1" i="1" dirty="0">
                <a:solidFill>
                  <a:srgbClr val="0000CC"/>
                </a:solidFill>
                <a:effectLst>
                  <a:outerShdw blurRad="38100" dist="38100" dir="2700000" algn="tl">
                    <a:srgbClr val="000000">
                      <a:alpha val="43137"/>
                    </a:srgbClr>
                  </a:outerShdw>
                </a:effectLst>
              </a:rPr>
              <a:t>across enterprises</a:t>
            </a:r>
            <a:r>
              <a:rPr lang="en-US" sz="2800" i="1" dirty="0"/>
              <a:t> in the supply chain (</a:t>
            </a:r>
            <a:r>
              <a:rPr lang="en-IN" sz="2800" b="1" i="1" u="sng" dirty="0">
                <a:highlight>
                  <a:srgbClr val="00FFFF"/>
                </a:highlight>
              </a:rPr>
              <a:t>cross-enterprise coordination</a:t>
            </a:r>
            <a:r>
              <a:rPr lang="en-US" sz="2800" i="1" dirty="0"/>
              <a:t>). </a:t>
            </a:r>
          </a:p>
          <a:p>
            <a:pPr algn="just"/>
            <a:endParaRPr lang="en-US" sz="2800" i="1" dirty="0"/>
          </a:p>
          <a:p>
            <a:pPr algn="just"/>
            <a:r>
              <a:rPr lang="en-US" sz="2800" i="1" dirty="0"/>
              <a:t>As SCM crosses the boundaries of individual firms and integrates business functions and processes across enterprises, thus, the Supply Chain functions as an extended enterprise</a:t>
            </a:r>
            <a:r>
              <a:rPr lang="en-IN" sz="2800" i="1" dirty="0"/>
              <a:t>.</a:t>
            </a:r>
            <a:endParaRPr lang="en-US" sz="2800" i="1" dirty="0"/>
          </a:p>
        </p:txBody>
      </p:sp>
    </p:spTree>
    <p:extLst>
      <p:ext uri="{BB962C8B-B14F-4D97-AF65-F5344CB8AC3E}">
        <p14:creationId xmlns:p14="http://schemas.microsoft.com/office/powerpoint/2010/main" val="1357010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AA119-AF2D-1377-26C4-80D4093CB8CF}"/>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685698E-9C36-9896-EDFA-17E969CF28E2}"/>
              </a:ext>
            </a:extLst>
          </p:cNvPr>
          <p:cNvPicPr>
            <a:picLocks noChangeAspect="1"/>
          </p:cNvPicPr>
          <p:nvPr/>
        </p:nvPicPr>
        <p:blipFill>
          <a:blip r:embed="rId2"/>
          <a:stretch>
            <a:fillRect/>
          </a:stretch>
        </p:blipFill>
        <p:spPr>
          <a:xfrm>
            <a:off x="550607" y="1471089"/>
            <a:ext cx="7015315" cy="4968173"/>
          </a:xfrm>
          <a:prstGeom prst="rect">
            <a:avLst/>
          </a:prstGeom>
        </p:spPr>
      </p:pic>
      <p:sp>
        <p:nvSpPr>
          <p:cNvPr id="2" name="Rectangle 1">
            <a:extLst>
              <a:ext uri="{FF2B5EF4-FFF2-40B4-BE49-F238E27FC236}">
                <a16:creationId xmlns:a16="http://schemas.microsoft.com/office/drawing/2014/main" id="{37C631CC-333C-EC76-C724-940AB5BD83A5}"/>
              </a:ext>
            </a:extLst>
          </p:cNvPr>
          <p:cNvSpPr/>
          <p:nvPr/>
        </p:nvSpPr>
        <p:spPr>
          <a:xfrm>
            <a:off x="0" y="0"/>
            <a:ext cx="12192000" cy="113562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i="1" dirty="0"/>
              <a:t>Boundary-Spanning Nature of SCM</a:t>
            </a:r>
          </a:p>
          <a:p>
            <a:pPr algn="ctr"/>
            <a:r>
              <a:rPr lang="en-US" sz="3200" b="1" i="1" u="sng" dirty="0">
                <a:solidFill>
                  <a:srgbClr val="FFFF00"/>
                </a:solidFill>
              </a:rPr>
              <a:t>(Intra-</a:t>
            </a:r>
            <a:r>
              <a:rPr lang="en-US" sz="3200" b="1" i="1" u="sng" dirty="0" err="1">
                <a:solidFill>
                  <a:srgbClr val="FFFF00"/>
                </a:solidFill>
              </a:rPr>
              <a:t>organisational</a:t>
            </a:r>
            <a:r>
              <a:rPr lang="en-US" sz="3200" b="1" i="1" u="sng" dirty="0">
                <a:solidFill>
                  <a:srgbClr val="FFFF00"/>
                </a:solidFill>
              </a:rPr>
              <a:t> integration/coordination)</a:t>
            </a:r>
            <a:endParaRPr lang="en-IN" sz="3200" b="1" i="1" dirty="0">
              <a:solidFill>
                <a:srgbClr val="FFFF00"/>
              </a:solidFill>
            </a:endParaRPr>
          </a:p>
        </p:txBody>
      </p:sp>
      <p:sp>
        <p:nvSpPr>
          <p:cNvPr id="3" name="TextBox 2">
            <a:extLst>
              <a:ext uri="{FF2B5EF4-FFF2-40B4-BE49-F238E27FC236}">
                <a16:creationId xmlns:a16="http://schemas.microsoft.com/office/drawing/2014/main" id="{3213229E-A253-19EC-2577-3AC54B4A7180}"/>
              </a:ext>
            </a:extLst>
          </p:cNvPr>
          <p:cNvSpPr txBox="1"/>
          <p:nvPr/>
        </p:nvSpPr>
        <p:spPr>
          <a:xfrm>
            <a:off x="7285703" y="2185461"/>
            <a:ext cx="4734233" cy="3539430"/>
          </a:xfrm>
          <a:prstGeom prst="rect">
            <a:avLst/>
          </a:prstGeom>
          <a:solidFill>
            <a:schemeClr val="accent4">
              <a:lumMod val="20000"/>
              <a:lumOff val="80000"/>
            </a:schemeClr>
          </a:solidFill>
        </p:spPr>
        <p:txBody>
          <a:bodyPr wrap="square">
            <a:spAutoFit/>
          </a:bodyPr>
          <a:lstStyle/>
          <a:p>
            <a:pPr algn="ctr"/>
            <a:r>
              <a:rPr lang="en-IN" sz="2800" i="1" dirty="0">
                <a:latin typeface="AdvP5D8B"/>
              </a:rPr>
              <a:t>Intra-organisational integration</a:t>
            </a:r>
            <a:r>
              <a:rPr lang="en-US" sz="2800" i="1" dirty="0">
                <a:latin typeface="AdvP5D8B"/>
              </a:rPr>
              <a:t>/coordination involves the participation and coordination of activities across different </a:t>
            </a:r>
            <a:r>
              <a:rPr lang="en-US" sz="2800" i="1" dirty="0" err="1">
                <a:latin typeface="AdvP5D8B"/>
              </a:rPr>
              <a:t>organisational</a:t>
            </a:r>
            <a:r>
              <a:rPr lang="en-US" sz="2800" i="1" dirty="0">
                <a:latin typeface="AdvP5D8B"/>
              </a:rPr>
              <a:t> functions,</a:t>
            </a:r>
            <a:r>
              <a:rPr lang="en-IN" sz="2800" i="1" dirty="0"/>
              <a:t> such as </a:t>
            </a:r>
            <a:r>
              <a:rPr lang="en-IN" sz="2800" b="1" i="1" u="sng" dirty="0">
                <a:solidFill>
                  <a:srgbClr val="0000CC"/>
                </a:solidFill>
              </a:rPr>
              <a:t>sourcing, operations, marketing, and logistics</a:t>
            </a:r>
            <a:r>
              <a:rPr lang="en-IN" sz="2800" b="1" i="1" dirty="0">
                <a:solidFill>
                  <a:srgbClr val="0000CC"/>
                </a:solidFill>
              </a:rPr>
              <a:t>.</a:t>
            </a:r>
          </a:p>
        </p:txBody>
      </p:sp>
    </p:spTree>
    <p:extLst>
      <p:ext uri="{BB962C8B-B14F-4D97-AF65-F5344CB8AC3E}">
        <p14:creationId xmlns:p14="http://schemas.microsoft.com/office/powerpoint/2010/main" val="3731078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E3EBE-005F-AB45-4D44-66AE9A2916A3}"/>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5A067C63-692C-BD31-43DF-BBADF049A6CC}"/>
              </a:ext>
            </a:extLst>
          </p:cNvPr>
          <p:cNvPicPr>
            <a:picLocks noChangeAspect="1"/>
          </p:cNvPicPr>
          <p:nvPr/>
        </p:nvPicPr>
        <p:blipFill>
          <a:blip r:embed="rId2"/>
          <a:stretch>
            <a:fillRect/>
          </a:stretch>
        </p:blipFill>
        <p:spPr>
          <a:xfrm>
            <a:off x="644016" y="1954915"/>
            <a:ext cx="4624055" cy="3605227"/>
          </a:xfrm>
          <a:prstGeom prst="rect">
            <a:avLst/>
          </a:prstGeom>
        </p:spPr>
      </p:pic>
      <p:sp>
        <p:nvSpPr>
          <p:cNvPr id="2" name="Rectangle 1">
            <a:extLst>
              <a:ext uri="{FF2B5EF4-FFF2-40B4-BE49-F238E27FC236}">
                <a16:creationId xmlns:a16="http://schemas.microsoft.com/office/drawing/2014/main" id="{0026AF48-8EAA-E80F-230C-F84E44A033C9}"/>
              </a:ext>
            </a:extLst>
          </p:cNvPr>
          <p:cNvSpPr/>
          <p:nvPr/>
        </p:nvSpPr>
        <p:spPr>
          <a:xfrm>
            <a:off x="0" y="0"/>
            <a:ext cx="12192000" cy="1016007"/>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t>Boundary-Spanning Nature of SCM</a:t>
            </a:r>
          </a:p>
          <a:p>
            <a:pPr algn="ctr"/>
            <a:r>
              <a:rPr lang="en-US" sz="2800" b="1" i="1" u="sng" dirty="0">
                <a:solidFill>
                  <a:srgbClr val="FFFF00"/>
                </a:solidFill>
              </a:rPr>
              <a:t>(Intra-</a:t>
            </a:r>
            <a:r>
              <a:rPr lang="en-US" sz="2800" b="1" i="1" u="sng" dirty="0" err="1">
                <a:solidFill>
                  <a:srgbClr val="FFFF00"/>
                </a:solidFill>
              </a:rPr>
              <a:t>organisational</a:t>
            </a:r>
            <a:r>
              <a:rPr lang="en-US" sz="2800" b="1" i="1" u="sng" dirty="0">
                <a:solidFill>
                  <a:srgbClr val="FFFF00"/>
                </a:solidFill>
              </a:rPr>
              <a:t> integration/coordination)</a:t>
            </a:r>
            <a:endParaRPr lang="en-IN" sz="2800" b="1" i="1" dirty="0">
              <a:solidFill>
                <a:srgbClr val="FFFF00"/>
              </a:solidFill>
            </a:endParaRPr>
          </a:p>
        </p:txBody>
      </p:sp>
      <p:sp>
        <p:nvSpPr>
          <p:cNvPr id="3" name="TextBox 2">
            <a:extLst>
              <a:ext uri="{FF2B5EF4-FFF2-40B4-BE49-F238E27FC236}">
                <a16:creationId xmlns:a16="http://schemas.microsoft.com/office/drawing/2014/main" id="{D0F60853-9B98-82CE-B921-1D11A3D44962}"/>
              </a:ext>
            </a:extLst>
          </p:cNvPr>
          <p:cNvSpPr txBox="1"/>
          <p:nvPr/>
        </p:nvSpPr>
        <p:spPr>
          <a:xfrm>
            <a:off x="5223827" y="1150375"/>
            <a:ext cx="6725264" cy="5586145"/>
          </a:xfrm>
          <a:prstGeom prst="rect">
            <a:avLst/>
          </a:prstGeom>
          <a:solidFill>
            <a:schemeClr val="accent4">
              <a:lumMod val="20000"/>
              <a:lumOff val="80000"/>
            </a:schemeClr>
          </a:solidFill>
        </p:spPr>
        <p:txBody>
          <a:bodyPr wrap="square">
            <a:spAutoFit/>
          </a:bodyPr>
          <a:lstStyle/>
          <a:p>
            <a:pPr algn="just">
              <a:spcAft>
                <a:spcPts val="600"/>
              </a:spcAft>
            </a:pPr>
            <a:r>
              <a:rPr lang="en-US" sz="1900" b="1" i="1" u="sng" dirty="0">
                <a:highlight>
                  <a:srgbClr val="00FFFF"/>
                </a:highlight>
              </a:rPr>
              <a:t>Sourcing:</a:t>
            </a:r>
            <a:r>
              <a:rPr lang="en-US" sz="1900" i="1" dirty="0"/>
              <a:t> Function of the enterprise responsible for linking the </a:t>
            </a:r>
            <a:r>
              <a:rPr lang="en-US" sz="1900" i="1" dirty="0" err="1"/>
              <a:t>organisation</a:t>
            </a:r>
            <a:r>
              <a:rPr lang="en-US" sz="1900" i="1" dirty="0"/>
              <a:t> to its suppliers and ensuring an efficient supply of materials. </a:t>
            </a:r>
            <a:r>
              <a:rPr lang="en-US" sz="1900" b="1" i="1" dirty="0">
                <a:solidFill>
                  <a:srgbClr val="0000CC"/>
                </a:solidFill>
              </a:rPr>
              <a:t>Thus, sourcing focuses on the supply side of the organization.</a:t>
            </a:r>
          </a:p>
          <a:p>
            <a:pPr algn="just">
              <a:spcAft>
                <a:spcPts val="600"/>
              </a:spcAft>
            </a:pPr>
            <a:r>
              <a:rPr lang="en-IN" sz="1900" b="1" i="1" u="sng" dirty="0">
                <a:highlight>
                  <a:srgbClr val="00FFFF"/>
                </a:highlight>
              </a:rPr>
              <a:t>Operation:</a:t>
            </a:r>
            <a:r>
              <a:rPr lang="en-IN" sz="1900" i="1" dirty="0"/>
              <a:t> Function of the enterprise </a:t>
            </a:r>
            <a:r>
              <a:rPr lang="en-US" sz="1900" i="1" dirty="0" err="1"/>
              <a:t>organises</a:t>
            </a:r>
            <a:r>
              <a:rPr lang="en-US" sz="1900" i="1" dirty="0"/>
              <a:t> the transformation of raw materials into finished products and ensures that the exact products customers want are produced efficiently and cost-effectively.</a:t>
            </a:r>
          </a:p>
          <a:p>
            <a:pPr algn="just">
              <a:spcAft>
                <a:spcPts val="600"/>
              </a:spcAft>
            </a:pPr>
            <a:r>
              <a:rPr lang="en-US" sz="1900" b="1" i="1" u="sng" dirty="0">
                <a:highlight>
                  <a:srgbClr val="00FFFF"/>
                </a:highlight>
              </a:rPr>
              <a:t>Marketing:</a:t>
            </a:r>
            <a:r>
              <a:rPr lang="en-US" sz="1900" i="1" dirty="0"/>
              <a:t> Function of the enterprise is responsible for linking the </a:t>
            </a:r>
            <a:r>
              <a:rPr lang="en-US" sz="1900" i="1" dirty="0" err="1"/>
              <a:t>organisation</a:t>
            </a:r>
            <a:r>
              <a:rPr lang="en-US" sz="1900" i="1" dirty="0"/>
              <a:t> to its customers and identifying what customers want in products and services. </a:t>
            </a:r>
            <a:r>
              <a:rPr lang="en-US" sz="1900" b="1" i="1" dirty="0">
                <a:solidFill>
                  <a:srgbClr val="0000CC"/>
                </a:solidFill>
              </a:rPr>
              <a:t>Thus, marketing focuses on the customer </a:t>
            </a:r>
            <a:r>
              <a:rPr lang="en-IN" sz="1900" b="1" i="1" dirty="0">
                <a:solidFill>
                  <a:srgbClr val="0000CC"/>
                </a:solidFill>
              </a:rPr>
              <a:t>side of the organization.</a:t>
            </a:r>
            <a:endParaRPr lang="en-US" sz="1900" b="1" i="1" dirty="0">
              <a:solidFill>
                <a:srgbClr val="0000CC"/>
              </a:solidFill>
            </a:endParaRPr>
          </a:p>
          <a:p>
            <a:pPr algn="just">
              <a:spcAft>
                <a:spcPts val="600"/>
              </a:spcAft>
            </a:pPr>
            <a:r>
              <a:rPr lang="en-IN" sz="1900" b="1" i="1" u="sng" dirty="0">
                <a:highlight>
                  <a:srgbClr val="00FFFF"/>
                </a:highlight>
              </a:rPr>
              <a:t>Logistics:</a:t>
            </a:r>
            <a:r>
              <a:rPr lang="en-IN" sz="1900" i="1" dirty="0"/>
              <a:t> Function of the enterprise involve</a:t>
            </a:r>
            <a:r>
              <a:rPr lang="en-US" sz="1900" i="1" dirty="0"/>
              <a:t> moving and positioning inventory throughout the supply chain, which includes order processing and tracking, inventory management, transportation, warehousing, material handling, and packaging and ensures that the right products are delivered to the right place at the right </a:t>
            </a:r>
            <a:r>
              <a:rPr lang="en-IN" sz="1900" i="1" dirty="0"/>
              <a:t>time.</a:t>
            </a:r>
          </a:p>
        </p:txBody>
      </p:sp>
    </p:spTree>
    <p:extLst>
      <p:ext uri="{BB962C8B-B14F-4D97-AF65-F5344CB8AC3E}">
        <p14:creationId xmlns:p14="http://schemas.microsoft.com/office/powerpoint/2010/main" val="809553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9C034-F12E-56D2-F730-FD22F3421B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C48016-0CC2-5DA8-5BD1-EF390760D6A9}"/>
              </a:ext>
            </a:extLst>
          </p:cNvPr>
          <p:cNvSpPr/>
          <p:nvPr/>
        </p:nvSpPr>
        <p:spPr>
          <a:xfrm>
            <a:off x="0" y="0"/>
            <a:ext cx="12192000" cy="1016007"/>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t>Boundary-Spanning Nature of SCM</a:t>
            </a:r>
          </a:p>
          <a:p>
            <a:pPr algn="ctr"/>
            <a:r>
              <a:rPr lang="en-US" sz="2800" b="1" i="1" u="sng" dirty="0">
                <a:solidFill>
                  <a:srgbClr val="FFFF00"/>
                </a:solidFill>
              </a:rPr>
              <a:t>(Cross enterprise integration/coordination)</a:t>
            </a:r>
            <a:endParaRPr lang="en-IN" sz="2800" b="1" i="1" dirty="0">
              <a:solidFill>
                <a:srgbClr val="FFFF00"/>
              </a:solidFill>
            </a:endParaRPr>
          </a:p>
        </p:txBody>
      </p:sp>
      <p:sp>
        <p:nvSpPr>
          <p:cNvPr id="3" name="TextBox 2">
            <a:extLst>
              <a:ext uri="{FF2B5EF4-FFF2-40B4-BE49-F238E27FC236}">
                <a16:creationId xmlns:a16="http://schemas.microsoft.com/office/drawing/2014/main" id="{2E63C98C-090F-27A6-180B-FE0D4E1DA829}"/>
              </a:ext>
            </a:extLst>
          </p:cNvPr>
          <p:cNvSpPr txBox="1"/>
          <p:nvPr/>
        </p:nvSpPr>
        <p:spPr>
          <a:xfrm>
            <a:off x="1047135" y="1681608"/>
            <a:ext cx="10486103" cy="3970318"/>
          </a:xfrm>
          <a:prstGeom prst="rect">
            <a:avLst/>
          </a:prstGeom>
          <a:solidFill>
            <a:schemeClr val="accent4">
              <a:lumMod val="20000"/>
              <a:lumOff val="80000"/>
            </a:schemeClr>
          </a:solidFill>
        </p:spPr>
        <p:txBody>
          <a:bodyPr wrap="square">
            <a:spAutoFit/>
          </a:bodyPr>
          <a:lstStyle/>
          <a:p>
            <a:pPr algn="just">
              <a:spcAft>
                <a:spcPts val="1200"/>
              </a:spcAft>
            </a:pPr>
            <a:r>
              <a:rPr lang="en-IN" sz="3600" i="1" dirty="0"/>
              <a:t>Cross-enterprise integration/coordination involves </a:t>
            </a:r>
            <a:r>
              <a:rPr lang="en-IN" sz="3600" b="1" i="1" dirty="0">
                <a:solidFill>
                  <a:srgbClr val="0000CC"/>
                </a:solidFill>
                <a:effectLst>
                  <a:outerShdw blurRad="38100" dist="38100" dir="2700000" algn="tl">
                    <a:srgbClr val="000000">
                      <a:alpha val="43137"/>
                    </a:srgbClr>
                  </a:outerShdw>
                </a:effectLst>
              </a:rPr>
              <a:t>connecting several organisations through partnerships, alliances, and collaboration </a:t>
            </a:r>
            <a:r>
              <a:rPr lang="en-IN" sz="3600" i="1" dirty="0"/>
              <a:t>so that the supply chain </a:t>
            </a:r>
            <a:r>
              <a:rPr lang="en-US" sz="3600" i="1" dirty="0"/>
              <a:t>functions as a single </a:t>
            </a:r>
            <a:r>
              <a:rPr lang="en-US" sz="3600" i="1" dirty="0" err="1"/>
              <a:t>organisation</a:t>
            </a:r>
            <a:r>
              <a:rPr lang="en-US" sz="3600" i="1" dirty="0"/>
              <a:t> to satisfy the needs</a:t>
            </a:r>
            <a:r>
              <a:rPr lang="en-IN" sz="3600" i="1" dirty="0"/>
              <a:t> of the final customer. Achieving </a:t>
            </a:r>
            <a:r>
              <a:rPr lang="en-US" sz="3600" i="1" dirty="0"/>
              <a:t>full cross-enterprise integration requires sharing risks and rewards among all the enterprises.</a:t>
            </a:r>
          </a:p>
        </p:txBody>
      </p:sp>
    </p:spTree>
    <p:extLst>
      <p:ext uri="{BB962C8B-B14F-4D97-AF65-F5344CB8AC3E}">
        <p14:creationId xmlns:p14="http://schemas.microsoft.com/office/powerpoint/2010/main" val="1885328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59D7-E1B3-C0E7-431F-37684595C0A0}"/>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4C6F61EE-6998-C903-D3CF-684298B48B46}"/>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SCM vs. Logistics</a:t>
            </a:r>
          </a:p>
        </p:txBody>
      </p:sp>
      <p:sp>
        <p:nvSpPr>
          <p:cNvPr id="3" name="TextBox 2">
            <a:extLst>
              <a:ext uri="{FF2B5EF4-FFF2-40B4-BE49-F238E27FC236}">
                <a16:creationId xmlns:a16="http://schemas.microsoft.com/office/drawing/2014/main" id="{C90C5F02-5E73-3337-A316-90568C737EBA}"/>
              </a:ext>
            </a:extLst>
          </p:cNvPr>
          <p:cNvSpPr txBox="1"/>
          <p:nvPr/>
        </p:nvSpPr>
        <p:spPr>
          <a:xfrm>
            <a:off x="648928" y="1004194"/>
            <a:ext cx="11326761" cy="3801041"/>
          </a:xfrm>
          <a:prstGeom prst="rect">
            <a:avLst/>
          </a:prstGeom>
          <a:noFill/>
        </p:spPr>
        <p:txBody>
          <a:bodyPr wrap="square">
            <a:spAutoFit/>
          </a:bodyPr>
          <a:lstStyle/>
          <a:p>
            <a:pPr algn="just">
              <a:spcAft>
                <a:spcPts val="1200"/>
              </a:spcAft>
            </a:pPr>
            <a:r>
              <a:rPr lang="en-US" sz="2100" b="1" i="1" u="none" strike="noStrike" kern="1200" baseline="0" dirty="0">
                <a:highlight>
                  <a:srgbClr val="00FFFF"/>
                </a:highlight>
                <a:latin typeface="+mn-lt"/>
                <a:ea typeface="+mn-ea"/>
                <a:cs typeface="+mn-cs"/>
              </a:rPr>
              <a:t>SCM:</a:t>
            </a:r>
            <a:r>
              <a:rPr lang="en-US" sz="2100" i="1" u="none" strike="noStrike" kern="1200" baseline="0" dirty="0">
                <a:latin typeface="+mn-lt"/>
                <a:ea typeface="+mn-ea"/>
                <a:cs typeface="+mn-cs"/>
              </a:rPr>
              <a:t> The </a:t>
            </a:r>
            <a:r>
              <a:rPr lang="en-US" sz="2100" i="1" u="none" strike="noStrike" kern="1200" baseline="0" dirty="0">
                <a:effectLst>
                  <a:outerShdw blurRad="38100" dist="38100" dir="2700000" algn="tl">
                    <a:srgbClr val="000000">
                      <a:alpha val="43137"/>
                    </a:srgbClr>
                  </a:outerShdw>
                </a:effectLst>
                <a:highlight>
                  <a:srgbClr val="FFFF00"/>
                </a:highlight>
                <a:latin typeface="+mn-lt"/>
                <a:ea typeface="+mn-ea"/>
                <a:cs typeface="+mn-cs"/>
              </a:rPr>
              <a:t>design and management of flows of products, information, and funds throughout the supply chain</a:t>
            </a:r>
            <a:r>
              <a:rPr lang="en-US" sz="2100" i="1" u="none" strike="noStrike" kern="1200" baseline="0" dirty="0">
                <a:latin typeface="+mn-lt"/>
                <a:ea typeface="+mn-ea"/>
                <a:cs typeface="+mn-cs"/>
              </a:rPr>
              <a:t>. It </a:t>
            </a:r>
            <a:r>
              <a:rPr lang="en-IN" sz="2100" i="1" dirty="0"/>
              <a:t>is about the </a:t>
            </a:r>
            <a:r>
              <a:rPr lang="en-IN" sz="2100" b="1" i="1" dirty="0">
                <a:solidFill>
                  <a:srgbClr val="0000CC"/>
                </a:solidFill>
                <a:effectLst>
                  <a:outerShdw blurRad="38100" dist="38100" dir="2700000" algn="tl">
                    <a:srgbClr val="000000">
                      <a:alpha val="43137"/>
                    </a:srgbClr>
                  </a:outerShdw>
                </a:effectLst>
              </a:rPr>
              <a:t>collaboration </a:t>
            </a:r>
            <a:r>
              <a:rPr lang="en-US" sz="2100" b="1" i="1" dirty="0">
                <a:solidFill>
                  <a:srgbClr val="0000CC"/>
                </a:solidFill>
                <a:effectLst>
                  <a:outerShdw blurRad="38100" dist="38100" dir="2700000" algn="tl">
                    <a:srgbClr val="000000">
                      <a:alpha val="43137"/>
                    </a:srgbClr>
                  </a:outerShdw>
                </a:effectLst>
              </a:rPr>
              <a:t>between supply chain partners </a:t>
            </a:r>
            <a:r>
              <a:rPr lang="en-US" sz="2100" i="1" dirty="0"/>
              <a:t>(suppliers, manufacturers, distributors, retailers) in a strategic effort to achieve superior </a:t>
            </a:r>
            <a:r>
              <a:rPr lang="en-IN" sz="2100" i="1" dirty="0"/>
              <a:t>competitiveness.</a:t>
            </a:r>
          </a:p>
          <a:p>
            <a:pPr algn="just">
              <a:spcAft>
                <a:spcPts val="1200"/>
              </a:spcAft>
            </a:pPr>
            <a:r>
              <a:rPr lang="en-IN" sz="2100" b="1" i="1" dirty="0">
                <a:highlight>
                  <a:srgbClr val="00FFFF"/>
                </a:highlight>
              </a:rPr>
              <a:t>Logistics:</a:t>
            </a:r>
            <a:r>
              <a:rPr lang="en-IN" sz="2100" i="1" dirty="0"/>
              <a:t> The function of the enterprise involves</a:t>
            </a:r>
            <a:r>
              <a:rPr lang="en-US" sz="2100" i="1" dirty="0"/>
              <a:t> </a:t>
            </a:r>
            <a:r>
              <a:rPr lang="en-US" sz="2100" i="1" dirty="0">
                <a:effectLst>
                  <a:outerShdw blurRad="38100" dist="38100" dir="2700000" algn="tl">
                    <a:srgbClr val="000000">
                      <a:alpha val="43137"/>
                    </a:srgbClr>
                  </a:outerShdw>
                </a:effectLst>
                <a:highlight>
                  <a:srgbClr val="FFFF00"/>
                </a:highlight>
              </a:rPr>
              <a:t>moving and positioning inventory throughout the supply chain</a:t>
            </a:r>
            <a:r>
              <a:rPr lang="en-US" sz="2100" i="1" dirty="0"/>
              <a:t>, which includes order processing and tracking, inventory management, transportation, warehousing, material handling, and packaging and ensures that the right products are delivered to the right place at the right </a:t>
            </a:r>
            <a:r>
              <a:rPr lang="en-IN" sz="2100" i="1" dirty="0"/>
              <a:t>time. </a:t>
            </a:r>
            <a:r>
              <a:rPr lang="en-IN" sz="2100" b="1" i="1" dirty="0">
                <a:solidFill>
                  <a:srgbClr val="FF0000"/>
                </a:solidFill>
                <a:effectLst>
                  <a:outerShdw blurRad="38100" dist="38100" dir="2700000" algn="tl">
                    <a:srgbClr val="000000">
                      <a:alpha val="43137"/>
                    </a:srgbClr>
                  </a:outerShdw>
                </a:effectLst>
              </a:rPr>
              <a:t>Without </a:t>
            </a:r>
            <a:r>
              <a:rPr lang="en-US" sz="2100" b="1" i="1" dirty="0">
                <a:solidFill>
                  <a:srgbClr val="FF0000"/>
                </a:solidFill>
                <a:effectLst>
                  <a:outerShdw blurRad="38100" dist="38100" dir="2700000" algn="tl">
                    <a:srgbClr val="000000">
                      <a:alpha val="43137"/>
                    </a:srgbClr>
                  </a:outerShdw>
                </a:effectLst>
              </a:rPr>
              <a:t>logistics, there would be inventory stock-outs at some locations and too much </a:t>
            </a:r>
            <a:r>
              <a:rPr lang="en-IN" sz="2100" b="1" i="1" dirty="0">
                <a:solidFill>
                  <a:srgbClr val="FF0000"/>
                </a:solidFill>
                <a:effectLst>
                  <a:outerShdw blurRad="38100" dist="38100" dir="2700000" algn="tl">
                    <a:srgbClr val="000000">
                      <a:alpha val="43137"/>
                    </a:srgbClr>
                  </a:outerShdw>
                </a:effectLst>
              </a:rPr>
              <a:t>inventory at others</a:t>
            </a:r>
            <a:r>
              <a:rPr lang="en-IN" sz="2100" i="1" dirty="0"/>
              <a:t>. Thus, </a:t>
            </a:r>
            <a:r>
              <a:rPr lang="en-US" sz="2100" i="1" dirty="0"/>
              <a:t>Logistics is a function of an enterprise that supports SCM on par with marketing, operations, </a:t>
            </a:r>
            <a:r>
              <a:rPr lang="en-IN" sz="2100" i="1" dirty="0"/>
              <a:t>and sourcing. When the </a:t>
            </a:r>
            <a:r>
              <a:rPr lang="en-IN" sz="2100" b="1" i="1" dirty="0">
                <a:effectLst>
                  <a:outerShdw blurRad="38100" dist="38100" dir="2700000" algn="tl">
                    <a:srgbClr val="000000">
                      <a:alpha val="43137"/>
                    </a:srgbClr>
                  </a:outerShdw>
                </a:effectLst>
                <a:highlight>
                  <a:srgbClr val="00FF00"/>
                </a:highlight>
              </a:rPr>
              <a:t>direction of product flow is reversed in the chain</a:t>
            </a:r>
            <a:r>
              <a:rPr lang="en-IN" sz="2100" i="1" dirty="0"/>
              <a:t>, i.e., from customer to retailer/wholesaler/manufacturer, due to defective/damaged or obsolete (out of date), it is termed as </a:t>
            </a:r>
            <a:r>
              <a:rPr lang="en-IN" sz="2100" b="1" i="1" dirty="0">
                <a:highlight>
                  <a:srgbClr val="00FF00"/>
                </a:highlight>
              </a:rPr>
              <a:t>Reverse Logistics</a:t>
            </a:r>
            <a:r>
              <a:rPr lang="en-IN" sz="2100" i="1" dirty="0"/>
              <a:t>.</a:t>
            </a:r>
          </a:p>
        </p:txBody>
      </p:sp>
      <p:sp>
        <p:nvSpPr>
          <p:cNvPr id="4" name="Rectangle: Rounded Corners 3">
            <a:extLst>
              <a:ext uri="{FF2B5EF4-FFF2-40B4-BE49-F238E27FC236}">
                <a16:creationId xmlns:a16="http://schemas.microsoft.com/office/drawing/2014/main" id="{F9634323-3FA4-4C62-0D19-35EE277984AE}"/>
              </a:ext>
            </a:extLst>
          </p:cNvPr>
          <p:cNvSpPr/>
          <p:nvPr/>
        </p:nvSpPr>
        <p:spPr>
          <a:xfrm>
            <a:off x="663681" y="4998407"/>
            <a:ext cx="973411" cy="75347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t>SUPPLIER</a:t>
            </a:r>
            <a:endParaRPr lang="en-IN" sz="1400" i="1" dirty="0"/>
          </a:p>
        </p:txBody>
      </p:sp>
      <p:sp>
        <p:nvSpPr>
          <p:cNvPr id="5" name="Rectangle: Rounded Corners 4">
            <a:extLst>
              <a:ext uri="{FF2B5EF4-FFF2-40B4-BE49-F238E27FC236}">
                <a16:creationId xmlns:a16="http://schemas.microsoft.com/office/drawing/2014/main" id="{04FA23C6-2CD5-8A20-0F57-C1B7FD0DEABE}"/>
              </a:ext>
            </a:extLst>
          </p:cNvPr>
          <p:cNvSpPr/>
          <p:nvPr/>
        </p:nvSpPr>
        <p:spPr>
          <a:xfrm>
            <a:off x="2099201" y="4998404"/>
            <a:ext cx="1356853" cy="753471"/>
          </a:xfrm>
          <a:prstGeom prst="roundRect">
            <a:avLst/>
          </a:prstGeom>
          <a:solidFill>
            <a:srgbClr val="00C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solidFill>
                  <a:schemeClr val="tx1"/>
                </a:solidFill>
              </a:rPr>
              <a:t>Inbound</a:t>
            </a:r>
          </a:p>
          <a:p>
            <a:pPr algn="ctr"/>
            <a:r>
              <a:rPr lang="en-IN" sz="1400" b="1" i="1" dirty="0">
                <a:solidFill>
                  <a:schemeClr val="tx1"/>
                </a:solidFill>
              </a:rPr>
              <a:t>storage/</a:t>
            </a:r>
          </a:p>
          <a:p>
            <a:pPr algn="ctr"/>
            <a:r>
              <a:rPr lang="en-IN" sz="1400" b="1" i="1" dirty="0">
                <a:solidFill>
                  <a:schemeClr val="tx1"/>
                </a:solidFill>
              </a:rPr>
              <a:t>Transportation</a:t>
            </a:r>
            <a:endParaRPr lang="en-IN" sz="1400" i="1" dirty="0">
              <a:solidFill>
                <a:schemeClr val="tx1"/>
              </a:solidFill>
            </a:endParaRPr>
          </a:p>
        </p:txBody>
      </p:sp>
      <p:sp>
        <p:nvSpPr>
          <p:cNvPr id="6" name="Rectangle: Rounded Corners 5">
            <a:extLst>
              <a:ext uri="{FF2B5EF4-FFF2-40B4-BE49-F238E27FC236}">
                <a16:creationId xmlns:a16="http://schemas.microsoft.com/office/drawing/2014/main" id="{DDE707E8-ADF8-A2A1-9E1F-93B55EB59E14}"/>
              </a:ext>
            </a:extLst>
          </p:cNvPr>
          <p:cNvSpPr/>
          <p:nvPr/>
        </p:nvSpPr>
        <p:spPr>
          <a:xfrm>
            <a:off x="3962414" y="4998403"/>
            <a:ext cx="1081537" cy="75347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t>PRODUCER</a:t>
            </a:r>
            <a:endParaRPr lang="en-IN" sz="1400" i="1" dirty="0"/>
          </a:p>
        </p:txBody>
      </p:sp>
      <p:sp>
        <p:nvSpPr>
          <p:cNvPr id="7" name="Rectangle: Rounded Corners 6">
            <a:extLst>
              <a:ext uri="{FF2B5EF4-FFF2-40B4-BE49-F238E27FC236}">
                <a16:creationId xmlns:a16="http://schemas.microsoft.com/office/drawing/2014/main" id="{2A0D2189-D84F-7700-61C7-006ACA49B6E4}"/>
              </a:ext>
            </a:extLst>
          </p:cNvPr>
          <p:cNvSpPr/>
          <p:nvPr/>
        </p:nvSpPr>
        <p:spPr>
          <a:xfrm>
            <a:off x="5530659" y="4998403"/>
            <a:ext cx="1356852" cy="753471"/>
          </a:xfrm>
          <a:prstGeom prst="roundRect">
            <a:avLst/>
          </a:prstGeom>
          <a:solidFill>
            <a:srgbClr val="00C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solidFill>
                  <a:schemeClr val="tx1"/>
                </a:solidFill>
              </a:rPr>
              <a:t>Outbound</a:t>
            </a:r>
          </a:p>
          <a:p>
            <a:pPr algn="ctr"/>
            <a:r>
              <a:rPr lang="en-IN" sz="1400" b="1" i="1" dirty="0">
                <a:solidFill>
                  <a:schemeClr val="tx1"/>
                </a:solidFill>
              </a:rPr>
              <a:t>storage/</a:t>
            </a:r>
          </a:p>
          <a:p>
            <a:pPr algn="ctr"/>
            <a:r>
              <a:rPr lang="en-IN" sz="1400" b="1" i="1" dirty="0">
                <a:solidFill>
                  <a:schemeClr val="tx1"/>
                </a:solidFill>
              </a:rPr>
              <a:t>Transportation</a:t>
            </a:r>
            <a:endParaRPr lang="en-IN" sz="1400" i="1" dirty="0">
              <a:solidFill>
                <a:schemeClr val="tx1"/>
              </a:solidFill>
            </a:endParaRPr>
          </a:p>
        </p:txBody>
      </p:sp>
      <p:sp>
        <p:nvSpPr>
          <p:cNvPr id="8" name="Rectangle: Rounded Corners 7">
            <a:extLst>
              <a:ext uri="{FF2B5EF4-FFF2-40B4-BE49-F238E27FC236}">
                <a16:creationId xmlns:a16="http://schemas.microsoft.com/office/drawing/2014/main" id="{9F227764-1708-ACAB-E651-D30354DE74F0}"/>
              </a:ext>
            </a:extLst>
          </p:cNvPr>
          <p:cNvSpPr/>
          <p:nvPr/>
        </p:nvSpPr>
        <p:spPr>
          <a:xfrm>
            <a:off x="7438121" y="4998402"/>
            <a:ext cx="1243773" cy="75347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t>WAREHOUSE</a:t>
            </a:r>
            <a:endParaRPr lang="en-IN" sz="1400" i="1" dirty="0"/>
          </a:p>
        </p:txBody>
      </p:sp>
      <p:sp>
        <p:nvSpPr>
          <p:cNvPr id="9" name="Rectangle: Rounded Corners 8">
            <a:extLst>
              <a:ext uri="{FF2B5EF4-FFF2-40B4-BE49-F238E27FC236}">
                <a16:creationId xmlns:a16="http://schemas.microsoft.com/office/drawing/2014/main" id="{0245879C-445D-E894-BF66-F4F9CA79438C}"/>
              </a:ext>
            </a:extLst>
          </p:cNvPr>
          <p:cNvSpPr/>
          <p:nvPr/>
        </p:nvSpPr>
        <p:spPr>
          <a:xfrm>
            <a:off x="9153848" y="4998402"/>
            <a:ext cx="1356852" cy="753471"/>
          </a:xfrm>
          <a:prstGeom prst="roundRect">
            <a:avLst/>
          </a:prstGeom>
          <a:solidFill>
            <a:srgbClr val="00C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solidFill>
                  <a:schemeClr val="tx1"/>
                </a:solidFill>
              </a:rPr>
              <a:t>Transportation</a:t>
            </a:r>
          </a:p>
          <a:p>
            <a:pPr algn="ctr"/>
            <a:r>
              <a:rPr lang="en-IN" sz="1400" b="1" i="1" dirty="0">
                <a:solidFill>
                  <a:schemeClr val="tx1"/>
                </a:solidFill>
              </a:rPr>
              <a:t>to retailer/</a:t>
            </a:r>
          </a:p>
          <a:p>
            <a:pPr algn="ctr"/>
            <a:r>
              <a:rPr lang="en-IN" sz="1400" b="1" i="1" dirty="0">
                <a:solidFill>
                  <a:schemeClr val="tx1"/>
                </a:solidFill>
              </a:rPr>
              <a:t>customer</a:t>
            </a:r>
            <a:endParaRPr lang="en-IN" sz="1400" i="1" dirty="0">
              <a:solidFill>
                <a:schemeClr val="tx1"/>
              </a:solidFill>
            </a:endParaRPr>
          </a:p>
        </p:txBody>
      </p:sp>
      <p:sp>
        <p:nvSpPr>
          <p:cNvPr id="10" name="Arrow: Left-Right 9">
            <a:extLst>
              <a:ext uri="{FF2B5EF4-FFF2-40B4-BE49-F238E27FC236}">
                <a16:creationId xmlns:a16="http://schemas.microsoft.com/office/drawing/2014/main" id="{77EE638A-538C-0B0C-4B33-A75264AC468A}"/>
              </a:ext>
            </a:extLst>
          </p:cNvPr>
          <p:cNvSpPr/>
          <p:nvPr/>
        </p:nvSpPr>
        <p:spPr>
          <a:xfrm>
            <a:off x="1661665" y="5244391"/>
            <a:ext cx="353962" cy="261491"/>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 name="Arrow: Left-Right 10">
            <a:extLst>
              <a:ext uri="{FF2B5EF4-FFF2-40B4-BE49-F238E27FC236}">
                <a16:creationId xmlns:a16="http://schemas.microsoft.com/office/drawing/2014/main" id="{E046B45A-1AD8-50D8-C289-62485C620689}"/>
              </a:ext>
            </a:extLst>
          </p:cNvPr>
          <p:cNvSpPr/>
          <p:nvPr/>
        </p:nvSpPr>
        <p:spPr>
          <a:xfrm>
            <a:off x="3510129" y="5244391"/>
            <a:ext cx="353962" cy="261491"/>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 name="Arrow: Left-Right 11">
            <a:extLst>
              <a:ext uri="{FF2B5EF4-FFF2-40B4-BE49-F238E27FC236}">
                <a16:creationId xmlns:a16="http://schemas.microsoft.com/office/drawing/2014/main" id="{92F56EA3-D835-7013-9BB9-F15C13E8E177}"/>
              </a:ext>
            </a:extLst>
          </p:cNvPr>
          <p:cNvSpPr/>
          <p:nvPr/>
        </p:nvSpPr>
        <p:spPr>
          <a:xfrm>
            <a:off x="5137377" y="5244390"/>
            <a:ext cx="353962" cy="261491"/>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 name="Arrow: Left-Right 12">
            <a:extLst>
              <a:ext uri="{FF2B5EF4-FFF2-40B4-BE49-F238E27FC236}">
                <a16:creationId xmlns:a16="http://schemas.microsoft.com/office/drawing/2014/main" id="{7E8998B2-72A1-05DA-64CB-3C6860042C81}"/>
              </a:ext>
            </a:extLst>
          </p:cNvPr>
          <p:cNvSpPr/>
          <p:nvPr/>
        </p:nvSpPr>
        <p:spPr>
          <a:xfrm>
            <a:off x="6971091" y="5267859"/>
            <a:ext cx="353962" cy="261491"/>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 name="Arrow: Left-Right 13">
            <a:extLst>
              <a:ext uri="{FF2B5EF4-FFF2-40B4-BE49-F238E27FC236}">
                <a16:creationId xmlns:a16="http://schemas.microsoft.com/office/drawing/2014/main" id="{767EB6A4-6F1C-569A-766E-33C0A74A47CD}"/>
              </a:ext>
            </a:extLst>
          </p:cNvPr>
          <p:cNvSpPr/>
          <p:nvPr/>
        </p:nvSpPr>
        <p:spPr>
          <a:xfrm>
            <a:off x="8760560" y="5244389"/>
            <a:ext cx="353962" cy="261491"/>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6" name="TextBox 15">
            <a:extLst>
              <a:ext uri="{FF2B5EF4-FFF2-40B4-BE49-F238E27FC236}">
                <a16:creationId xmlns:a16="http://schemas.microsoft.com/office/drawing/2014/main" id="{2C64332E-88EE-C561-6D60-11E64292385F}"/>
              </a:ext>
            </a:extLst>
          </p:cNvPr>
          <p:cNvSpPr txBox="1"/>
          <p:nvPr/>
        </p:nvSpPr>
        <p:spPr>
          <a:xfrm>
            <a:off x="3699387" y="6025324"/>
            <a:ext cx="5589637" cy="523220"/>
          </a:xfrm>
          <a:prstGeom prst="rect">
            <a:avLst/>
          </a:prstGeom>
          <a:noFill/>
        </p:spPr>
        <p:txBody>
          <a:bodyPr wrap="square">
            <a:spAutoFit/>
          </a:bodyPr>
          <a:lstStyle/>
          <a:p>
            <a:pPr algn="ctr"/>
            <a:r>
              <a:rPr lang="en-IN" sz="2800" b="1" i="1" dirty="0">
                <a:effectLst>
                  <a:outerShdw blurRad="38100" dist="38100" dir="2700000" algn="tl">
                    <a:srgbClr val="000000">
                      <a:alpha val="43137"/>
                    </a:srgbClr>
                  </a:outerShdw>
                </a:effectLst>
                <a:highlight>
                  <a:srgbClr val="C0C0C0"/>
                </a:highlight>
                <a:latin typeface="AdvTT3ea5177f"/>
              </a:rPr>
              <a:t>L</a:t>
            </a:r>
            <a:r>
              <a:rPr lang="en-IN" sz="2800" b="1" i="1" u="none" strike="noStrike" baseline="0" dirty="0">
                <a:effectLst>
                  <a:outerShdw blurRad="38100" dist="38100" dir="2700000" algn="tl">
                    <a:srgbClr val="000000">
                      <a:alpha val="43137"/>
                    </a:srgbClr>
                  </a:outerShdw>
                </a:effectLst>
                <a:highlight>
                  <a:srgbClr val="C0C0C0"/>
                </a:highlight>
                <a:latin typeface="AdvTT3ea5177f"/>
              </a:rPr>
              <a:t>ogistic </a:t>
            </a:r>
            <a:r>
              <a:rPr lang="en-IN" sz="2800" b="1" i="1" dirty="0">
                <a:effectLst>
                  <a:outerShdw blurRad="38100" dist="38100" dir="2700000" algn="tl">
                    <a:srgbClr val="000000">
                      <a:alpha val="43137"/>
                    </a:srgbClr>
                  </a:outerShdw>
                </a:effectLst>
                <a:highlight>
                  <a:srgbClr val="C0C0C0"/>
                </a:highlight>
                <a:latin typeface="AdvTT3ea5177f"/>
              </a:rPr>
              <a:t>F</a:t>
            </a:r>
            <a:r>
              <a:rPr lang="en-IN" sz="2800" b="1" i="1" u="none" strike="noStrike" baseline="0" dirty="0">
                <a:effectLst>
                  <a:outerShdw blurRad="38100" dist="38100" dir="2700000" algn="tl">
                    <a:srgbClr val="000000">
                      <a:alpha val="43137"/>
                    </a:srgbClr>
                  </a:outerShdw>
                </a:effectLst>
                <a:highlight>
                  <a:srgbClr val="C0C0C0"/>
                </a:highlight>
                <a:latin typeface="AdvTT3ea5177f"/>
              </a:rPr>
              <a:t>unction of the Enterprise</a:t>
            </a:r>
            <a:endParaRPr lang="en-IN" sz="2800" b="1" i="1" dirty="0">
              <a:effectLst>
                <a:outerShdw blurRad="38100" dist="38100" dir="2700000" algn="tl">
                  <a:srgbClr val="000000">
                    <a:alpha val="43137"/>
                  </a:srgbClr>
                </a:outerShdw>
              </a:effectLst>
              <a:highlight>
                <a:srgbClr val="C0C0C0"/>
              </a:highlight>
            </a:endParaRPr>
          </a:p>
        </p:txBody>
      </p:sp>
      <p:sp>
        <p:nvSpPr>
          <p:cNvPr id="2" name="Rectangle: Rounded Corners 1">
            <a:extLst>
              <a:ext uri="{FF2B5EF4-FFF2-40B4-BE49-F238E27FC236}">
                <a16:creationId xmlns:a16="http://schemas.microsoft.com/office/drawing/2014/main" id="{A88E1768-DB9A-118A-075F-0D2BAAF7BC8D}"/>
              </a:ext>
            </a:extLst>
          </p:cNvPr>
          <p:cNvSpPr/>
          <p:nvPr/>
        </p:nvSpPr>
        <p:spPr>
          <a:xfrm>
            <a:off x="10962976" y="4998402"/>
            <a:ext cx="1027462" cy="75347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i="1" dirty="0"/>
              <a:t>RETAILER</a:t>
            </a:r>
            <a:endParaRPr lang="en-IN" sz="1400" i="1" dirty="0"/>
          </a:p>
        </p:txBody>
      </p:sp>
      <p:sp>
        <p:nvSpPr>
          <p:cNvPr id="15" name="Arrow: Left-Right 14">
            <a:extLst>
              <a:ext uri="{FF2B5EF4-FFF2-40B4-BE49-F238E27FC236}">
                <a16:creationId xmlns:a16="http://schemas.microsoft.com/office/drawing/2014/main" id="{2288CD62-BF0E-E5B8-5C26-F3E544DF07C5}"/>
              </a:ext>
            </a:extLst>
          </p:cNvPr>
          <p:cNvSpPr/>
          <p:nvPr/>
        </p:nvSpPr>
        <p:spPr>
          <a:xfrm>
            <a:off x="10554947" y="5244388"/>
            <a:ext cx="353962" cy="261491"/>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i="1"/>
          </a:p>
        </p:txBody>
      </p:sp>
    </p:spTree>
    <p:extLst>
      <p:ext uri="{BB962C8B-B14F-4D97-AF65-F5344CB8AC3E}">
        <p14:creationId xmlns:p14="http://schemas.microsoft.com/office/powerpoint/2010/main" val="2051115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30CE0EB-4B55-1BC1-D5CB-440C5BB3A471}"/>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SECTION 5</a:t>
            </a:r>
          </a:p>
        </p:txBody>
      </p:sp>
    </p:spTree>
    <p:extLst>
      <p:ext uri="{BB962C8B-B14F-4D97-AF65-F5344CB8AC3E}">
        <p14:creationId xmlns:p14="http://schemas.microsoft.com/office/powerpoint/2010/main" val="3609561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89827-D544-53A6-3EA7-3DC99E31830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D4C7CC-A1C3-B32E-4152-C752FFDD3E79}"/>
              </a:ext>
            </a:extLst>
          </p:cNvPr>
          <p:cNvSpPr txBox="1"/>
          <p:nvPr/>
        </p:nvSpPr>
        <p:spPr>
          <a:xfrm>
            <a:off x="614517" y="1020049"/>
            <a:ext cx="11390669" cy="2077492"/>
          </a:xfrm>
          <a:prstGeom prst="rect">
            <a:avLst/>
          </a:prstGeom>
          <a:solidFill>
            <a:schemeClr val="accent4">
              <a:lumMod val="20000"/>
              <a:lumOff val="80000"/>
            </a:schemeClr>
          </a:solidFill>
        </p:spPr>
        <p:txBody>
          <a:bodyPr wrap="square">
            <a:spAutoFit/>
          </a:bodyPr>
          <a:lstStyle/>
          <a:p>
            <a:pPr marL="342900" indent="-342900" algn="just">
              <a:buBlip>
                <a:blip r:embed="rId2">
                  <a:extLst>
                    <a:ext uri="{96DAC541-7B7A-43D3-8B79-37D633B846F1}">
                      <asvg:svgBlip xmlns:asvg="http://schemas.microsoft.com/office/drawing/2016/SVG/main" r:embed="rId3"/>
                    </a:ext>
                  </a:extLst>
                </a:blip>
              </a:buBlip>
            </a:pPr>
            <a:r>
              <a:rPr lang="en-IN" sz="2150" i="1" u="none" strike="noStrike" baseline="0" dirty="0"/>
              <a:t>In the era of globalisation and technological advancement, SCM is treated as a necessary ingredient for successful global competition. It </a:t>
            </a:r>
            <a:r>
              <a:rPr lang="en-US" sz="2150" i="1" dirty="0"/>
              <a:t>enables companies to significantly reduce the time required to design, process, and deliver products to customers at a lower cost.</a:t>
            </a:r>
          </a:p>
          <a:p>
            <a:pPr marL="342900" indent="-342900" algn="just">
              <a:buBlip>
                <a:blip r:embed="rId2">
                  <a:extLst>
                    <a:ext uri="{96DAC541-7B7A-43D3-8B79-37D633B846F1}">
                      <asvg:svgBlip xmlns:asvg="http://schemas.microsoft.com/office/drawing/2016/SVG/main" r:embed="rId3"/>
                    </a:ext>
                  </a:extLst>
                </a:blip>
              </a:buBlip>
            </a:pPr>
            <a:r>
              <a:rPr lang="en-US" sz="2150" i="1" dirty="0"/>
              <a:t> </a:t>
            </a:r>
            <a:r>
              <a:rPr lang="en-IN" sz="2150" i="1" dirty="0"/>
              <a:t>Advances in information </a:t>
            </a:r>
            <a:r>
              <a:rPr lang="en-US" sz="2150" i="1" dirty="0"/>
              <a:t>technology have enabled access to comprehensive data across all components of the supply chain, and improvements in transportation methods have not only led to a reduction in transportation costs but also increased the speed of delivery to multiple locations</a:t>
            </a:r>
          </a:p>
        </p:txBody>
      </p:sp>
      <p:sp>
        <p:nvSpPr>
          <p:cNvPr id="7" name="Rectangle 6">
            <a:extLst>
              <a:ext uri="{FF2B5EF4-FFF2-40B4-BE49-F238E27FC236}">
                <a16:creationId xmlns:a16="http://schemas.microsoft.com/office/drawing/2014/main" id="{3EF190E7-B2C3-196B-0BFA-163271740783}"/>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200" b="1" i="1" dirty="0"/>
              <a:t>Competitive Supply Chain and its’ characteristics </a:t>
            </a:r>
          </a:p>
        </p:txBody>
      </p:sp>
      <p:sp>
        <p:nvSpPr>
          <p:cNvPr id="2" name="Rectangle 1">
            <a:extLst>
              <a:ext uri="{FF2B5EF4-FFF2-40B4-BE49-F238E27FC236}">
                <a16:creationId xmlns:a16="http://schemas.microsoft.com/office/drawing/2014/main" id="{89E41CC8-A84E-11E5-519E-8DB235DBEDF6}"/>
              </a:ext>
            </a:extLst>
          </p:cNvPr>
          <p:cNvSpPr/>
          <p:nvPr/>
        </p:nvSpPr>
        <p:spPr>
          <a:xfrm>
            <a:off x="629264" y="3143425"/>
            <a:ext cx="3303637" cy="3552343"/>
          </a:xfrm>
          <a:prstGeom prst="rect">
            <a:avLst/>
          </a:prstGeom>
          <a:solidFill>
            <a:srgbClr val="66FFFF"/>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IN" sz="1700" b="1" i="1" dirty="0">
                <a:solidFill>
                  <a:schemeClr val="tx1"/>
                </a:solidFill>
                <a:effectLst>
                  <a:outerShdw blurRad="38100" dist="38100" dir="2700000" algn="tl">
                    <a:srgbClr val="000000">
                      <a:alpha val="43137"/>
                    </a:srgbClr>
                  </a:outerShdw>
                </a:effectLst>
                <a:highlight>
                  <a:srgbClr val="FFFF00"/>
                </a:highlight>
              </a:rPr>
              <a:t>RESPONSIVENESS : </a:t>
            </a:r>
          </a:p>
          <a:p>
            <a:pPr algn="just"/>
            <a:r>
              <a:rPr lang="en-US" sz="1700" i="1" dirty="0">
                <a:solidFill>
                  <a:schemeClr val="tx1"/>
                </a:solidFill>
              </a:rPr>
              <a:t>Today, customers want shorter lead times, greater flexibility, </a:t>
            </a:r>
            <a:r>
              <a:rPr lang="en-IN" sz="1700" i="1" dirty="0">
                <a:solidFill>
                  <a:schemeClr val="tx1"/>
                </a:solidFill>
              </a:rPr>
              <a:t>and greater product choice. In view of this, suppliers and manufacturers always plan to </a:t>
            </a:r>
            <a:r>
              <a:rPr lang="en-US" sz="1700" i="1" dirty="0">
                <a:solidFill>
                  <a:schemeClr val="tx1"/>
                </a:solidFill>
              </a:rPr>
              <a:t>meet customer demands in less time than ever before.</a:t>
            </a:r>
            <a:r>
              <a:rPr lang="en-IN" sz="1700" i="1" dirty="0">
                <a:solidFill>
                  <a:schemeClr val="tx1"/>
                </a:solidFill>
              </a:rPr>
              <a:t> </a:t>
            </a:r>
          </a:p>
          <a:p>
            <a:pPr algn="just"/>
            <a:r>
              <a:rPr lang="en-US" sz="1700" i="1" dirty="0">
                <a:solidFill>
                  <a:schemeClr val="tx1"/>
                </a:solidFill>
              </a:rPr>
              <a:t>The ability of a supply chain to achieve this level of responsiveness is often described as ‘‘agility,’’ - the ability to move quickly to meet customer demands.</a:t>
            </a:r>
            <a:endParaRPr lang="en-IN" sz="1700" i="1" dirty="0">
              <a:solidFill>
                <a:schemeClr val="tx1"/>
              </a:solidFill>
            </a:endParaRPr>
          </a:p>
        </p:txBody>
      </p:sp>
      <p:sp>
        <p:nvSpPr>
          <p:cNvPr id="3" name="Rectangle 2">
            <a:extLst>
              <a:ext uri="{FF2B5EF4-FFF2-40B4-BE49-F238E27FC236}">
                <a16:creationId xmlns:a16="http://schemas.microsoft.com/office/drawing/2014/main" id="{3020744B-E388-868A-6B01-5DD42D0AE292}"/>
              </a:ext>
            </a:extLst>
          </p:cNvPr>
          <p:cNvSpPr/>
          <p:nvPr/>
        </p:nvSpPr>
        <p:spPr>
          <a:xfrm>
            <a:off x="4100052" y="3156532"/>
            <a:ext cx="3760834" cy="353923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IN" sz="1700" b="1" i="1" dirty="0">
                <a:solidFill>
                  <a:schemeClr val="tx1"/>
                </a:solidFill>
                <a:effectLst>
                  <a:outerShdw blurRad="38100" dist="38100" dir="2700000" algn="tl">
                    <a:srgbClr val="000000">
                      <a:alpha val="43137"/>
                    </a:srgbClr>
                  </a:outerShdw>
                </a:effectLst>
                <a:highlight>
                  <a:srgbClr val="FFFF00"/>
                </a:highlight>
              </a:rPr>
              <a:t>RELIABILITY:</a:t>
            </a:r>
          </a:p>
          <a:p>
            <a:pPr algn="just"/>
            <a:r>
              <a:rPr lang="en-IN" sz="1700" i="1" dirty="0">
                <a:solidFill>
                  <a:schemeClr val="tx1"/>
                </a:solidFill>
              </a:rPr>
              <a:t>Uncertainty about (</a:t>
            </a:r>
            <a:r>
              <a:rPr lang="en-IN" sz="1700" i="1" dirty="0" err="1">
                <a:solidFill>
                  <a:schemeClr val="tx1"/>
                </a:solidFill>
              </a:rPr>
              <a:t>i</a:t>
            </a:r>
            <a:r>
              <a:rPr lang="en-IN" sz="1700" i="1" dirty="0">
                <a:solidFill>
                  <a:schemeClr val="tx1"/>
                </a:solidFill>
              </a:rPr>
              <a:t>) future </a:t>
            </a:r>
            <a:r>
              <a:rPr lang="en-US" sz="1700" i="1" dirty="0">
                <a:solidFill>
                  <a:schemeClr val="tx1"/>
                </a:solidFill>
              </a:rPr>
              <a:t>demands, (ii) suppliers’ ability to meet deadlines, and (iii) the quality of component materials is a major driver of carrying safety stocks by the companies, resulting in the “</a:t>
            </a:r>
            <a:r>
              <a:rPr lang="en-US" sz="1700" b="1" i="1" dirty="0">
                <a:solidFill>
                  <a:srgbClr val="FF0000"/>
                </a:solidFill>
                <a:effectLst>
                  <a:outerShdw blurRad="38100" dist="38100" dir="2700000" algn="tl">
                    <a:srgbClr val="000000">
                      <a:alpha val="43137"/>
                    </a:srgbClr>
                  </a:outerShdw>
                </a:effectLst>
              </a:rPr>
              <a:t>Bullwhip effect</a:t>
            </a:r>
            <a:r>
              <a:rPr lang="en-US" sz="1700" i="1" dirty="0">
                <a:solidFill>
                  <a:schemeClr val="tx1"/>
                </a:solidFill>
              </a:rPr>
              <a:t>” and leading to higher costs. </a:t>
            </a:r>
          </a:p>
          <a:p>
            <a:pPr algn="just"/>
            <a:r>
              <a:rPr lang="en-US" sz="1700" i="1" dirty="0">
                <a:solidFill>
                  <a:schemeClr val="tx1"/>
                </a:solidFill>
              </a:rPr>
              <a:t>The best way to reduce uncertainty is to increase supply chain reliability by enhancing visibility across all entities in the chain through real-time data sharing and information technology.</a:t>
            </a:r>
            <a:endParaRPr lang="en-IN" sz="1700" i="1" dirty="0">
              <a:solidFill>
                <a:schemeClr val="tx1"/>
              </a:solidFill>
            </a:endParaRPr>
          </a:p>
        </p:txBody>
      </p:sp>
      <p:sp>
        <p:nvSpPr>
          <p:cNvPr id="4" name="Rectangle 3">
            <a:extLst>
              <a:ext uri="{FF2B5EF4-FFF2-40B4-BE49-F238E27FC236}">
                <a16:creationId xmlns:a16="http://schemas.microsoft.com/office/drawing/2014/main" id="{450C26F1-9BCA-DFF7-E3DB-B5A4CF527909}"/>
              </a:ext>
            </a:extLst>
          </p:cNvPr>
          <p:cNvSpPr/>
          <p:nvPr/>
        </p:nvSpPr>
        <p:spPr>
          <a:xfrm>
            <a:off x="7949374" y="3156532"/>
            <a:ext cx="4070560" cy="355234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IN" sz="1600" b="1" i="1" dirty="0">
                <a:solidFill>
                  <a:schemeClr val="tx1"/>
                </a:solidFill>
                <a:effectLst>
                  <a:outerShdw blurRad="38100" dist="38100" dir="2700000" algn="tl">
                    <a:srgbClr val="000000">
                      <a:alpha val="43137"/>
                    </a:srgbClr>
                  </a:outerShdw>
                </a:effectLst>
                <a:highlight>
                  <a:srgbClr val="FFFF00"/>
                </a:highlight>
              </a:rPr>
              <a:t>RELATIONSHIP MANAGEMENT:</a:t>
            </a:r>
          </a:p>
          <a:p>
            <a:pPr algn="just"/>
            <a:r>
              <a:rPr lang="en-US" sz="1600" i="1" dirty="0">
                <a:solidFill>
                  <a:schemeClr val="tx1"/>
                </a:solidFill>
              </a:rPr>
              <a:t>SCM is primarily about managing relationships across complex networks of companies. Competitive supply chains focus on relationship building and collaboration based upon trust, rather than an </a:t>
            </a:r>
            <a:r>
              <a:rPr lang="en-US" sz="1600" b="1" i="1" dirty="0">
                <a:solidFill>
                  <a:srgbClr val="FF0000"/>
                </a:solidFill>
                <a:effectLst>
                  <a:outerShdw blurRad="38100" dist="38100" dir="2700000" algn="tl">
                    <a:srgbClr val="000000">
                      <a:alpha val="43137"/>
                    </a:srgbClr>
                  </a:outerShdw>
                </a:effectLst>
              </a:rPr>
              <a:t>arms-length adversarial relationship </a:t>
            </a:r>
            <a:r>
              <a:rPr lang="en-US" sz="1600" i="1" dirty="0">
                <a:solidFill>
                  <a:schemeClr val="tx1"/>
                </a:solidFill>
              </a:rPr>
              <a:t>(interactions between independent, unconnected parties focused solely on self-interest, </a:t>
            </a:r>
            <a:r>
              <a:rPr lang="en-US" sz="1600" i="1" dirty="0" err="1">
                <a:solidFill>
                  <a:schemeClr val="tx1"/>
                </a:solidFill>
              </a:rPr>
              <a:t>maximising</a:t>
            </a:r>
            <a:r>
              <a:rPr lang="en-US" sz="1600" i="1" dirty="0">
                <a:solidFill>
                  <a:schemeClr val="tx1"/>
                </a:solidFill>
              </a:rPr>
              <a:t> individual gain for the short-term). </a:t>
            </a:r>
          </a:p>
          <a:p>
            <a:pPr algn="just"/>
            <a:r>
              <a:rPr lang="en-US" sz="1600" i="1" dirty="0">
                <a:solidFill>
                  <a:schemeClr val="tx1"/>
                </a:solidFill>
              </a:rPr>
              <a:t>The practice of ‘‘</a:t>
            </a:r>
            <a:r>
              <a:rPr lang="en-US" sz="1600" b="1" i="1" dirty="0">
                <a:solidFill>
                  <a:srgbClr val="FF0000"/>
                </a:solidFill>
                <a:effectLst>
                  <a:outerShdw blurRad="38100" dist="38100" dir="2700000" algn="tl">
                    <a:srgbClr val="000000">
                      <a:alpha val="43137"/>
                    </a:srgbClr>
                  </a:outerShdw>
                </a:effectLst>
              </a:rPr>
              <a:t>single-sourcing</a:t>
            </a:r>
            <a:r>
              <a:rPr lang="en-US" sz="1600" i="1" dirty="0">
                <a:solidFill>
                  <a:schemeClr val="tx1"/>
                </a:solidFill>
              </a:rPr>
              <a:t>’’ improves quality, product innovation, and design while reducing costs and enhancing overall responsiveness.</a:t>
            </a:r>
          </a:p>
        </p:txBody>
      </p:sp>
    </p:spTree>
    <p:extLst>
      <p:ext uri="{BB962C8B-B14F-4D97-AF65-F5344CB8AC3E}">
        <p14:creationId xmlns:p14="http://schemas.microsoft.com/office/powerpoint/2010/main" val="1648287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1D77B-55BE-D37F-294B-B76F7907EDD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09DCD62-4120-473F-B018-D21B0AFCDAE0}"/>
              </a:ext>
            </a:extLst>
          </p:cNvPr>
          <p:cNvSpPr txBox="1"/>
          <p:nvPr/>
        </p:nvSpPr>
        <p:spPr>
          <a:xfrm>
            <a:off x="1833716" y="1477248"/>
            <a:ext cx="8524568" cy="3903504"/>
          </a:xfrm>
          <a:prstGeom prst="rect">
            <a:avLst/>
          </a:prstGeom>
          <a:solidFill>
            <a:schemeClr val="accent4">
              <a:lumMod val="20000"/>
              <a:lumOff val="80000"/>
            </a:schemeClr>
          </a:solidFill>
        </p:spPr>
        <p:txBody>
          <a:bodyPr wrap="square">
            <a:spAutoFit/>
          </a:bodyPr>
          <a:lstStyle/>
          <a:p>
            <a:pPr marL="457200" indent="-457200">
              <a:lnSpc>
                <a:spcPct val="150000"/>
              </a:lnSpc>
              <a:buBlip>
                <a:blip r:embed="rId2">
                  <a:extLst>
                    <a:ext uri="{96DAC541-7B7A-43D3-8B79-37D633B846F1}">
                      <asvg:svgBlip xmlns:asvg="http://schemas.microsoft.com/office/drawing/2016/SVG/main" r:embed="rId3"/>
                    </a:ext>
                  </a:extLst>
                </a:blip>
              </a:buBlip>
            </a:pPr>
            <a:r>
              <a:rPr lang="en-IN" sz="2800" b="1" i="1" u="none" strike="noStrike" baseline="0" dirty="0">
                <a:solidFill>
                  <a:srgbClr val="0000CC"/>
                </a:solidFill>
                <a:effectLst>
                  <a:outerShdw blurRad="38100" dist="38100" dir="2700000" algn="tl">
                    <a:srgbClr val="000000">
                      <a:alpha val="43137"/>
                    </a:srgbClr>
                  </a:outerShdw>
                </a:effectLst>
              </a:rPr>
              <a:t>GLOBALIZATION</a:t>
            </a:r>
          </a:p>
          <a:p>
            <a:pPr marL="457200" indent="-457200">
              <a:lnSpc>
                <a:spcPct val="150000"/>
              </a:lnSpc>
              <a:buBlip>
                <a:blip r:embed="rId2">
                  <a:extLst>
                    <a:ext uri="{96DAC541-7B7A-43D3-8B79-37D633B846F1}">
                      <asvg:svgBlip xmlns:asvg="http://schemas.microsoft.com/office/drawing/2016/SVG/main" r:embed="rId3"/>
                    </a:ext>
                  </a:extLst>
                </a:blip>
              </a:buBlip>
            </a:pPr>
            <a:r>
              <a:rPr lang="en-IN" sz="2800" b="1" i="1" dirty="0">
                <a:solidFill>
                  <a:srgbClr val="0000CC"/>
                </a:solidFill>
                <a:effectLst>
                  <a:outerShdw blurRad="38100" dist="38100" dir="2700000" algn="tl">
                    <a:srgbClr val="000000">
                      <a:alpha val="43137"/>
                    </a:srgbClr>
                  </a:outerShdw>
                </a:effectLst>
              </a:rPr>
              <a:t>OUTSOURCING</a:t>
            </a:r>
          </a:p>
          <a:p>
            <a:pPr marL="457200" indent="-457200">
              <a:lnSpc>
                <a:spcPct val="150000"/>
              </a:lnSpc>
              <a:buBlip>
                <a:blip r:embed="rId2">
                  <a:extLst>
                    <a:ext uri="{96DAC541-7B7A-43D3-8B79-37D633B846F1}">
                      <asvg:svgBlip xmlns:asvg="http://schemas.microsoft.com/office/drawing/2016/SVG/main" r:embed="rId3"/>
                    </a:ext>
                  </a:extLst>
                </a:blip>
              </a:buBlip>
            </a:pPr>
            <a:r>
              <a:rPr lang="en-IN" sz="2800" b="1" i="1" dirty="0">
                <a:solidFill>
                  <a:srgbClr val="0000CC"/>
                </a:solidFill>
                <a:effectLst>
                  <a:outerShdw blurRad="38100" dist="38100" dir="2700000" algn="tl">
                    <a:srgbClr val="000000">
                      <a:alpha val="43137"/>
                    </a:srgbClr>
                  </a:outerShdw>
                </a:effectLst>
              </a:rPr>
              <a:t>INFORMATION TECHNOLOGY</a:t>
            </a:r>
          </a:p>
          <a:p>
            <a:pPr marL="457200" indent="-457200">
              <a:lnSpc>
                <a:spcPct val="150000"/>
              </a:lnSpc>
              <a:buBlip>
                <a:blip r:embed="rId2">
                  <a:extLst>
                    <a:ext uri="{96DAC541-7B7A-43D3-8B79-37D633B846F1}">
                      <asvg:svgBlip xmlns:asvg="http://schemas.microsoft.com/office/drawing/2016/SVG/main" r:embed="rId3"/>
                    </a:ext>
                  </a:extLst>
                </a:blip>
              </a:buBlip>
            </a:pPr>
            <a:r>
              <a:rPr lang="en-IN" sz="2800" b="1" i="1" dirty="0">
                <a:solidFill>
                  <a:srgbClr val="0000CC"/>
                </a:solidFill>
                <a:effectLst>
                  <a:outerShdw blurRad="38100" dist="38100" dir="2700000" algn="tl">
                    <a:srgbClr val="000000">
                      <a:alpha val="43137"/>
                    </a:srgbClr>
                  </a:outerShdw>
                </a:effectLst>
              </a:rPr>
              <a:t>BIG DATA ANALYTICS</a:t>
            </a:r>
          </a:p>
          <a:p>
            <a:pPr marL="457200" indent="-457200">
              <a:lnSpc>
                <a:spcPct val="150000"/>
              </a:lnSpc>
              <a:buBlip>
                <a:blip r:embed="rId2">
                  <a:extLst>
                    <a:ext uri="{96DAC541-7B7A-43D3-8B79-37D633B846F1}">
                      <asvg:svgBlip xmlns:asvg="http://schemas.microsoft.com/office/drawing/2016/SVG/main" r:embed="rId3"/>
                    </a:ext>
                  </a:extLst>
                </a:blip>
              </a:buBlip>
            </a:pPr>
            <a:r>
              <a:rPr lang="en-IN" sz="2800" b="1" i="1" dirty="0">
                <a:solidFill>
                  <a:srgbClr val="0000CC"/>
                </a:solidFill>
                <a:effectLst>
                  <a:outerShdw blurRad="38100" dist="38100" dir="2700000" algn="tl">
                    <a:srgbClr val="000000">
                      <a:alpha val="43137"/>
                    </a:srgbClr>
                  </a:outerShdw>
                </a:effectLst>
              </a:rPr>
              <a:t>MASS CUSTOMIZATION AND POSTPONEMENT</a:t>
            </a:r>
          </a:p>
          <a:p>
            <a:pPr marL="457200" indent="-457200">
              <a:lnSpc>
                <a:spcPct val="150000"/>
              </a:lnSpc>
              <a:buBlip>
                <a:blip r:embed="rId2">
                  <a:extLst>
                    <a:ext uri="{96DAC541-7B7A-43D3-8B79-37D633B846F1}">
                      <asvg:svgBlip xmlns:asvg="http://schemas.microsoft.com/office/drawing/2016/SVG/main" r:embed="rId3"/>
                    </a:ext>
                  </a:extLst>
                </a:blip>
              </a:buBlip>
            </a:pPr>
            <a:r>
              <a:rPr lang="en-IN" sz="2800" b="1" i="1" dirty="0">
                <a:solidFill>
                  <a:srgbClr val="0000CC"/>
                </a:solidFill>
                <a:effectLst>
                  <a:outerShdw blurRad="38100" dist="38100" dir="2700000" algn="tl">
                    <a:srgbClr val="000000">
                      <a:alpha val="43137"/>
                    </a:srgbClr>
                  </a:outerShdw>
                </a:effectLst>
              </a:rPr>
              <a:t>SUSTAINABILITY AND GREEN SUPPLY CHAIN</a:t>
            </a:r>
          </a:p>
        </p:txBody>
      </p:sp>
      <p:sp>
        <p:nvSpPr>
          <p:cNvPr id="7" name="Rectangle 6">
            <a:extLst>
              <a:ext uri="{FF2B5EF4-FFF2-40B4-BE49-F238E27FC236}">
                <a16:creationId xmlns:a16="http://schemas.microsoft.com/office/drawing/2014/main" id="{480E2198-50E1-88F5-9AAA-8F08317987CC}"/>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Trends in SCM</a:t>
            </a:r>
          </a:p>
        </p:txBody>
      </p:sp>
    </p:spTree>
    <p:extLst>
      <p:ext uri="{BB962C8B-B14F-4D97-AF65-F5344CB8AC3E}">
        <p14:creationId xmlns:p14="http://schemas.microsoft.com/office/powerpoint/2010/main" val="4076821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EAF8-B1BF-A53F-0508-E12465665AEB}"/>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AA800EA2-25D6-19A5-2F6B-D7FACECF83E3}"/>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Trends in SCM (</a:t>
            </a:r>
            <a:r>
              <a:rPr lang="en-IN" sz="4400" b="1" i="1" dirty="0">
                <a:solidFill>
                  <a:srgbClr val="FFFF00"/>
                </a:solidFill>
              </a:rPr>
              <a:t>Globalization</a:t>
            </a:r>
            <a:r>
              <a:rPr lang="en-IN" sz="4400" b="1" i="1" dirty="0"/>
              <a:t>)</a:t>
            </a:r>
          </a:p>
        </p:txBody>
      </p:sp>
      <p:sp>
        <p:nvSpPr>
          <p:cNvPr id="6" name="TextBox 5">
            <a:extLst>
              <a:ext uri="{FF2B5EF4-FFF2-40B4-BE49-F238E27FC236}">
                <a16:creationId xmlns:a16="http://schemas.microsoft.com/office/drawing/2014/main" id="{2D6478E9-38A0-D6A9-B7D1-57E884992643}"/>
              </a:ext>
            </a:extLst>
          </p:cNvPr>
          <p:cNvSpPr txBox="1"/>
          <p:nvPr/>
        </p:nvSpPr>
        <p:spPr>
          <a:xfrm>
            <a:off x="811162" y="1157442"/>
            <a:ext cx="11002297" cy="5370701"/>
          </a:xfrm>
          <a:prstGeom prst="rect">
            <a:avLst/>
          </a:prstGeom>
          <a:solidFill>
            <a:schemeClr val="accent4">
              <a:lumMod val="20000"/>
              <a:lumOff val="80000"/>
            </a:schemeClr>
          </a:solidFill>
        </p:spPr>
        <p:txBody>
          <a:bodyPr wrap="square">
            <a:spAutoFit/>
          </a:bodyPr>
          <a:lstStyle/>
          <a:p>
            <a:pPr marL="342900" indent="-342900" algn="just">
              <a:spcAft>
                <a:spcPts val="600"/>
              </a:spcAft>
              <a:buFont typeface="Courier New" panose="02070309020205020404" pitchFamily="49" charset="0"/>
              <a:buChar char="o"/>
            </a:pPr>
            <a:r>
              <a:rPr lang="en-IN" sz="2200" b="1" i="1" u="sng" strike="noStrike" baseline="0" dirty="0">
                <a:effectLst>
                  <a:outerShdw blurRad="38100" dist="38100" dir="2700000" algn="tl">
                    <a:srgbClr val="000000">
                      <a:alpha val="43137"/>
                    </a:srgbClr>
                  </a:outerShdw>
                </a:effectLst>
                <a:highlight>
                  <a:srgbClr val="00FFFF"/>
                </a:highlight>
              </a:rPr>
              <a:t>GLOBALIZATION:</a:t>
            </a:r>
            <a:r>
              <a:rPr lang="en-IN" sz="2200" b="0" i="1" u="none" strike="noStrike" baseline="0" dirty="0"/>
              <a:t>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200" b="0" i="1" u="none" strike="noStrike" baseline="0" dirty="0"/>
              <a:t>T</a:t>
            </a:r>
            <a:r>
              <a:rPr lang="en-US" sz="2200" i="1" dirty="0"/>
              <a:t>he </a:t>
            </a:r>
            <a:r>
              <a:rPr lang="en-US" sz="2200" b="1" i="1" dirty="0">
                <a:solidFill>
                  <a:srgbClr val="0000CC"/>
                </a:solidFill>
                <a:effectLst>
                  <a:outerShdw blurRad="38100" dist="38100" dir="2700000" algn="tl">
                    <a:srgbClr val="000000">
                      <a:alpha val="43137"/>
                    </a:srgbClr>
                  </a:outerShdw>
                </a:effectLst>
              </a:rPr>
              <a:t>integration between </a:t>
            </a:r>
            <a:r>
              <a:rPr lang="en-US" sz="2200" i="1" dirty="0"/>
              <a:t>the world’s </a:t>
            </a:r>
            <a:r>
              <a:rPr lang="en-US" sz="2200" b="1" i="1" dirty="0">
                <a:solidFill>
                  <a:srgbClr val="0000CC"/>
                </a:solidFill>
                <a:effectLst>
                  <a:outerShdw blurRad="38100" dist="38100" dir="2700000" algn="tl">
                    <a:srgbClr val="000000">
                      <a:alpha val="43137"/>
                    </a:srgbClr>
                  </a:outerShdw>
                </a:effectLst>
              </a:rPr>
              <a:t>nations, markets, and social and political systems</a:t>
            </a:r>
            <a:r>
              <a:rPr lang="en-US" sz="2200" i="1" dirty="0"/>
              <a:t>.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200" i="1" dirty="0" err="1"/>
              <a:t>Globalisation</a:t>
            </a:r>
            <a:r>
              <a:rPr lang="en-US" sz="2200" i="1" dirty="0"/>
              <a:t> forces companies, regardless of location or primary market base, to consider the rest of the world in their competitive strategy analysis. A company can develop a product in the United States, manufacture it in India and sell it in Europe.</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200" i="1" dirty="0"/>
              <a:t> Companies have benefited from a wider choice of product sources, and consumers have benefited from greater product choice, higher quality, and lower cost.</a:t>
            </a:r>
            <a:endParaRPr lang="en-IN" sz="2200" i="1" dirty="0"/>
          </a:p>
          <a:p>
            <a:pPr marL="342900" indent="-342900" algn="just">
              <a:spcAft>
                <a:spcPts val="600"/>
              </a:spcAft>
              <a:buFont typeface="Courier New" panose="02070309020205020404" pitchFamily="49" charset="0"/>
              <a:buChar char="o"/>
            </a:pPr>
            <a:r>
              <a:rPr lang="en-US" sz="2200" b="1" i="1" u="sng" dirty="0">
                <a:solidFill>
                  <a:srgbClr val="FF0000"/>
                </a:solidFill>
                <a:effectLst>
                  <a:outerShdw blurRad="38100" dist="38100" dir="2700000" algn="tl">
                    <a:srgbClr val="000000">
                      <a:alpha val="43137"/>
                    </a:srgbClr>
                  </a:outerShdw>
                </a:effectLst>
              </a:rPr>
              <a:t>Challenges:</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200" i="1" dirty="0"/>
              <a:t>Movement across borders, and even continents, adds numerous additional costs such as tariffs and extends the length and variability of lead times.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200" i="1" dirty="0"/>
              <a:t>There are time costs due to border delays, costs of transportation, and higher inventory costs due to longer transit times.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200" i="1" dirty="0"/>
              <a:t>There are also significant risks that include political instability, as well as currency fluctuations.</a:t>
            </a:r>
          </a:p>
        </p:txBody>
      </p:sp>
    </p:spTree>
    <p:extLst>
      <p:ext uri="{BB962C8B-B14F-4D97-AF65-F5344CB8AC3E}">
        <p14:creationId xmlns:p14="http://schemas.microsoft.com/office/powerpoint/2010/main" val="337439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AA7C0-783A-A226-1595-590B02C8AED4}"/>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5100DB90-65C6-F729-3196-01C01D969A36}"/>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Trends in SCM (</a:t>
            </a:r>
            <a:r>
              <a:rPr lang="en-IN" sz="4400" b="1" i="1" dirty="0">
                <a:solidFill>
                  <a:srgbClr val="FFFF00"/>
                </a:solidFill>
              </a:rPr>
              <a:t>Outsourcing</a:t>
            </a:r>
            <a:r>
              <a:rPr lang="en-IN" sz="4400" b="1" i="1" dirty="0"/>
              <a:t>)</a:t>
            </a:r>
          </a:p>
        </p:txBody>
      </p:sp>
      <p:sp>
        <p:nvSpPr>
          <p:cNvPr id="6" name="TextBox 5">
            <a:extLst>
              <a:ext uri="{FF2B5EF4-FFF2-40B4-BE49-F238E27FC236}">
                <a16:creationId xmlns:a16="http://schemas.microsoft.com/office/drawing/2014/main" id="{C9016171-12A2-D3BE-00B5-98C6ACA06374}"/>
              </a:ext>
            </a:extLst>
          </p:cNvPr>
          <p:cNvSpPr txBox="1"/>
          <p:nvPr/>
        </p:nvSpPr>
        <p:spPr>
          <a:xfrm>
            <a:off x="884903" y="1113195"/>
            <a:ext cx="10928555" cy="5124480"/>
          </a:xfrm>
          <a:prstGeom prst="rect">
            <a:avLst/>
          </a:prstGeom>
          <a:solidFill>
            <a:schemeClr val="accent4">
              <a:lumMod val="20000"/>
              <a:lumOff val="80000"/>
            </a:schemeClr>
          </a:solidFill>
        </p:spPr>
        <p:txBody>
          <a:bodyPr wrap="square">
            <a:spAutoFit/>
          </a:bodyPr>
          <a:lstStyle/>
          <a:p>
            <a:pPr marL="342900" indent="-342900" algn="just">
              <a:spcAft>
                <a:spcPts val="600"/>
              </a:spcAft>
              <a:buFont typeface="Courier New" panose="02070309020205020404" pitchFamily="49" charset="0"/>
              <a:buChar char="o"/>
            </a:pPr>
            <a:r>
              <a:rPr lang="en-IN" sz="2400" b="1" i="1" u="none" strike="noStrike" baseline="0" dirty="0">
                <a:effectLst>
                  <a:outerShdw blurRad="38100" dist="38100" dir="2700000" algn="tl">
                    <a:srgbClr val="000000">
                      <a:alpha val="43137"/>
                    </a:srgbClr>
                  </a:outerShdw>
                </a:effectLst>
                <a:highlight>
                  <a:srgbClr val="00FFFF"/>
                </a:highlight>
              </a:rPr>
              <a:t>OUTSOURCING:</a:t>
            </a:r>
            <a:r>
              <a:rPr lang="en-IN" sz="2400" b="0" i="1" u="none" strike="noStrike" baseline="0" dirty="0"/>
              <a:t>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400" b="1" i="1" dirty="0">
                <a:solidFill>
                  <a:srgbClr val="0000CC"/>
                </a:solidFill>
                <a:effectLst>
                  <a:outerShdw blurRad="38100" dist="38100" dir="2700000" algn="tl">
                    <a:srgbClr val="000000">
                      <a:alpha val="43137"/>
                    </a:srgbClr>
                  </a:outerShdw>
                </a:effectLst>
              </a:rPr>
              <a:t>Hiring a third party to perform a set of tasks for a fee</a:t>
            </a:r>
            <a:r>
              <a:rPr lang="en-US" sz="2400" i="1" dirty="0"/>
              <a:t>. Although </a:t>
            </a:r>
            <a:r>
              <a:rPr lang="en-IN" sz="2400" i="1" dirty="0"/>
              <a:t>companies </a:t>
            </a:r>
            <a:r>
              <a:rPr lang="en-US" sz="2400" i="1" dirty="0"/>
              <a:t>have historically and routinely outsourced certain activities, such as cleaning and record management, they are now outsourcing almost all activities on a much larger scale.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400" i="1" dirty="0"/>
              <a:t>To create superior value for customers by managing their </a:t>
            </a:r>
            <a:r>
              <a:rPr lang="en-US" sz="2400" b="1" i="1" dirty="0">
                <a:solidFill>
                  <a:srgbClr val="0000CC"/>
                </a:solidFill>
                <a:effectLst>
                  <a:outerShdw blurRad="38100" dist="38100" dir="2700000" algn="tl">
                    <a:srgbClr val="000000">
                      <a:alpha val="43137"/>
                    </a:srgbClr>
                  </a:outerShdw>
                </a:effectLst>
              </a:rPr>
              <a:t>core competencies </a:t>
            </a:r>
            <a:r>
              <a:rPr lang="en-US" sz="2400" i="1" dirty="0"/>
              <a:t>(abilities/skills) better than competitors, </a:t>
            </a:r>
            <a:r>
              <a:rPr lang="en-US" sz="2400" i="1" dirty="0" err="1"/>
              <a:t>organisations</a:t>
            </a:r>
            <a:r>
              <a:rPr lang="en-US" sz="2400" i="1" dirty="0"/>
              <a:t> are outsourcing one aspect of the operation, such as shipping, or an entire part of the manufacturing process.</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US" sz="2400" i="1" dirty="0"/>
              <a:t>Manufacturers have outsourced software development and product design to engineers in India, accounting firms have outsourced tax preparation to India, and even some hospitals have outsourced the reading of CAT scans to doctors </a:t>
            </a:r>
            <a:r>
              <a:rPr lang="en-IN" sz="2400" i="1" dirty="0"/>
              <a:t>in India and Australia.</a:t>
            </a:r>
            <a:endParaRPr lang="en-US" sz="2400" i="1" dirty="0"/>
          </a:p>
        </p:txBody>
      </p:sp>
    </p:spTree>
    <p:extLst>
      <p:ext uri="{BB962C8B-B14F-4D97-AF65-F5344CB8AC3E}">
        <p14:creationId xmlns:p14="http://schemas.microsoft.com/office/powerpoint/2010/main" val="3990372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78A0-D8EB-F2A5-5B40-E785AD3A9F33}"/>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A2AD02A3-66CE-D3D4-6E6A-0CFB43EF4CD1}"/>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Trends in SCM (</a:t>
            </a:r>
            <a:r>
              <a:rPr lang="en-IN" sz="4400" b="1" i="1" dirty="0">
                <a:solidFill>
                  <a:srgbClr val="FFFF00"/>
                </a:solidFill>
              </a:rPr>
              <a:t>Information Technology</a:t>
            </a:r>
            <a:r>
              <a:rPr lang="en-IN" sz="4400" b="1" i="1" dirty="0"/>
              <a:t>)</a:t>
            </a:r>
          </a:p>
        </p:txBody>
      </p:sp>
      <p:sp>
        <p:nvSpPr>
          <p:cNvPr id="6" name="TextBox 5">
            <a:extLst>
              <a:ext uri="{FF2B5EF4-FFF2-40B4-BE49-F238E27FC236}">
                <a16:creationId xmlns:a16="http://schemas.microsoft.com/office/drawing/2014/main" id="{1553E7AE-DB4B-FC92-04D9-23D9F043C4AC}"/>
              </a:ext>
            </a:extLst>
          </p:cNvPr>
          <p:cNvSpPr txBox="1"/>
          <p:nvPr/>
        </p:nvSpPr>
        <p:spPr>
          <a:xfrm>
            <a:off x="884903" y="1039455"/>
            <a:ext cx="10928555" cy="5586145"/>
          </a:xfrm>
          <a:prstGeom prst="rect">
            <a:avLst/>
          </a:prstGeom>
          <a:solidFill>
            <a:schemeClr val="accent4">
              <a:lumMod val="20000"/>
              <a:lumOff val="80000"/>
            </a:schemeClr>
          </a:solidFill>
        </p:spPr>
        <p:txBody>
          <a:bodyPr wrap="square">
            <a:spAutoFit/>
          </a:bodyPr>
          <a:lstStyle/>
          <a:p>
            <a:pPr marL="342900" indent="-342900" algn="just">
              <a:spcAft>
                <a:spcPts val="600"/>
              </a:spcAft>
              <a:buFont typeface="Courier New" panose="02070309020205020404" pitchFamily="49" charset="0"/>
              <a:buChar char="o"/>
            </a:pPr>
            <a:r>
              <a:rPr lang="en-IN" sz="2200" b="1" i="1" u="none" strike="noStrike" baseline="0" dirty="0">
                <a:effectLst>
                  <a:outerShdw blurRad="38100" dist="38100" dir="2700000" algn="tl">
                    <a:srgbClr val="000000">
                      <a:alpha val="43137"/>
                    </a:srgbClr>
                  </a:outerShdw>
                </a:effectLst>
                <a:highlight>
                  <a:srgbClr val="00FFFF"/>
                </a:highlight>
              </a:rPr>
              <a:t>INFORMATION TECHNOLOGY:</a:t>
            </a:r>
            <a:r>
              <a:rPr lang="en-IN" sz="2200" b="0" i="1" u="none" strike="noStrike" baseline="0" dirty="0"/>
              <a:t> </a:t>
            </a:r>
          </a:p>
          <a:p>
            <a:pPr marL="800100" lvl="1" indent="-342900" algn="just">
              <a:spcAft>
                <a:spcPts val="600"/>
              </a:spcAft>
              <a:buBlip>
                <a:blip r:embed="rId2">
                  <a:extLst>
                    <a:ext uri="{96DAC541-7B7A-43D3-8B79-37D633B846F1}">
                      <asvg:svgBlip xmlns:asvg="http://schemas.microsoft.com/office/drawing/2016/SVG/main" r:embed="rId3"/>
                    </a:ext>
                  </a:extLst>
                </a:blip>
              </a:buBlip>
            </a:pPr>
            <a:r>
              <a:rPr lang="en-IN" sz="2200" i="1" dirty="0"/>
              <a:t>Technological </a:t>
            </a:r>
            <a:r>
              <a:rPr lang="en-US" sz="2200" i="1" dirty="0"/>
              <a:t>advances have enabled companies to produce products faster, with better quality, and </a:t>
            </a:r>
            <a:r>
              <a:rPr lang="en-IN" sz="2200" i="1" dirty="0"/>
              <a:t>at a lower cost. </a:t>
            </a:r>
            <a:r>
              <a:rPr lang="en-US" sz="2200" i="1" dirty="0"/>
              <a:t>Information Technology helps in coordinating among supply chain members.</a:t>
            </a:r>
          </a:p>
          <a:p>
            <a:pPr marL="1257300" lvl="2" indent="-342900" algn="just">
              <a:spcAft>
                <a:spcPts val="600"/>
              </a:spcAft>
              <a:buBlip>
                <a:blip r:embed="rId4">
                  <a:extLst>
                    <a:ext uri="{96DAC541-7B7A-43D3-8B79-37D633B846F1}">
                      <asvg:svgBlip xmlns:asvg="http://schemas.microsoft.com/office/drawing/2016/SVG/main" r:embed="rId5"/>
                    </a:ext>
                  </a:extLst>
                </a:blip>
              </a:buBlip>
            </a:pPr>
            <a:r>
              <a:rPr lang="en-US" sz="2200" b="1" i="1" dirty="0">
                <a:solidFill>
                  <a:srgbClr val="FF0000"/>
                </a:solidFill>
                <a:effectLst>
                  <a:outerShdw blurRad="38100" dist="38100" dir="2700000" algn="tl">
                    <a:srgbClr val="000000">
                      <a:alpha val="43137"/>
                    </a:srgbClr>
                  </a:outerShdw>
                </a:effectLst>
              </a:rPr>
              <a:t>Internet</a:t>
            </a:r>
            <a:r>
              <a:rPr lang="en-US" sz="2200" i="1" dirty="0"/>
              <a:t> </a:t>
            </a:r>
            <a:r>
              <a:rPr lang="en-US" sz="2200" b="1" i="1" dirty="0">
                <a:solidFill>
                  <a:srgbClr val="0000CC"/>
                </a:solidFill>
                <a:effectLst>
                  <a:outerShdw blurRad="38100" dist="38100" dir="2700000" algn="tl">
                    <a:srgbClr val="000000">
                      <a:alpha val="43137"/>
                    </a:srgbClr>
                  </a:outerShdw>
                </a:effectLst>
              </a:rPr>
              <a:t>connects trading partners</a:t>
            </a:r>
            <a:r>
              <a:rPr lang="en-US" sz="2200" i="1" dirty="0"/>
              <a:t>—customers, buyers, and suppliers—and has enabled e-commerce and the virtual marketplace.</a:t>
            </a:r>
          </a:p>
          <a:p>
            <a:pPr marL="1257300" lvl="2" indent="-342900" algn="just">
              <a:spcAft>
                <a:spcPts val="600"/>
              </a:spcAft>
              <a:buBlip>
                <a:blip r:embed="rId4">
                  <a:extLst>
                    <a:ext uri="{96DAC541-7B7A-43D3-8B79-37D633B846F1}">
                      <asvg:svgBlip xmlns:asvg="http://schemas.microsoft.com/office/drawing/2016/SVG/main" r:embed="rId5"/>
                    </a:ext>
                  </a:extLst>
                </a:blip>
              </a:buBlip>
            </a:pPr>
            <a:r>
              <a:rPr lang="en-IN" sz="2000" b="1" i="1" dirty="0">
                <a:solidFill>
                  <a:srgbClr val="FF0000"/>
                </a:solidFill>
                <a:effectLst>
                  <a:outerShdw blurRad="38100" dist="38100" dir="2700000" algn="tl">
                    <a:srgbClr val="000000">
                      <a:alpha val="43137"/>
                    </a:srgbClr>
                  </a:outerShdw>
                </a:effectLst>
              </a:rPr>
              <a:t>ERP</a:t>
            </a:r>
            <a:r>
              <a:rPr lang="en-IN" sz="2000" i="1" dirty="0"/>
              <a:t> (</a:t>
            </a:r>
            <a:r>
              <a:rPr lang="en-IN" sz="2000" b="1" i="1" dirty="0">
                <a:solidFill>
                  <a:srgbClr val="0000CC"/>
                </a:solidFill>
                <a:effectLst>
                  <a:outerShdw blurRad="38100" dist="38100" dir="2700000" algn="tl">
                    <a:srgbClr val="000000">
                      <a:alpha val="43137"/>
                    </a:srgbClr>
                  </a:outerShdw>
                </a:effectLst>
              </a:rPr>
              <a:t>large software programs) used </a:t>
            </a:r>
            <a:r>
              <a:rPr lang="en-US" sz="2000" b="1" i="1" dirty="0">
                <a:solidFill>
                  <a:srgbClr val="0000CC"/>
                </a:solidFill>
                <a:effectLst>
                  <a:outerShdw blurRad="38100" dist="38100" dir="2700000" algn="tl">
                    <a:srgbClr val="000000">
                      <a:alpha val="43137"/>
                    </a:srgbClr>
                  </a:outerShdw>
                </a:effectLst>
              </a:rPr>
              <a:t>for planning and coordinating all resources throughout the entire enterprise</a:t>
            </a:r>
            <a:r>
              <a:rPr lang="en-US" sz="2000" i="1" dirty="0"/>
              <a:t>. They allow data sharing and communication within and outside of the firm, </a:t>
            </a:r>
            <a:r>
              <a:rPr lang="en-IN" sz="2000" i="1" dirty="0"/>
              <a:t>enabling collaborative decision-making.</a:t>
            </a:r>
          </a:p>
          <a:p>
            <a:pPr marL="1257300" lvl="2" indent="-342900" algn="just">
              <a:spcAft>
                <a:spcPts val="600"/>
              </a:spcAft>
              <a:buBlip>
                <a:blip r:embed="rId4">
                  <a:extLst>
                    <a:ext uri="{96DAC541-7B7A-43D3-8B79-37D633B846F1}">
                      <asvg:svgBlip xmlns:asvg="http://schemas.microsoft.com/office/drawing/2016/SVG/main" r:embed="rId5"/>
                    </a:ext>
                  </a:extLst>
                </a:blip>
              </a:buBlip>
            </a:pPr>
            <a:r>
              <a:rPr lang="en-IN" sz="2000" b="1" i="1" dirty="0">
                <a:solidFill>
                  <a:srgbClr val="FF0000"/>
                </a:solidFill>
                <a:effectLst>
                  <a:outerShdw blurRad="38100" dist="38100" dir="2700000" algn="tl">
                    <a:srgbClr val="000000">
                      <a:alpha val="43137"/>
                    </a:srgbClr>
                  </a:outerShdw>
                </a:effectLst>
              </a:rPr>
              <a:t>GPS - </a:t>
            </a:r>
            <a:r>
              <a:rPr lang="en-IN" sz="2000" i="1" dirty="0"/>
              <a:t>a type of </a:t>
            </a:r>
            <a:r>
              <a:rPr lang="en-IN" sz="2000" b="1" i="1" dirty="0">
                <a:solidFill>
                  <a:srgbClr val="0000CC"/>
                </a:solidFill>
                <a:effectLst>
                  <a:outerShdw blurRad="38100" dist="38100" dir="2700000" algn="tl">
                    <a:srgbClr val="000000">
                      <a:alpha val="43137"/>
                    </a:srgbClr>
                  </a:outerShdw>
                </a:effectLst>
              </a:rPr>
              <a:t>wireless technology that uses satellite transmission to communicate exact locations</a:t>
            </a:r>
            <a:r>
              <a:rPr lang="en-IN" sz="2000" i="1" dirty="0"/>
              <a:t>, and helps in logistics. Trucking companies use GPS </a:t>
            </a:r>
            <a:r>
              <a:rPr lang="en-US" sz="2000" i="1" dirty="0"/>
              <a:t>technology to identify the exact location of their vehicles.</a:t>
            </a:r>
          </a:p>
          <a:p>
            <a:pPr marL="1257300" lvl="2" indent="-342900" algn="just">
              <a:spcAft>
                <a:spcPts val="600"/>
              </a:spcAft>
              <a:buBlip>
                <a:blip r:embed="rId4">
                  <a:extLst>
                    <a:ext uri="{96DAC541-7B7A-43D3-8B79-37D633B846F1}">
                      <asvg:svgBlip xmlns:asvg="http://schemas.microsoft.com/office/drawing/2016/SVG/main" r:embed="rId5"/>
                    </a:ext>
                  </a:extLst>
                </a:blip>
              </a:buBlip>
            </a:pPr>
            <a:r>
              <a:rPr lang="en-US" sz="2000" b="1" i="1" dirty="0">
                <a:solidFill>
                  <a:srgbClr val="FF0000"/>
                </a:solidFill>
                <a:effectLst>
                  <a:outerShdw blurRad="38100" dist="38100" dir="2700000" algn="tl">
                    <a:srgbClr val="000000">
                      <a:alpha val="43137"/>
                    </a:srgbClr>
                  </a:outerShdw>
                </a:effectLst>
              </a:rPr>
              <a:t>RFID</a:t>
            </a:r>
            <a:r>
              <a:rPr lang="en-US" sz="2000" i="1" dirty="0"/>
              <a:t> - </a:t>
            </a:r>
            <a:r>
              <a:rPr lang="en-IN" sz="2000" i="1" dirty="0"/>
              <a:t>a type of </a:t>
            </a:r>
            <a:r>
              <a:rPr lang="en-IN" sz="2000" b="1" i="1" dirty="0">
                <a:solidFill>
                  <a:srgbClr val="0000CC"/>
                </a:solidFill>
                <a:effectLst>
                  <a:outerShdw blurRad="38100" dist="38100" dir="2700000" algn="tl">
                    <a:srgbClr val="000000">
                      <a:alpha val="43137"/>
                    </a:srgbClr>
                  </a:outerShdw>
                </a:effectLst>
              </a:rPr>
              <a:t>wireless technology that uses memory chips </a:t>
            </a:r>
            <a:r>
              <a:rPr lang="en-US" sz="2000" b="1" i="1" dirty="0">
                <a:solidFill>
                  <a:srgbClr val="0000CC"/>
                </a:solidFill>
                <a:effectLst>
                  <a:outerShdw blurRad="38100" dist="38100" dir="2700000" algn="tl">
                    <a:srgbClr val="000000">
                      <a:alpha val="43137"/>
                    </a:srgbClr>
                  </a:outerShdw>
                </a:effectLst>
              </a:rPr>
              <a:t>equipped with tiny radio antennas that can be attached to objects to transmit streams of data</a:t>
            </a:r>
            <a:r>
              <a:rPr lang="en-US" sz="2000" i="1" dirty="0"/>
              <a:t>, such as product movement, reveal a missing product’s location, or track shipments</a:t>
            </a:r>
            <a:r>
              <a:rPr lang="en-IN" sz="2000" i="1" dirty="0"/>
              <a:t> and their arrival, in a real time basis.</a:t>
            </a:r>
            <a:endParaRPr lang="en-US" sz="2200" i="1" dirty="0"/>
          </a:p>
        </p:txBody>
      </p:sp>
    </p:spTree>
    <p:extLst>
      <p:ext uri="{BB962C8B-B14F-4D97-AF65-F5344CB8AC3E}">
        <p14:creationId xmlns:p14="http://schemas.microsoft.com/office/powerpoint/2010/main" val="2394100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7883-4F90-9801-AC76-5D07D4C8C803}"/>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61575185-59E9-F8F1-4171-A154C03AB337}"/>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t>Trends in SCM (</a:t>
            </a:r>
            <a:r>
              <a:rPr lang="en-IN" sz="4400" b="1" i="1" dirty="0">
                <a:solidFill>
                  <a:srgbClr val="FFFF00"/>
                </a:solidFill>
              </a:rPr>
              <a:t>Big data Analytics</a:t>
            </a:r>
            <a:r>
              <a:rPr lang="en-IN" sz="4400" b="1" i="1" dirty="0"/>
              <a:t>)</a:t>
            </a:r>
          </a:p>
        </p:txBody>
      </p:sp>
      <p:sp>
        <p:nvSpPr>
          <p:cNvPr id="6" name="TextBox 5">
            <a:extLst>
              <a:ext uri="{FF2B5EF4-FFF2-40B4-BE49-F238E27FC236}">
                <a16:creationId xmlns:a16="http://schemas.microsoft.com/office/drawing/2014/main" id="{A030FC5C-280A-E816-959E-D2748DFFC9DA}"/>
              </a:ext>
            </a:extLst>
          </p:cNvPr>
          <p:cNvSpPr txBox="1"/>
          <p:nvPr/>
        </p:nvSpPr>
        <p:spPr>
          <a:xfrm>
            <a:off x="663680" y="1098447"/>
            <a:ext cx="11326759" cy="5632311"/>
          </a:xfrm>
          <a:prstGeom prst="rect">
            <a:avLst/>
          </a:prstGeom>
          <a:solidFill>
            <a:schemeClr val="accent4">
              <a:lumMod val="20000"/>
              <a:lumOff val="80000"/>
            </a:schemeClr>
          </a:solidFill>
        </p:spPr>
        <p:txBody>
          <a:bodyPr wrap="square">
            <a:spAutoFit/>
          </a:bodyPr>
          <a:lstStyle/>
          <a:p>
            <a:pPr marL="342900" indent="-342900" algn="just">
              <a:buFont typeface="Courier New" panose="02070309020205020404" pitchFamily="49" charset="0"/>
              <a:buChar char="o"/>
            </a:pPr>
            <a:r>
              <a:rPr lang="en-IN" sz="2000" b="1" i="1" u="none" strike="noStrike" baseline="0" dirty="0">
                <a:effectLst>
                  <a:outerShdw blurRad="38100" dist="38100" dir="2700000" algn="tl">
                    <a:srgbClr val="000000">
                      <a:alpha val="43137"/>
                    </a:srgbClr>
                  </a:outerShdw>
                </a:effectLst>
                <a:highlight>
                  <a:srgbClr val="00FFFF"/>
                </a:highlight>
              </a:rPr>
              <a:t>BIG DATA:</a:t>
            </a:r>
            <a:r>
              <a:rPr lang="en-IN" sz="2000" i="1" dirty="0">
                <a:effectLst>
                  <a:outerShdw blurRad="38100" dist="38100" dir="2700000" algn="tl">
                    <a:srgbClr val="000000">
                      <a:alpha val="43137"/>
                    </a:srgbClr>
                  </a:outerShdw>
                </a:effectLst>
                <a:highlight>
                  <a:srgbClr val="00FFFF"/>
                </a:highlight>
              </a:rPr>
              <a:t> </a:t>
            </a:r>
            <a:r>
              <a:rPr lang="en-IN" sz="2000" b="1" i="1" dirty="0">
                <a:solidFill>
                  <a:srgbClr val="0000CC"/>
                </a:solidFill>
                <a:effectLst>
                  <a:outerShdw blurRad="38100" dist="38100" dir="2700000" algn="tl">
                    <a:srgbClr val="000000">
                      <a:alpha val="43137"/>
                    </a:srgbClr>
                  </a:outerShdw>
                </a:effectLst>
              </a:rPr>
              <a:t>Large data sets </a:t>
            </a:r>
            <a:r>
              <a:rPr lang="en-IN" sz="2000" i="1" dirty="0"/>
              <a:t>(</a:t>
            </a:r>
            <a:r>
              <a:rPr lang="en-US" sz="2000" i="1" dirty="0"/>
              <a:t>point-of-sale data, RFID data, GPS data, call </a:t>
            </a:r>
            <a:r>
              <a:rPr lang="en-US" sz="2000" i="1" dirty="0" err="1"/>
              <a:t>centre</a:t>
            </a:r>
            <a:r>
              <a:rPr lang="en-IN" sz="2000" i="1" dirty="0"/>
              <a:t> data, </a:t>
            </a:r>
            <a:r>
              <a:rPr lang="en-US" sz="2000" i="1" dirty="0"/>
              <a:t>Twitter feeds, </a:t>
            </a:r>
            <a:r>
              <a:rPr lang="en-IN" sz="2000" i="1" dirty="0"/>
              <a:t>and consumer blogs) </a:t>
            </a:r>
            <a:r>
              <a:rPr lang="en-IN" sz="2000" b="1" i="1" dirty="0">
                <a:solidFill>
                  <a:srgbClr val="0000CC"/>
                </a:solidFill>
                <a:effectLst>
                  <a:outerShdw blurRad="38100" dist="38100" dir="2700000" algn="tl">
                    <a:srgbClr val="000000">
                      <a:alpha val="43137"/>
                    </a:srgbClr>
                  </a:outerShdw>
                </a:effectLst>
              </a:rPr>
              <a:t>whose size is so large that the quantity can no longer fit into the memory of the computers used for processing</a:t>
            </a:r>
            <a:r>
              <a:rPr lang="en-IN" sz="2000" i="1" dirty="0"/>
              <a:t>. Thus, Big Data </a:t>
            </a:r>
            <a:r>
              <a:rPr lang="en-US" sz="2000" i="1" dirty="0"/>
              <a:t>encompasses an </a:t>
            </a:r>
            <a:r>
              <a:rPr lang="en-US" sz="2000" b="1" i="1" dirty="0">
                <a:solidFill>
                  <a:srgbClr val="FF0000"/>
                </a:solidFill>
                <a:highlight>
                  <a:srgbClr val="FFFF00"/>
                </a:highlight>
              </a:rPr>
              <a:t>extensive and diverse collection of data</a:t>
            </a:r>
            <a:r>
              <a:rPr lang="en-US" sz="2000" i="1" dirty="0"/>
              <a:t>.</a:t>
            </a:r>
            <a:r>
              <a:rPr lang="en-IN" sz="2000" i="1" dirty="0"/>
              <a:t> </a:t>
            </a:r>
          </a:p>
          <a:p>
            <a:pPr marL="342900" lvl="1" indent="-342900" algn="just">
              <a:buFont typeface="Courier New" panose="02070309020205020404" pitchFamily="49" charset="0"/>
              <a:buChar char="o"/>
            </a:pPr>
            <a:r>
              <a:rPr lang="en-IN" sz="2000" b="1" i="1" dirty="0">
                <a:effectLst>
                  <a:outerShdw blurRad="38100" dist="38100" dir="2700000" algn="tl">
                    <a:srgbClr val="000000">
                      <a:alpha val="43137"/>
                    </a:srgbClr>
                  </a:outerShdw>
                </a:effectLst>
                <a:highlight>
                  <a:srgbClr val="00FFFF"/>
                </a:highlight>
              </a:rPr>
              <a:t>ANALYTICS: </a:t>
            </a:r>
            <a:r>
              <a:rPr lang="en-IN" sz="2000" i="1" dirty="0"/>
              <a:t>Applying </a:t>
            </a:r>
            <a:r>
              <a:rPr lang="en-IN" sz="2000" b="1" i="1" dirty="0">
                <a:solidFill>
                  <a:srgbClr val="0000CC"/>
                </a:solidFill>
                <a:effectLst>
                  <a:outerShdw blurRad="38100" dist="38100" dir="2700000" algn="tl">
                    <a:srgbClr val="000000">
                      <a:alpha val="43137"/>
                    </a:srgbClr>
                  </a:outerShdw>
                </a:effectLst>
              </a:rPr>
              <a:t>Math &amp; statistics to the large data sets for analysis</a:t>
            </a:r>
            <a:r>
              <a:rPr lang="en-IN" sz="2000" i="1" dirty="0"/>
              <a:t>. Statistical tools such as Correlation and Regression analysis, used for decades for data analysis, are not suitable for analysing and predicting from Big Data collected from diverse sources.  </a:t>
            </a:r>
          </a:p>
          <a:p>
            <a:pPr marL="342900" lvl="1" indent="-342900" algn="just">
              <a:buFont typeface="Courier New" panose="02070309020205020404" pitchFamily="49" charset="0"/>
              <a:buChar char="o"/>
            </a:pPr>
            <a:r>
              <a:rPr lang="en-IN" sz="2000" b="1" i="1" dirty="0">
                <a:effectLst>
                  <a:outerShdw blurRad="38100" dist="38100" dir="2700000" algn="tl">
                    <a:srgbClr val="000000">
                      <a:alpha val="43137"/>
                    </a:srgbClr>
                  </a:outerShdw>
                </a:effectLst>
                <a:highlight>
                  <a:srgbClr val="00FFFF"/>
                </a:highlight>
              </a:rPr>
              <a:t>BIG DATA ANALYTICS: </a:t>
            </a:r>
            <a:r>
              <a:rPr lang="en-US" sz="2000" i="1" dirty="0"/>
              <a:t>Processes that </a:t>
            </a:r>
            <a:r>
              <a:rPr lang="en-US" sz="2000" i="1" dirty="0" err="1"/>
              <a:t>organisations</a:t>
            </a:r>
            <a:r>
              <a:rPr lang="en-US" sz="2000" i="1" dirty="0"/>
              <a:t> use to derive value from their big data. Big data analytics using Machine Learning (ML), Artificial Intelligence (AI), and Internet of Things (IOT) to identify and study patterns, correlations and trends within large datasets.</a:t>
            </a:r>
            <a:endParaRPr lang="en-IN" sz="2000" i="1" dirty="0"/>
          </a:p>
          <a:p>
            <a:pPr marL="342900" lvl="1" indent="-342900" algn="just">
              <a:buFont typeface="Courier New" panose="02070309020205020404" pitchFamily="49" charset="0"/>
              <a:buChar char="o"/>
            </a:pPr>
            <a:r>
              <a:rPr lang="en-IN" sz="2000" b="1" i="1" dirty="0">
                <a:effectLst>
                  <a:outerShdw blurRad="38100" dist="38100" dir="2700000" algn="tl">
                    <a:srgbClr val="000000">
                      <a:alpha val="43137"/>
                    </a:srgbClr>
                  </a:outerShdw>
                </a:effectLst>
                <a:highlight>
                  <a:srgbClr val="00FFFF"/>
                </a:highlight>
              </a:rPr>
              <a:t> TODAY’S COMPUTING POWERS:</a:t>
            </a:r>
          </a:p>
          <a:p>
            <a:pPr marL="800100" lvl="1" indent="-342900" algn="just">
              <a:buBlip>
                <a:blip r:embed="rId2">
                  <a:extLst>
                    <a:ext uri="{96DAC541-7B7A-43D3-8B79-37D633B846F1}">
                      <asvg:svgBlip xmlns:asvg="http://schemas.microsoft.com/office/drawing/2016/SVG/main" r:embed="rId3"/>
                    </a:ext>
                  </a:extLst>
                </a:blip>
              </a:buBlip>
            </a:pPr>
            <a:r>
              <a:rPr lang="en-US" sz="2000" b="1" i="1" dirty="0">
                <a:solidFill>
                  <a:srgbClr val="0000CC"/>
                </a:solidFill>
                <a:effectLst>
                  <a:outerShdw blurRad="38100" dist="38100" dir="2700000" algn="tl">
                    <a:srgbClr val="000000">
                      <a:alpha val="43137"/>
                    </a:srgbClr>
                  </a:outerShdw>
                </a:effectLst>
              </a:rPr>
              <a:t>AI &amp; ML </a:t>
            </a:r>
            <a:r>
              <a:rPr lang="en-US" sz="2000" i="1" dirty="0"/>
              <a:t>(Artificial Intelligence &amp; Machine Learning): </a:t>
            </a:r>
            <a:r>
              <a:rPr lang="en-US" sz="2000" b="1" i="1" dirty="0">
                <a:solidFill>
                  <a:srgbClr val="0000CC"/>
                </a:solidFill>
                <a:effectLst>
                  <a:outerShdw blurRad="38100" dist="38100" dir="2700000" algn="tl">
                    <a:srgbClr val="000000">
                      <a:alpha val="43137"/>
                    </a:srgbClr>
                  </a:outerShdw>
                </a:effectLst>
              </a:rPr>
              <a:t>Develops algorithms that possess the remarkable ability to learn from data and apply the acquired knowledge to make data-driven predictions/forecasts</a:t>
            </a:r>
            <a:r>
              <a:rPr lang="en-US" sz="2000" i="1" dirty="0"/>
              <a:t>, such as customer demand, market prediction, with higher accuracy and speed to </a:t>
            </a:r>
            <a:r>
              <a:rPr lang="en-US" sz="2000" i="1" dirty="0" err="1"/>
              <a:t>maximise</a:t>
            </a:r>
            <a:r>
              <a:rPr lang="en-US" sz="2000" i="1" dirty="0"/>
              <a:t> competitive advantage.</a:t>
            </a:r>
          </a:p>
          <a:p>
            <a:pPr marL="800100" lvl="1" indent="-342900" algn="just">
              <a:buBlip>
                <a:blip r:embed="rId2">
                  <a:extLst>
                    <a:ext uri="{96DAC541-7B7A-43D3-8B79-37D633B846F1}">
                      <asvg:svgBlip xmlns:asvg="http://schemas.microsoft.com/office/drawing/2016/SVG/main" r:embed="rId3"/>
                    </a:ext>
                  </a:extLst>
                </a:blip>
              </a:buBlip>
            </a:pPr>
            <a:r>
              <a:rPr lang="en-US" sz="2000" b="1" i="1" dirty="0">
                <a:solidFill>
                  <a:srgbClr val="0000CC"/>
                </a:solidFill>
                <a:effectLst>
                  <a:outerShdw blurRad="38100" dist="38100" dir="2700000" algn="tl">
                    <a:srgbClr val="000000">
                      <a:alpha val="43137"/>
                    </a:srgbClr>
                  </a:outerShdw>
                </a:effectLst>
              </a:rPr>
              <a:t>IOT </a:t>
            </a:r>
            <a:r>
              <a:rPr lang="en-US" sz="2000" i="1" dirty="0"/>
              <a:t>(Internet of Things): a </a:t>
            </a:r>
            <a:r>
              <a:rPr lang="en-US" sz="2000" b="1" i="1" dirty="0">
                <a:solidFill>
                  <a:srgbClr val="0000CC"/>
                </a:solidFill>
                <a:effectLst>
                  <a:outerShdw blurRad="38100" dist="38100" dir="2700000" algn="tl">
                    <a:srgbClr val="000000">
                      <a:alpha val="43137"/>
                    </a:srgbClr>
                  </a:outerShdw>
                </a:effectLst>
              </a:rPr>
              <a:t>network of physical devices, vehicles, appliances, and other physical objects that are embedded with sensors, software, and network connectivity, like RFID, allowing them to collect and share data. </a:t>
            </a:r>
            <a:r>
              <a:rPr lang="en-US" sz="2000" i="1" dirty="0"/>
              <a:t>IOT tracks real-time location, monitors storage conditions (environmental conditions), locates goods within the warehouse, and much more.</a:t>
            </a:r>
          </a:p>
        </p:txBody>
      </p:sp>
    </p:spTree>
    <p:extLst>
      <p:ext uri="{BB962C8B-B14F-4D97-AF65-F5344CB8AC3E}">
        <p14:creationId xmlns:p14="http://schemas.microsoft.com/office/powerpoint/2010/main" val="2978151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84856-20AF-2A9F-7E68-4380E1A6152D}"/>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63AAC5BF-93A8-22B4-F694-94C90ED2615D}"/>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i="1" dirty="0"/>
              <a:t>Trends in SCM (</a:t>
            </a:r>
            <a:r>
              <a:rPr lang="en-IN" sz="3600" b="1" i="1" dirty="0">
                <a:solidFill>
                  <a:srgbClr val="FFFF00"/>
                </a:solidFill>
              </a:rPr>
              <a:t>Mass Customisation &amp; Postponement</a:t>
            </a:r>
            <a:r>
              <a:rPr lang="en-IN" sz="3600" b="1" i="1" dirty="0"/>
              <a:t>)</a:t>
            </a:r>
          </a:p>
        </p:txBody>
      </p:sp>
      <p:sp>
        <p:nvSpPr>
          <p:cNvPr id="6" name="TextBox 5">
            <a:extLst>
              <a:ext uri="{FF2B5EF4-FFF2-40B4-BE49-F238E27FC236}">
                <a16:creationId xmlns:a16="http://schemas.microsoft.com/office/drawing/2014/main" id="{4F82DD27-FC8D-8F0F-E23F-199B619A3D72}"/>
              </a:ext>
            </a:extLst>
          </p:cNvPr>
          <p:cNvSpPr txBox="1"/>
          <p:nvPr/>
        </p:nvSpPr>
        <p:spPr>
          <a:xfrm>
            <a:off x="707924" y="1113195"/>
            <a:ext cx="11238270" cy="5001369"/>
          </a:xfrm>
          <a:prstGeom prst="rect">
            <a:avLst/>
          </a:prstGeom>
          <a:solidFill>
            <a:schemeClr val="accent4">
              <a:lumMod val="20000"/>
              <a:lumOff val="80000"/>
            </a:schemeClr>
          </a:solidFill>
        </p:spPr>
        <p:txBody>
          <a:bodyPr wrap="square">
            <a:spAutoFit/>
          </a:bodyPr>
          <a:lstStyle/>
          <a:p>
            <a:pPr marL="342900" indent="-342900" algn="just">
              <a:spcAft>
                <a:spcPts val="1200"/>
              </a:spcAft>
              <a:buFont typeface="Courier New" panose="02070309020205020404" pitchFamily="49" charset="0"/>
              <a:buChar char="o"/>
            </a:pPr>
            <a:r>
              <a:rPr lang="en-US" sz="2300" i="1" dirty="0"/>
              <a:t>In the era of </a:t>
            </a:r>
            <a:r>
              <a:rPr lang="en-US" sz="2300" i="1" dirty="0" err="1"/>
              <a:t>globalisation</a:t>
            </a:r>
            <a:r>
              <a:rPr lang="en-US" sz="2300" i="1" dirty="0"/>
              <a:t>, companies are continually struggling to reach global markets while providing local </a:t>
            </a:r>
            <a:r>
              <a:rPr lang="en-US" sz="2300" i="1" dirty="0" err="1"/>
              <a:t>customisation</a:t>
            </a:r>
            <a:r>
              <a:rPr lang="en-US" sz="2300" i="1" dirty="0"/>
              <a:t>, i.e., washing machine companies are providing top-loading machines to the French, front-loading machines to the British, high-speed spins to the Germans, and lower speed spins to the Italians.</a:t>
            </a:r>
          </a:p>
          <a:p>
            <a:pPr marL="342900" indent="-342900" algn="just">
              <a:spcAft>
                <a:spcPts val="1200"/>
              </a:spcAft>
              <a:buFont typeface="Courier New" panose="02070309020205020404" pitchFamily="49" charset="0"/>
              <a:buChar char="o"/>
            </a:pPr>
            <a:r>
              <a:rPr lang="en-US" sz="2300" i="1" dirty="0"/>
              <a:t>To reach diverse geographic areas catering for local tastes and preferences, global companies adopt the strategy of </a:t>
            </a:r>
            <a:r>
              <a:rPr lang="en-US" sz="2300" b="1" i="1" dirty="0">
                <a:highlight>
                  <a:srgbClr val="00FFFF"/>
                </a:highlight>
              </a:rPr>
              <a:t>MASS CUSTOMIZATION </a:t>
            </a:r>
            <a:r>
              <a:rPr lang="en-US" sz="2300" i="1" dirty="0"/>
              <a:t>(</a:t>
            </a:r>
            <a:r>
              <a:rPr lang="en-US" sz="2300" b="1" i="1" dirty="0">
                <a:solidFill>
                  <a:srgbClr val="0000CC"/>
                </a:solidFill>
                <a:effectLst>
                  <a:outerShdw blurRad="38100" dist="38100" dir="2700000" algn="tl">
                    <a:srgbClr val="000000">
                      <a:alpha val="43137"/>
                    </a:srgbClr>
                  </a:outerShdw>
                </a:effectLst>
              </a:rPr>
              <a:t>customer-oriented and </a:t>
            </a:r>
            <a:r>
              <a:rPr lang="en-US" sz="2300" b="1" i="1" dirty="0" err="1">
                <a:solidFill>
                  <a:srgbClr val="0000CC"/>
                </a:solidFill>
                <a:effectLst>
                  <a:outerShdw blurRad="38100" dist="38100" dir="2700000" algn="tl">
                    <a:srgbClr val="000000">
                      <a:alpha val="43137"/>
                    </a:srgbClr>
                  </a:outerShdw>
                </a:effectLst>
              </a:rPr>
              <a:t>individualised</a:t>
            </a:r>
            <a:r>
              <a:rPr lang="en-US" sz="2300" b="1" i="1" dirty="0">
                <a:solidFill>
                  <a:srgbClr val="0000CC"/>
                </a:solidFill>
                <a:effectLst>
                  <a:outerShdw blurRad="38100" dist="38100" dir="2700000" algn="tl">
                    <a:srgbClr val="000000">
                      <a:alpha val="43137"/>
                    </a:srgbClr>
                  </a:outerShdw>
                </a:effectLst>
              </a:rPr>
              <a:t> mass production that meets the diverse needs of each customer while maintaining costs comparable to those of standard mass-produced products</a:t>
            </a:r>
            <a:r>
              <a:rPr lang="en-US" sz="2300" i="1" dirty="0"/>
              <a:t>). For this purpose, companies </a:t>
            </a:r>
            <a:r>
              <a:rPr lang="en-US" sz="2300" b="1" i="1" dirty="0">
                <a:highlight>
                  <a:srgbClr val="00FFFF"/>
                </a:highlight>
              </a:rPr>
              <a:t>POSTPONE </a:t>
            </a:r>
            <a:r>
              <a:rPr lang="en-US" sz="2300" i="1" dirty="0"/>
              <a:t>(delay) the completion of the final product to the last possible moment till local demands are known with greater certainty.  </a:t>
            </a:r>
          </a:p>
          <a:p>
            <a:pPr marL="342900" indent="-342900" algn="just">
              <a:spcAft>
                <a:spcPts val="1200"/>
              </a:spcAft>
              <a:buFont typeface="Courier New" panose="02070309020205020404" pitchFamily="49" charset="0"/>
              <a:buChar char="o"/>
            </a:pPr>
            <a:r>
              <a:rPr lang="en-US" sz="2300" i="1" dirty="0"/>
              <a:t>To achieve the strategy of Mass </a:t>
            </a:r>
            <a:r>
              <a:rPr lang="en-US" sz="2300" i="1" dirty="0" err="1"/>
              <a:t>Customisation</a:t>
            </a:r>
            <a:r>
              <a:rPr lang="en-US" sz="2300" i="1" dirty="0"/>
              <a:t>, the company seek </a:t>
            </a:r>
            <a:r>
              <a:rPr lang="en-US" sz="2300" i="1" dirty="0" err="1"/>
              <a:t>standardised</a:t>
            </a:r>
            <a:r>
              <a:rPr lang="en-US" sz="2300" i="1" dirty="0"/>
              <a:t> parts, components and modules, and then, through flexible manufacturing and logistics, provides specific product demands at each market. </a:t>
            </a:r>
          </a:p>
        </p:txBody>
      </p:sp>
    </p:spTree>
    <p:extLst>
      <p:ext uri="{BB962C8B-B14F-4D97-AF65-F5344CB8AC3E}">
        <p14:creationId xmlns:p14="http://schemas.microsoft.com/office/powerpoint/2010/main" val="2826430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7977C-28F5-1D32-AD0A-9805227E2609}"/>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A86E5FF2-7A39-EE9C-B193-BFDB34450D73}"/>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i="1" dirty="0"/>
              <a:t>Trends in SCM (</a:t>
            </a:r>
            <a:r>
              <a:rPr lang="en-IN" sz="3600" b="1" i="1" dirty="0">
                <a:solidFill>
                  <a:srgbClr val="FFFF00"/>
                </a:solidFill>
              </a:rPr>
              <a:t>Sustainability and Green Supply Chain</a:t>
            </a:r>
            <a:r>
              <a:rPr lang="en-IN" sz="3600" b="1" i="1" dirty="0"/>
              <a:t>)</a:t>
            </a:r>
          </a:p>
        </p:txBody>
      </p:sp>
      <p:sp>
        <p:nvSpPr>
          <p:cNvPr id="6" name="TextBox 5">
            <a:extLst>
              <a:ext uri="{FF2B5EF4-FFF2-40B4-BE49-F238E27FC236}">
                <a16:creationId xmlns:a16="http://schemas.microsoft.com/office/drawing/2014/main" id="{CEB1FCF4-4DF5-B1C8-856F-025F114C13E2}"/>
              </a:ext>
            </a:extLst>
          </p:cNvPr>
          <p:cNvSpPr txBox="1"/>
          <p:nvPr/>
        </p:nvSpPr>
        <p:spPr>
          <a:xfrm>
            <a:off x="707924" y="1113195"/>
            <a:ext cx="11238270" cy="4893647"/>
          </a:xfrm>
          <a:prstGeom prst="rect">
            <a:avLst/>
          </a:prstGeom>
          <a:solidFill>
            <a:schemeClr val="accent4">
              <a:lumMod val="20000"/>
              <a:lumOff val="80000"/>
            </a:schemeClr>
          </a:solidFill>
        </p:spPr>
        <p:txBody>
          <a:bodyPr wrap="square">
            <a:spAutoFit/>
          </a:bodyPr>
          <a:lstStyle/>
          <a:p>
            <a:pPr marL="342900" indent="-342900" algn="just">
              <a:buFont typeface="Courier New" panose="02070309020205020404" pitchFamily="49" charset="0"/>
              <a:buChar char="o"/>
            </a:pPr>
            <a:r>
              <a:rPr lang="en-IN" sz="2400" i="1" dirty="0"/>
              <a:t>Integrating environmental, social, and financial considerations into every stage of the product life cycle</a:t>
            </a:r>
            <a:r>
              <a:rPr lang="en-US" sz="2400" i="1" dirty="0"/>
              <a:t>, i.e., from designing, sourcing, and manufacturing to logistics and disposal.</a:t>
            </a:r>
          </a:p>
          <a:p>
            <a:pPr marL="342900" indent="-342900" algn="just">
              <a:buFont typeface="Courier New" panose="02070309020205020404" pitchFamily="49" charset="0"/>
              <a:buChar char="o"/>
            </a:pPr>
            <a:r>
              <a:rPr lang="en-IN" sz="2400" i="1" dirty="0"/>
              <a:t>Sustainability Strategy:</a:t>
            </a:r>
          </a:p>
          <a:p>
            <a:pPr marL="800100" lvl="1" indent="-342900" algn="just">
              <a:buFont typeface="Courier New" panose="02070309020205020404" pitchFamily="49" charset="0"/>
              <a:buChar char="o"/>
            </a:pPr>
            <a:r>
              <a:rPr lang="en-US" sz="2400" b="1" i="1" dirty="0">
                <a:solidFill>
                  <a:srgbClr val="0000CC"/>
                </a:solidFill>
              </a:rPr>
              <a:t>Using environmentally friendly inputs</a:t>
            </a:r>
            <a:r>
              <a:rPr lang="en-US" sz="2400" i="1" dirty="0">
                <a:solidFill>
                  <a:srgbClr val="0000CC"/>
                </a:solidFill>
              </a:rPr>
              <a:t> </a:t>
            </a:r>
            <a:r>
              <a:rPr lang="en-US" sz="2400" i="1" dirty="0"/>
              <a:t>and creating outputs that can be recycled and do not contaminate the environment by emitting GHGs.</a:t>
            </a:r>
          </a:p>
          <a:p>
            <a:pPr marL="800100" lvl="1" indent="-342900" algn="just">
              <a:buFont typeface="Courier New" panose="02070309020205020404" pitchFamily="49" charset="0"/>
              <a:buChar char="o"/>
            </a:pPr>
            <a:r>
              <a:rPr lang="en-US" sz="2400" b="1" i="1" dirty="0">
                <a:solidFill>
                  <a:srgbClr val="0000CC"/>
                </a:solidFill>
                <a:effectLst>
                  <a:outerShdw blurRad="38100" dist="38100" dir="2700000" algn="tl">
                    <a:srgbClr val="000000">
                      <a:alpha val="43137"/>
                    </a:srgbClr>
                  </a:outerShdw>
                </a:effectLst>
              </a:rPr>
              <a:t>Using renewable energy and energy-efficient technologies</a:t>
            </a:r>
            <a:r>
              <a:rPr lang="en-US" sz="2400" i="1" dirty="0"/>
              <a:t> in the production process.</a:t>
            </a:r>
          </a:p>
          <a:p>
            <a:pPr marL="800100" lvl="1" indent="-342900" algn="just">
              <a:buFont typeface="Courier New" panose="02070309020205020404" pitchFamily="49" charset="0"/>
              <a:buChar char="o"/>
            </a:pPr>
            <a:r>
              <a:rPr lang="en-US" sz="2400" b="1" i="1" dirty="0">
                <a:solidFill>
                  <a:srgbClr val="0000CC"/>
                </a:solidFill>
                <a:effectLst>
                  <a:outerShdw blurRad="38100" dist="38100" dir="2700000" algn="tl">
                    <a:srgbClr val="000000">
                      <a:alpha val="43137"/>
                    </a:srgbClr>
                  </a:outerShdw>
                </a:effectLst>
              </a:rPr>
              <a:t>Using fuel-efficient vehicles. </a:t>
            </a:r>
          </a:p>
          <a:p>
            <a:pPr marL="800100" lvl="1" indent="-342900" algn="just">
              <a:buFont typeface="Courier New" panose="02070309020205020404" pitchFamily="49" charset="0"/>
              <a:buChar char="o"/>
            </a:pPr>
            <a:r>
              <a:rPr lang="en-US" sz="2400" b="1" i="1" dirty="0">
                <a:solidFill>
                  <a:srgbClr val="0000CC"/>
                </a:solidFill>
                <a:effectLst>
                  <a:outerShdw blurRad="38100" dist="38100" dir="2700000" algn="tl">
                    <a:srgbClr val="000000">
                      <a:alpha val="43137"/>
                    </a:srgbClr>
                  </a:outerShdw>
                </a:effectLst>
              </a:rPr>
              <a:t>Reducing the amount of cardboard used for packaging </a:t>
            </a:r>
            <a:r>
              <a:rPr lang="en-US" sz="2400" i="1" dirty="0"/>
              <a:t>and designing ‘‘smart packages’’ to save money.</a:t>
            </a:r>
          </a:p>
          <a:p>
            <a:pPr marL="800100" lvl="1" indent="-342900" algn="just">
              <a:buFont typeface="Courier New" panose="02070309020205020404" pitchFamily="49" charset="0"/>
              <a:buChar char="o"/>
            </a:pPr>
            <a:r>
              <a:rPr lang="en-US" sz="2400" b="1" i="1" dirty="0">
                <a:solidFill>
                  <a:srgbClr val="0000CC"/>
                </a:solidFill>
                <a:effectLst>
                  <a:outerShdw blurRad="38100" dist="38100" dir="2700000" algn="tl">
                    <a:srgbClr val="000000">
                      <a:alpha val="43137"/>
                    </a:srgbClr>
                  </a:outerShdw>
                </a:effectLst>
              </a:rPr>
              <a:t>Filling trucks as full as possible</a:t>
            </a:r>
            <a:r>
              <a:rPr lang="en-US" sz="2400" i="1" dirty="0"/>
              <a:t>, rather than moving </a:t>
            </a:r>
            <a:r>
              <a:rPr lang="en-IN" sz="2400" i="1" dirty="0"/>
              <a:t>half-empty trucks during the transportation of goods.</a:t>
            </a:r>
          </a:p>
        </p:txBody>
      </p:sp>
    </p:spTree>
    <p:extLst>
      <p:ext uri="{BB962C8B-B14F-4D97-AF65-F5344CB8AC3E}">
        <p14:creationId xmlns:p14="http://schemas.microsoft.com/office/powerpoint/2010/main" val="31918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2CD1779-D054-C7A3-D986-BC8CA38387BC}"/>
              </a:ext>
            </a:extLst>
          </p:cNvPr>
          <p:cNvSpPr/>
          <p:nvPr/>
        </p:nvSpPr>
        <p:spPr>
          <a:xfrm>
            <a:off x="1000432" y="2580599"/>
            <a:ext cx="10621297"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Next:</a:t>
            </a:r>
          </a:p>
          <a:p>
            <a:pPr algn="ctr"/>
            <a:r>
              <a:rPr lang="en-IN" sz="4000" b="1" dirty="0">
                <a:solidFill>
                  <a:srgbClr val="FFFF00"/>
                </a:solidFill>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Supply Chain Strategy</a:t>
            </a:r>
          </a:p>
        </p:txBody>
      </p:sp>
    </p:spTree>
    <p:extLst>
      <p:ext uri="{BB962C8B-B14F-4D97-AF65-F5344CB8AC3E}">
        <p14:creationId xmlns:p14="http://schemas.microsoft.com/office/powerpoint/2010/main" val="4200794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